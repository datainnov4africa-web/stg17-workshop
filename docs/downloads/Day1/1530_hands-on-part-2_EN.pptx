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2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3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31F20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231F20"/>
                </a:solidFill>
                <a:latin typeface="Calibri"/>
              </a:rPr>
              <a:t>Relative token usage (chat = 1×)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 usage</c:v>
                </c:pt>
              </c:strCache>
            </c:strRef>
          </c:tx>
          <c:spPr>
            <a:solidFill>
              <a:srgbClr val="00A86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A56-423F-96B5-8A4857E10A3F}"/>
              </c:ext>
            </c:extLst>
          </c:dPt>
          <c:dPt>
            <c:idx val="1"/>
            <c:invertIfNegative val="0"/>
            <c:bubble3D val="0"/>
            <c:spPr>
              <a:solidFill>
                <a:srgbClr val="0070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A56-423F-96B5-8A4857E10A3F}"/>
              </c:ext>
            </c:extLst>
          </c:dPt>
          <c:dPt>
            <c:idx val="2"/>
            <c:invertIfNegative val="0"/>
            <c:bubble3D val="0"/>
            <c:spPr>
              <a:solidFill>
                <a:srgbClr val="5E69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A56-423F-96B5-8A4857E10A3F}"/>
              </c:ext>
            </c:extLst>
          </c:dPt>
          <c:dLbls>
            <c:numFmt formatCode="0&quot;×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31F2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Multi-agent</c:v>
                </c:pt>
                <c:pt idx="1">
                  <c:v>Single agent</c:v>
                </c:pt>
                <c:pt idx="2">
                  <c:v>Chat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4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A56-423F-96B5-8A4857E10A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434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1F2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231F20"/>
                </a:solidFill>
                <a:latin typeface="Calibri"/>
              </a:rPr>
              <a:t>SWE-bench Verified, Aug 2024 – Nov 2025 (% resolved)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SWE-bench Verified</c:v>
                </c:pt>
              </c:strCache>
            </c:strRef>
          </c:tx>
          <c:spPr>
            <a:solidFill>
              <a:srgbClr val="A9B5B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B76-4AD9-9AF8-D4AEB2713EF7}"/>
              </c:ext>
            </c:extLst>
          </c:dPt>
          <c:dPt>
            <c:idx val="1"/>
            <c:invertIfNegative val="0"/>
            <c:bubble3D val="0"/>
            <c:spPr>
              <a:solidFill>
                <a:srgbClr val="9ED9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B76-4AD9-9AF8-D4AEB2713EF7}"/>
              </c:ext>
            </c:extLst>
          </c:dPt>
          <c:dPt>
            <c:idx val="2"/>
            <c:invertIfNegative val="0"/>
            <c:bubble3D val="0"/>
            <c:spPr>
              <a:solidFill>
                <a:srgbClr val="7BCB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B76-4AD9-9AF8-D4AEB2713EF7}"/>
              </c:ext>
            </c:extLst>
          </c:dPt>
          <c:dPt>
            <c:idx val="3"/>
            <c:invertIfNegative val="0"/>
            <c:bubble3D val="0"/>
            <c:spPr>
              <a:solidFill>
                <a:srgbClr val="57BD9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B76-4AD9-9AF8-D4AEB2713EF7}"/>
              </c:ext>
            </c:extLst>
          </c:dPt>
          <c:dPt>
            <c:idx val="4"/>
            <c:invertIfNegative val="0"/>
            <c:bubble3D val="0"/>
            <c:spPr>
              <a:solidFill>
                <a:srgbClr val="33AF7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B76-4AD9-9AF8-D4AEB2713EF7}"/>
              </c:ext>
            </c:extLst>
          </c:dPt>
          <c:dPt>
            <c:idx val="5"/>
            <c:invertIfNegative val="0"/>
            <c:bubble3D val="0"/>
            <c:spPr>
              <a:solidFill>
                <a:srgbClr val="10A0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B76-4AD9-9AF8-D4AEB2713EF7}"/>
              </c:ext>
            </c:extLst>
          </c:dPt>
          <c:dPt>
            <c:idx val="6"/>
            <c:invertIfNegative val="0"/>
            <c:bubble3D val="0"/>
            <c:spPr>
              <a:solidFill>
                <a:srgbClr val="008A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B76-4AD9-9AF8-D4AEB2713EF7}"/>
              </c:ext>
            </c:extLst>
          </c:dPt>
          <c:dPt>
            <c:idx val="7"/>
            <c:invertIfNegative val="0"/>
            <c:bubble3D val="0"/>
            <c:spPr>
              <a:solidFill>
                <a:srgbClr val="0066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B76-4AD9-9AF8-D4AEB2713EF7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31F2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GPT-4o
Aug 24</c:v>
                </c:pt>
                <c:pt idx="1">
                  <c:v>Claude 3.5
Sonnet
Oct 24</c:v>
                </c:pt>
                <c:pt idx="2">
                  <c:v>Claude 3.7
Sonnet
Feb 25</c:v>
                </c:pt>
                <c:pt idx="3">
                  <c:v>Gemini
2.5 Pro
Mar 25</c:v>
                </c:pt>
                <c:pt idx="4">
                  <c:v>Claude
Sonnet 4
May 25</c:v>
                </c:pt>
                <c:pt idx="5">
                  <c:v>GPT-5
Aug 25</c:v>
                </c:pt>
                <c:pt idx="6">
                  <c:v>Claude
Sonnet 4.5
Sep 25</c:v>
                </c:pt>
                <c:pt idx="7">
                  <c:v>Claude
Opus 4.5
Nov 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33.200000000000003</c:v>
                </c:pt>
                <c:pt idx="1">
                  <c:v>49</c:v>
                </c:pt>
                <c:pt idx="2">
                  <c:v>62.3</c:v>
                </c:pt>
                <c:pt idx="3">
                  <c:v>63.8</c:v>
                </c:pt>
                <c:pt idx="4">
                  <c:v>72.7</c:v>
                </c:pt>
                <c:pt idx="5">
                  <c:v>74.900000000000006</c:v>
                </c:pt>
                <c:pt idx="6">
                  <c:v>77.2</c:v>
                </c:pt>
                <c:pt idx="7">
                  <c:v>80.900000000000006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7B76-4AD9-9AF8-D4AEB2713E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E69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1F2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231F20"/>
                </a:solidFill>
                <a:latin typeface="Calibri"/>
              </a:rPr>
              <a:t>Task success rate (%) vs. number of steps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99% per step</c:v>
                </c:pt>
              </c:strCache>
            </c:strRef>
          </c:tx>
          <c:spPr>
            <a:ln w="38100" cap="flat">
              <a:solidFill>
                <a:srgbClr val="00704A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0704A"/>
              </a:solidFill>
              <a:ln w="9525" cap="flat">
                <a:solidFill>
                  <a:srgbClr val="00704A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50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99</c:v>
                </c:pt>
                <c:pt idx="1">
                  <c:v>95.1</c:v>
                </c:pt>
                <c:pt idx="2">
                  <c:v>90.4</c:v>
                </c:pt>
                <c:pt idx="3">
                  <c:v>81.8</c:v>
                </c:pt>
                <c:pt idx="4">
                  <c:v>74</c:v>
                </c:pt>
                <c:pt idx="5">
                  <c:v>60.5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631-4C6B-9249-57C5B302FD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per step</c:v>
                </c:pt>
              </c:strCache>
            </c:strRef>
          </c:tx>
          <c:spPr>
            <a:ln w="38100" cap="flat">
              <a:solidFill>
                <a:srgbClr val="B83B2E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B83B2E"/>
              </a:solidFill>
              <a:ln w="9525" cap="flat">
                <a:solidFill>
                  <a:srgbClr val="B83B2E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50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</c:v>
                </c:pt>
                <c:pt idx="1">
                  <c:v>77.400000000000006</c:v>
                </c:pt>
                <c:pt idx="2">
                  <c:v>59.9</c:v>
                </c:pt>
                <c:pt idx="3">
                  <c:v>35.799999999999997</c:v>
                </c:pt>
                <c:pt idx="4">
                  <c:v>21.5</c:v>
                </c:pt>
                <c:pt idx="5">
                  <c:v>7.7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631-4C6B-9249-57C5B302FD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E6964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E6964"/>
                    </a:solidFill>
                    <a:latin typeface="Arial"/>
                  </a:rPr>
                  <a:t>Steps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9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1E7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9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A434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2284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briefing explains what AI agents are, how they work, how they are built, where the field stands and how to deploy them responsibly.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parts, from concepts to practice. Each section opens with the question it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introduce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assistant produces an answer that a human then uses. An agent pursues a goal: it takes actions, checks the results and continues until the task is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introduce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 concept is old — Russell and Norvig framed AI around agents in the 1990s. What is new is using an LLM as the decision-maker. Practical definition: an LLM using tools in a loop toward a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Rather than asking 'is this an agent?', ask 'how agentic is it?'. Levels 1–3 are predictable; levels 4–5 are flexible but cost more and carry more risk. Choose the lowest level that solves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introduce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RPA follows scripts; assistants reply; agents decide the steps. Gartner warns that many products marketed as agents are rebranded assistants or RPA.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LLM is the reasoning engine. Planning, memory and tools extend it; the environment is where it acts and observes. Guardrails and oversight wrap the whole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 (Yao et al., 2022) interleaves reasoning and acting. Every tool result becomes input to the next reasoning step. Note the final step: the agent asks a human before sending.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techniques are complementary. Most production agents combine ReAct-style tool use with planning, and increasingly rely on reasoning models trained to think before acting.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context window is working memory and is limited. Long-term memory lives outside the model: logs, vector databases, knowledge graphs — and skills stored as prompts or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introduce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a standard, every agent needs a custom connector for every tool. MCP standardises agent-to-tool connections; A2A standardises agent-to-agent collaboration. Both are now under Linux Foundation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Anthropic's 'Building Effective Agents'. Workflows are predictable and cheaper; agents are flexible. Many successful systems are workflows with a few agentic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Anthropic reported that its multi-agent research system outperformed a single agent by 90.2% on an internal eval, but agents use about 4x the tokens of chat and multi-agent systems about 15x. Use them for high-value, parallelisable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introduce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agentic wave rests on the Transformer (2017) and on ReAct-style prompting (2022). From late 2024, computer use and open protocols moved agents from demos to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non-exhaustive map: open-source frameworks, vendor SDKs, finished products and the open standards that connect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SWE-bench Verified asks models to fix real GitHub issues. Launch scores rose from about a third to over 80% in roughly 15 months. Scaffolds differ between labs, so read the trend rather than exact rankings. Important: in February 2026 OpenAI stopped reporting this benchmark, citing contamination and flawed tests, and recommends SWE-bench Pro. Later scores on Verified should be read with caution.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 measures the length of tasks, in human time, that agents complete with 50% reliability; it has doubled roughly every 7 months since 2019. Gartner figures are forecasts, not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 work best where success is verifiable — tests pass, the ticket is resolved, sources are cited — and where humans can review high-impact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introduce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Simplified model: with 95% reliability per step, a 20-step task succeeds only about 36% of the time. This is why verification, retries and checkpoints matter so much.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injection is ranked #1 in the OWASP Top 10 for LLM applications (2025). Gartner expects over 40% of agentic AI projects to be canceled by end-2027 for cost, value or risk-control reasons.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Oversight is a dial, not a switch. Start with humans in the loop, measure performance, and move to on-the-loop only when evaluations justify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Principles drawn from Anthropic's 'Building Effective Agents' (simplicity, transparency, tool design) and OWASP guidance for LLM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tasks marketed as agentic do not need an agent. Answer these three questions before building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 agents are LLMs using tools in a loop; start simple, add autonomy where it pays off, and keep humans in control of high-impact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in this deck come from the sources listed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30.png"/><Relationship Id="rId9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502920"/>
            <a:ext cx="4114800" cy="4114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37160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</a:t>
            </a:r>
            <a:endParaRPr lang="en-US" sz="4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48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971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models that answer to systems that act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3749040"/>
            <a:ext cx="850392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374904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1536192" y="3749040"/>
            <a:ext cx="1239012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536192" y="3749040"/>
            <a:ext cx="12390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912364" y="374904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912364" y="374904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977640" y="3749040"/>
            <a:ext cx="61722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977640" y="3749040"/>
            <a:ext cx="6172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100" dirty="0"/>
          </a:p>
        </p:txBody>
      </p:sp>
      <p:sp>
        <p:nvSpPr>
          <p:cNvPr id="16" name="Text 23">
            <a:extLst>
              <a:ext uri="{FF2B5EF4-FFF2-40B4-BE49-F238E27FC236}">
                <a16:creationId xmlns:a16="http://schemas.microsoft.com/office/drawing/2014/main" id="{20A1A34C-78AC-CE5A-B8FF-10D3EEC2F0AB}"/>
              </a:ext>
            </a:extLst>
          </p:cNvPr>
          <p:cNvSpPr txBox="1"/>
          <p:nvPr/>
        </p:nvSpPr>
        <p:spPr>
          <a:xfrm>
            <a:off x="548640" y="446455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Innovation For Africa (DI4A) - African Development Bank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Agentic AI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31720" y="1572768"/>
            <a:ext cx="457200" cy="45720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6000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6020" y="168706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1554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0299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3042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is moving from answering questions to completing tasks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291840" y="13716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166360" y="1572768"/>
            <a:ext cx="457200" cy="45720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60000"/>
              </a:srgbClr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0660" y="1687068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520440" y="1554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2"/>
          <p:cNvSpPr txBox="1"/>
          <p:nvPr/>
        </p:nvSpPr>
        <p:spPr>
          <a:xfrm>
            <a:off x="3520440" y="20299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3520440" y="23042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vs. agentic, and the autonomy spectrum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26480" y="13716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01000" y="1572768"/>
            <a:ext cx="457200" cy="457200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60000"/>
              </a:srgbClr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5300" y="1687068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55080" y="1554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17"/>
          <p:cNvSpPr txBox="1"/>
          <p:nvPr/>
        </p:nvSpPr>
        <p:spPr>
          <a:xfrm>
            <a:off x="6355080" y="20299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agents work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355080" y="23042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Anatomy, the agent loop, reasoning and memory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57200" y="30632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331720" y="3264408"/>
            <a:ext cx="457200" cy="457200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60000"/>
              </a:srgbClr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6020" y="3378708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8580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9" name="Text 22"/>
          <p:cNvSpPr txBox="1"/>
          <p:nvPr/>
        </p:nvSpPr>
        <p:spPr>
          <a:xfrm>
            <a:off x="685800" y="37216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685800" y="399592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protocols, workflow patterns, multi-agent systems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3291840" y="30632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5166360" y="3264408"/>
            <a:ext cx="457200" cy="457200"/>
          </a:xfrm>
          <a:prstGeom prst="ellipse">
            <a:avLst/>
          </a:prstGeom>
          <a:solidFill>
            <a:srgbClr val="C4621D">
              <a:alpha val="22000"/>
            </a:srgbClr>
          </a:solidFill>
          <a:ln w="12700">
            <a:solidFill>
              <a:srgbClr val="C4621D">
                <a:alpha val="60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0660" y="3378708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52044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C462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35" name="Text 27"/>
          <p:cNvSpPr txBox="1"/>
          <p:nvPr/>
        </p:nvSpPr>
        <p:spPr>
          <a:xfrm>
            <a:off x="3520440" y="37216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field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3520440" y="399592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Milestones, ecosystem, benchmarks and momentum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6126480" y="30632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8001000" y="3264408"/>
            <a:ext cx="457200" cy="457200"/>
          </a:xfrm>
          <a:prstGeom prst="ellipse">
            <a:avLst/>
          </a:prstGeom>
          <a:solidFill>
            <a:srgbClr val="B83B2E">
              <a:alpha val="22000"/>
            </a:srgbClr>
          </a:solidFill>
          <a:ln w="12700">
            <a:solidFill>
              <a:srgbClr val="B83B2E">
                <a:alpha val="60000"/>
              </a:srgbClr>
            </a:solidFill>
            <a:prstDash val="solid"/>
          </a:ln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5300" y="3378708"/>
            <a:ext cx="228600" cy="22860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635508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B8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41" name="Text 32"/>
          <p:cNvSpPr txBox="1"/>
          <p:nvPr/>
        </p:nvSpPr>
        <p:spPr>
          <a:xfrm>
            <a:off x="6355080" y="37216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it right</a:t>
            </a:r>
            <a:endParaRPr lang="en-US" sz="1500" dirty="0"/>
          </a:p>
        </p:txBody>
      </p:sp>
      <p:sp>
        <p:nvSpPr>
          <p:cNvPr id="42" name="Text 33"/>
          <p:cNvSpPr txBox="1"/>
          <p:nvPr/>
        </p:nvSpPr>
        <p:spPr>
          <a:xfrm>
            <a:off x="6355080" y="399592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best practices and a decision guide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231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AI moving from answering to acting?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94360" y="4343400"/>
            <a:ext cx="128016" cy="128016"/>
          </a:xfrm>
          <a:prstGeom prst="ellipse">
            <a:avLst/>
          </a:prstGeom>
          <a:solidFill>
            <a:srgbClr val="F5C242"/>
          </a:solidFill>
          <a:ln w="6350">
            <a:solidFill>
              <a:srgbClr val="F5C24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300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1732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9164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6596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40680" y="1234440"/>
            <a:ext cx="2651760" cy="2651760"/>
          </a:xfrm>
          <a:prstGeom prst="ellipse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15000" y="1508760"/>
            <a:ext cx="2103120" cy="2103120"/>
          </a:xfrm>
          <a:prstGeom prst="ellipse">
            <a:avLst/>
          </a:prstGeom>
          <a:solidFill>
            <a:srgbClr val="FFFFFF">
              <a:alpha val="20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9320" y="178308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194560"/>
            <a:ext cx="731520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Agentic AI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00A86A"/>
          </a:solidFill>
          <a:ln w="6350">
            <a:solidFill>
              <a:srgbClr val="00A86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SHIFT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answering to acting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325880"/>
            <a:ext cx="3657600" cy="2788920"/>
          </a:xfrm>
          <a:prstGeom prst="roundRect">
            <a:avLst>
              <a:gd name="adj" fmla="val 262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6000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64592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371600" y="1536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assistant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371600" y="18105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 classic chatbot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731520" y="22860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69164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to a single prompt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31520" y="27157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691640" y="2715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pass: prompt → answer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731520" y="314553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1691640" y="3145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code or images to review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731520" y="357530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ACTS?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1691640" y="35753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does the work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5029200" y="1325880"/>
            <a:ext cx="3657600" cy="2788920"/>
          </a:xfrm>
          <a:prstGeom prst="roundRect">
            <a:avLst>
              <a:gd name="adj" fmla="val 2623"/>
            </a:avLst>
          </a:prstGeom>
          <a:solidFill>
            <a:srgbClr val="E8F5EF"/>
          </a:solidFill>
          <a:ln w="19050">
            <a:solidFill>
              <a:srgbClr val="00A86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257800" y="1508760"/>
            <a:ext cx="548640" cy="54864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60000"/>
              </a:srgbClr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645920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5943600" y="1536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system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5943600" y="18105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 coding or research agent</a:t>
            </a:r>
            <a:endParaRPr lang="en-US" sz="1050" dirty="0"/>
          </a:p>
        </p:txBody>
      </p:sp>
      <p:sp>
        <p:nvSpPr>
          <p:cNvPr id="31" name="Text 26"/>
          <p:cNvSpPr txBox="1"/>
          <p:nvPr/>
        </p:nvSpPr>
        <p:spPr>
          <a:xfrm>
            <a:off x="5303520" y="22860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626364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Pursues a goal</a:t>
            </a:r>
            <a:endParaRPr lang="en-US" sz="1250" dirty="0"/>
          </a:p>
        </p:txBody>
      </p:sp>
      <p:sp>
        <p:nvSpPr>
          <p:cNvPr id="33" name="Text 28"/>
          <p:cNvSpPr txBox="1"/>
          <p:nvPr/>
        </p:nvSpPr>
        <p:spPr>
          <a:xfrm>
            <a:off x="5303520" y="27157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6263640" y="2715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loop: plan → act → observe</a:t>
            </a:r>
            <a:endParaRPr lang="en-US" sz="1250" dirty="0"/>
          </a:p>
        </p:txBody>
      </p:sp>
      <p:sp>
        <p:nvSpPr>
          <p:cNvPr id="35" name="Text 30"/>
          <p:cNvSpPr txBox="1"/>
          <p:nvPr/>
        </p:nvSpPr>
        <p:spPr>
          <a:xfrm>
            <a:off x="5303520" y="314553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6263640" y="3145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task &amp; changed state</a:t>
            </a:r>
            <a:endParaRPr lang="en-US" sz="1250" dirty="0"/>
          </a:p>
        </p:txBody>
      </p:sp>
      <p:sp>
        <p:nvSpPr>
          <p:cNvPr id="37" name="Text 32"/>
          <p:cNvSpPr txBox="1"/>
          <p:nvPr/>
        </p:nvSpPr>
        <p:spPr>
          <a:xfrm>
            <a:off x="5303520" y="357530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ACTS?</a:t>
            </a:r>
            <a:endParaRPr lang="en-US" sz="900" dirty="0"/>
          </a:p>
        </p:txBody>
      </p:sp>
      <p:sp>
        <p:nvSpPr>
          <p:cNvPr id="38" name="Text 33"/>
          <p:cNvSpPr txBox="1"/>
          <p:nvPr/>
        </p:nvSpPr>
        <p:spPr>
          <a:xfrm>
            <a:off x="6263640" y="35753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agent, under human oversight</a:t>
            </a:r>
            <a:endParaRPr lang="en-US" sz="1250" dirty="0"/>
          </a:p>
        </p:txBody>
      </p:sp>
      <p:sp>
        <p:nvSpPr>
          <p:cNvPr id="39" name="Shape 34"/>
          <p:cNvSpPr/>
          <p:nvPr/>
        </p:nvSpPr>
        <p:spPr>
          <a:xfrm>
            <a:off x="4297680" y="2487168"/>
            <a:ext cx="548640" cy="548640"/>
          </a:xfrm>
          <a:prstGeom prst="ellipse">
            <a:avLst/>
          </a:prstGeom>
          <a:solidFill>
            <a:srgbClr val="D49A00"/>
          </a:solidFill>
          <a:ln w="12700">
            <a:solidFill>
              <a:srgbClr val="D49A00"/>
            </a:solidFill>
            <a:prstDash val="solid"/>
          </a:ln>
        </p:spPr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2624328"/>
            <a:ext cx="274320" cy="274320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457200" y="42793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creates content. </a:t>
            </a:r>
            <a:r>
              <a:rPr lang="en-US" sz="18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gets tasks done.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231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is an agent — and what is not?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9436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4343400"/>
            <a:ext cx="128016" cy="128016"/>
          </a:xfrm>
          <a:prstGeom prst="ellipse">
            <a:avLst/>
          </a:prstGeom>
          <a:solidFill>
            <a:srgbClr val="F5C242"/>
          </a:solidFill>
          <a:ln w="6350">
            <a:solidFill>
              <a:srgbClr val="F5C24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300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1732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9164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6596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40680" y="1234440"/>
            <a:ext cx="2651760" cy="2651760"/>
          </a:xfrm>
          <a:prstGeom prst="ellipse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15000" y="1508760"/>
            <a:ext cx="2103120" cy="2103120"/>
          </a:xfrm>
          <a:prstGeom prst="ellipse">
            <a:avLst/>
          </a:prstGeom>
          <a:solidFill>
            <a:srgbClr val="FFFFFF">
              <a:alpha val="20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9320" y="178308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194560"/>
            <a:ext cx="731520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Agentic AI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00704A"/>
          </a:solidFill>
          <a:ln w="6350">
            <a:solidFill>
              <a:srgbClr val="0070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DEFINITIONS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AI agent?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325880"/>
            <a:ext cx="4206240" cy="1207008"/>
          </a:xfrm>
          <a:prstGeom prst="roundRect">
            <a:avLst>
              <a:gd name="adj" fmla="val 606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1463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AI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16916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“Anything that can be viewed as perceiving its environment through sensors and acting upon that environment through actuators.”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225856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Russell &amp; Norvig, Artificial Intelligence: A Modern Approach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2697480"/>
            <a:ext cx="4206240" cy="1207008"/>
          </a:xfrm>
          <a:prstGeom prst="roundRect">
            <a:avLst>
              <a:gd name="adj" fmla="val 606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2834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ERA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0632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where the LLM dynamically directs its own process and tool usage, keeping control over how it accomplishes the task.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363016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Anthropic, “Building Effective Agents” (Dec 2024)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406908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D49A00">
              <a:alpha val="15000"/>
            </a:srgbClr>
          </a:solidFill>
          <a:ln w="9525">
            <a:solidFill>
              <a:srgbClr val="D49A0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40690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 </a:t>
            </a: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+ tools + memory, running in a loop toward a goal.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502920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029200" y="1645920"/>
            <a:ext cx="457200" cy="45720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60000"/>
              </a:srgbClr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760220"/>
            <a:ext cx="228600" cy="22860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623560" y="16642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</a:t>
            </a:r>
            <a:endParaRPr lang="en-US" sz="1350" dirty="0"/>
          </a:p>
        </p:txBody>
      </p:sp>
      <p:sp>
        <p:nvSpPr>
          <p:cNvPr id="27" name="Text 23"/>
          <p:cNvSpPr txBox="1"/>
          <p:nvPr/>
        </p:nvSpPr>
        <p:spPr>
          <a:xfrm>
            <a:off x="5623560" y="18928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the next step without a script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5029200" y="2249424"/>
            <a:ext cx="457200" cy="457200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60000"/>
              </a:srgbClr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2363724"/>
            <a:ext cx="228600" cy="22860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5623560" y="22677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Goal-directed</a:t>
            </a:r>
            <a:endParaRPr lang="en-US" sz="1350" dirty="0"/>
          </a:p>
        </p:txBody>
      </p:sp>
      <p:sp>
        <p:nvSpPr>
          <p:cNvPr id="31" name="Text 26"/>
          <p:cNvSpPr txBox="1"/>
          <p:nvPr/>
        </p:nvSpPr>
        <p:spPr>
          <a:xfrm>
            <a:off x="5623560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toward an outcome, not a single reply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5029200" y="2852928"/>
            <a:ext cx="457200" cy="457200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60000"/>
              </a:srgbClr>
            </a:solidFill>
            <a:prstDash val="solid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0" y="2967228"/>
            <a:ext cx="228600" cy="22860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5623560" y="28712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350" dirty="0"/>
          </a:p>
        </p:txBody>
      </p:sp>
      <p:sp>
        <p:nvSpPr>
          <p:cNvPr id="35" name="Text 29"/>
          <p:cNvSpPr txBox="1"/>
          <p:nvPr/>
        </p:nvSpPr>
        <p:spPr>
          <a:xfrm>
            <a:off x="5623560" y="30998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APIs, runs code, searches, clicks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5029200" y="3456432"/>
            <a:ext cx="457200" cy="45720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60000"/>
              </a:srgbClr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0" y="3570732"/>
            <a:ext cx="228600" cy="22860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5623560" y="34747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50" dirty="0"/>
          </a:p>
        </p:txBody>
      </p:sp>
      <p:sp>
        <p:nvSpPr>
          <p:cNvPr id="39" name="Text 32"/>
          <p:cNvSpPr txBox="1"/>
          <p:nvPr/>
        </p:nvSpPr>
        <p:spPr>
          <a:xfrm>
            <a:off x="5623560" y="3703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context within and across tasks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5029200" y="4059936"/>
            <a:ext cx="457200" cy="457200"/>
          </a:xfrm>
          <a:prstGeom prst="ellipse">
            <a:avLst/>
          </a:prstGeom>
          <a:solidFill>
            <a:srgbClr val="C4621D">
              <a:alpha val="22000"/>
            </a:srgbClr>
          </a:solidFill>
          <a:ln w="12700">
            <a:solidFill>
              <a:srgbClr val="C4621D">
                <a:alpha val="60000"/>
              </a:srgbClr>
            </a:solidFill>
            <a:prstDash val="solid"/>
          </a:ln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4174236"/>
            <a:ext cx="228600" cy="22860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5623560" y="407822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</a:t>
            </a:r>
            <a:endParaRPr lang="en-US" sz="1350" dirty="0"/>
          </a:p>
        </p:txBody>
      </p:sp>
      <p:sp>
        <p:nvSpPr>
          <p:cNvPr id="43" name="Text 35"/>
          <p:cNvSpPr txBox="1"/>
          <p:nvPr/>
        </p:nvSpPr>
        <p:spPr>
          <a:xfrm>
            <a:off x="5623560" y="430682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Observes results and corrects course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Agentic AI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00704A"/>
          </a:solidFill>
          <a:ln w="6350">
            <a:solidFill>
              <a:srgbClr val="0070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DEFINITIONS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vs. agentic: a matter of degree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298448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1389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r>
              <a:rPr lang="en-US" sz="13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(noun)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16642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perceives, decides and acts to reach a goal — the “what”.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663440" y="1298448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92040" y="1389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r>
              <a:rPr lang="en-US" sz="13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(adjective)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892040" y="16642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degree of autonomy a system has. Popularised by Andrew Ng (2024) to move past the yes/no debate.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AUTONOMY SPECTRUM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114800" y="2377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autonomy = more flexibility… and more cost, latency &amp; risk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3566160"/>
            <a:ext cx="1490472" cy="365760"/>
          </a:xfrm>
          <a:prstGeom prst="roundRect">
            <a:avLst>
              <a:gd name="adj" fmla="val 15000"/>
            </a:avLst>
          </a:prstGeom>
          <a:solidFill>
            <a:srgbClr val="C9EBDC"/>
          </a:solidFill>
          <a:ln w="12700">
            <a:solidFill>
              <a:srgbClr val="C9EBD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3602736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chat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4023360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from its training and the prompt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130552" y="3328416"/>
            <a:ext cx="1490472" cy="603504"/>
          </a:xfrm>
          <a:prstGeom prst="roundRect">
            <a:avLst>
              <a:gd name="adj" fmla="val 9091"/>
            </a:avLst>
          </a:prstGeom>
          <a:solidFill>
            <a:srgbClr val="97D6BA"/>
          </a:solidFill>
          <a:ln w="12700">
            <a:solidFill>
              <a:srgbClr val="97D6B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130552" y="3602736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LLM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2176272" y="4023360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retrieval, tools and memory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803904" y="3090672"/>
            <a:ext cx="1490472" cy="841248"/>
          </a:xfrm>
          <a:prstGeom prst="roundRect">
            <a:avLst>
              <a:gd name="adj" fmla="val 6522"/>
            </a:avLst>
          </a:prstGeom>
          <a:solidFill>
            <a:srgbClr val="4FB98E"/>
          </a:solidFill>
          <a:ln w="12700">
            <a:solidFill>
              <a:srgbClr val="4FB98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803904" y="3602736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3849624" y="4023360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steps on predefined code paths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477256" y="2852928"/>
            <a:ext cx="1490472" cy="1078992"/>
          </a:xfrm>
          <a:prstGeom prst="roundRect">
            <a:avLst>
              <a:gd name="adj" fmla="val 5085"/>
            </a:avLst>
          </a:prstGeom>
          <a:solidFill>
            <a:srgbClr val="1F9E6D"/>
          </a:solidFill>
          <a:ln w="12700">
            <a:solidFill>
              <a:srgbClr val="1F9E6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77256" y="3602736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5522976" y="4023360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chooses its own steps and tools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150608" y="2615184"/>
            <a:ext cx="1490472" cy="1316736"/>
          </a:xfrm>
          <a:prstGeom prst="roundRect">
            <a:avLst>
              <a:gd name="adj" fmla="val 4167"/>
            </a:avLst>
          </a:prstGeom>
          <a:solidFill>
            <a:srgbClr val="00704A"/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150608" y="3602736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7196328" y="4023360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agents coordinate on a goal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231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agents work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inside an agent?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9436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3000" y="4343400"/>
            <a:ext cx="128016" cy="128016"/>
          </a:xfrm>
          <a:prstGeom prst="ellipse">
            <a:avLst/>
          </a:prstGeom>
          <a:solidFill>
            <a:srgbClr val="F5C242"/>
          </a:solidFill>
          <a:ln w="6350">
            <a:solidFill>
              <a:srgbClr val="F5C24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1732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9164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6596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40680" y="1234440"/>
            <a:ext cx="2651760" cy="2651760"/>
          </a:xfrm>
          <a:prstGeom prst="ellipse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15000" y="1508760"/>
            <a:ext cx="2103120" cy="2103120"/>
          </a:xfrm>
          <a:prstGeom prst="ellipse">
            <a:avLst/>
          </a:prstGeom>
          <a:solidFill>
            <a:srgbClr val="FFFFFF">
              <a:alpha val="20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9320" y="178308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194560"/>
            <a:ext cx="731520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Agentic AI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00704A"/>
          </a:solidFill>
          <a:ln w="6350">
            <a:solidFill>
              <a:srgbClr val="0070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DEFINITIONS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everything that automates is an agent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6556248" y="1261872"/>
            <a:ext cx="2203704" cy="2926080"/>
          </a:xfrm>
          <a:prstGeom prst="roundRect">
            <a:avLst>
              <a:gd name="adj" fmla="val 3320"/>
            </a:avLst>
          </a:prstGeom>
          <a:solidFill>
            <a:srgbClr val="E8F5EF"/>
          </a:solidFill>
          <a:ln w="19050">
            <a:solidFill>
              <a:srgbClr val="00A86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23160" y="1353312"/>
            <a:ext cx="384048" cy="384048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6000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9172" y="1449324"/>
            <a:ext cx="192024" cy="19202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898648" y="13533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bot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572000" y="1353312"/>
            <a:ext cx="384048" cy="384048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60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012" y="1449324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047488" y="13533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720840" y="1353312"/>
            <a:ext cx="384048" cy="384048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60000"/>
              </a:srgbClr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6852" y="1449324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96328" y="13533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18470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2423160" y="18470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fixed rules and scripts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4572000" y="18470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prompts in natural language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6720840" y="18470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Reasons, plans and uses tools in a loop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57200" y="2304288"/>
            <a:ext cx="8229600" cy="0"/>
          </a:xfrm>
          <a:prstGeom prst="line">
            <a:avLst/>
          </a:prstGeom>
          <a:noFill/>
          <a:ln w="9525">
            <a:solidFill>
              <a:srgbClr val="D5DED9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57200" y="23042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INPUT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2423160" y="23042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when screens or formats change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4572000" y="23042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it, but only replies</a:t>
            </a:r>
            <a:endParaRPr lang="en-US" sz="1050" dirty="0"/>
          </a:p>
        </p:txBody>
      </p:sp>
      <p:sp>
        <p:nvSpPr>
          <p:cNvPr id="31" name="Text 25"/>
          <p:cNvSpPr txBox="1"/>
          <p:nvPr/>
        </p:nvSpPr>
        <p:spPr>
          <a:xfrm>
            <a:off x="6720840" y="23042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its plan to what it observes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57200" y="2761488"/>
            <a:ext cx="8229600" cy="0"/>
          </a:xfrm>
          <a:prstGeom prst="line">
            <a:avLst/>
          </a:prstGeom>
          <a:noFill/>
          <a:ln w="9525">
            <a:solidFill>
              <a:srgbClr val="D5DED9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457200" y="27614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DECIDES THE STEPS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2423160" y="27614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developer, in advance</a:t>
            </a:r>
            <a:endParaRPr lang="en-US" sz="1050" dirty="0"/>
          </a:p>
        </p:txBody>
      </p:sp>
      <p:sp>
        <p:nvSpPr>
          <p:cNvPr id="35" name="Text 29"/>
          <p:cNvSpPr txBox="1"/>
          <p:nvPr/>
        </p:nvSpPr>
        <p:spPr>
          <a:xfrm>
            <a:off x="4572000" y="27614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human, turn by turn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6720840" y="27614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agent, within guardrails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457200" y="3218688"/>
            <a:ext cx="8229600" cy="0"/>
          </a:xfrm>
          <a:prstGeom prst="line">
            <a:avLst/>
          </a:prstGeom>
          <a:noFill/>
          <a:ln w="9525">
            <a:solidFill>
              <a:srgbClr val="D5DED9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457200" y="32186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2423160" y="32186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high-volume, rule-based tasks</a:t>
            </a:r>
            <a:endParaRPr lang="en-US" sz="1050" dirty="0"/>
          </a:p>
        </p:txBody>
      </p:sp>
      <p:sp>
        <p:nvSpPr>
          <p:cNvPr id="40" name="Text 34"/>
          <p:cNvSpPr txBox="1"/>
          <p:nvPr/>
        </p:nvSpPr>
        <p:spPr>
          <a:xfrm>
            <a:off x="4572000" y="32186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Q&amp;A, drafting, summarising</a:t>
            </a:r>
            <a:endParaRPr lang="en-US" sz="1050" dirty="0"/>
          </a:p>
        </p:txBody>
      </p:sp>
      <p:sp>
        <p:nvSpPr>
          <p:cNvPr id="41" name="Text 35"/>
          <p:cNvSpPr txBox="1"/>
          <p:nvPr/>
        </p:nvSpPr>
        <p:spPr>
          <a:xfrm>
            <a:off x="6720840" y="32186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multi-step tasks with clear goals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457200" y="3675888"/>
            <a:ext cx="8229600" cy="0"/>
          </a:xfrm>
          <a:prstGeom prst="line">
            <a:avLst/>
          </a:prstGeom>
          <a:noFill/>
          <a:ln w="9525">
            <a:solidFill>
              <a:srgbClr val="D5DED9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457200" y="36758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44" name="Text 38"/>
          <p:cNvSpPr txBox="1"/>
          <p:nvPr/>
        </p:nvSpPr>
        <p:spPr>
          <a:xfrm>
            <a:off x="2423160" y="36758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Copying invoice data into an ERP</a:t>
            </a:r>
            <a:endParaRPr lang="en-US" sz="1050" dirty="0"/>
          </a:p>
        </p:txBody>
      </p:sp>
      <p:sp>
        <p:nvSpPr>
          <p:cNvPr id="45" name="Text 39"/>
          <p:cNvSpPr txBox="1"/>
          <p:nvPr/>
        </p:nvSpPr>
        <p:spPr>
          <a:xfrm>
            <a:off x="4572000" y="36758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an HR policy</a:t>
            </a:r>
            <a:endParaRPr lang="en-US" sz="1050" dirty="0"/>
          </a:p>
        </p:txBody>
      </p:sp>
      <p:sp>
        <p:nvSpPr>
          <p:cNvPr id="46" name="Text 40"/>
          <p:cNvSpPr txBox="1"/>
          <p:nvPr/>
        </p:nvSpPr>
        <p:spPr>
          <a:xfrm>
            <a:off x="6720840" y="36758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a support ticket end-to-end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457200" y="4315968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D49A00">
              <a:alpha val="13000"/>
            </a:srgbClr>
          </a:solidFill>
          <a:ln w="9525">
            <a:solidFill>
              <a:srgbClr val="D49A00"/>
            </a:solidFill>
            <a:prstDash val="solid"/>
          </a:ln>
        </p:spPr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416552"/>
            <a:ext cx="237744" cy="237744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987552" y="431596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Beware of “agent washing”: </a:t>
            </a: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rebranding assistants, chatbots or RPA as agents without real agentic capabilities (Gartner).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Agentic AI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HOW AGENTS WORK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AI agent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3108960" y="1984248"/>
            <a:ext cx="914400" cy="0"/>
          </a:xfrm>
          <a:prstGeom prst="line">
            <a:avLst/>
          </a:prstGeom>
          <a:noFill/>
          <a:ln w="19050">
            <a:solidFill>
              <a:srgbClr val="00A86A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3108960" y="3675888"/>
            <a:ext cx="914400" cy="0"/>
          </a:xfrm>
          <a:prstGeom prst="line">
            <a:avLst/>
          </a:prstGeom>
          <a:noFill/>
          <a:ln w="19050">
            <a:solidFill>
              <a:srgbClr val="00704A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5120640" y="1984248"/>
            <a:ext cx="91440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5120640" y="3675888"/>
            <a:ext cx="914400" cy="0"/>
          </a:xfrm>
          <a:prstGeom prst="line">
            <a:avLst/>
          </a:prstGeom>
          <a:noFill/>
          <a:ln w="19050">
            <a:solidFill>
              <a:srgbClr val="C4621D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457200" y="13258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60000"/>
              </a:srgbClr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1623060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07008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658368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goals into sub-tasks; reflects on and refines its plan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57200" y="301752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60000"/>
              </a:srgbClr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3314700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207008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658368" y="3749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(context window) and long-term (external stores)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035040" y="13258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217920" y="1508760"/>
            <a:ext cx="457200" cy="457200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60000"/>
              </a:srgbClr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20" y="1623060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784848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6236208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code execution, search, databases, computer use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6035040" y="301752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217920" y="3200400"/>
            <a:ext cx="457200" cy="457200"/>
          </a:xfrm>
          <a:prstGeom prst="ellipse">
            <a:avLst/>
          </a:prstGeom>
          <a:solidFill>
            <a:srgbClr val="C4621D">
              <a:alpha val="22000"/>
            </a:srgbClr>
          </a:solidFill>
          <a:ln w="12700">
            <a:solidFill>
              <a:srgbClr val="C4621D">
                <a:alpha val="60000"/>
              </a:srgbClr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2220" y="3314700"/>
            <a:ext cx="228600" cy="2286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6784848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6236208" y="3749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perceives inputs and observes the effects of its actions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3611880" y="1847088"/>
            <a:ext cx="1920240" cy="1920240"/>
          </a:xfrm>
          <a:prstGeom prst="ellipse">
            <a:avLst/>
          </a:prstGeom>
          <a:solidFill>
            <a:srgbClr val="00A86A">
              <a:alpha val="25000"/>
            </a:srgbClr>
          </a:solidFill>
          <a:ln w="12700">
            <a:solidFill>
              <a:srgbClr val="00A86A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3794760" y="2029968"/>
            <a:ext cx="1554480" cy="1554480"/>
          </a:xfrm>
          <a:prstGeom prst="ellipse">
            <a:avLst/>
          </a:prstGeom>
          <a:solidFill>
            <a:srgbClr val="00664A"/>
          </a:solidFill>
          <a:ln w="19050">
            <a:solidFill>
              <a:srgbClr val="00A86A"/>
            </a:solidFill>
            <a:prstDash val="solid"/>
          </a:ln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2240280"/>
            <a:ext cx="457200" cy="45720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379476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700" dirty="0"/>
          </a:p>
        </p:txBody>
      </p:sp>
      <p:sp>
        <p:nvSpPr>
          <p:cNvPr id="41" name="Text 33"/>
          <p:cNvSpPr txBox="1"/>
          <p:nvPr/>
        </p:nvSpPr>
        <p:spPr>
          <a:xfrm>
            <a:off x="3794760" y="3017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engine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3337560" y="397764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D49A00">
              <a:alpha val="15000"/>
            </a:srgbClr>
          </a:solidFill>
          <a:ln w="12700">
            <a:solidFill>
              <a:srgbClr val="D49A00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3337560" y="3977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 ·  Human oversight</a:t>
            </a:r>
            <a:endParaRPr lang="en-US" sz="1100" dirty="0"/>
          </a:p>
        </p:txBody>
      </p:sp>
      <p:sp>
        <p:nvSpPr>
          <p:cNvPr id="44" name="Text 36"/>
          <p:cNvSpPr txBox="1"/>
          <p:nvPr/>
        </p:nvSpPr>
        <p:spPr>
          <a:xfrm>
            <a:off x="457200" y="45262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view adapted from Lilian Weng, “LLM Powered Autonomous Agents” (2023)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Agentic AI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HOW AGENTS WORK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</a:t>
            </a:r>
            <a:endParaRPr lang="en-US" sz="28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88720"/>
            <a:ext cx="3520440" cy="35204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297680" y="1325880"/>
            <a:ext cx="4389120" cy="2697480"/>
          </a:xfrm>
          <a:prstGeom prst="roundRect">
            <a:avLst>
              <a:gd name="adj" fmla="val 2712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526280" y="14447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IN ACTION  ·  illustrative trace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16916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“Remind Acme about their overdue invoice”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4526280" y="20116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530352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the latest unpaid invoice first.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4526280" y="2331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9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530352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search_invoices(client="Acme")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4526280" y="26517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5303520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INV-2291 · €12,400 · 34 days overdue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4526280" y="29718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530352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 a polite reminder with these details.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4526280" y="32918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9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530352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create_email_draft(to="billing@acme…")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4526280" y="3611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5303520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 saved → request human approval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297680" y="4160520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E8F5EF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480560" y="4160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stops when </a:t>
            </a: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met, a limit is reached (steps, time, budget), or human input is needed.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Agentic AI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HOW AGENTS WORK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planning techniques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32588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86000" y="149047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00704A">
              <a:alpha val="22000"/>
            </a:srgbClr>
          </a:solidFill>
          <a:ln w="9525">
            <a:solidFill>
              <a:srgbClr val="0070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286000" y="14904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58368" y="1490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658368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step by step before answering; improves multi-step problem solving.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2542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 et al.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291840" y="132588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20640" y="149047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00A86A">
              <a:alpha val="22000"/>
            </a:srgbClr>
          </a:solidFill>
          <a:ln w="9525">
            <a:solidFill>
              <a:srgbClr val="00A86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120640" y="14904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3493008" y="1490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3493008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Interleave reasoning with actions and observations — the basis of most agents.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3493008" y="2542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 et al.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126480" y="132588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955280" y="149047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C4621D">
              <a:alpha val="22000"/>
            </a:srgbClr>
          </a:solidFill>
          <a:ln w="9525">
            <a:solidFill>
              <a:srgbClr val="C4621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955280" y="14904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462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6327648" y="1490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450" dirty="0"/>
          </a:p>
        </p:txBody>
      </p:sp>
      <p:sp>
        <p:nvSpPr>
          <p:cNvPr id="29" name="Text 26"/>
          <p:cNvSpPr txBox="1"/>
          <p:nvPr/>
        </p:nvSpPr>
        <p:spPr>
          <a:xfrm>
            <a:off x="6327648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Self-critique after feedback; lessons stored in memory for the next attempt.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6327648" y="2542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Shinn et al.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57200" y="301752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286000" y="318211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0E7C86">
              <a:alpha val="22000"/>
            </a:srgbClr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286000" y="318211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658368" y="3182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of Thoughts</a:t>
            </a:r>
            <a:endParaRPr lang="en-US" sz="1450" dirty="0"/>
          </a:p>
        </p:txBody>
      </p:sp>
      <p:sp>
        <p:nvSpPr>
          <p:cNvPr id="35" name="Text 32"/>
          <p:cNvSpPr txBox="1"/>
          <p:nvPr/>
        </p:nvSpPr>
        <p:spPr>
          <a:xfrm>
            <a:off x="658368" y="3566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several reasoning paths, evaluate them and backtrack.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658368" y="4233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 et al.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291840" y="301752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120640" y="318211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D49A00">
              <a:alpha val="22000"/>
            </a:srgbClr>
          </a:solidFill>
          <a:ln w="9525">
            <a:solidFill>
              <a:srgbClr val="D49A0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120640" y="318211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3493008" y="3182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Plan-and-Solve</a:t>
            </a:r>
            <a:endParaRPr lang="en-US" sz="1450" dirty="0"/>
          </a:p>
        </p:txBody>
      </p:sp>
      <p:sp>
        <p:nvSpPr>
          <p:cNvPr id="41" name="Text 38"/>
          <p:cNvSpPr txBox="1"/>
          <p:nvPr/>
        </p:nvSpPr>
        <p:spPr>
          <a:xfrm>
            <a:off x="3493008" y="3566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devise a plan of sub-tasks, then execute them one by one.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3493008" y="4233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126480" y="301752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955280" y="318211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83B2E">
              <a:alpha val="22000"/>
            </a:srgbClr>
          </a:solidFill>
          <a:ln w="9525">
            <a:solidFill>
              <a:srgbClr val="B83B2E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955280" y="318211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6327648" y="3182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models</a:t>
            </a:r>
            <a:endParaRPr lang="en-US" sz="1450" dirty="0"/>
          </a:p>
        </p:txBody>
      </p:sp>
      <p:sp>
        <p:nvSpPr>
          <p:cNvPr id="47" name="Text 44"/>
          <p:cNvSpPr txBox="1"/>
          <p:nvPr/>
        </p:nvSpPr>
        <p:spPr>
          <a:xfrm>
            <a:off x="6327648" y="3566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to think at length before acting (e.g. OpenAI o1, Sept 2024).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6327648" y="4233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Agentic AI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HOW AGENTS WORK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how agents remember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12984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606040" y="12984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HOLDS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800600" y="12984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IMPLEMENTATION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12984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ANALOGY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200" y="160020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5EF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" y="1728216"/>
            <a:ext cx="402336" cy="402336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60000"/>
              </a:srgbClr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182880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097280" y="16002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2606040" y="160020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task: instructions, recent steps, tool results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4800600" y="160020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6995160" y="160020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hold in mind right now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57200" y="235915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94360" y="2487168"/>
            <a:ext cx="402336" cy="402336"/>
          </a:xfrm>
          <a:prstGeom prst="ellipse">
            <a:avLst/>
          </a:prstGeom>
          <a:solidFill>
            <a:srgbClr val="C4621D">
              <a:alpha val="22000"/>
            </a:srgbClr>
          </a:solidFill>
          <a:ln w="12700">
            <a:solidFill>
              <a:srgbClr val="C4621D">
                <a:alpha val="60000"/>
              </a:srgbClr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2587752"/>
            <a:ext cx="201168" cy="201168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97280" y="2359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2606040" y="235915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interactions and experiences</a:t>
            </a:r>
            <a:endParaRPr lang="en-US" sz="1050" dirty="0"/>
          </a:p>
        </p:txBody>
      </p:sp>
      <p:sp>
        <p:nvSpPr>
          <p:cNvPr id="29" name="Text 24"/>
          <p:cNvSpPr txBox="1"/>
          <p:nvPr/>
        </p:nvSpPr>
        <p:spPr>
          <a:xfrm>
            <a:off x="4800600" y="235915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62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conversation history, reflections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6995160" y="235915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Remembering last week’s meeting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57200" y="311810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5EF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94360" y="3246120"/>
            <a:ext cx="402336" cy="402336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60000"/>
              </a:srgbClr>
            </a:solidFill>
            <a:prstDash val="solid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3346704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097280" y="311810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2606040" y="3118104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and knowledge about the world or the business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4800600" y="3118104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databases, RAG, knowledge graphs</a:t>
            </a:r>
            <a:endParaRPr lang="en-US" sz="1050" dirty="0"/>
          </a:p>
        </p:txBody>
      </p:sp>
      <p:sp>
        <p:nvSpPr>
          <p:cNvPr id="37" name="Text 31"/>
          <p:cNvSpPr txBox="1"/>
          <p:nvPr/>
        </p:nvSpPr>
        <p:spPr>
          <a:xfrm>
            <a:off x="6995160" y="3118104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that Paris is in France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457200" y="387705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594360" y="4005072"/>
            <a:ext cx="402336" cy="402336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60000"/>
              </a:srgbClr>
            </a:solidFill>
            <a:prstDash val="solid"/>
          </a:ln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4105656"/>
            <a:ext cx="201168" cy="201168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1097280" y="387705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</a:t>
            </a:r>
            <a:endParaRPr lang="en-US" sz="1400" dirty="0"/>
          </a:p>
        </p:txBody>
      </p:sp>
      <p:sp>
        <p:nvSpPr>
          <p:cNvPr id="42" name="Text 35"/>
          <p:cNvSpPr txBox="1"/>
          <p:nvPr/>
        </p:nvSpPr>
        <p:spPr>
          <a:xfrm>
            <a:off x="2606040" y="3877056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and how to do things</a:t>
            </a:r>
            <a:endParaRPr lang="en-US" sz="1050" dirty="0"/>
          </a:p>
        </p:txBody>
      </p:sp>
      <p:sp>
        <p:nvSpPr>
          <p:cNvPr id="43" name="Text 36"/>
          <p:cNvSpPr txBox="1"/>
          <p:nvPr/>
        </p:nvSpPr>
        <p:spPr>
          <a:xfrm>
            <a:off x="4800600" y="3877056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weights, prompts, code, reusable skills</a:t>
            </a:r>
            <a:endParaRPr lang="en-US" sz="1050" dirty="0"/>
          </a:p>
        </p:txBody>
      </p:sp>
      <p:sp>
        <p:nvSpPr>
          <p:cNvPr id="44" name="Text 37"/>
          <p:cNvSpPr txBox="1"/>
          <p:nvPr/>
        </p:nvSpPr>
        <p:spPr>
          <a:xfrm>
            <a:off x="6995160" y="3877056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how to ride a bike</a:t>
            </a:r>
            <a:endParaRPr lang="en-US" sz="1050" dirty="0"/>
          </a:p>
        </p:txBody>
      </p:sp>
      <p:sp>
        <p:nvSpPr>
          <p:cNvPr id="45" name="Text 38"/>
          <p:cNvSpPr txBox="1"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from CoALA — Sumers et al., “Cognitive Architectures for Language Agents” (2023)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231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agentic systems built?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9436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300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17320" y="4343400"/>
            <a:ext cx="128016" cy="128016"/>
          </a:xfrm>
          <a:prstGeom prst="ellipse">
            <a:avLst/>
          </a:prstGeom>
          <a:solidFill>
            <a:srgbClr val="F5C242"/>
          </a:solidFill>
          <a:ln w="6350">
            <a:solidFill>
              <a:srgbClr val="F5C2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9164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6596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40680" y="1234440"/>
            <a:ext cx="2651760" cy="2651760"/>
          </a:xfrm>
          <a:prstGeom prst="ellipse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15000" y="1508760"/>
            <a:ext cx="2103120" cy="2103120"/>
          </a:xfrm>
          <a:prstGeom prst="ellipse">
            <a:avLst/>
          </a:prstGeom>
          <a:solidFill>
            <a:srgbClr val="FFFFFF">
              <a:alpha val="20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9320" y="178308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194560"/>
            <a:ext cx="731520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Agentic AI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49A00"/>
          </a:solidFill>
          <a:ln w="6350">
            <a:solidFill>
              <a:srgbClr val="D49A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protocols: connecting agents to the world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344168"/>
            <a:ext cx="457200" cy="45720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60000"/>
              </a:srgbClr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58468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51560" y="129844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1051560" y="1554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emits a structured tool call; the application runs it and returns the result.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60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30886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51560" y="214884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1051560" y="24048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 to connect agents to tools and data. Anthropic, Nov 2024; donated to the Linux Foundation’s Agentic AI Foundation in Dec 2025.</a:t>
            </a:r>
            <a:endParaRPr lang="en-US" sz="980" dirty="0"/>
          </a:p>
        </p:txBody>
      </p:sp>
      <p:sp>
        <p:nvSpPr>
          <p:cNvPr id="21" name="Shape 16"/>
          <p:cNvSpPr/>
          <p:nvPr/>
        </p:nvSpPr>
        <p:spPr>
          <a:xfrm>
            <a:off x="457200" y="3044952"/>
            <a:ext cx="457200" cy="457200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60000"/>
              </a:srgbClr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159252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51560" y="299923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Agent2Agent (A2A)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1051560" y="325526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protocol for agents to discover and collaborate with other agents. Google, Apr 2025; now a Linux Foundation project.</a:t>
            </a:r>
            <a:endParaRPr lang="en-US" sz="980" dirty="0"/>
          </a:p>
        </p:txBody>
      </p:sp>
      <p:sp>
        <p:nvSpPr>
          <p:cNvPr id="25" name="Shape 19"/>
          <p:cNvSpPr/>
          <p:nvPr/>
        </p:nvSpPr>
        <p:spPr>
          <a:xfrm>
            <a:off x="457200" y="3895344"/>
            <a:ext cx="457200" cy="457200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60000"/>
              </a:srgbClr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009644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51560" y="384962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use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1051560" y="41056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operate graphical interfaces via screenshots, mouse and keyboard (Anthropic, Oct 2024; OpenAI Operator, Jan 2025, now part of ChatGPT agent).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4572000" y="1325880"/>
            <a:ext cx="4114800" cy="3337560"/>
          </a:xfrm>
          <a:prstGeom prst="roundRect">
            <a:avLst>
              <a:gd name="adj" fmla="val 2192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4754880" y="1444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STANDARD MATTERS</a:t>
            </a:r>
            <a:endParaRPr lang="en-US" sz="95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1783080"/>
            <a:ext cx="3840480" cy="21031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754880" y="4114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= agent ↔ tools &amp; data      A2A = agent ↔ agent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Agentic AI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49A00"/>
          </a:solidFill>
          <a:ln w="6350">
            <a:solidFill>
              <a:srgbClr val="D49A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blocks: workflows vs. agents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280160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371600"/>
            <a:ext cx="2286000" cy="5715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21792" y="19933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621792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sequence of LLM calls, with optional checks (gates) between steps.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291840" y="1280160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1371600"/>
            <a:ext cx="2286000" cy="5715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456432" y="19933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3456432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input, then send it to the most suitable specialised handler.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126480" y="1280160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1371600"/>
            <a:ext cx="2286000" cy="5715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291072" y="19933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Parallelization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6291072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sub-tasks simultaneously (sectioning) or several times (voting), then merge.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57200" y="2907792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2999232"/>
            <a:ext cx="2286000" cy="5715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21792" y="36210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Orchestrator–workers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621792" y="38679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LLM breaks down the task dynamically and delegates to workers.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291840" y="2907792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2999232"/>
            <a:ext cx="2286000" cy="5715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456432" y="36210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Evaluator–optimizer</a:t>
            </a:r>
            <a:endParaRPr lang="en-US" sz="1250" dirty="0"/>
          </a:p>
        </p:txBody>
      </p:sp>
      <p:sp>
        <p:nvSpPr>
          <p:cNvPr id="32" name="Text 24"/>
          <p:cNvSpPr txBox="1"/>
          <p:nvPr/>
        </p:nvSpPr>
        <p:spPr>
          <a:xfrm>
            <a:off x="3456432" y="38679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generates, another critiques, in a loop until quality is met.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6126480" y="2907792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E8F5EF"/>
          </a:solidFill>
          <a:ln w="15875">
            <a:solidFill>
              <a:srgbClr val="0E7C86"/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3640" y="2999232"/>
            <a:ext cx="2286000" cy="57150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291072" y="36210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</a:t>
            </a:r>
            <a:endParaRPr lang="en-US" sz="1250" dirty="0"/>
          </a:p>
        </p:txBody>
      </p:sp>
      <p:sp>
        <p:nvSpPr>
          <p:cNvPr id="36" name="Text 27"/>
          <p:cNvSpPr txBox="1"/>
          <p:nvPr/>
        </p:nvSpPr>
        <p:spPr>
          <a:xfrm>
            <a:off x="6291072" y="38679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decides its own steps, using environment feedback, until it stops.</a:t>
            </a:r>
            <a:endParaRPr lang="en-US" sz="950" dirty="0"/>
          </a:p>
        </p:txBody>
      </p:sp>
      <p:sp>
        <p:nvSpPr>
          <p:cNvPr id="37" name="Text 28"/>
          <p:cNvSpPr txBox="1"/>
          <p:nvPr/>
        </p:nvSpPr>
        <p:spPr>
          <a:xfrm>
            <a:off x="457200" y="45537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 </a:t>
            </a:r>
            <a:r>
              <a:rPr lang="en-US" sz="10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predefined code paths — predictable.   </a:t>
            </a: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 </a:t>
            </a:r>
            <a:r>
              <a:rPr lang="en-US" sz="10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themselves — flexible.   Source: Anthropic (2024)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Agentic AI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49A00"/>
          </a:solidFill>
          <a:ln w="6350">
            <a:solidFill>
              <a:srgbClr val="D49A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298448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371600"/>
            <a:ext cx="1188720" cy="75255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40080" y="21945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Orchestrator–subagents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2441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 agent plans and delegates to specialists working in parallel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291840" y="1298448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1371600"/>
            <a:ext cx="1188720" cy="75255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474720" y="21945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3474720" y="2441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of managers — teams of agents organised in layers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126480" y="1298448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1371600"/>
            <a:ext cx="1188720" cy="75255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309360" y="21945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network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309360" y="2441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hand off or negotiate directly with one another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57200" y="3154680"/>
            <a:ext cx="3017520" cy="1508760"/>
          </a:xfrm>
          <a:prstGeom prst="roundRect">
            <a:avLst>
              <a:gd name="adj" fmla="val 4848"/>
            </a:avLst>
          </a:prstGeom>
          <a:solidFill>
            <a:srgbClr val="E8F5EF"/>
          </a:solidFill>
          <a:ln w="15875">
            <a:solidFill>
              <a:srgbClr val="00A86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40080" y="32186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+90.2%</a:t>
            </a:r>
            <a:endParaRPr lang="en-US" sz="4000" dirty="0"/>
          </a:p>
        </p:txBody>
      </p:sp>
      <p:sp>
        <p:nvSpPr>
          <p:cNvPr id="27" name="Text 21"/>
          <p:cNvSpPr txBox="1"/>
          <p:nvPr/>
        </p:nvSpPr>
        <p:spPr>
          <a:xfrm>
            <a:off x="640080" y="3858768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Anthropic’s multi-agent research system (Claude Opus 4 lead + Sonnet 4 subagents) vs. a single Opus 4 agent on an internal research eval (2025)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749040" y="3154680"/>
            <a:ext cx="4937760" cy="150876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graphicFrame>
        <p:nvGraphicFramePr>
          <p:cNvPr id="29" name="Chart 0"/>
          <p:cNvGraphicFramePr/>
          <p:nvPr/>
        </p:nvGraphicFramePr>
        <p:xfrm>
          <a:off x="3840480" y="3200400"/>
          <a:ext cx="475488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231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field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we stand today?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9436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300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1732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91640" y="4343400"/>
            <a:ext cx="128016" cy="128016"/>
          </a:xfrm>
          <a:prstGeom prst="ellipse">
            <a:avLst/>
          </a:prstGeom>
          <a:solidFill>
            <a:srgbClr val="F5C242"/>
          </a:solidFill>
          <a:ln w="6350">
            <a:solidFill>
              <a:srgbClr val="F5C24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6596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40680" y="1234440"/>
            <a:ext cx="2651760" cy="2651760"/>
          </a:xfrm>
          <a:prstGeom prst="ellipse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15000" y="1508760"/>
            <a:ext cx="2103120" cy="2103120"/>
          </a:xfrm>
          <a:prstGeom prst="ellipse">
            <a:avLst/>
          </a:prstGeom>
          <a:solidFill>
            <a:srgbClr val="FFFFFF">
              <a:alpha val="20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9320" y="178308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194560"/>
            <a:ext cx="731520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Agentic AI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C4621D"/>
          </a:solidFill>
          <a:ln w="6350">
            <a:solidFill>
              <a:srgbClr val="C4621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STATE OF THE FIELD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 of the agentic era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2971800"/>
            <a:ext cx="8229600" cy="0"/>
          </a:xfrm>
          <a:prstGeom prst="line">
            <a:avLst/>
          </a:prstGeom>
          <a:noFill/>
          <a:ln w="25400">
            <a:solidFill>
              <a:srgbClr val="D5DE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05840" y="2651760"/>
            <a:ext cx="0" cy="320040"/>
          </a:xfrm>
          <a:prstGeom prst="line">
            <a:avLst/>
          </a:prstGeom>
          <a:noFill/>
          <a:ln w="12700">
            <a:solidFill>
              <a:srgbClr val="5E696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23544" y="2889504"/>
            <a:ext cx="164592" cy="164592"/>
          </a:xfrm>
          <a:prstGeom prst="ellipse">
            <a:avLst/>
          </a:prstGeom>
          <a:solidFill>
            <a:srgbClr val="5E696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20040" y="1874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2017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20040" y="21214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 (“Attention Is All You Need”)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798320" y="2971800"/>
            <a:ext cx="0" cy="320040"/>
          </a:xfrm>
          <a:prstGeom prst="line">
            <a:avLst/>
          </a:prstGeom>
          <a:noFill/>
          <a:ln w="12700">
            <a:solidFill>
              <a:srgbClr val="00A86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716024" y="2889504"/>
            <a:ext cx="164592" cy="164592"/>
          </a:xfrm>
          <a:prstGeom prst="ellipse">
            <a:avLst/>
          </a:prstGeom>
          <a:solidFill>
            <a:srgbClr val="00A8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12520" y="3337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2022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112520" y="35844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paper: reasoning + acting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590800" y="2651760"/>
            <a:ext cx="0" cy="320040"/>
          </a:xfrm>
          <a:prstGeom prst="line">
            <a:avLst/>
          </a:prstGeom>
          <a:noFill/>
          <a:ln w="12700">
            <a:solidFill>
              <a:srgbClr val="00704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08504" y="2889504"/>
            <a:ext cx="164592" cy="164592"/>
          </a:xfrm>
          <a:prstGeom prst="ellipse">
            <a:avLst/>
          </a:prstGeom>
          <a:solidFill>
            <a:srgbClr val="0070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905000" y="1874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905000" y="21214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launches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383280" y="2971800"/>
            <a:ext cx="0" cy="320040"/>
          </a:xfrm>
          <a:prstGeom prst="line">
            <a:avLst/>
          </a:prstGeom>
          <a:noFill/>
          <a:ln w="12700">
            <a:solidFill>
              <a:srgbClr val="C4621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300984" y="2889504"/>
            <a:ext cx="164592" cy="164592"/>
          </a:xfrm>
          <a:prstGeom prst="ellipse">
            <a:avLst/>
          </a:prstGeom>
          <a:solidFill>
            <a:srgbClr val="C462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697480" y="3337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62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2023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2697480" y="35844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AutoGPT sparks the autonomous-agent wave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175760" y="2651760"/>
            <a:ext cx="0" cy="320040"/>
          </a:xfrm>
          <a:prstGeom prst="line">
            <a:avLst/>
          </a:prstGeom>
          <a:noFill/>
          <a:ln w="12700">
            <a:solidFill>
              <a:srgbClr val="0E7C8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093464" y="2889504"/>
            <a:ext cx="164592" cy="164592"/>
          </a:xfrm>
          <a:prstGeom prst="ellipse">
            <a:avLst/>
          </a:prstGeom>
          <a:solidFill>
            <a:srgbClr val="0E7C8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489960" y="1874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2023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3489960" y="21214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in the OpenAI API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968240" y="2971800"/>
            <a:ext cx="0" cy="320040"/>
          </a:xfrm>
          <a:prstGeom prst="line">
            <a:avLst/>
          </a:prstGeom>
          <a:noFill/>
          <a:ln w="12700">
            <a:solidFill>
              <a:srgbClr val="D49A0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885944" y="2889504"/>
            <a:ext cx="164592" cy="164592"/>
          </a:xfrm>
          <a:prstGeom prst="ellipse">
            <a:avLst/>
          </a:prstGeom>
          <a:solidFill>
            <a:srgbClr val="D49A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282440" y="3337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2024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4282440" y="35844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releases computer use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760720" y="2651760"/>
            <a:ext cx="0" cy="320040"/>
          </a:xfrm>
          <a:prstGeom prst="line">
            <a:avLst/>
          </a:prstGeom>
          <a:noFill/>
          <a:ln w="12700">
            <a:solidFill>
              <a:srgbClr val="00704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678424" y="2889504"/>
            <a:ext cx="164592" cy="164592"/>
          </a:xfrm>
          <a:prstGeom prst="ellipse">
            <a:avLst/>
          </a:prstGeom>
          <a:solidFill>
            <a:srgbClr val="0070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074920" y="1874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2024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5074920" y="21214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open-sources MCP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553200" y="2971800"/>
            <a:ext cx="0" cy="320040"/>
          </a:xfrm>
          <a:prstGeom prst="line">
            <a:avLst/>
          </a:prstGeom>
          <a:noFill/>
          <a:ln w="12700">
            <a:solidFill>
              <a:srgbClr val="00A86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470904" y="2889504"/>
            <a:ext cx="164592" cy="164592"/>
          </a:xfrm>
          <a:prstGeom prst="ellipse">
            <a:avLst/>
          </a:prstGeom>
          <a:solidFill>
            <a:srgbClr val="00A8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867400" y="3337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2025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5867400" y="35844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coding &amp; deep research tools go mainstream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345680" y="2651760"/>
            <a:ext cx="0" cy="320040"/>
          </a:xfrm>
          <a:prstGeom prst="line">
            <a:avLst/>
          </a:prstGeom>
          <a:noFill/>
          <a:ln w="12700">
            <a:solidFill>
              <a:srgbClr val="0E7C86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263384" y="2889504"/>
            <a:ext cx="164592" cy="164592"/>
          </a:xfrm>
          <a:prstGeom prst="ellipse">
            <a:avLst/>
          </a:prstGeom>
          <a:solidFill>
            <a:srgbClr val="0E7C8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659880" y="1874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2025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6659880" y="21214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announces the A2A protocol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8138160" y="2971800"/>
            <a:ext cx="0" cy="320040"/>
          </a:xfrm>
          <a:prstGeom prst="line">
            <a:avLst/>
          </a:prstGeom>
          <a:noFill/>
          <a:ln w="12700">
            <a:solidFill>
              <a:srgbClr val="D49A0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055864" y="2889504"/>
            <a:ext cx="164592" cy="164592"/>
          </a:xfrm>
          <a:prstGeom prst="ellipse">
            <a:avLst/>
          </a:prstGeom>
          <a:solidFill>
            <a:srgbClr val="D49A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452360" y="3337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</a:t>
            </a:r>
            <a:endParaRPr lang="en-US" sz="1200" dirty="0"/>
          </a:p>
        </p:txBody>
      </p:sp>
      <p:sp>
        <p:nvSpPr>
          <p:cNvPr id="53" name="Text 50"/>
          <p:cNvSpPr txBox="1"/>
          <p:nvPr/>
        </p:nvSpPr>
        <p:spPr>
          <a:xfrm>
            <a:off x="7452360" y="35844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Foundation forms the Agentic AI Foundation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2025 examples: Anthropic Claude Code (research preview) and OpenAI Deep Research.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Agentic AI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C4621D"/>
          </a:solidFill>
          <a:ln w="6350">
            <a:solidFill>
              <a:srgbClr val="C4621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STATE OF THE FIELD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 at a glance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32588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6000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1595628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40080" y="20299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frameworks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594360" y="256032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(LangChain)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Agent Framework (successor to AutoGen &amp; Semantic Kernel)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goose (now under AAIF)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560320" y="132588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743200" y="1481328"/>
            <a:ext cx="457200" cy="45720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60000"/>
              </a:srgbClr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0" y="1595628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2743200" y="20299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agent SDKs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2697480" y="256032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 SDK (Anthropic)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 Kit (Google)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Agents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663440" y="132588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846320" y="1481328"/>
            <a:ext cx="457200" cy="457200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60000"/>
              </a:srgbClr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620" y="1595628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846320" y="20299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products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4800600" y="256032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Coding: Claude Code, OpenAI Codex, GitHub Copilot, Cursor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Deep Research (OpenAI, Google)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Salesforce Agentforce, Microsoft Copilot Studio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766560" y="132588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949440" y="1481328"/>
            <a:ext cx="457200" cy="457200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60000"/>
              </a:srgbClr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3740" y="1595628"/>
            <a:ext cx="228600" cy="2286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949440" y="20299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standards</a:t>
            </a:r>
            <a:endParaRPr lang="en-US" sz="1350" dirty="0"/>
          </a:p>
        </p:txBody>
      </p:sp>
      <p:sp>
        <p:nvSpPr>
          <p:cNvPr id="32" name="Text 25"/>
          <p:cNvSpPr txBox="1"/>
          <p:nvPr/>
        </p:nvSpPr>
        <p:spPr>
          <a:xfrm>
            <a:off x="6903720" y="256032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agent ↔ tools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— agent ↔ agent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— guidance for coding agents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45262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Non-exhaustive selection — the landscape evolves rapidly.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Agentic AI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C4621D"/>
          </a:solidFill>
          <a:ln w="6350">
            <a:solidFill>
              <a:srgbClr val="C4621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STATE OF THE FIELD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agents: benchmarks &amp; progress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325880"/>
            <a:ext cx="3474720" cy="475488"/>
          </a:xfrm>
          <a:prstGeom prst="roundRect">
            <a:avLst>
              <a:gd name="adj" fmla="val 15385"/>
            </a:avLst>
          </a:prstGeom>
          <a:solidFill>
            <a:srgbClr val="E8F5EF"/>
          </a:solidFill>
          <a:ln w="9525">
            <a:solidFill>
              <a:srgbClr val="00A86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13716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Verified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21792" y="15727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real GitHub issues (500 human-validated tasks)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1874520"/>
            <a:ext cx="3474720" cy="475488"/>
          </a:xfrm>
          <a:prstGeom prst="roundRect">
            <a:avLst>
              <a:gd name="adj" fmla="val 15385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1792" y="1920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Pro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621792" y="21214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Harder, more contamination-resistant successor (Scale AI, 2025)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2423160"/>
            <a:ext cx="3474720" cy="475488"/>
          </a:xfrm>
          <a:prstGeom prst="roundRect">
            <a:avLst>
              <a:gd name="adj" fmla="val 15385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" y="24688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OSWorld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21792" y="2670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tasks on real desktop operating systems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2971800"/>
            <a:ext cx="3474720" cy="475488"/>
          </a:xfrm>
          <a:prstGeom prst="roundRect">
            <a:avLst>
              <a:gd name="adj" fmla="val 15385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1792" y="3017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WebArena · GAIA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21792" y="32186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tasks · general-assistant questions with tools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3520440"/>
            <a:ext cx="3474720" cy="475488"/>
          </a:xfrm>
          <a:prstGeom prst="roundRect">
            <a:avLst>
              <a:gd name="adj" fmla="val 15385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1792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τ-bench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621792" y="37673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Customer-service dialogues with tools and policies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57200" y="411480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D49A00">
              <a:alpha val="13000"/>
            </a:srgbClr>
          </a:solidFill>
          <a:ln w="9525">
            <a:solidFill>
              <a:srgbClr val="D49A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94360" y="41148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</a:t>
            </a:r>
            <a:r>
              <a:rPr lang="en-US" sz="9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Feb 2026 OpenAI stopped reporting SWE-bench Verified (contamination, flawed tests) and now recommends SWE-bench Pro.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60520" y="1325880"/>
            <a:ext cx="4526280" cy="3337560"/>
          </a:xfrm>
          <a:prstGeom prst="roundRect">
            <a:avLst>
              <a:gd name="adj" fmla="val 2192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graphicFrame>
        <p:nvGraphicFramePr>
          <p:cNvPr id="31" name="Chart 0"/>
          <p:cNvGraphicFramePr/>
          <p:nvPr/>
        </p:nvGraphicFramePr>
        <p:xfrm>
          <a:off x="4206240" y="1371600"/>
          <a:ext cx="44348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2" name="Text 28"/>
          <p:cNvSpPr txBox="1"/>
          <p:nvPr/>
        </p:nvSpPr>
        <p:spPr>
          <a:xfrm>
            <a:off x="4343400" y="43159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Vendor-reported at launch (GPT-5 on 477 of 500 tasks). Scaffolds differ: compare trends, not decimals.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Agentic AI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C4621D"/>
          </a:solidFill>
          <a:ln w="6350">
            <a:solidFill>
              <a:srgbClr val="C4621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STATE OF THE FIELD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Momentum: capability and adoption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3258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1417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mo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212140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time of the length of tasks frontier agents complete with 50% reliability (2019–2025)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28529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METR, Mar 2025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291840" y="13258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474720" y="1417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 → 40%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3474720" y="212140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apps integrating task-specific AI agents, 2025 → end of 2026 (forecast)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3474720" y="28529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Gartner, Aug 2025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126480" y="13258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09360" y="1417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→ ~30%</a:t>
            </a:r>
            <a:endParaRPr lang="en-US" sz="3200" dirty="0"/>
          </a:p>
        </p:txBody>
      </p:sp>
      <p:sp>
        <p:nvSpPr>
          <p:cNvPr id="23" name="Text 20"/>
          <p:cNvSpPr txBox="1"/>
          <p:nvPr/>
        </p:nvSpPr>
        <p:spPr>
          <a:xfrm>
            <a:off x="6309360" y="212140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enterprise app software revenue driven by agentic AI, 2025 → 2035 (best case, &gt;$450B)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6309360" y="28529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Gartner, Aug 2025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3337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GARTNER’S EXPECTED EVOLUTION OF ENTERPRISE AI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3657600"/>
            <a:ext cx="2834640" cy="914400"/>
          </a:xfrm>
          <a:prstGeom prst="chevron">
            <a:avLst/>
          </a:prstGeom>
          <a:solidFill>
            <a:srgbClr val="00A86A"/>
          </a:solidFill>
          <a:ln w="12700">
            <a:solidFill>
              <a:srgbClr val="00A86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05840" y="3730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005840" y="40050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embedded in almost every enterprise app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246120" y="3657600"/>
            <a:ext cx="2834640" cy="914400"/>
          </a:xfrm>
          <a:prstGeom prst="chevron">
            <a:avLst/>
          </a:prstGeom>
          <a:solidFill>
            <a:srgbClr val="008A57"/>
          </a:solidFill>
          <a:ln w="12700">
            <a:solidFill>
              <a:srgbClr val="008A5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794760" y="3730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3794760" y="40050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 agents in 40% of enterprise apps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035040" y="3657600"/>
            <a:ext cx="2834640" cy="914400"/>
          </a:xfrm>
          <a:prstGeom prst="chevron">
            <a:avLst/>
          </a:prstGeom>
          <a:solidFill>
            <a:srgbClr val="00664A"/>
          </a:solidFill>
          <a:ln w="12700">
            <a:solidFill>
              <a:srgbClr val="00664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583680" y="3730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6583680" y="40050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ecosystems collaborating across apps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Agentic AI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C4621D"/>
          </a:solidFill>
          <a:ln w="6350">
            <a:solidFill>
              <a:srgbClr val="C4621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APPLICATIONS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agents are creating value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3258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1545336"/>
            <a:ext cx="530352" cy="530352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6000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" y="1677924"/>
            <a:ext cx="265176" cy="26517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371600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1371600" y="17647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codebases, write &amp; test code, fix bugs, open pull requests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663440" y="13258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864608" y="1545336"/>
            <a:ext cx="530352" cy="530352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60000"/>
              </a:srgbClr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196" y="1677924"/>
            <a:ext cx="265176" cy="26517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577840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5577840" y="17647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requests end-to-end with tools, escalate to humans when needed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57200" y="2450592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58368" y="2670048"/>
            <a:ext cx="530352" cy="530352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60000"/>
              </a:srgbClr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" y="2802636"/>
            <a:ext cx="265176" cy="26517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analysis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1371600" y="28895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many sources, cross-check them and write cited reports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663440" y="2450592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864608" y="2670048"/>
            <a:ext cx="530352" cy="530352"/>
          </a:xfrm>
          <a:prstGeom prst="ellipse">
            <a:avLst/>
          </a:prstGeom>
          <a:solidFill>
            <a:srgbClr val="B83B2E">
              <a:alpha val="22000"/>
            </a:srgbClr>
          </a:solidFill>
          <a:ln w="12700">
            <a:solidFill>
              <a:srgbClr val="B83B2E">
                <a:alpha val="60000"/>
              </a:srgbClr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7196" y="2802636"/>
            <a:ext cx="265176" cy="26517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57784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security ops</a:t>
            </a:r>
            <a:endParaRPr lang="en-US" sz="1450" dirty="0"/>
          </a:p>
        </p:txBody>
      </p:sp>
      <p:sp>
        <p:nvSpPr>
          <p:cNvPr id="32" name="Text 25"/>
          <p:cNvSpPr txBox="1"/>
          <p:nvPr/>
        </p:nvSpPr>
        <p:spPr>
          <a:xfrm>
            <a:off x="5577840" y="28895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alerts and incidents, gather evidence, propose remediation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457200" y="3575304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58368" y="3794760"/>
            <a:ext cx="530352" cy="530352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60000"/>
              </a:srgbClr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956" y="3927348"/>
            <a:ext cx="265176" cy="265176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371600" y="3730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back-office</a:t>
            </a:r>
            <a:endParaRPr lang="en-US" sz="1450" dirty="0"/>
          </a:p>
        </p:txBody>
      </p:sp>
      <p:sp>
        <p:nvSpPr>
          <p:cNvPr id="37" name="Text 29"/>
          <p:cNvSpPr txBox="1"/>
          <p:nvPr/>
        </p:nvSpPr>
        <p:spPr>
          <a:xfrm>
            <a:off x="1371600" y="40142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documents, reconcile records, prepare reports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4663440" y="3575304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4864608" y="3794760"/>
            <a:ext cx="530352" cy="530352"/>
          </a:xfrm>
          <a:prstGeom prst="ellipse">
            <a:avLst/>
          </a:prstGeom>
          <a:solidFill>
            <a:srgbClr val="C4621D">
              <a:alpha val="22000"/>
            </a:srgbClr>
          </a:solidFill>
          <a:ln w="12700">
            <a:solidFill>
              <a:srgbClr val="C4621D">
                <a:alpha val="60000"/>
              </a:srgbClr>
            </a:solidFill>
            <a:prstDash val="solid"/>
          </a:ln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7196" y="3927348"/>
            <a:ext cx="265176" cy="265176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5577840" y="3730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450" dirty="0"/>
          </a:p>
        </p:txBody>
      </p:sp>
      <p:sp>
        <p:nvSpPr>
          <p:cNvPr id="42" name="Text 33"/>
          <p:cNvSpPr txBox="1"/>
          <p:nvPr/>
        </p:nvSpPr>
        <p:spPr>
          <a:xfrm>
            <a:off x="5577840" y="40142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accounts, qualify leads, personalise outreach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231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it right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deploy agents safely — and create value?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9436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300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1732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91640" y="43434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65960" y="4343400"/>
            <a:ext cx="128016" cy="128016"/>
          </a:xfrm>
          <a:prstGeom prst="ellipse">
            <a:avLst/>
          </a:prstGeom>
          <a:solidFill>
            <a:srgbClr val="F5C242"/>
          </a:solidFill>
          <a:ln w="6350">
            <a:solidFill>
              <a:srgbClr val="F5C2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40680" y="1234440"/>
            <a:ext cx="2651760" cy="2651760"/>
          </a:xfrm>
          <a:prstGeom prst="ellipse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15000" y="1508760"/>
            <a:ext cx="2103120" cy="2103120"/>
          </a:xfrm>
          <a:prstGeom prst="ellipse">
            <a:avLst/>
          </a:prstGeom>
          <a:solidFill>
            <a:srgbClr val="FFFFFF">
              <a:alpha val="20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9320" y="178308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194560"/>
            <a:ext cx="731520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Agentic AI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B83B2E"/>
          </a:solidFill>
          <a:ln w="6350">
            <a:solidFill>
              <a:srgbClr val="B83B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DOING IT RIGHT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reliability is the hard part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compound over long tasks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step succeeds independently with probability p, a task of n steps succeeds with probability: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42316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E8F5EF"/>
          </a:solidFill>
          <a:ln w="9525">
            <a:solidFill>
              <a:srgbClr val="00A86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4231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P(success) = p</a:t>
            </a:r>
            <a:r>
              <a:rPr lang="en-US" sz="2600" b="1" baseline="30000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2918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per step → only 36% after 20 steps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steps are not fully independent — this is a simplified model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Remedy: verification, checkpoints, retries and human review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389120" y="1325880"/>
            <a:ext cx="4297680" cy="3337560"/>
          </a:xfrm>
          <a:prstGeom prst="roundRect">
            <a:avLst>
              <a:gd name="adj" fmla="val 2192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graphicFrame>
        <p:nvGraphicFramePr>
          <p:cNvPr id="19" name="Chart 0"/>
          <p:cNvGraphicFramePr/>
          <p:nvPr/>
        </p:nvGraphicFramePr>
        <p:xfrm>
          <a:off x="4480560" y="1417320"/>
          <a:ext cx="41148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Agentic AI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B83B2E"/>
          </a:solidFill>
          <a:ln w="6350">
            <a:solidFill>
              <a:srgbClr val="B83B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DOING IT RIGHT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and challenges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32588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" y="1463040"/>
            <a:ext cx="384048" cy="384048"/>
          </a:xfrm>
          <a:prstGeom prst="ellipse">
            <a:avLst/>
          </a:prstGeom>
          <a:solidFill>
            <a:srgbClr val="B83B2E">
              <a:alpha val="22000"/>
            </a:srgbClr>
          </a:solidFill>
          <a:ln w="12700">
            <a:solidFill>
              <a:srgbClr val="B83B2E">
                <a:alpha val="6000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1559052"/>
            <a:ext cx="192024" cy="19202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5156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94360" y="1874520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instructions hidden in web pages, documents or emails hijack the agent. #1 in the OWASP Top 10 for LLM Apps (2025).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246120" y="132588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383280" y="1463040"/>
            <a:ext cx="384048" cy="384048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60000"/>
              </a:srgbClr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9292" y="1559052"/>
            <a:ext cx="192024" cy="19202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84048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agency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3383280" y="1874520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permissions or too much autonomy turn a small error into real damage (OWASP LLM06:2025).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57200" y="2450592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94360" y="2587752"/>
            <a:ext cx="384048" cy="384048"/>
          </a:xfrm>
          <a:prstGeom prst="ellipse">
            <a:avLst/>
          </a:prstGeom>
          <a:solidFill>
            <a:srgbClr val="C4621D">
              <a:alpha val="22000"/>
            </a:srgbClr>
          </a:solidFill>
          <a:ln w="12700">
            <a:solidFill>
              <a:srgbClr val="C4621D">
                <a:alpha val="60000"/>
              </a:srgbClr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" y="2683764"/>
            <a:ext cx="192024" cy="19202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5156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errors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94360" y="2999232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facts or wrong actions, amplified over long multi-step tasks.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246120" y="2450592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383280" y="2587752"/>
            <a:ext cx="384048" cy="384048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60000"/>
              </a:srgbClr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9292" y="2683764"/>
            <a:ext cx="192024" cy="19202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384048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latency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3383280" y="2999232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model calls per task: agents use far more tokens and time than chat.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457200" y="3575304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594360" y="3712464"/>
            <a:ext cx="384048" cy="384048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60000"/>
              </a:srgbClr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" y="3808476"/>
            <a:ext cx="192024" cy="19202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051560" y="37581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594360" y="4123944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approved what? Actions must be traceable, auditable and reversible.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3246120" y="3575304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3383280" y="3712464"/>
            <a:ext cx="384048" cy="384048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60000"/>
              </a:srgbClr>
            </a:solidFill>
            <a:prstDash val="solid"/>
          </a:ln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9292" y="3808476"/>
            <a:ext cx="192024" cy="192024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3840480" y="37581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exposure</a:t>
            </a:r>
            <a:endParaRPr lang="en-US" sz="1300" dirty="0"/>
          </a:p>
        </p:txBody>
      </p:sp>
      <p:sp>
        <p:nvSpPr>
          <p:cNvPr id="42" name="Text 33"/>
          <p:cNvSpPr txBox="1"/>
          <p:nvPr/>
        </p:nvSpPr>
        <p:spPr>
          <a:xfrm>
            <a:off x="3383280" y="4123944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with broad data access can leak sensitive information (OWASP LLM02:2025).</a:t>
            </a:r>
            <a:endParaRPr lang="en-US" sz="900" dirty="0"/>
          </a:p>
        </p:txBody>
      </p:sp>
      <p:sp>
        <p:nvSpPr>
          <p:cNvPr id="43" name="Shape 34"/>
          <p:cNvSpPr/>
          <p:nvPr/>
        </p:nvSpPr>
        <p:spPr>
          <a:xfrm>
            <a:off x="6126480" y="1325880"/>
            <a:ext cx="2560320" cy="3236976"/>
          </a:xfrm>
          <a:prstGeom prst="roundRect">
            <a:avLst>
              <a:gd name="adj" fmla="val 2857"/>
            </a:avLst>
          </a:prstGeom>
          <a:solidFill>
            <a:srgbClr val="B83B2E">
              <a:alpha val="14000"/>
            </a:srgbClr>
          </a:solidFill>
          <a:ln w="15875">
            <a:solidFill>
              <a:srgbClr val="B83B2E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6309360" y="1463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B8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40%+</a:t>
            </a:r>
            <a:endParaRPr lang="en-US" sz="4400" dirty="0"/>
          </a:p>
        </p:txBody>
      </p:sp>
      <p:sp>
        <p:nvSpPr>
          <p:cNvPr id="45" name="Text 36"/>
          <p:cNvSpPr txBox="1"/>
          <p:nvPr/>
        </p:nvSpPr>
        <p:spPr>
          <a:xfrm>
            <a:off x="6309360" y="2176272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agentic AI projects will be canceled by end of 2027 — due to rising costs, unclear business value or weak risk controls.</a:t>
            </a:r>
            <a:endParaRPr lang="en-US" sz="1100" dirty="0"/>
          </a:p>
        </p:txBody>
      </p:sp>
      <p:sp>
        <p:nvSpPr>
          <p:cNvPr id="46" name="Text 37"/>
          <p:cNvSpPr txBox="1"/>
          <p:nvPr/>
        </p:nvSpPr>
        <p:spPr>
          <a:xfrm>
            <a:off x="6309360" y="31272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~130</a:t>
            </a:r>
            <a:endParaRPr lang="en-US" sz="2800" dirty="0"/>
          </a:p>
        </p:txBody>
      </p:sp>
      <p:sp>
        <p:nvSpPr>
          <p:cNvPr id="47" name="Text 38"/>
          <p:cNvSpPr txBox="1"/>
          <p:nvPr/>
        </p:nvSpPr>
        <p:spPr>
          <a:xfrm>
            <a:off x="6309360" y="35844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agentic vendors among thousands — the rest is “agent washing”.</a:t>
            </a:r>
            <a:endParaRPr lang="en-US" sz="1100" dirty="0"/>
          </a:p>
        </p:txBody>
      </p:sp>
      <p:sp>
        <p:nvSpPr>
          <p:cNvPr id="48" name="Text 39"/>
          <p:cNvSpPr txBox="1"/>
          <p:nvPr/>
        </p:nvSpPr>
        <p:spPr>
          <a:xfrm>
            <a:off x="6309360" y="42245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Gartner, June 2025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Agentic AI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B83B2E"/>
          </a:solidFill>
          <a:ln w="6350">
            <a:solidFill>
              <a:srgbClr val="B83B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DOING IT RIGHT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human oversight to the risk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32588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1481328"/>
            <a:ext cx="502920" cy="502920"/>
          </a:xfrm>
          <a:prstGeom prst="ellipse">
            <a:avLst/>
          </a:prstGeom>
          <a:solidFill>
            <a:srgbClr val="B83B2E">
              <a:alpha val="22000"/>
            </a:srgbClr>
          </a:solidFill>
          <a:ln w="12700">
            <a:solidFill>
              <a:srgbClr val="B83B2E">
                <a:alpha val="6000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1607058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874520" y="15179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b="1" kern="0" spc="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2130552" y="173736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B83B2E"/>
          </a:solidFill>
          <a:ln w="6350">
            <a:solidFill>
              <a:srgbClr val="B83B2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386584" y="173736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B83B2E"/>
          </a:solidFill>
          <a:ln w="6350">
            <a:solidFill>
              <a:srgbClr val="B83B2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642616" y="173736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B83B2E"/>
          </a:solidFill>
          <a:ln w="6350">
            <a:solidFill>
              <a:srgbClr val="B83B2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0080" y="21031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8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640080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approves each key action before it runs.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640080" y="29992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640080" y="31821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High-impact or irreversible actions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640080" y="35661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850" dirty="0"/>
          </a:p>
        </p:txBody>
      </p:sp>
      <p:sp>
        <p:nvSpPr>
          <p:cNvPr id="25" name="Text 21"/>
          <p:cNvSpPr txBox="1"/>
          <p:nvPr/>
        </p:nvSpPr>
        <p:spPr>
          <a:xfrm>
            <a:off x="640080" y="3749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emails to clients, production deployments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291840" y="132588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474720" y="1481328"/>
            <a:ext cx="502920" cy="502920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60000"/>
              </a:srgbClr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450" y="1607058"/>
            <a:ext cx="251460" cy="25146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4709160" y="15179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b="1" kern="0" spc="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</a:t>
            </a:r>
            <a:endParaRPr lang="en-US" sz="750" dirty="0"/>
          </a:p>
        </p:txBody>
      </p:sp>
      <p:sp>
        <p:nvSpPr>
          <p:cNvPr id="30" name="Shape 25"/>
          <p:cNvSpPr/>
          <p:nvPr/>
        </p:nvSpPr>
        <p:spPr>
          <a:xfrm>
            <a:off x="4965192" y="173736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D49A00"/>
          </a:solidFill>
          <a:ln w="6350">
            <a:solidFill>
              <a:srgbClr val="D49A0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221224" y="173736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D49A00"/>
          </a:solidFill>
          <a:ln w="6350">
            <a:solidFill>
              <a:srgbClr val="D49A0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477256" y="173736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3474720" y="21031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on the loop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3474720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acts; a person monitors and can intervene or roll back.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3474720" y="29992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</a:t>
            </a:r>
            <a:endParaRPr lang="en-US" sz="850" dirty="0"/>
          </a:p>
        </p:txBody>
      </p:sp>
      <p:sp>
        <p:nvSpPr>
          <p:cNvPr id="36" name="Text 31"/>
          <p:cNvSpPr txBox="1"/>
          <p:nvPr/>
        </p:nvSpPr>
        <p:spPr>
          <a:xfrm>
            <a:off x="3474720" y="31821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risk, reversible actions</a:t>
            </a:r>
            <a:endParaRPr lang="en-US" sz="1050" dirty="0"/>
          </a:p>
        </p:txBody>
      </p:sp>
      <p:sp>
        <p:nvSpPr>
          <p:cNvPr id="37" name="Text 32"/>
          <p:cNvSpPr txBox="1"/>
          <p:nvPr/>
        </p:nvSpPr>
        <p:spPr>
          <a:xfrm>
            <a:off x="3474720" y="35661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850" dirty="0"/>
          </a:p>
        </p:txBody>
      </p:sp>
      <p:sp>
        <p:nvSpPr>
          <p:cNvPr id="38" name="Text 33"/>
          <p:cNvSpPr txBox="1"/>
          <p:nvPr/>
        </p:nvSpPr>
        <p:spPr>
          <a:xfrm>
            <a:off x="3474720" y="3749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triage, code changes on a separate branch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6126480" y="132588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309360" y="1481328"/>
            <a:ext cx="502920" cy="502920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60000"/>
              </a:srgbClr>
            </a:solidFill>
            <a:prstDash val="solid"/>
          </a:ln>
        </p:spPr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5090" y="1607058"/>
            <a:ext cx="251460" cy="251460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7543800" y="15179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b="1" kern="0" spc="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</a:t>
            </a:r>
            <a:endParaRPr lang="en-US" sz="750" dirty="0"/>
          </a:p>
        </p:txBody>
      </p:sp>
      <p:sp>
        <p:nvSpPr>
          <p:cNvPr id="43" name="Shape 37"/>
          <p:cNvSpPr/>
          <p:nvPr/>
        </p:nvSpPr>
        <p:spPr>
          <a:xfrm>
            <a:off x="7799832" y="173736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8055864" y="173736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8311896" y="173736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6309360" y="21031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out of the loop</a:t>
            </a:r>
            <a:endParaRPr lang="en-US" sz="1500" dirty="0"/>
          </a:p>
        </p:txBody>
      </p:sp>
      <p:sp>
        <p:nvSpPr>
          <p:cNvPr id="47" name="Text 41"/>
          <p:cNvSpPr txBox="1"/>
          <p:nvPr/>
        </p:nvSpPr>
        <p:spPr>
          <a:xfrm>
            <a:off x="6309360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 within strict, tested limits.</a:t>
            </a:r>
            <a:endParaRPr lang="en-US" sz="1050" dirty="0"/>
          </a:p>
        </p:txBody>
      </p:sp>
      <p:sp>
        <p:nvSpPr>
          <p:cNvPr id="48" name="Text 42"/>
          <p:cNvSpPr txBox="1"/>
          <p:nvPr/>
        </p:nvSpPr>
        <p:spPr>
          <a:xfrm>
            <a:off x="6309360" y="29992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</a:t>
            </a:r>
            <a:endParaRPr lang="en-US" sz="850" dirty="0"/>
          </a:p>
        </p:txBody>
      </p:sp>
      <p:sp>
        <p:nvSpPr>
          <p:cNvPr id="49" name="Text 43"/>
          <p:cNvSpPr txBox="1"/>
          <p:nvPr/>
        </p:nvSpPr>
        <p:spPr>
          <a:xfrm>
            <a:off x="6309360" y="31821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risk, easily reversible, well-evaluated tasks</a:t>
            </a:r>
            <a:endParaRPr lang="en-US" sz="1050" dirty="0"/>
          </a:p>
        </p:txBody>
      </p:sp>
      <p:sp>
        <p:nvSpPr>
          <p:cNvPr id="50" name="Text 44"/>
          <p:cNvSpPr txBox="1"/>
          <p:nvPr/>
        </p:nvSpPr>
        <p:spPr>
          <a:xfrm>
            <a:off x="6309360" y="35661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850" dirty="0"/>
          </a:p>
        </p:txBody>
      </p:sp>
      <p:sp>
        <p:nvSpPr>
          <p:cNvPr id="51" name="Text 45"/>
          <p:cNvSpPr txBox="1"/>
          <p:nvPr/>
        </p:nvSpPr>
        <p:spPr>
          <a:xfrm>
            <a:off x="6309360" y="3749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documents, summarising logs</a:t>
            </a:r>
            <a:endParaRPr lang="en-US" sz="1000" dirty="0"/>
          </a:p>
        </p:txBody>
      </p:sp>
      <p:sp>
        <p:nvSpPr>
          <p:cNvPr id="52" name="Text 46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</a:t>
            </a: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higher the impact and the harder to undo, the closer the human must stay. Loosen oversight only as evaluations build trust.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Agentic AI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B83B2E"/>
          </a:solidFill>
          <a:ln w="6350">
            <a:solidFill>
              <a:srgbClr val="B83B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DOING IT RIGHT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 for reliable agents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325880"/>
            <a:ext cx="2560320" cy="3337560"/>
          </a:xfrm>
          <a:prstGeom prst="roundRect">
            <a:avLst>
              <a:gd name="adj" fmla="val 285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6000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157734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23444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58368" y="2157984"/>
            <a:ext cx="128016" cy="128016"/>
          </a:xfrm>
          <a:prstGeom prst="ellipse">
            <a:avLst/>
          </a:prstGeom>
          <a:solidFill>
            <a:srgbClr val="00A86A"/>
          </a:solidFill>
          <a:ln w="12700">
            <a:solidFill>
              <a:srgbClr val="00A86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96112" y="210312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896112" y="235915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LLM call or workflow first; add autonomy only when it measurably helps.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58368" y="3008376"/>
            <a:ext cx="128016" cy="128016"/>
          </a:xfrm>
          <a:prstGeom prst="ellipse">
            <a:avLst/>
          </a:prstGeom>
          <a:solidFill>
            <a:srgbClr val="00A86A"/>
          </a:solidFill>
          <a:ln w="12700">
            <a:solidFill>
              <a:srgbClr val="00A86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96112" y="295351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tool design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896112" y="3209544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names, descriptions, examples and error messages.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58368" y="3858768"/>
            <a:ext cx="128016" cy="128016"/>
          </a:xfrm>
          <a:prstGeom prst="ellipse">
            <a:avLst/>
          </a:prstGeom>
          <a:solidFill>
            <a:srgbClr val="00A86A"/>
          </a:solidFill>
          <a:ln w="12700">
            <a:solidFill>
              <a:srgbClr val="00A86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96112" y="380390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continuously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896112" y="405993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Task-level evals built from real cases, run before every change.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291840" y="1325880"/>
            <a:ext cx="2560320" cy="3337560"/>
          </a:xfrm>
          <a:prstGeom prst="roundRect">
            <a:avLst>
              <a:gd name="adj" fmla="val 285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474720" y="1463040"/>
            <a:ext cx="457200" cy="45720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60000"/>
              </a:srgbClr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020" y="1577340"/>
            <a:ext cx="228600" cy="22860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406908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3493008" y="2157984"/>
            <a:ext cx="128016" cy="128016"/>
          </a:xfrm>
          <a:prstGeom prst="ellipse">
            <a:avLst/>
          </a:prstGeom>
          <a:solidFill>
            <a:srgbClr val="00704A"/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3730752" y="210312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250" dirty="0"/>
          </a:p>
        </p:txBody>
      </p:sp>
      <p:sp>
        <p:nvSpPr>
          <p:cNvPr id="32" name="Text 27"/>
          <p:cNvSpPr txBox="1"/>
          <p:nvPr/>
        </p:nvSpPr>
        <p:spPr>
          <a:xfrm>
            <a:off x="3730752" y="235915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permissions; sandbox code execution and browsing.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3493008" y="3008376"/>
            <a:ext cx="128016" cy="128016"/>
          </a:xfrm>
          <a:prstGeom prst="ellipse">
            <a:avLst/>
          </a:prstGeom>
          <a:solidFill>
            <a:srgbClr val="00704A"/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3730752" y="295351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inputs as untrusted</a:t>
            </a:r>
            <a:endParaRPr lang="en-US" sz="1250" dirty="0"/>
          </a:p>
        </p:txBody>
      </p:sp>
      <p:sp>
        <p:nvSpPr>
          <p:cNvPr id="35" name="Text 30"/>
          <p:cNvSpPr txBox="1"/>
          <p:nvPr/>
        </p:nvSpPr>
        <p:spPr>
          <a:xfrm>
            <a:off x="3730752" y="3209544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instructions from data to limit prompt injection.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493008" y="3858768"/>
            <a:ext cx="128016" cy="128016"/>
          </a:xfrm>
          <a:prstGeom prst="ellipse">
            <a:avLst/>
          </a:prstGeom>
          <a:solidFill>
            <a:srgbClr val="00704A"/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730752" y="380390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risky actions</a:t>
            </a:r>
            <a:endParaRPr lang="en-US" sz="1250" dirty="0"/>
          </a:p>
        </p:txBody>
      </p:sp>
      <p:sp>
        <p:nvSpPr>
          <p:cNvPr id="38" name="Text 33"/>
          <p:cNvSpPr txBox="1"/>
          <p:nvPr/>
        </p:nvSpPr>
        <p:spPr>
          <a:xfrm>
            <a:off x="3730752" y="405993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for irreversible, costly or sensitive steps.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6126480" y="1325880"/>
            <a:ext cx="2560320" cy="3337560"/>
          </a:xfrm>
          <a:prstGeom prst="roundRect">
            <a:avLst>
              <a:gd name="adj" fmla="val 285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309360" y="1463040"/>
            <a:ext cx="457200" cy="457200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60000"/>
              </a:srgbClr>
            </a:solidFill>
            <a:prstDash val="solid"/>
          </a:ln>
        </p:spPr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60" y="1577340"/>
            <a:ext cx="228600" cy="228600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690372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327648" y="2157984"/>
            <a:ext cx="128016" cy="12801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6565392" y="210312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limits</a:t>
            </a:r>
            <a:endParaRPr lang="en-US" sz="1250" dirty="0"/>
          </a:p>
        </p:txBody>
      </p:sp>
      <p:sp>
        <p:nvSpPr>
          <p:cNvPr id="45" name="Text 39"/>
          <p:cNvSpPr txBox="1"/>
          <p:nvPr/>
        </p:nvSpPr>
        <p:spPr>
          <a:xfrm>
            <a:off x="6565392" y="235915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steps, time and budget; define clear stop conditions.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6327648" y="3008376"/>
            <a:ext cx="128016" cy="12801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6565392" y="295351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observable</a:t>
            </a:r>
            <a:endParaRPr lang="en-US" sz="1250" dirty="0"/>
          </a:p>
        </p:txBody>
      </p:sp>
      <p:sp>
        <p:nvSpPr>
          <p:cNvPr id="48" name="Text 42"/>
          <p:cNvSpPr txBox="1"/>
          <p:nvPr/>
        </p:nvSpPr>
        <p:spPr>
          <a:xfrm>
            <a:off x="6565392" y="3209544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reasoning step, tool call and result.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6327648" y="3858768"/>
            <a:ext cx="128016" cy="12801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6565392" y="380390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failure</a:t>
            </a:r>
            <a:endParaRPr lang="en-US" sz="1250" dirty="0"/>
          </a:p>
        </p:txBody>
      </p:sp>
      <p:sp>
        <p:nvSpPr>
          <p:cNvPr id="51" name="Text 45"/>
          <p:cNvSpPr txBox="1"/>
          <p:nvPr/>
        </p:nvSpPr>
        <p:spPr>
          <a:xfrm>
            <a:off x="6565392" y="405993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reversible actions, checkpoints and a rollback path.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Agentic AI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68096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365760"/>
            <a:ext cx="82296" cy="82296"/>
          </a:xfrm>
          <a:prstGeom prst="ellipse">
            <a:avLst/>
          </a:prstGeom>
          <a:solidFill>
            <a:srgbClr val="D5DED9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365760"/>
            <a:ext cx="82296" cy="82296"/>
          </a:xfrm>
          <a:prstGeom prst="ellipse">
            <a:avLst/>
          </a:prstGeom>
          <a:solidFill>
            <a:srgbClr val="B83B2E"/>
          </a:solidFill>
          <a:ln w="6350">
            <a:solidFill>
              <a:srgbClr val="B83B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DOING IT RIGHT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really need an agent?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32588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E8F5EF"/>
          </a:solidFill>
          <a:ln w="15875">
            <a:solidFill>
              <a:srgbClr val="0070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13258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steps hard to predict in advance?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663440" y="1600200"/>
            <a:ext cx="777240" cy="0"/>
          </a:xfrm>
          <a:prstGeom prst="line">
            <a:avLst/>
          </a:prstGeom>
          <a:noFill/>
          <a:ln w="19050">
            <a:solidFill>
              <a:srgbClr val="B83B2E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4800600" y="13533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B8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0" y="132588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23560" y="13258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script, RPA or a fixed workflow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188720" y="1874520"/>
            <a:ext cx="0" cy="338328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1280160" y="1901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2212848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E8F5EF"/>
          </a:solidFill>
          <a:ln w="15875">
            <a:solidFill>
              <a:srgbClr val="00704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22128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value high enough to justify cost &amp; latency?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663440" y="2487168"/>
            <a:ext cx="777240" cy="0"/>
          </a:xfrm>
          <a:prstGeom prst="line">
            <a:avLst/>
          </a:prstGeom>
          <a:noFill/>
          <a:ln w="19050">
            <a:solidFill>
              <a:srgbClr val="B83B2E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4800600" y="22402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B8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86400" y="2212848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3560" y="221284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single LLM call or a simple workflow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88720" y="2761488"/>
            <a:ext cx="0" cy="338328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1280160" y="2788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3099816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E8F5EF"/>
          </a:solidFill>
          <a:ln w="15875">
            <a:solidFill>
              <a:srgbClr val="00704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0080" y="30998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errors be detected and recovered (tests, review)?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4663440" y="3374136"/>
            <a:ext cx="777240" cy="0"/>
          </a:xfrm>
          <a:prstGeom prst="line">
            <a:avLst/>
          </a:prstGeom>
          <a:noFill/>
          <a:ln w="19050">
            <a:solidFill>
              <a:srgbClr val="B83B2E"/>
            </a:solidFill>
            <a:prstDash val="solid"/>
            <a:tailEnd type="triangle"/>
          </a:ln>
        </p:spPr>
      </p:sp>
      <p:sp>
        <p:nvSpPr>
          <p:cNvPr id="32" name="Text 29"/>
          <p:cNvSpPr txBox="1"/>
          <p:nvPr/>
        </p:nvSpPr>
        <p:spPr>
          <a:xfrm>
            <a:off x="4800600" y="31272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B8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486400" y="3099816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623560" y="309981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human approving each key action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88720" y="3648456"/>
            <a:ext cx="0" cy="338328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36" name="Text 33"/>
          <p:cNvSpPr txBox="1"/>
          <p:nvPr/>
        </p:nvSpPr>
        <p:spPr>
          <a:xfrm>
            <a:off x="1280160" y="36758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57200" y="3986784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0E7C86">
              <a:alpha val="20000"/>
            </a:srgbClr>
          </a:solidFill>
          <a:ln w="19050">
            <a:solidFill>
              <a:srgbClr val="0E7C86"/>
            </a:solidFill>
            <a:prstDash val="solid"/>
          </a:ln>
        </p:spPr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42232"/>
            <a:ext cx="329184" cy="329184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1097280" y="398678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a good fit — start narrow, measure, then expand.</a:t>
            </a:r>
            <a:endParaRPr lang="en-US" sz="1250" dirty="0"/>
          </a:p>
        </p:txBody>
      </p:sp>
      <p:sp>
        <p:nvSpPr>
          <p:cNvPr id="40" name="Text 36"/>
          <p:cNvSpPr txBox="1"/>
          <p:nvPr/>
        </p:nvSpPr>
        <p:spPr>
          <a:xfrm>
            <a:off x="5486400" y="42153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Anthropic’s “Building Effective Agents” (2024)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772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turn AI from a tool you use into a system that works for you.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3232" y="2075688"/>
            <a:ext cx="457200" cy="45720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60000"/>
              </a:srgbClr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" y="2189988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920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an LLM using tools in a loop, toward a goal.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663440" y="192024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28032" y="2075688"/>
            <a:ext cx="457200" cy="45720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60000"/>
              </a:srgbClr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332" y="2189988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40680" y="1920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“Agentic” is a spectrum — choose the least autonomy that works.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288036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713232" y="3035808"/>
            <a:ext cx="457200" cy="457200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60000"/>
              </a:srgbClr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" y="3150108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25880" y="2880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standards (MCP, A2A) are making agents interoperable.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663440" y="288036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4828032" y="3035808"/>
            <a:ext cx="457200" cy="457200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60000"/>
              </a:srgbClr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2332" y="3150108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440680" y="2880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comes with discipline: evals, guardrails, human oversight.</a:t>
            </a:r>
            <a:endParaRPr lang="en-US" sz="125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2200" dirty="0"/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Agentic AI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further reading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508760"/>
            <a:ext cx="3703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Russell &amp; Norvig — Artificial Intelligence: A Modern Approach (4th ed., 2020)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— “Building Effective Agents” (Dec 2024)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— “How we built our multi-agent research system” (Jun 2025)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Weng — “LLM Powered Autonomous Agents” (2023)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 et al. — Chain-of-Thought Prompting (2022)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 et al. — ReAct: Synergizing Reasoning and Acting (2022)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Shinn et al. — Reflexion (2023)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 et al. — Tree of Thoughts (2023)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32588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508760"/>
            <a:ext cx="3703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— Plan-and-Solve Prompting (2023)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Sumers et al. — Cognitive Architectures for Language Agents (2023)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 et al. (METR) — Measuring AI Ability to Complete Long Tasks (2025)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Jimenez et al. — SWE-bench (2023); OpenAI — SWE-bench Verified (2024) and its retirement note (Feb 2026)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press releases — 25 Jun 2025 &amp; 26 Aug 2025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Foundation — Agentic AI Foundation announcement (9 Dec 2025)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— Top 10 for LLM Applications (2025)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modelcontextprotocol.io  ·  a2a-protocol.org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3921</Words>
  <Application>Microsoft Office PowerPoint</Application>
  <PresentationFormat>On-screen Show (16:9)</PresentationFormat>
  <Paragraphs>575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 &amp; Agentic AI</dc:title>
  <dc:subject>PptxGenJS Presentation</dc:subject>
  <dc:creator>Claude</dc:creator>
  <cp:lastModifiedBy>HADJ TAIEB, MOHAMED ALI</cp:lastModifiedBy>
  <cp:revision>2</cp:revision>
  <dcterms:created xsi:type="dcterms:W3CDTF">2026-09-16T08:24:11Z</dcterms:created>
  <dcterms:modified xsi:type="dcterms:W3CDTF">2026-09-23T15:32:48Z</dcterms:modified>
</cp:coreProperties>
</file>