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31F2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231F20"/>
                </a:solidFill>
                <a:latin typeface="Calibri"/>
              </a:rPr>
              <a:t>Relative token usage (chat = 1×)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 usage</c:v>
                </c:pt>
              </c:strCache>
            </c:strRef>
          </c:tx>
          <c:spPr>
            <a:solidFill>
              <a:srgbClr val="00A86A"/>
            </a:solidFill>
            <a:effectLst/>
          </c:spPr>
          <c:invertIfNegative val="0"/>
          <c:dLbls>
            <c:numFmt formatCode="0&quot;×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31F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A86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70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696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Multi-agent</c:v>
                  </c:pt>
                  <c:pt idx="1">
                    <c:v>Single agent</c:v>
                  </c:pt>
                  <c:pt idx="2">
                    <c:v>Chat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dLbls>
          <c:numFmt formatCode="0&quot;×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31F2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34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1F2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31F20"/>
                </a:solidFill>
                <a:latin typeface="Calibri"/>
              </a:rPr>
              <a:t>SWE-bench Verified, Aug 2024 – Nov 2025 (% resolved)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SWE-bench Verified</c:v>
                </c:pt>
              </c:strCache>
            </c:strRef>
          </c:tx>
          <c:spPr>
            <a:solidFill>
              <a:srgbClr val="A9B5B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1F2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5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ED9C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CBA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7BD9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3AF7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0A06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08A5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0664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GPT-4o
Aug 24</c:v>
                  </c:pt>
                  <c:pt idx="1">
                    <c:v>Claude 3.5
Sonnet
Oct 24</c:v>
                  </c:pt>
                  <c:pt idx="2">
                    <c:v>Claude 3.7
Sonnet
Feb 25</c:v>
                  </c:pt>
                  <c:pt idx="3">
                    <c:v>Gemini
2.5 Pro
Mar 25</c:v>
                  </c:pt>
                  <c:pt idx="4">
                    <c:v>Claude
Sonnet 4
May 25</c:v>
                  </c:pt>
                  <c:pt idx="5">
                    <c:v>GPT-5
Aug 25</c:v>
                  </c:pt>
                  <c:pt idx="6">
                    <c:v>Claude
Sonnet 4.5
Sep 25</c:v>
                  </c:pt>
                  <c:pt idx="7">
                    <c:v>Claude
Opus 4.5
Nov 25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33.2</c:v>
                </c:pt>
                <c:pt idx="1">
                  <c:v>49</c:v>
                </c:pt>
                <c:pt idx="2">
                  <c:v>62.3</c:v>
                </c:pt>
                <c:pt idx="3">
                  <c:v>63.8</c:v>
                </c:pt>
                <c:pt idx="4">
                  <c:v>72.7</c:v>
                </c:pt>
                <c:pt idx="5">
                  <c:v>74.9</c:v>
                </c:pt>
                <c:pt idx="6">
                  <c:v>77.2</c:v>
                </c:pt>
                <c:pt idx="7">
                  <c:v>80.9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231F2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E69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1F2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231F20"/>
                </a:solidFill>
                <a:latin typeface="Calibri"/>
              </a:rPr>
              <a:t>Task success rate (%) vs. number of steps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99% per step</c:v>
                </c:pt>
              </c:strCache>
            </c:strRef>
          </c:tx>
          <c:spPr>
            <a:solidFill>
              <a:srgbClr val="00704A"/>
            </a:solidFill>
            <a:ln w="38100" cap="flat">
              <a:solidFill>
                <a:srgbClr val="0070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704A"/>
              </a:solidFill>
              <a:ln w="9525" cap="flat">
                <a:solidFill>
                  <a:srgbClr val="0070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20</c:v>
                  </c:pt>
                  <c:pt idx="4">
                    <c:v>30</c:v>
                  </c:pt>
                  <c:pt idx="5">
                    <c:v>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99</c:v>
                </c:pt>
                <c:pt idx="1">
                  <c:v>95.1</c:v>
                </c:pt>
                <c:pt idx="2">
                  <c:v>90.4</c:v>
                </c:pt>
                <c:pt idx="3">
                  <c:v>81.8</c:v>
                </c:pt>
                <c:pt idx="4">
                  <c:v>74</c:v>
                </c:pt>
                <c:pt idx="5">
                  <c:v>60.5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95% per step</c:v>
                </c:pt>
              </c:strCache>
            </c:strRef>
          </c:tx>
          <c:spPr>
            <a:solidFill>
              <a:srgbClr val="B83B2E"/>
            </a:solidFill>
            <a:ln w="38100" cap="flat">
              <a:solidFill>
                <a:srgbClr val="B83B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3B2E"/>
              </a:solidFill>
              <a:ln w="9525" cap="flat">
                <a:solidFill>
                  <a:srgbClr val="B83B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20</c:v>
                  </c:pt>
                  <c:pt idx="4">
                    <c:v>30</c:v>
                  </c:pt>
                  <c:pt idx="5">
                    <c:v>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95</c:v>
                </c:pt>
                <c:pt idx="1">
                  <c:v>77.4</c:v>
                </c:pt>
                <c:pt idx="2">
                  <c:v>59.9</c:v>
                </c:pt>
                <c:pt idx="3">
                  <c:v>35.8</c:v>
                </c:pt>
                <c:pt idx="4">
                  <c:v>21.5</c:v>
                </c:pt>
                <c:pt idx="5">
                  <c:v>7.7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E6964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E6964"/>
                    </a:solidFill>
                    <a:latin typeface="Arial"/>
                  </a:rPr>
                  <a:t>Steps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9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1E7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9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A434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explains what AI agents are, how they work, how they are built, where the field stands and how to deploy them responsibly.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parts, from concepts to practice. Each section opens with the question it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transition: introduce the question this section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assistant produces an answer that a human then uses. An agent pursues a goal: it takes actions, checks the results and continues until the task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transition: introduce the question this section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concept is old — Russell and Norvig framed AI around agents in the 1990s. What is new is using an LLM as the decision-maker. Practical definition: an LLM using tools in a loop toward a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Rather than asking 'is this an agent?', ask 'how agentic is it?'. Levels 1–3 are predictable; levels 4–5 are flexible but cost more and carry more risk. Choose the lowest level that solves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transition: introduce the question this section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RPA follows scripts; assistants reply; agents decide the steps. Gartner warns that many products marketed as agents are rebranded assistants or RPA.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the reasoning engine. Planning, memory and tools extend it; the environment is where it acts and observes. Guardrails and oversight wrap the whole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(Yao et al., 2022) interleaves reasoning and acting. Every tool result becomes input to the next reasoning step. Note the final step: the agent asks a human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techniques are complementary. Most production agents combine ReAct-style tool use with planning, and increasingly rely on reasoning models trained to think before acting.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context window is working memory and is limited. Long-term memory lives outside the model: logs, vector databases, knowledge graphs — and skills stored as prompts or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transition: introduce the question this section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a standard, every agent needs a custom connector for every tool. MCP standardises agent-to-tool connections; A2A standardises agent-to-agent collaboration. Both are now under Linux Foundation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Anthropic's 'Building Effective Agents'. Workflows are predictable and cheaper; agents are flexible. Many successful systems are workflows with a few agentic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Anthropic reported that its multi-agent research system outperformed a single agent by 90.2% on an internal eval, but agents use about 4x the tokens of chat and multi-agent systems about 15x. Use them for high-value, parallelisable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transition: introduce the question this section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agentic wave rests on the Transformer (2017) and on ReAct-style prompting (2022). From late 2024, computer use and open protocols moved agents from demos to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non-exhaustive map: open-source frameworks, vendor SDKs, finished products and the open standards that connect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SWE-bench Verified asks models to fix real GitHub issues. Launch scores rose from about a third to over 80% in roughly 15 months. Scaffolds differ between labs, so read the trend rather than exact rankings. Important: in February 2026 OpenAI stopped reporting this benchmark, citing contamination and flawed tests, and recommends SWE-bench Pro. Later scores on Verified should be read with caution.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 measures the length of tasks, in human time, that agents complete with 50% reliability; it has doubled roughly every 7 months since 2019. Gartner figures are forecasts, not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work best where success is verifiable — tests pass, the ticket is resolved, sources are cited — and where humans can review high-impact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transition: introduce the question this section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Simplified model: with 95% reliability per step, a 20-step task succeeds only about 36% of the time. This is why verification, retries and checkpoints matter so much.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injection is ranked #1 in the OWASP Top 10 for LLM applications (2025). Gartner expects over 40% of agentic AI projects to be canceled by end-2027 for cost, value or risk-control reasons.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Oversight is a dial, not a switch. Start with humans in the loop, measure performance, and move to on-the-loop only when evaluations justify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Principles drawn from Anthropic's 'Building Effective Agents' (simplicity, transparency, tool design) and OWASP guidance for LLM applications.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tasks marketed as agentic do not need an agent. Answer these three questions before building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agents are LLMs using tools in a loop; start simple, add autonomy where it pays off, and keep humans in control of high-impact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in this deck come from the sources listed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02920"/>
            <a:ext cx="4114800" cy="41148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37160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</a:t>
            </a:r>
            <a:endParaRPr lang="en-US" sz="48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971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models that answer to systems that act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F0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374904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3749040"/>
            <a:ext cx="85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1536192" y="3749040"/>
            <a:ext cx="1239012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536192" y="3749040"/>
            <a:ext cx="12390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912364" y="3749040"/>
            <a:ext cx="92811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12364" y="3749040"/>
            <a:ext cx="928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977640" y="37490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977640" y="37490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57200" y="1371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31720" y="1572768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020" y="1687068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029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304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moving from answering questions to completing tasks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91840" y="1371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166360" y="1572768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660" y="1687068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2044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3520440" y="2029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3520440" y="2304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vs. agentic, and the autonomy spectrum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126480" y="1371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01000" y="1572768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300" y="1687068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5080" y="1554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6355080" y="2029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work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55080" y="2304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Anatomy, the agent loop, reasoning and memory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57200" y="30632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2331720" y="3264408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6020" y="3378708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37216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68580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protocols, workflow patterns, multi-agent systems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291840" y="30632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166360" y="3264408"/>
            <a:ext cx="457200" cy="457200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0660" y="3378708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52044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46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35" name="Text 27"/>
          <p:cNvSpPr txBox="1"/>
          <p:nvPr/>
        </p:nvSpPr>
        <p:spPr>
          <a:xfrm>
            <a:off x="3520440" y="37216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field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352044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Milestones, ecosystem, benchmarks and momentum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6126480" y="30632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8001000" y="3264408"/>
            <a:ext cx="457200" cy="457200"/>
          </a:xfrm>
          <a:prstGeom prst="ellipse">
            <a:avLst/>
          </a:prstGeom>
          <a:solidFill>
            <a:srgbClr val="B83B2E">
              <a:alpha val="22000"/>
            </a:srgbClr>
          </a:solidFill>
          <a:ln w="12700">
            <a:solidFill>
              <a:srgbClr val="B83B2E">
                <a:alpha val="60000"/>
              </a:srgbClr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5300" y="3378708"/>
            <a:ext cx="228600" cy="2286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3550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41" name="Text 32"/>
          <p:cNvSpPr txBox="1"/>
          <p:nvPr/>
        </p:nvSpPr>
        <p:spPr>
          <a:xfrm>
            <a:off x="6355080" y="37216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it right</a:t>
            </a:r>
            <a:endParaRPr lang="en-US" sz="1500" dirty="0"/>
          </a:p>
        </p:txBody>
      </p:sp>
      <p:sp>
        <p:nvSpPr>
          <p:cNvPr id="42" name="Text 33"/>
          <p:cNvSpPr txBox="1"/>
          <p:nvPr/>
        </p:nvSpPr>
        <p:spPr>
          <a:xfrm>
            <a:off x="635508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Risks, best practices and a decision guide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AI moving from answering to acting?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00A86A"/>
          </a:solidFill>
          <a:ln w="6350">
            <a:solidFill>
              <a:srgbClr val="00A86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SHIFT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answering to acting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3657600" cy="2788920"/>
          </a:xfrm>
          <a:prstGeom prst="roundRect">
            <a:avLst>
              <a:gd name="adj" fmla="val 262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1508760"/>
            <a:ext cx="548640" cy="54864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71600" y="15361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assistant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371600" y="1810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 classic chatbot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31520" y="2286000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Responds to a single prompt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731520" y="2715768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69164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pass: prompt → answer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731520" y="314553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1691640" y="3145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code or images to review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731520" y="357530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ACTS?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691640" y="35753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does the work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5029200" y="1325880"/>
            <a:ext cx="3657600" cy="2788920"/>
          </a:xfrm>
          <a:prstGeom prst="roundRect">
            <a:avLst>
              <a:gd name="adj" fmla="val 2623"/>
            </a:avLst>
          </a:prstGeom>
          <a:solidFill>
            <a:srgbClr val="E8F5EF"/>
          </a:solidFill>
          <a:ln w="19050">
            <a:solidFill>
              <a:srgbClr val="00A86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257800" y="1508760"/>
            <a:ext cx="548640" cy="54864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64592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943600" y="15361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system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5943600" y="1810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 coding or research agent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5303520" y="2286000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Pursues a goal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5303520" y="2715768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626364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loop: plan → act → observe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5303520" y="314553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3145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task &amp; changed state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5303520" y="357530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ACTS?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6263640" y="35753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agent, under human oversight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4297680" y="2487168"/>
            <a:ext cx="548640" cy="548640"/>
          </a:xfrm>
          <a:prstGeom prst="ellipse">
            <a:avLst/>
          </a:prstGeom>
          <a:solidFill>
            <a:srgbClr val="D49A00"/>
          </a:solidFill>
          <a:ln w="12700">
            <a:solidFill>
              <a:srgbClr val="D49A00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624328"/>
            <a:ext cx="274320" cy="27432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457200" y="42793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creates content. </a:t>
            </a:r>
            <a:pPr algn="ctr" indent="0" marL="0">
              <a:buNone/>
            </a:pPr>
            <a:r>
              <a:rPr lang="en-US" sz="18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gets tasks done.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is an agent — and what is not?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00704A"/>
          </a:solidFill>
          <a:ln w="6350">
            <a:solidFill>
              <a:srgbClr val="0070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DEFINITIONS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4206240" cy="1207008"/>
          </a:xfrm>
          <a:prstGeom prst="roundRect">
            <a:avLst>
              <a:gd name="adj" fmla="val 6061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14630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AI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16916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“Anything that can be viewed as perceiving its environment through sensors and acting upon that environment through actuators.”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225856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Russell &amp; Norvig, Artificial Intelligence: A Modern Approach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57200" y="2697480"/>
            <a:ext cx="4206240" cy="1207008"/>
          </a:xfrm>
          <a:prstGeom prst="roundRect">
            <a:avLst>
              <a:gd name="adj" fmla="val 6061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28346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ERA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0632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where the LLM dynamically directs its own process and tool usage, keeping control over how it accomplishes the task.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63016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Anthropic, “Building Effective Agents” (Dec 2024)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57200" y="406908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D49A00">
              <a:alpha val="15000"/>
            </a:srgbClr>
          </a:solidFill>
          <a:ln w="9525">
            <a:solidFill>
              <a:srgbClr val="D49A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4069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practice:  </a:t>
            </a:r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+ tools + memory, running in a loop toward a goal.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0" y="1645920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1760220"/>
            <a:ext cx="228600" cy="2286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23560" y="16642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5623560" y="18928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the next step without a script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029200" y="2249424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2363724"/>
            <a:ext cx="228600" cy="2286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5623560" y="22677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</a:t>
            </a:r>
            <a:endParaRPr lang="en-US" sz="1350" dirty="0"/>
          </a:p>
        </p:txBody>
      </p:sp>
      <p:sp>
        <p:nvSpPr>
          <p:cNvPr id="31" name="Text 26"/>
          <p:cNvSpPr txBox="1"/>
          <p:nvPr/>
        </p:nvSpPr>
        <p:spPr>
          <a:xfrm>
            <a:off x="5623560" y="24963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toward an outcome, not a single reply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5029200" y="2852928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2967228"/>
            <a:ext cx="228600" cy="22860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5623560" y="28712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</a:t>
            </a:r>
            <a:endParaRPr lang="en-US" sz="1350" dirty="0"/>
          </a:p>
        </p:txBody>
      </p:sp>
      <p:sp>
        <p:nvSpPr>
          <p:cNvPr id="35" name="Text 29"/>
          <p:cNvSpPr txBox="1"/>
          <p:nvPr/>
        </p:nvSpPr>
        <p:spPr>
          <a:xfrm>
            <a:off x="5623560" y="30998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APIs, runs code, searches, clicks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5029200" y="3456432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0" y="3570732"/>
            <a:ext cx="228600" cy="22860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623560" y="3474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350" dirty="0"/>
          </a:p>
        </p:txBody>
      </p:sp>
      <p:sp>
        <p:nvSpPr>
          <p:cNvPr id="39" name="Text 32"/>
          <p:cNvSpPr txBox="1"/>
          <p:nvPr/>
        </p:nvSpPr>
        <p:spPr>
          <a:xfrm>
            <a:off x="5623560" y="3703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context within and across tasks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5029200" y="4059936"/>
            <a:ext cx="457200" cy="457200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4174236"/>
            <a:ext cx="228600" cy="22860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5623560" y="40782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</a:t>
            </a:r>
            <a:endParaRPr lang="en-US" sz="1350" dirty="0"/>
          </a:p>
        </p:txBody>
      </p:sp>
      <p:sp>
        <p:nvSpPr>
          <p:cNvPr id="43" name="Text 35"/>
          <p:cNvSpPr txBox="1"/>
          <p:nvPr/>
        </p:nvSpPr>
        <p:spPr>
          <a:xfrm>
            <a:off x="5623560" y="430682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 results and corrects course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00704A"/>
          </a:solidFill>
          <a:ln w="6350">
            <a:solidFill>
              <a:srgbClr val="0070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DEFINITIONS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vs. agentic: a matter of degree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298448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pPr indent="0" marL="0">
              <a:buNone/>
            </a:pPr>
            <a:r>
              <a:rPr lang="en-US" sz="13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(noun)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166420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perceives, decides and acts to reach a goal — the “what”.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663440" y="1298448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</a:t>
            </a:r>
            <a:pPr indent="0" marL="0">
              <a:buNone/>
            </a:pPr>
            <a:r>
              <a:rPr lang="en-US" sz="13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(adjective)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166420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degree of autonomy a system has. Popularised by Andrew Ng (2024) to move past the yes/no debate.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2377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AUTONOMY SPECTRUM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114800" y="23774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autonomy = more flexibility… and more cost, latency &amp; risk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1490472" cy="365760"/>
          </a:xfrm>
          <a:prstGeom prst="roundRect">
            <a:avLst>
              <a:gd name="adj" fmla="val 15000"/>
            </a:avLst>
          </a:prstGeom>
          <a:solidFill>
            <a:srgbClr val="C9EBDC"/>
          </a:solidFill>
          <a:ln w="12700">
            <a:solidFill>
              <a:srgbClr val="C9EBD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7200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chat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from its training and the prompt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130552" y="3328416"/>
            <a:ext cx="1490472" cy="603504"/>
          </a:xfrm>
          <a:prstGeom prst="roundRect">
            <a:avLst>
              <a:gd name="adj" fmla="val 9091"/>
            </a:avLst>
          </a:prstGeom>
          <a:solidFill>
            <a:srgbClr val="97D6BA"/>
          </a:solidFill>
          <a:ln w="12700">
            <a:solidFill>
              <a:srgbClr val="97D6B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130552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 LLM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2176272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retrieval, tools and memory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803904" y="3090672"/>
            <a:ext cx="1490472" cy="841248"/>
          </a:xfrm>
          <a:prstGeom prst="roundRect">
            <a:avLst>
              <a:gd name="adj" fmla="val 6522"/>
            </a:avLst>
          </a:prstGeom>
          <a:solidFill>
            <a:srgbClr val="4FB98E"/>
          </a:solidFill>
          <a:ln w="12700">
            <a:solidFill>
              <a:srgbClr val="4FB98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03904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849624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steps on predefined code paths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77256" y="2852928"/>
            <a:ext cx="1490472" cy="1078992"/>
          </a:xfrm>
          <a:prstGeom prst="roundRect">
            <a:avLst>
              <a:gd name="adj" fmla="val 5085"/>
            </a:avLst>
          </a:prstGeom>
          <a:solidFill>
            <a:srgbClr val="1F9E6D"/>
          </a:solidFill>
          <a:ln w="12700">
            <a:solidFill>
              <a:srgbClr val="1F9E6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77256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522976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chooses its own steps and tools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150608" y="2615184"/>
            <a:ext cx="1490472" cy="1316736"/>
          </a:xfrm>
          <a:prstGeom prst="roundRect">
            <a:avLst>
              <a:gd name="adj" fmla="val 4167"/>
            </a:avLst>
          </a:prstGeom>
          <a:solidFill>
            <a:srgbClr val="00704A"/>
          </a:solidFill>
          <a:ln w="12700">
            <a:solidFill>
              <a:srgbClr val="0070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150608" y="360273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7196328" y="4023360"/>
            <a:ext cx="1399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agents coordinate on a goal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work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inside an agent?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00704A"/>
          </a:solidFill>
          <a:ln w="6350">
            <a:solidFill>
              <a:srgbClr val="0070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DEFINITIONS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everything that automates is an agent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6556248" y="1261872"/>
            <a:ext cx="2203704" cy="2926080"/>
          </a:xfrm>
          <a:prstGeom prst="roundRect">
            <a:avLst>
              <a:gd name="adj" fmla="val 3320"/>
            </a:avLst>
          </a:prstGeom>
          <a:solidFill>
            <a:srgbClr val="E8F5EF"/>
          </a:solidFill>
          <a:ln w="19050">
            <a:solidFill>
              <a:srgbClr val="00A86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423160" y="1353312"/>
            <a:ext cx="384048" cy="384048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172" y="1449324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898648" y="1353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 bot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0" y="1353312"/>
            <a:ext cx="384048" cy="384048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1449324"/>
            <a:ext cx="192024" cy="1920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47488" y="1353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720840" y="1353312"/>
            <a:ext cx="384048" cy="384048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1449324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96328" y="1353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18470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2423160" y="18470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fixed rules and scripts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4572000" y="18470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prompts in natural language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6720840" y="18470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Reasons, plans and uses tools in a loop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2304288"/>
            <a:ext cx="8229600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57200" y="23042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INPUT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2423160" y="23042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when screens or formats change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572000" y="23042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it, but only replies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6720840" y="23042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its plan to what it observes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7200" y="2761488"/>
            <a:ext cx="8229600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7200" y="27614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DECIDES THE STEPS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2423160" y="27614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developer, in advance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4572000" y="27614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human, turn by turn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720840" y="27614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agent, within guardrails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457200" y="32186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2423160" y="32186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high-volume, rule-based tasks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4572000" y="32186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Q&amp;A, drafting, summarising</a:t>
            </a:r>
            <a:endParaRPr lang="en-US" sz="1050" dirty="0"/>
          </a:p>
        </p:txBody>
      </p:sp>
      <p:sp>
        <p:nvSpPr>
          <p:cNvPr id="41" name="Text 35"/>
          <p:cNvSpPr txBox="1"/>
          <p:nvPr/>
        </p:nvSpPr>
        <p:spPr>
          <a:xfrm>
            <a:off x="6720840" y="32186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multi-step tasks with clear goals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57200" y="3675888"/>
            <a:ext cx="8229600" cy="0"/>
          </a:xfrm>
          <a:prstGeom prst="line">
            <a:avLst/>
          </a:prstGeom>
          <a:noFill/>
          <a:ln w="9525">
            <a:solidFill>
              <a:srgbClr val="D5DED9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457200" y="36758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2423160" y="3675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invoice data into an ERP</a:t>
            </a:r>
            <a:endParaRPr lang="en-US" sz="1050" dirty="0"/>
          </a:p>
        </p:txBody>
      </p:sp>
      <p:sp>
        <p:nvSpPr>
          <p:cNvPr id="45" name="Text 39"/>
          <p:cNvSpPr txBox="1"/>
          <p:nvPr/>
        </p:nvSpPr>
        <p:spPr>
          <a:xfrm>
            <a:off x="4572000" y="3675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an HR policy</a:t>
            </a:r>
            <a:endParaRPr lang="en-US" sz="1050" dirty="0"/>
          </a:p>
        </p:txBody>
      </p:sp>
      <p:sp>
        <p:nvSpPr>
          <p:cNvPr id="46" name="Text 40"/>
          <p:cNvSpPr txBox="1"/>
          <p:nvPr/>
        </p:nvSpPr>
        <p:spPr>
          <a:xfrm>
            <a:off x="6720840" y="3675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a support ticket end-to-end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457200" y="4315968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D49A00">
              <a:alpha val="13000"/>
            </a:srgbClr>
          </a:solidFill>
          <a:ln w="9525">
            <a:solidFill>
              <a:srgbClr val="D49A00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4416552"/>
            <a:ext cx="237744" cy="23774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987552" y="431596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Beware of “agent washing”: </a:t>
            </a:r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rebranding assistants, chatbots or RPA as agents without real agentic capabilities (Gartner).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AGENTS WORK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an AI agent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3108960" y="1984248"/>
            <a:ext cx="914400" cy="0"/>
          </a:xfrm>
          <a:prstGeom prst="line">
            <a:avLst/>
          </a:prstGeom>
          <a:noFill/>
          <a:ln w="19050">
            <a:solidFill>
              <a:srgbClr val="00A86A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3108960" y="3675888"/>
            <a:ext cx="914400" cy="0"/>
          </a:xfrm>
          <a:prstGeom prst="line">
            <a:avLst/>
          </a:prstGeom>
          <a:noFill/>
          <a:ln w="19050">
            <a:solidFill>
              <a:srgbClr val="00704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5120640" y="1984248"/>
            <a:ext cx="91440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5120640" y="3675888"/>
            <a:ext cx="914400" cy="0"/>
          </a:xfrm>
          <a:prstGeom prst="line">
            <a:avLst/>
          </a:prstGeom>
          <a:noFill/>
          <a:ln w="19050">
            <a:solidFill>
              <a:srgbClr val="C4621D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457200" y="13258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1623060"/>
            <a:ext cx="228600" cy="2286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07008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goals into sub-tasks; reflects on and refines its plan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57200" y="30175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314700"/>
            <a:ext cx="228600" cy="2286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207008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58368" y="3749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(context window) and long-term (external stores)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035040" y="13258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217920" y="1508760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220" y="1623060"/>
            <a:ext cx="228600" cy="2286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784848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236208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code execution, search, databases, computer use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6035040" y="30175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3314700"/>
            <a:ext cx="228600" cy="2286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784848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6236208" y="3749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perceives inputs and observes the effects of its actions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3611880" y="1847088"/>
            <a:ext cx="1920240" cy="1920240"/>
          </a:xfrm>
          <a:prstGeom prst="ellipse">
            <a:avLst/>
          </a:prstGeom>
          <a:solidFill>
            <a:srgbClr val="00A86A">
              <a:alpha val="25000"/>
            </a:srgbClr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3794760" y="2029968"/>
            <a:ext cx="1554480" cy="1554480"/>
          </a:xfrm>
          <a:prstGeom prst="ellipse">
            <a:avLst/>
          </a:prstGeom>
          <a:solidFill>
            <a:srgbClr val="00664A"/>
          </a:solidFill>
          <a:ln w="19050">
            <a:solidFill>
              <a:srgbClr val="00A86A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2240280"/>
            <a:ext cx="457200" cy="4572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94760" y="2743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700" dirty="0"/>
          </a:p>
        </p:txBody>
      </p:sp>
      <p:sp>
        <p:nvSpPr>
          <p:cNvPr id="41" name="Text 33"/>
          <p:cNvSpPr txBox="1"/>
          <p:nvPr/>
        </p:nvSpPr>
        <p:spPr>
          <a:xfrm>
            <a:off x="3794760" y="3017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7F0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engine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3337560" y="39776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D49A00">
              <a:alpha val="15000"/>
            </a:srgbClr>
          </a:solidFill>
          <a:ln w="12700">
            <a:solidFill>
              <a:srgbClr val="D49A0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3337560" y="3977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 ·  Human oversight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view adapted from Lilian Weng, “LLM Powered Autonomous Agents” (2023)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AGENTS WORK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2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3520440" cy="35204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297680" y="1325880"/>
            <a:ext cx="4389120" cy="2697480"/>
          </a:xfrm>
          <a:prstGeom prst="roundRect">
            <a:avLst>
              <a:gd name="adj" fmla="val 271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26280" y="144475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IN ACTION  ·  illustrative trace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16916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“Remind Acme about their overdue invoice”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Thought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 the latest unpaid invoice first.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23317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9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30352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search_invoices(client="Acme")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526280" y="26517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Observe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5303520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INV-2291 · €12,400 · 34 days overdue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526280" y="29718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Thought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530352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 a polite reminder with these details.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4526280" y="32918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9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303520" y="3291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create_email_draft(to="billing@acme…")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4526280" y="36118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303520" y="3611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 saved → request human approval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297680" y="4160520"/>
            <a:ext cx="4389120" cy="548640"/>
          </a:xfrm>
          <a:prstGeom prst="roundRect">
            <a:avLst>
              <a:gd name="adj" fmla="val 13333"/>
            </a:avLst>
          </a:prstGeom>
          <a:solidFill>
            <a:srgbClr val="E8F5EF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480560" y="4160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stops when </a:t>
            </a:r>
            <a:pPr indent="0" marL="0">
              <a:buNone/>
            </a:pPr>
            <a:r>
              <a:rPr lang="en-US" sz="11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met, a limit is reached (steps, time, budget), or human input is needed.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AGENTS WORK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planning techniques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86000" y="149047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704A">
              <a:alpha val="22000"/>
            </a:srgbClr>
          </a:solidFill>
          <a:ln w="9525">
            <a:solidFill>
              <a:srgbClr val="0070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86000" y="14904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14904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1874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step by step before answering; improves multi-step problem solving.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2542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 et al.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291840" y="132588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20640" y="149047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A86A">
              <a:alpha val="22000"/>
            </a:srgbClr>
          </a:solidFill>
          <a:ln w="9525">
            <a:solidFill>
              <a:srgbClr val="00A8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120640" y="14904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3493008" y="14904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3493008" y="1874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reasoning with actions and observations — the basis of most agents.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3493008" y="2542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126480" y="132588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55280" y="149047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C4621D">
              <a:alpha val="22000"/>
            </a:srgbClr>
          </a:solidFill>
          <a:ln w="9525">
            <a:solidFill>
              <a:srgbClr val="C4621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280" y="14904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46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14904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6327648" y="1874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Self-critique after feedback; lessons stored in memory for the next attempt.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5420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57200" y="30175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286000" y="31821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E7C86">
              <a:alpha val="22000"/>
            </a:srgbClr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286000" y="318211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31821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of Thoughts</a:t>
            </a:r>
            <a:endParaRPr lang="en-US" sz="1450" dirty="0"/>
          </a:p>
        </p:txBody>
      </p:sp>
      <p:sp>
        <p:nvSpPr>
          <p:cNvPr id="35" name="Text 32"/>
          <p:cNvSpPr txBox="1"/>
          <p:nvPr/>
        </p:nvSpPr>
        <p:spPr>
          <a:xfrm>
            <a:off x="658368" y="3566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several reasoning paths, evaluate them and backtrack.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658368" y="42336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291840" y="30175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120640" y="31821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D49A00">
              <a:alpha val="22000"/>
            </a:srgbClr>
          </a:solidFill>
          <a:ln w="9525">
            <a:solidFill>
              <a:srgbClr val="D49A0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120640" y="318211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3493008" y="31821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Plan-and-Solve</a:t>
            </a:r>
            <a:endParaRPr lang="en-US" sz="1450" dirty="0"/>
          </a:p>
        </p:txBody>
      </p:sp>
      <p:sp>
        <p:nvSpPr>
          <p:cNvPr id="41" name="Text 38"/>
          <p:cNvSpPr txBox="1"/>
          <p:nvPr/>
        </p:nvSpPr>
        <p:spPr>
          <a:xfrm>
            <a:off x="3493008" y="3566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devise a plan of sub-tasks, then execute them one by one.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3493008" y="42336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126480" y="30175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55280" y="31821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83B2E">
              <a:alpha val="22000"/>
            </a:srgbClr>
          </a:solidFill>
          <a:ln w="9525">
            <a:solidFill>
              <a:srgbClr val="B83B2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955280" y="318211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327648" y="31821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models</a:t>
            </a:r>
            <a:endParaRPr lang="en-US" sz="1450" dirty="0"/>
          </a:p>
        </p:txBody>
      </p:sp>
      <p:sp>
        <p:nvSpPr>
          <p:cNvPr id="47" name="Text 44"/>
          <p:cNvSpPr txBox="1"/>
          <p:nvPr/>
        </p:nvSpPr>
        <p:spPr>
          <a:xfrm>
            <a:off x="6327648" y="3566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trained to think at length before acting (e.g. OpenAI o1, Sept 2024).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327648" y="42336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AGENTS WORK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how agents remember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1298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129844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HOLDS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29844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IMPLEMENTATION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1298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ANALOGY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" y="160020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E8F5EF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1728216"/>
            <a:ext cx="402336" cy="402336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828800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097280" y="16002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2606040" y="1600200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task: instructions, recent steps, tool results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800600" y="1600200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16002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hold in mind right now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57200" y="235915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94360" y="2487168"/>
            <a:ext cx="402336" cy="402336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587752"/>
            <a:ext cx="201168" cy="20116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097280" y="23591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2606040" y="2359152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interactions and experiences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4800600" y="2359152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6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conversation history, reflections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6995160" y="235915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Remembering last week’s meeting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57200" y="3118104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E8F5EF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94360" y="3246120"/>
            <a:ext cx="402336" cy="402336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346704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097280" y="311810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2606040" y="3118104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and knowledge about the world or the business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4800600" y="3118104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databases, RAG, knowledge graphs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6995160" y="311810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that Paris is in France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457200" y="3877056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594360" y="4005072"/>
            <a:ext cx="402336" cy="402336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4105656"/>
            <a:ext cx="201168" cy="20116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097280" y="387705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2606040" y="387705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and how to do things</a:t>
            </a:r>
            <a:endParaRPr lang="en-US" sz="1050" dirty="0"/>
          </a:p>
        </p:txBody>
      </p:sp>
      <p:sp>
        <p:nvSpPr>
          <p:cNvPr id="43" name="Text 36"/>
          <p:cNvSpPr txBox="1"/>
          <p:nvPr/>
        </p:nvSpPr>
        <p:spPr>
          <a:xfrm>
            <a:off x="4800600" y="387705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weights, prompts, code, reusable skills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6995160" y="38770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how to ride a bike</a:t>
            </a:r>
            <a:endParaRPr lang="en-US" sz="1050" dirty="0"/>
          </a:p>
        </p:txBody>
      </p:sp>
      <p:sp>
        <p:nvSpPr>
          <p:cNvPr id="45" name="Text 38"/>
          <p:cNvSpPr txBox="1"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from CoALA — Sumers et al., “Cognitive Architectures for Language Agents” (2023)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agentic systems built?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protocols: connecting agents to the world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44168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58468"/>
            <a:ext cx="228600" cy="228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51560" y="1298448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1554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emits a structured tool call; the application runs it and returns the result.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457200" y="2194560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08860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51560" y="2148840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(MCP)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051560" y="24048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 to connect agents to tools and data. Anthropic, Nov 2024; donated to the Linux Foundation’s Agentic AI Foundation in Dec 2025.</a:t>
            </a:r>
            <a:endParaRPr lang="en-US" sz="980" dirty="0"/>
          </a:p>
        </p:txBody>
      </p:sp>
      <p:sp>
        <p:nvSpPr>
          <p:cNvPr id="21" name="Shape 16"/>
          <p:cNvSpPr/>
          <p:nvPr/>
        </p:nvSpPr>
        <p:spPr>
          <a:xfrm>
            <a:off x="457200" y="3044952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159252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51560" y="2999232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Agent2Agent (A2A)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1051560" y="325526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 for agents to discover and collaborate with other agents. Google, Apr 2025; now a Linux Foundation project.</a:t>
            </a:r>
            <a:endParaRPr lang="en-US" sz="980" dirty="0"/>
          </a:p>
        </p:txBody>
      </p:sp>
      <p:sp>
        <p:nvSpPr>
          <p:cNvPr id="25" name="Shape 19"/>
          <p:cNvSpPr/>
          <p:nvPr/>
        </p:nvSpPr>
        <p:spPr>
          <a:xfrm>
            <a:off x="457200" y="3895344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09644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51560" y="3849624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use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051560" y="410565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operate graphical interfaces via screenshots, mouse and keyboard (Anthropic, Oct 2024; OpenAI Operator, Jan 2025, now part of ChatGPT agent).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4572000" y="1325880"/>
            <a:ext cx="411480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754880" y="1444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STANDARD MATTERS</a:t>
            </a:r>
            <a:endParaRPr lang="en-US" sz="95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1783080"/>
            <a:ext cx="3840480" cy="21031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754880" y="4114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= agent ↔ tools &amp; data      A2A = agent ↔ agent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blocks: workflows vs. agents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28016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2286000" cy="571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21792" y="19933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chaining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sequence of LLM calls, with optional checks (gates) between steps.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291840" y="128016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371600"/>
            <a:ext cx="2286000" cy="5715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456432" y="19933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3456432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input, then send it to the most suitable specialised handler.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126480" y="128016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71600"/>
            <a:ext cx="2286000" cy="5715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291072" y="19933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Parallelization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6291072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sub-tasks simultaneously (sectioning) or several times (voting), then merge.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2907792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999232"/>
            <a:ext cx="2286000" cy="5715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1792" y="36210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Orchestrator–workers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621792" y="38679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 LLM breaks down the task dynamically and delegates to workers.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291840" y="2907792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2999232"/>
            <a:ext cx="2286000" cy="5715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456432" y="36210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Evaluator–optimizer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3456432" y="38679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generates, another critiques, in a loop until quality is met.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6126480" y="2907792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E8F5EF"/>
          </a:solidFill>
          <a:ln w="15875">
            <a:solidFill>
              <a:srgbClr val="0E7C86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2999232"/>
            <a:ext cx="2286000" cy="5715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291072" y="36210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6291072" y="38679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decides its own steps, using environment feedback, until it stops.</a:t>
            </a:r>
            <a:endParaRPr lang="en-US" sz="950" dirty="0"/>
          </a:p>
        </p:txBody>
      </p:sp>
      <p:sp>
        <p:nvSpPr>
          <p:cNvPr id="37" name="Text 28"/>
          <p:cNvSpPr txBox="1"/>
          <p:nvPr/>
        </p:nvSpPr>
        <p:spPr>
          <a:xfrm>
            <a:off x="457200" y="45537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 </a:t>
            </a:r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predefined code paths — predictable.   </a:t>
            </a:r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themselves — flexible.   Source: Anthropic (2024)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298448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371600"/>
            <a:ext cx="1188720" cy="75255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40080" y="21945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Orchestrator–subagents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2441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 agent plans and delegates to specialists working in parallel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291840" y="1298448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371600"/>
            <a:ext cx="1188720" cy="7525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474720" y="21945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474720" y="2441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of managers — teams of agents organised in layers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126480" y="1298448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371600"/>
            <a:ext cx="1188720" cy="7525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309360" y="21945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network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2441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hand off or negotiate directly with one another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3154680"/>
            <a:ext cx="3017520" cy="1508760"/>
          </a:xfrm>
          <a:prstGeom prst="roundRect">
            <a:avLst>
              <a:gd name="adj" fmla="val 4848"/>
            </a:avLst>
          </a:prstGeom>
          <a:solidFill>
            <a:srgbClr val="E8F5EF"/>
          </a:solidFill>
          <a:ln w="15875">
            <a:solidFill>
              <a:srgbClr val="00A86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4008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+90.2%</a:t>
            </a:r>
            <a:endParaRPr lang="en-US" sz="4000" dirty="0"/>
          </a:p>
        </p:txBody>
      </p:sp>
      <p:sp>
        <p:nvSpPr>
          <p:cNvPr id="27" name="Text 21"/>
          <p:cNvSpPr txBox="1"/>
          <p:nvPr/>
        </p:nvSpPr>
        <p:spPr>
          <a:xfrm>
            <a:off x="640080" y="385876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multi-agent research system (Claude Opus 4 lead + Sonnet 4 subagents) vs. a single Opus 4 agent on an internal research eval (2025)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3749040" y="3154680"/>
            <a:ext cx="4937760" cy="1508760"/>
          </a:xfrm>
          <a:prstGeom prst="roundRect">
            <a:avLst>
              <a:gd name="adj" fmla="val 4848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graphicFrame>
        <p:nvGraphicFramePr>
          <p:cNvPr id="29" name="Chart 0" descr=""/>
          <p:cNvGraphicFramePr/>
          <p:nvPr/>
        </p:nvGraphicFramePr>
        <p:xfrm>
          <a:off x="3840480" y="3200400"/>
          <a:ext cx="4754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field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we stand today?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STATE OF THE FIELD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milestones of the agentic era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2971800"/>
            <a:ext cx="8229600" cy="0"/>
          </a:xfrm>
          <a:prstGeom prst="line">
            <a:avLst/>
          </a:prstGeom>
          <a:noFill/>
          <a:ln w="25400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651760"/>
            <a:ext cx="0" cy="320040"/>
          </a:xfrm>
          <a:prstGeom prst="line">
            <a:avLst/>
          </a:prstGeom>
          <a:noFill/>
          <a:ln w="12700">
            <a:solidFill>
              <a:srgbClr val="5E696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" y="2889504"/>
            <a:ext cx="164592" cy="164592"/>
          </a:xfrm>
          <a:prstGeom prst="ellipse">
            <a:avLst/>
          </a:prstGeom>
          <a:solidFill>
            <a:srgbClr val="5E696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004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2017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architecture (“Attention Is All You Need”)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798320" y="2971800"/>
            <a:ext cx="0" cy="320040"/>
          </a:xfrm>
          <a:prstGeom prst="line">
            <a:avLst/>
          </a:prstGeom>
          <a:noFill/>
          <a:ln w="12700">
            <a:solidFill>
              <a:srgbClr val="00A86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16024" y="2889504"/>
            <a:ext cx="164592" cy="164592"/>
          </a:xfrm>
          <a:prstGeom prst="ellipse">
            <a:avLst/>
          </a:prstGeom>
          <a:solidFill>
            <a:srgbClr val="00A86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1252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1252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paper: reasoning + acting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590800" y="2651760"/>
            <a:ext cx="0" cy="320040"/>
          </a:xfrm>
          <a:prstGeom prst="line">
            <a:avLst/>
          </a:prstGeom>
          <a:noFill/>
          <a:ln w="12700">
            <a:solidFill>
              <a:srgbClr val="0070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8504" y="2889504"/>
            <a:ext cx="164592" cy="164592"/>
          </a:xfrm>
          <a:prstGeom prst="ellipse">
            <a:avLst/>
          </a:prstGeom>
          <a:solidFill>
            <a:srgbClr val="0070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90500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90500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launches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383280" y="2971800"/>
            <a:ext cx="0" cy="320040"/>
          </a:xfrm>
          <a:prstGeom prst="line">
            <a:avLst/>
          </a:prstGeom>
          <a:noFill/>
          <a:ln w="12700">
            <a:solidFill>
              <a:srgbClr val="C4621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300984" y="2889504"/>
            <a:ext cx="164592" cy="164592"/>
          </a:xfrm>
          <a:prstGeom prst="ellipse">
            <a:avLst/>
          </a:prstGeom>
          <a:solidFill>
            <a:srgbClr val="C4621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69748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62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2023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69748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AutoGPT sparks the autonomous-agent wave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175760" y="2651760"/>
            <a:ext cx="0" cy="320040"/>
          </a:xfrm>
          <a:prstGeom prst="line">
            <a:avLst/>
          </a:prstGeom>
          <a:noFill/>
          <a:ln w="12700">
            <a:solidFill>
              <a:srgbClr val="0E7C8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93464" y="2889504"/>
            <a:ext cx="164592" cy="164592"/>
          </a:xfrm>
          <a:prstGeom prst="ellipse">
            <a:avLst/>
          </a:prstGeom>
          <a:solidFill>
            <a:srgbClr val="0E7C8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8996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2023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48996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in the OpenAI API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968240" y="2971800"/>
            <a:ext cx="0" cy="320040"/>
          </a:xfrm>
          <a:prstGeom prst="line">
            <a:avLst/>
          </a:prstGeom>
          <a:noFill/>
          <a:ln w="12700">
            <a:solidFill>
              <a:srgbClr val="D49A0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885944" y="2889504"/>
            <a:ext cx="164592" cy="164592"/>
          </a:xfrm>
          <a:prstGeom prst="ellipse">
            <a:avLst/>
          </a:prstGeom>
          <a:solidFill>
            <a:srgbClr val="D49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28244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2024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28244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releases computer use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760720" y="2651760"/>
            <a:ext cx="0" cy="320040"/>
          </a:xfrm>
          <a:prstGeom prst="line">
            <a:avLst/>
          </a:prstGeom>
          <a:noFill/>
          <a:ln w="12700">
            <a:solidFill>
              <a:srgbClr val="00704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78424" y="2889504"/>
            <a:ext cx="164592" cy="164592"/>
          </a:xfrm>
          <a:prstGeom prst="ellipse">
            <a:avLst/>
          </a:prstGeom>
          <a:solidFill>
            <a:srgbClr val="0070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7492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2024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07492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open-sources MCP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553200" y="2971800"/>
            <a:ext cx="0" cy="320040"/>
          </a:xfrm>
          <a:prstGeom prst="line">
            <a:avLst/>
          </a:prstGeom>
          <a:noFill/>
          <a:ln w="12700">
            <a:solidFill>
              <a:srgbClr val="00A86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470904" y="2889504"/>
            <a:ext cx="164592" cy="164592"/>
          </a:xfrm>
          <a:prstGeom prst="ellipse">
            <a:avLst/>
          </a:prstGeom>
          <a:solidFill>
            <a:srgbClr val="00A86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86740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2025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586740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&amp; deep research tools go mainstream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345680" y="2651760"/>
            <a:ext cx="0" cy="320040"/>
          </a:xfrm>
          <a:prstGeom prst="line">
            <a:avLst/>
          </a:prstGeom>
          <a:noFill/>
          <a:ln w="12700">
            <a:solidFill>
              <a:srgbClr val="0E7C86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263384" y="2889504"/>
            <a:ext cx="164592" cy="164592"/>
          </a:xfrm>
          <a:prstGeom prst="ellipse">
            <a:avLst/>
          </a:prstGeom>
          <a:solidFill>
            <a:srgbClr val="0E7C8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659880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2025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659880" y="21214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announces the A2A protocol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138160" y="2971800"/>
            <a:ext cx="0" cy="320040"/>
          </a:xfrm>
          <a:prstGeom prst="line">
            <a:avLst/>
          </a:prstGeom>
          <a:noFill/>
          <a:ln w="12700">
            <a:solidFill>
              <a:srgbClr val="D49A0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055864" y="2889504"/>
            <a:ext cx="164592" cy="164592"/>
          </a:xfrm>
          <a:prstGeom prst="ellipse">
            <a:avLst/>
          </a:prstGeom>
          <a:solidFill>
            <a:srgbClr val="D49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52360" y="3337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2025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745236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forms the Agentic AI Foundation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2025 examples: Anthropic Claude Code (research preview) and OpenAI Deep Research.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STATE OF THE FIELD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ecosystem at a glance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1481328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1595628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2029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frameworks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256032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(LangChain)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(successor to AutoGen &amp; Semantic Kernel)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goose (now under AAIF)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2560320" y="132588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2743200" y="1481328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1595628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743200" y="2029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agent SDKs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2697480" y="256032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Agent SDK (Anthropic)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Development Kit (Google)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663440" y="132588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846320" y="1481328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620" y="1595628"/>
            <a:ext cx="228600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846320" y="2029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products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4800600" y="256032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Coding: Claude Code, OpenAI Codex, GitHub Copilot, Cursor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Deep Research (OpenAI, Google)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Salesforce Agentforce, Microsoft Copilot Studio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766560" y="1325880"/>
            <a:ext cx="1920240" cy="3108960"/>
          </a:xfrm>
          <a:prstGeom prst="roundRect">
            <a:avLst>
              <a:gd name="adj" fmla="val 381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949440" y="1481328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3740" y="1595628"/>
            <a:ext cx="228600" cy="22860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49440" y="2029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standards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6903720" y="256032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agent ↔ tools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— agent ↔ agent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— guidance for coding agents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Non-exhaustive selection — the landscape evolves rapidly.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STATE OF THE FIELD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agents: benchmarks &amp; progress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E8F5EF"/>
          </a:solidFill>
          <a:ln w="9525">
            <a:solidFill>
              <a:srgbClr val="00A86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13716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15727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real GitHub issues (500 human-validated tasks)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187452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" y="19202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Pro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21214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Harder, more contamination-resistant successor (Scale AI, 2025)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242316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" y="2468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OSWorld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2670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tasks on real desktop operating systems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297180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1792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WebArena · GAIA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tasks · general-assistant questions with tools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3520440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35661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τ-bench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21792" y="37673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Customer-service dialogues with tools and policies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57200" y="411480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D49A00">
              <a:alpha val="13000"/>
            </a:srgbClr>
          </a:solidFill>
          <a:ln w="9525">
            <a:solidFill>
              <a:srgbClr val="D49A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94360" y="41148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</a:t>
            </a:r>
            <a:pPr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Feb 2026 OpenAI stopped reporting SWE-bench Verified (contamination, flawed tests) and now recommends SWE-bench Pro.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60520" y="1325880"/>
            <a:ext cx="452628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graphicFrame>
        <p:nvGraphicFramePr>
          <p:cNvPr id="31" name="Chart 0" descr=""/>
          <p:cNvGraphicFramePr/>
          <p:nvPr/>
        </p:nvGraphicFramePr>
        <p:xfrm>
          <a:off x="4206240" y="1371600"/>
          <a:ext cx="44348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2" name="Text 28"/>
          <p:cNvSpPr txBox="1"/>
          <p:nvPr/>
        </p:nvSpPr>
        <p:spPr>
          <a:xfrm>
            <a:off x="4343400" y="4315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at launch (GPT-5 on 477 of 500 tasks). Scaffolds differ: compare trends, not decimals.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STATE OF THE FIELD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Momentum: capability and adoption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1417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mo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212140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time of the length of tasks frontier agents complete with 50% reliability (2019–2025)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8529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METR, Mar 2025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13258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74720" y="1417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&lt;5% → 40%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212140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apps integrating task-specific AI agents, 2025 → end of 2026 (forecast)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28529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Aug 2025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126480" y="13258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1417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→ ~30%</a:t>
            </a:r>
            <a:endParaRPr lang="en-US" sz="32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212140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enterprise app software revenue driven by agentic AI, 2025 → 2035 (best case, &gt;$450B)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28529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Aug 2025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3337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GARTNER’S EXPECTED EVOLUTION OF ENTERPRISE AI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3657600"/>
            <a:ext cx="2834640" cy="914400"/>
          </a:xfrm>
          <a:prstGeom prst="chevron">
            <a:avLst/>
          </a:prstGeom>
          <a:solidFill>
            <a:srgbClr val="00A86A"/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05840" y="37307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4005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 embedded in almost every enterprise app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46120" y="3657600"/>
            <a:ext cx="2834640" cy="914400"/>
          </a:xfrm>
          <a:prstGeom prst="chevron">
            <a:avLst/>
          </a:prstGeom>
          <a:solidFill>
            <a:srgbClr val="008A57"/>
          </a:solidFill>
          <a:ln w="12700">
            <a:solidFill>
              <a:srgbClr val="008A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794760" y="37307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794760" y="4005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agents in 40% of enterprise apps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035040" y="3657600"/>
            <a:ext cx="2834640" cy="914400"/>
          </a:xfrm>
          <a:prstGeom prst="chevron">
            <a:avLst/>
          </a:prstGeom>
          <a:solidFill>
            <a:srgbClr val="00664A"/>
          </a:solidFill>
          <a:ln w="12700">
            <a:solidFill>
              <a:srgbClr val="00664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37307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583680" y="40050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ecosystems collaborating across apps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C4621D"/>
          </a:solidFill>
          <a:ln w="6350">
            <a:solidFill>
              <a:srgbClr val="C4621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APPLICATIONS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agents are creating value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1545336"/>
            <a:ext cx="530352" cy="530352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677924"/>
            <a:ext cx="265176" cy="26517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71600" y="1481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1371600" y="1764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codebases, write &amp; test code, fix bugs, open pull requests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663440" y="13258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864608" y="1545336"/>
            <a:ext cx="530352" cy="530352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7196" y="1677924"/>
            <a:ext cx="265176" cy="26517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577840" y="1481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5577840" y="1764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requests end-to-end with tools, escalate to humans when needed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57200" y="2450592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8368" y="2670048"/>
            <a:ext cx="530352" cy="530352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" y="2802636"/>
            <a:ext cx="265176" cy="26517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analysis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28895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many sources, cross-check them and write cited reports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663440" y="2450592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64608" y="2670048"/>
            <a:ext cx="530352" cy="530352"/>
          </a:xfrm>
          <a:prstGeom prst="ellipse">
            <a:avLst/>
          </a:prstGeom>
          <a:solidFill>
            <a:srgbClr val="B83B2E">
              <a:alpha val="22000"/>
            </a:srgbClr>
          </a:solidFill>
          <a:ln w="12700">
            <a:solidFill>
              <a:srgbClr val="B83B2E">
                <a:alpha val="60000"/>
              </a:srgbClr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196" y="2802636"/>
            <a:ext cx="265176" cy="26517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57784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&amp; security ops</a:t>
            </a:r>
            <a:endParaRPr lang="en-US" sz="1450" dirty="0"/>
          </a:p>
        </p:txBody>
      </p:sp>
      <p:sp>
        <p:nvSpPr>
          <p:cNvPr id="32" name="Text 25"/>
          <p:cNvSpPr txBox="1"/>
          <p:nvPr/>
        </p:nvSpPr>
        <p:spPr>
          <a:xfrm>
            <a:off x="5577840" y="28895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alerts and incidents, gather evidence, propose remediation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57200" y="3575304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58368" y="3794760"/>
            <a:ext cx="530352" cy="530352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" y="3927348"/>
            <a:ext cx="265176" cy="26517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371600" y="3730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&amp; back-office</a:t>
            </a:r>
            <a:endParaRPr lang="en-US" sz="1450" dirty="0"/>
          </a:p>
        </p:txBody>
      </p:sp>
      <p:sp>
        <p:nvSpPr>
          <p:cNvPr id="37" name="Text 29"/>
          <p:cNvSpPr txBox="1"/>
          <p:nvPr/>
        </p:nvSpPr>
        <p:spPr>
          <a:xfrm>
            <a:off x="1371600" y="40142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documents, reconcile records, prepare reports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4663440" y="3575304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864608" y="3794760"/>
            <a:ext cx="530352" cy="530352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7196" y="3927348"/>
            <a:ext cx="265176" cy="265176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577840" y="3730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marketing</a:t>
            </a:r>
            <a:endParaRPr lang="en-US" sz="1450" dirty="0"/>
          </a:p>
        </p:txBody>
      </p:sp>
      <p:sp>
        <p:nvSpPr>
          <p:cNvPr id="42" name="Text 33"/>
          <p:cNvSpPr txBox="1"/>
          <p:nvPr/>
        </p:nvSpPr>
        <p:spPr>
          <a:xfrm>
            <a:off x="5577840" y="40142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accounts, qualify leads, personalise outreach</a:t>
            </a:r>
            <a:endParaRPr lang="en-US" sz="105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231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it right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E6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deploy agents safely — and create value?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1732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91640" y="4343400"/>
            <a:ext cx="128016" cy="128016"/>
          </a:xfrm>
          <a:prstGeom prst="ellipse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65960" y="4343400"/>
            <a:ext cx="128016" cy="128016"/>
          </a:xfrm>
          <a:prstGeom prst="ellipse">
            <a:avLst/>
          </a:prstGeom>
          <a:solidFill>
            <a:srgbClr val="F5C242"/>
          </a:solidFill>
          <a:ln w="6350">
            <a:solidFill>
              <a:srgbClr val="F5C2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123444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1508760"/>
            <a:ext cx="2103120" cy="2103120"/>
          </a:xfrm>
          <a:prstGeom prst="ellipse">
            <a:avLst/>
          </a:prstGeom>
          <a:solidFill>
            <a:srgbClr val="FFFFFF">
              <a:alpha val="20000"/>
            </a:srgbClr>
          </a:solidFill>
          <a:ln w="9525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1783080"/>
            <a:ext cx="1554480" cy="1554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73152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DOING IT RIGHT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reliability is the hard part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compound over long tasks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step succeeds independently with probability p, a task of n steps succeeds with probability: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8F5EF"/>
          </a:solidFill>
          <a:ln w="9525">
            <a:solidFill>
              <a:srgbClr val="00A86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P(success) = p</a:t>
            </a:r>
            <a:pPr algn="ctr" indent="0" marL="0">
              <a:buNone/>
            </a:pPr>
            <a:r>
              <a:rPr lang="en-US" sz="2600" b="1" baseline="30000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2918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per step → only 36% after 20 steps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steps are not fully independent — this is a simplified model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Remedy: verification, checkpoints, retries and human review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89120" y="1325880"/>
            <a:ext cx="429768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graphicFrame>
        <p:nvGraphicFramePr>
          <p:cNvPr id="19" name="Chart 0" descr=""/>
          <p:cNvGraphicFramePr/>
          <p:nvPr/>
        </p:nvGraphicFramePr>
        <p:xfrm>
          <a:off x="4480560" y="1417320"/>
          <a:ext cx="41148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DOING IT RIGHT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and challenges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B83B2E">
              <a:alpha val="22000"/>
            </a:srgbClr>
          </a:solidFill>
          <a:ln w="12700">
            <a:solidFill>
              <a:srgbClr val="B83B2E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51560" y="1508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187452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instructions hidden in web pages, documents or emails hijack the agent. #1 in the OWASP Top 10 for LLM Apps (2025).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246120" y="13258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383280" y="1463040"/>
            <a:ext cx="384048" cy="384048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292" y="1559052"/>
            <a:ext cx="192024" cy="19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840480" y="1508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agency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383280" y="187452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permissions or too much autonomy turn a small error into real damage (OWASP LLM06:2025).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457200" y="245059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94360" y="2587752"/>
            <a:ext cx="384048" cy="384048"/>
          </a:xfrm>
          <a:prstGeom prst="ellipse">
            <a:avLst/>
          </a:prstGeom>
          <a:solidFill>
            <a:srgbClr val="C4621D">
              <a:alpha val="22000"/>
            </a:srgbClr>
          </a:solidFill>
          <a:ln w="12700">
            <a:solidFill>
              <a:srgbClr val="C4621D">
                <a:alpha val="6000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2683764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05156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errors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94360" y="2999232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facts or wrong actions, amplified over long multi-step tasks.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3246120" y="245059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383280" y="2587752"/>
            <a:ext cx="384048" cy="384048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9292" y="2683764"/>
            <a:ext cx="192024" cy="1920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4048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3383280" y="2999232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model calls per task: agents use far more tokens and time than chat.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457200" y="3575304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4360" y="3712464"/>
            <a:ext cx="384048" cy="384048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" y="3808476"/>
            <a:ext cx="192024" cy="1920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051560" y="375818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94360" y="41239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approved what? Actions must be traceable, auditable and reversible.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3246120" y="3575304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3383280" y="3712464"/>
            <a:ext cx="384048" cy="384048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9292" y="3808476"/>
            <a:ext cx="192024" cy="19202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3840480" y="375818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exposure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3383280" y="41239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with broad data access can leak sensitive information (OWASP LLM02:2025).</a:t>
            </a:r>
            <a:endParaRPr lang="en-US" sz="900" dirty="0"/>
          </a:p>
        </p:txBody>
      </p:sp>
      <p:sp>
        <p:nvSpPr>
          <p:cNvPr id="43" name="Shape 34"/>
          <p:cNvSpPr/>
          <p:nvPr/>
        </p:nvSpPr>
        <p:spPr>
          <a:xfrm>
            <a:off x="6126480" y="1325880"/>
            <a:ext cx="2560320" cy="3236976"/>
          </a:xfrm>
          <a:prstGeom prst="roundRect">
            <a:avLst>
              <a:gd name="adj" fmla="val 2857"/>
            </a:avLst>
          </a:prstGeom>
          <a:solidFill>
            <a:srgbClr val="B83B2E">
              <a:alpha val="14000"/>
            </a:srgbClr>
          </a:solidFill>
          <a:ln w="15875">
            <a:solidFill>
              <a:srgbClr val="B83B2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630936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40%+</a:t>
            </a:r>
            <a:endParaRPr lang="en-US" sz="4400" dirty="0"/>
          </a:p>
        </p:txBody>
      </p:sp>
      <p:sp>
        <p:nvSpPr>
          <p:cNvPr id="45" name="Text 36"/>
          <p:cNvSpPr txBox="1"/>
          <p:nvPr/>
        </p:nvSpPr>
        <p:spPr>
          <a:xfrm>
            <a:off x="6309360" y="2176272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agentic AI projects will be canceled by end of 2027 — due to rising costs, unclear business value or weak risk controls.</a:t>
            </a:r>
            <a:endParaRPr lang="en-US" sz="1100" dirty="0"/>
          </a:p>
        </p:txBody>
      </p:sp>
      <p:sp>
        <p:nvSpPr>
          <p:cNvPr id="46" name="Text 37"/>
          <p:cNvSpPr txBox="1"/>
          <p:nvPr/>
        </p:nvSpPr>
        <p:spPr>
          <a:xfrm>
            <a:off x="6309360" y="3127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</a:t>
            </a:r>
            <a:endParaRPr lang="en-US" sz="2800" dirty="0"/>
          </a:p>
        </p:txBody>
      </p:sp>
      <p:sp>
        <p:nvSpPr>
          <p:cNvPr id="47" name="Text 38"/>
          <p:cNvSpPr txBox="1"/>
          <p:nvPr/>
        </p:nvSpPr>
        <p:spPr>
          <a:xfrm>
            <a:off x="6309360" y="35844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agentic vendors among thousands — the rest is “agent washing”.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6309360" y="42245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June 2025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DOING IT RIGHT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human oversight to the risk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B83B2E">
              <a:alpha val="22000"/>
            </a:srgbClr>
          </a:solidFill>
          <a:ln w="12700">
            <a:solidFill>
              <a:srgbClr val="B83B2E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" y="1607058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874520" y="151790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130552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386584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2642616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40080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approves each key action before it runs.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99923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40080" y="3182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or irreversible actions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640080" y="35661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640080" y="3749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emails to clients, production deployments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291840" y="132588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474720" y="1481328"/>
            <a:ext cx="502920" cy="50292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50" y="1607058"/>
            <a:ext cx="251460" cy="25146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4709160" y="151790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4965192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221224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49A00"/>
          </a:solidFill>
          <a:ln w="6350">
            <a:solidFill>
              <a:srgbClr val="D49A00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477256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747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on the loop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3474720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acts; a person monitors and can intervene or roll back.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3474720" y="299923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</a:t>
            </a:r>
            <a:endParaRPr lang="en-US" sz="850" dirty="0"/>
          </a:p>
        </p:txBody>
      </p:sp>
      <p:sp>
        <p:nvSpPr>
          <p:cNvPr id="36" name="Text 31"/>
          <p:cNvSpPr txBox="1"/>
          <p:nvPr/>
        </p:nvSpPr>
        <p:spPr>
          <a:xfrm>
            <a:off x="3474720" y="3182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risk, reversible actions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3474720" y="35661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850" dirty="0"/>
          </a:p>
        </p:txBody>
      </p:sp>
      <p:sp>
        <p:nvSpPr>
          <p:cNvPr id="38" name="Text 33"/>
          <p:cNvSpPr txBox="1"/>
          <p:nvPr/>
        </p:nvSpPr>
        <p:spPr>
          <a:xfrm>
            <a:off x="3474720" y="3749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triage, code changes on a separate branch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6126480" y="132588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309360" y="1481328"/>
            <a:ext cx="502920" cy="50292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090" y="1607058"/>
            <a:ext cx="251460" cy="251460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7543800" y="151790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</a:t>
            </a:r>
            <a:endParaRPr lang="en-US" sz="750" dirty="0"/>
          </a:p>
        </p:txBody>
      </p:sp>
      <p:sp>
        <p:nvSpPr>
          <p:cNvPr id="43" name="Shape 37"/>
          <p:cNvSpPr/>
          <p:nvPr/>
        </p:nvSpPr>
        <p:spPr>
          <a:xfrm>
            <a:off x="7799832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0E7C86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8055864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311896" y="173736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30936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out of the loop</a:t>
            </a:r>
            <a:endParaRPr lang="en-US" sz="1500" dirty="0"/>
          </a:p>
        </p:txBody>
      </p:sp>
      <p:sp>
        <p:nvSpPr>
          <p:cNvPr id="47" name="Text 41"/>
          <p:cNvSpPr txBox="1"/>
          <p:nvPr/>
        </p:nvSpPr>
        <p:spPr>
          <a:xfrm>
            <a:off x="6309360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autonomous within strict, tested limits.</a:t>
            </a:r>
            <a:endParaRPr lang="en-US" sz="1050" dirty="0"/>
          </a:p>
        </p:txBody>
      </p:sp>
      <p:sp>
        <p:nvSpPr>
          <p:cNvPr id="48" name="Text 42"/>
          <p:cNvSpPr txBox="1"/>
          <p:nvPr/>
        </p:nvSpPr>
        <p:spPr>
          <a:xfrm>
            <a:off x="6309360" y="299923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</a:t>
            </a:r>
            <a:endParaRPr lang="en-US" sz="850" dirty="0"/>
          </a:p>
        </p:txBody>
      </p:sp>
      <p:sp>
        <p:nvSpPr>
          <p:cNvPr id="49" name="Text 43"/>
          <p:cNvSpPr txBox="1"/>
          <p:nvPr/>
        </p:nvSpPr>
        <p:spPr>
          <a:xfrm>
            <a:off x="6309360" y="3182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risk, easily reversible, well-evaluated tasks</a:t>
            </a:r>
            <a:endParaRPr lang="en-US" sz="1050" dirty="0"/>
          </a:p>
        </p:txBody>
      </p:sp>
      <p:sp>
        <p:nvSpPr>
          <p:cNvPr id="50" name="Text 44"/>
          <p:cNvSpPr txBox="1"/>
          <p:nvPr/>
        </p:nvSpPr>
        <p:spPr>
          <a:xfrm>
            <a:off x="6309360" y="35661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850" dirty="0"/>
          </a:p>
        </p:txBody>
      </p:sp>
      <p:sp>
        <p:nvSpPr>
          <p:cNvPr id="51" name="Text 45"/>
          <p:cNvSpPr txBox="1"/>
          <p:nvPr/>
        </p:nvSpPr>
        <p:spPr>
          <a:xfrm>
            <a:off x="6309360" y="3749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documents, summarising logs</a:t>
            </a:r>
            <a:endParaRPr lang="en-US" sz="1000" dirty="0"/>
          </a:p>
        </p:txBody>
      </p:sp>
      <p:sp>
        <p:nvSpPr>
          <p:cNvPr id="52" name="Text 46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</a:t>
            </a:r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higher the impact and the harder to undo, the closer the human must stay. Loosen oversight only as evaluations build trust.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DOING IT RIGHT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 for reliable agents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2560320" cy="333756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1577340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23444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58368" y="2157984"/>
            <a:ext cx="128016" cy="128016"/>
          </a:xfrm>
          <a:prstGeom prst="ellipse">
            <a:avLst/>
          </a:prstGeom>
          <a:solidFill>
            <a:srgbClr val="00A86A"/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96112" y="210312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simple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896112" y="235915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LLM call or workflow first; add autonomy only when it measurably helps.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58368" y="3008376"/>
            <a:ext cx="128016" cy="128016"/>
          </a:xfrm>
          <a:prstGeom prst="ellipse">
            <a:avLst/>
          </a:prstGeom>
          <a:solidFill>
            <a:srgbClr val="00A86A"/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6112" y="29535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tool design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896112" y="3209544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names, descriptions, examples and error messages.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58368" y="3858768"/>
            <a:ext cx="128016" cy="128016"/>
          </a:xfrm>
          <a:prstGeom prst="ellipse">
            <a:avLst/>
          </a:prstGeom>
          <a:solidFill>
            <a:srgbClr val="00A86A"/>
          </a:solidFill>
          <a:ln w="12700">
            <a:solidFill>
              <a:srgbClr val="00A8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6112" y="38039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continuously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896112" y="405993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Task-level evals built from real cases, run before every change.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291840" y="1325880"/>
            <a:ext cx="2560320" cy="333756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474720" y="1463040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1577340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406908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3493008" y="2157984"/>
            <a:ext cx="128016" cy="128016"/>
          </a:xfrm>
          <a:prstGeom prst="ellipse">
            <a:avLst/>
          </a:prstGeom>
          <a:solidFill>
            <a:srgbClr val="00704A"/>
          </a:solidFill>
          <a:ln w="12700">
            <a:solidFill>
              <a:srgbClr val="00704A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730752" y="210312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3730752" y="235915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permissions; sandbox code execution and browsing.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3493008" y="3008376"/>
            <a:ext cx="128016" cy="128016"/>
          </a:xfrm>
          <a:prstGeom prst="ellipse">
            <a:avLst/>
          </a:prstGeom>
          <a:solidFill>
            <a:srgbClr val="00704A"/>
          </a:solidFill>
          <a:ln w="12700">
            <a:solidFill>
              <a:srgbClr val="00704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730752" y="29535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inputs as untrusted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3730752" y="3209544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instructions from data to limit prompt injection.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3493008" y="3858768"/>
            <a:ext cx="128016" cy="128016"/>
          </a:xfrm>
          <a:prstGeom prst="ellipse">
            <a:avLst/>
          </a:prstGeom>
          <a:solidFill>
            <a:srgbClr val="00704A"/>
          </a:solidFill>
          <a:ln w="12700">
            <a:solidFill>
              <a:srgbClr val="00704A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730752" y="38039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risky actions</a:t>
            </a:r>
            <a:endParaRPr lang="en-US" sz="1250" dirty="0"/>
          </a:p>
        </p:txBody>
      </p:sp>
      <p:sp>
        <p:nvSpPr>
          <p:cNvPr id="38" name="Text 33"/>
          <p:cNvSpPr txBox="1"/>
          <p:nvPr/>
        </p:nvSpPr>
        <p:spPr>
          <a:xfrm>
            <a:off x="3730752" y="405993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for irreversible, costly or sensitive steps.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6126480" y="1325880"/>
            <a:ext cx="2560320" cy="3337560"/>
          </a:xfrm>
          <a:prstGeom prst="roundRect">
            <a:avLst>
              <a:gd name="adj" fmla="val 2857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309360" y="1463040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660" y="1577340"/>
            <a:ext cx="228600" cy="228600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690372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500" dirty="0"/>
          </a:p>
        </p:txBody>
      </p:sp>
      <p:sp>
        <p:nvSpPr>
          <p:cNvPr id="43" name="Shape 37"/>
          <p:cNvSpPr/>
          <p:nvPr/>
        </p:nvSpPr>
        <p:spPr>
          <a:xfrm>
            <a:off x="6327648" y="2157984"/>
            <a:ext cx="128016" cy="12801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565392" y="210312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limits</a:t>
            </a:r>
            <a:endParaRPr lang="en-US" sz="1250" dirty="0"/>
          </a:p>
        </p:txBody>
      </p:sp>
      <p:sp>
        <p:nvSpPr>
          <p:cNvPr id="45" name="Text 39"/>
          <p:cNvSpPr txBox="1"/>
          <p:nvPr/>
        </p:nvSpPr>
        <p:spPr>
          <a:xfrm>
            <a:off x="6565392" y="235915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steps, time and budget; define clear stop conditions.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6327648" y="3008376"/>
            <a:ext cx="128016" cy="12801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565392" y="29535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observable</a:t>
            </a:r>
            <a:endParaRPr lang="en-US" sz="1250" dirty="0"/>
          </a:p>
        </p:txBody>
      </p:sp>
      <p:sp>
        <p:nvSpPr>
          <p:cNvPr id="48" name="Text 42"/>
          <p:cNvSpPr txBox="1"/>
          <p:nvPr/>
        </p:nvSpPr>
        <p:spPr>
          <a:xfrm>
            <a:off x="6565392" y="3209544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 reasoning step, tool call and result.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6327648" y="3858768"/>
            <a:ext cx="128016" cy="12801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6565392" y="38039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failure</a:t>
            </a:r>
            <a:endParaRPr lang="en-US" sz="1250" dirty="0"/>
          </a:p>
        </p:txBody>
      </p:sp>
      <p:sp>
        <p:nvSpPr>
          <p:cNvPr id="51" name="Text 45"/>
          <p:cNvSpPr txBox="1"/>
          <p:nvPr/>
        </p:nvSpPr>
        <p:spPr>
          <a:xfrm>
            <a:off x="6565392" y="405993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reversible actions, checkpoints and a rollback path.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sp>
        <p:nvSpPr>
          <p:cNvPr id="5" name="Shape 2"/>
          <p:cNvSpPr/>
          <p:nvPr/>
        </p:nvSpPr>
        <p:spPr>
          <a:xfrm>
            <a:off x="768096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5760"/>
            <a:ext cx="82296" cy="82296"/>
          </a:xfrm>
          <a:prstGeom prst="ellipse">
            <a:avLst/>
          </a:prstGeom>
          <a:solidFill>
            <a:srgbClr val="D5DED9"/>
          </a:solidFill>
          <a:ln w="6350">
            <a:solidFill>
              <a:srgbClr val="D5DE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0" y="365760"/>
            <a:ext cx="82296" cy="82296"/>
          </a:xfrm>
          <a:prstGeom prst="ellipse">
            <a:avLst/>
          </a:prstGeom>
          <a:solidFill>
            <a:srgbClr val="B83B2E"/>
          </a:solidFill>
          <a:ln w="6350">
            <a:solidFill>
              <a:srgbClr val="B83B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DOING IT RIGHT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really need an agent?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7200" y="1325880"/>
            <a:ext cx="4206240" cy="548640"/>
          </a:xfrm>
          <a:prstGeom prst="roundRect">
            <a:avLst>
              <a:gd name="adj" fmla="val 13333"/>
            </a:avLst>
          </a:prstGeom>
          <a:solidFill>
            <a:srgbClr val="E8F5EF"/>
          </a:solidFill>
          <a:ln w="15875">
            <a:solidFill>
              <a:srgbClr val="0070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1325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</a:t>
            </a:r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steps hard to predict in advance?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663440" y="1600200"/>
            <a:ext cx="777240" cy="0"/>
          </a:xfrm>
          <a:prstGeom prst="line">
            <a:avLst/>
          </a:prstGeom>
          <a:noFill/>
          <a:ln w="19050">
            <a:solidFill>
              <a:srgbClr val="B83B2E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4800600" y="135331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486400" y="1325880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23560" y="1325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script, RPA or a fixed workflow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88720" y="1874520"/>
            <a:ext cx="0" cy="338328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1280160" y="1901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2212848"/>
            <a:ext cx="4206240" cy="548640"/>
          </a:xfrm>
          <a:prstGeom prst="roundRect">
            <a:avLst>
              <a:gd name="adj" fmla="val 13333"/>
            </a:avLst>
          </a:prstGeom>
          <a:solidFill>
            <a:srgbClr val="E8F5EF"/>
          </a:solidFill>
          <a:ln w="15875">
            <a:solidFill>
              <a:srgbClr val="0070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22128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</a:t>
            </a:r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value high enough to justify cost &amp; latency?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663440" y="2487168"/>
            <a:ext cx="777240" cy="0"/>
          </a:xfrm>
          <a:prstGeom prst="line">
            <a:avLst/>
          </a:prstGeom>
          <a:noFill/>
          <a:ln w="19050">
            <a:solidFill>
              <a:srgbClr val="B83B2E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800600" y="2240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86400" y="2212848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2356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single LLM call or a simple workflow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88720" y="2761488"/>
            <a:ext cx="0" cy="338328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1280160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3099816"/>
            <a:ext cx="4206240" cy="548640"/>
          </a:xfrm>
          <a:prstGeom prst="roundRect">
            <a:avLst>
              <a:gd name="adj" fmla="val 13333"/>
            </a:avLst>
          </a:prstGeom>
          <a:solidFill>
            <a:srgbClr val="E8F5EF"/>
          </a:solidFill>
          <a:ln w="15875">
            <a:solidFill>
              <a:srgbClr val="00704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0080" y="309981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</a:t>
            </a:r>
            <a:pPr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errors be detected and recovered (tests, review)?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663440" y="3374136"/>
            <a:ext cx="777240" cy="0"/>
          </a:xfrm>
          <a:prstGeom prst="line">
            <a:avLst/>
          </a:prstGeom>
          <a:noFill/>
          <a:ln w="19050">
            <a:solidFill>
              <a:srgbClr val="B83B2E"/>
            </a:solidFill>
            <a:prstDash val="solid"/>
            <a:tailEnd type="triangle"/>
          </a:ln>
        </p:spPr>
      </p:sp>
      <p:sp>
        <p:nvSpPr>
          <p:cNvPr id="32" name="Text 29"/>
          <p:cNvSpPr txBox="1"/>
          <p:nvPr/>
        </p:nvSpPr>
        <p:spPr>
          <a:xfrm>
            <a:off x="4800600" y="312724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86400" y="3099816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623560" y="309981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human approving each key action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88720" y="3648456"/>
            <a:ext cx="0" cy="338328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6" name="Text 33"/>
          <p:cNvSpPr txBox="1"/>
          <p:nvPr/>
        </p:nvSpPr>
        <p:spPr>
          <a:xfrm>
            <a:off x="1280160" y="3675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57200" y="3986784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0E7C86">
              <a:alpha val="20000"/>
            </a:srgbClr>
          </a:solidFill>
          <a:ln w="19050">
            <a:solidFill>
              <a:srgbClr val="0E7C86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42232"/>
            <a:ext cx="329184" cy="329184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097280" y="398678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good fit — start narrow, measure, then expand.</a:t>
            </a:r>
            <a:endParaRPr lang="en-US" sz="1250" dirty="0"/>
          </a:p>
        </p:txBody>
      </p:sp>
      <p:sp>
        <p:nvSpPr>
          <p:cNvPr id="40" name="Text 36"/>
          <p:cNvSpPr txBox="1"/>
          <p:nvPr/>
        </p:nvSpPr>
        <p:spPr>
          <a:xfrm>
            <a:off x="5486400" y="42153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6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 Anthropic’s “Building Effective Agents” (2024)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turn AI from a tool you use into a system that works for you.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2075688"/>
            <a:ext cx="457200" cy="457200"/>
          </a:xfrm>
          <a:prstGeom prst="ellipse">
            <a:avLst/>
          </a:prstGeom>
          <a:solidFill>
            <a:srgbClr val="00A86A">
              <a:alpha val="22000"/>
            </a:srgbClr>
          </a:solidFill>
          <a:ln w="12700">
            <a:solidFill>
              <a:srgbClr val="00A86A">
                <a:alpha val="60000"/>
              </a:srgb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2189988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1920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an LLM using tools in a loop, toward a goal.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4663440" y="192024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828032" y="2075688"/>
            <a:ext cx="457200" cy="457200"/>
          </a:xfrm>
          <a:prstGeom prst="ellipse">
            <a:avLst/>
          </a:prstGeom>
          <a:solidFill>
            <a:srgbClr val="00704A">
              <a:alpha val="22000"/>
            </a:srgbClr>
          </a:solidFill>
          <a:ln w="12700">
            <a:solidFill>
              <a:srgbClr val="00704A">
                <a:alpha val="60000"/>
              </a:srgbClr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32" y="2189988"/>
            <a:ext cx="228600" cy="2286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1920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“Agentic” is a spectrum — choose the least autonomy that works.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288036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713232" y="3035808"/>
            <a:ext cx="457200" cy="457200"/>
          </a:xfrm>
          <a:prstGeom prst="ellipse">
            <a:avLst/>
          </a:prstGeom>
          <a:solidFill>
            <a:srgbClr val="0E7C86">
              <a:alpha val="22000"/>
            </a:srgbClr>
          </a:solidFill>
          <a:ln w="12700">
            <a:solidFill>
              <a:srgbClr val="0E7C86">
                <a:alpha val="60000"/>
              </a:srgbClr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" y="3150108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2880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standards (MCP, A2A) are making agents interoperable.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663440" y="288036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828032" y="3035808"/>
            <a:ext cx="457200" cy="457200"/>
          </a:xfrm>
          <a:prstGeom prst="ellipse">
            <a:avLst/>
          </a:prstGeom>
          <a:solidFill>
            <a:srgbClr val="D49A00">
              <a:alpha val="22000"/>
            </a:srgbClr>
          </a:solidFill>
          <a:ln w="12700">
            <a:solidFill>
              <a:srgbClr val="D49A00">
                <a:alpha val="60000"/>
              </a:srgbClr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332" y="3150108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440680" y="2880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comes with discipline: evals, guardrails, human oversight.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Questions?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Agentic AI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0" y="4846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A9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further reading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508760"/>
            <a:ext cx="37033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&amp; Norvig — Artificial Intelligence: A Modern Approach (4th ed., 2020)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“Building Effective Agents” (Dec 2024)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“How we built our multi-agent research system” (Jun 2025)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Weng — “LLM Powered Autonomous Agents” (2023)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 et al. — Chain-of-Thought Prompting (2022)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 — ReAct: Synergizing Reasoning and Acting (2022)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 — Reflexion (2023)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 — Tree of Thoughts (2023)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F4F7F5"/>
          </a:solidFill>
          <a:ln w="9525">
            <a:solidFill>
              <a:srgbClr val="D5DE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1508760"/>
            <a:ext cx="37033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— Plan-and-Solve Prompting (2023)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Sumers et al. — Cognitive Architectures for Language Agents (2023)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Kwa et al. (METR) — Measuring AI Ability to Complete Long Tasks (2025)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Jimenez et al. — SWE-bench (2023); OpenAI — SWE-bench Verified (2024) and its retirement note (Feb 2026)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press releases — 25 Jun 2025 &amp; 26 Aug 2025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— Agentic AI Foundation announcement (9 Dec 2025)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— Top 10 for LLM Applications (2025)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4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modelcontextprotocol.io  ·  a2a-protocol.org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Agents &amp; Agentic AI</dc:title>
  <dc:subject>PptxGenJS Presentation</dc:subject>
  <dc:creator>Claude</dc:creator>
  <cp:lastModifiedBy>Claude</cp:lastModifiedBy>
  <cp:revision>1</cp:revision>
  <dcterms:created xsi:type="dcterms:W3CDTF">2026-09-16T08:24:11Z</dcterms:created>
  <dcterms:modified xsi:type="dcterms:W3CDTF">2026-09-16T08:24:11Z</dcterms:modified>
</cp:coreProperties>
</file>