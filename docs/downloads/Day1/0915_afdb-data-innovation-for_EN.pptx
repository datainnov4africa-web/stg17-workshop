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8"/>
  </p:notesMasterIdLst>
  <p:handoutMasterIdLst>
    <p:handoutMasterId r:id="rId19"/>
  </p:handoutMasterIdLst>
  <p:sldIdLst>
    <p:sldId id="967" r:id="rId5"/>
    <p:sldId id="286" r:id="rId6"/>
    <p:sldId id="266" r:id="rId7"/>
    <p:sldId id="336" r:id="rId8"/>
    <p:sldId id="291" r:id="rId9"/>
    <p:sldId id="1468" r:id="rId10"/>
    <p:sldId id="818" r:id="rId11"/>
    <p:sldId id="2147482786" r:id="rId12"/>
    <p:sldId id="261" r:id="rId13"/>
    <p:sldId id="2147482790" r:id="rId14"/>
    <p:sldId id="2147482791" r:id="rId15"/>
    <p:sldId id="2147482792" r:id="rId16"/>
    <p:sldId id="884"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0F3EA1-63E2-328E-94DC-55B57B536CED}" name="KOUTA, MOMAR" initials="MK" userId="S::M.KOUTA@afdb.org::0cf73bc1-de3a-477b-b613-c0963154df6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J TAIEB mohamed ali" initials="HTma" lastIdx="1" clrIdx="0">
    <p:extLst>
      <p:ext uri="{19B8F6BF-5375-455C-9EA6-DF929625EA0E}">
        <p15:presenceInfo xmlns:p15="http://schemas.microsoft.com/office/powerpoint/2012/main" userId="S-1-5-21-3473853104-1970567901-401246067-10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2D0DB3"/>
    <a:srgbClr val="FF4400"/>
    <a:srgbClr val="926DD7"/>
    <a:srgbClr val="6CB13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2D3FE9-4FCA-4531-A3DC-A630041DA039}" v="6" dt="2026-09-24T10:07:41.527"/>
  </p1510:revLst>
</p1510:revInfo>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40" autoAdjust="0"/>
    <p:restoredTop sz="82939" autoAdjust="0"/>
  </p:normalViewPr>
  <p:slideViewPr>
    <p:cSldViewPr snapToGrid="0">
      <p:cViewPr varScale="1">
        <p:scale>
          <a:sx n="72" d="100"/>
          <a:sy n="72" d="100"/>
        </p:scale>
        <p:origin x="112" y="-2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2910" y="6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1"/>
      <a:schemeClr val="accent2"/>
    </dgm:fillClrLst>
    <dgm:linClrLst meth="repeat">
      <a:schemeClr val="lt1"/>
    </dgm:linClrLst>
    <dgm:effectClrLst/>
    <dgm:txLinClrLst/>
    <dgm:txFillClrLst/>
    <dgm:txEffectClrLst/>
  </dgm:styleLbl>
  <dgm:styleLbl name="alignNode1">
    <dgm:fillClrLst>
      <a:schemeClr val="accent1"/>
      <a:schemeClr val="accent2"/>
    </dgm:fillClrLst>
    <dgm:linClrLst>
      <a:schemeClr val="accent1"/>
      <a:schemeClr val="accent2"/>
    </dgm:linClrLst>
    <dgm:effectClrLst/>
    <dgm:txLinClrLst/>
    <dgm:txFillClrLst/>
    <dgm:txEffectClrLst/>
  </dgm:styleLbl>
  <dgm:styleLbl name="lnNode1">
    <dgm:fillClrLst>
      <a:schemeClr val="accent1"/>
      <a:schemeClr val="accent2"/>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chemeClr val="accent2"/>
    </dgm:fillClrLst>
    <dgm:linClrLst meth="repeat">
      <a:schemeClr val="lt1"/>
    </dgm:linClrLst>
    <dgm:effectClrLst/>
    <dgm:txLinClrLst/>
    <dgm:txFillClrLst/>
    <dgm:txEffectClrLst/>
  </dgm:styleLbl>
  <dgm:styleLbl name="fgSibTrans2D1">
    <dgm:fillClrLst>
      <a:schemeClr val="accent1"/>
      <a:schemeClr val="accent2"/>
    </dgm:fillClrLst>
    <dgm:linClrLst meth="repeat">
      <a:schemeClr val="lt1"/>
    </dgm:linClrLst>
    <dgm:effectClrLst/>
    <dgm:txLinClrLst/>
    <dgm:txFillClrLst meth="repeat">
      <a:schemeClr val="lt1"/>
    </dgm:txFillClrLst>
    <dgm:txEffectClrLst/>
  </dgm:styleLbl>
  <dgm:styleLbl name="bgSibTrans2D1">
    <dgm:fillClrLst>
      <a:schemeClr val="accent1"/>
      <a:schemeClr val="accent2"/>
    </dgm:fillClrLst>
    <dgm:linClrLst meth="repeat">
      <a:schemeClr val="lt1"/>
    </dgm:linClrLst>
    <dgm:effectClrLst/>
    <dgm:txLinClrLst/>
    <dgm:txFillClrLst meth="repeat">
      <a:schemeClr val="lt1"/>
    </dgm:txFillClrLst>
    <dgm:txEffectClrLst/>
  </dgm:styleLbl>
  <dgm:styleLbl name="sibTrans1D1">
    <dgm:fillClrLst/>
    <dgm:linClrLst>
      <a:schemeClr val="accent1"/>
      <a:schemeClr val="accent2"/>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chemeClr val="accent2"/>
    </dgm:linClrLst>
    <dgm:effectClrLst/>
    <dgm:txLinClrLst/>
    <dgm:txFillClrLst meth="repeat">
      <a:schemeClr val="dk1"/>
    </dgm:txFillClrLst>
    <dgm:txEffectClrLst/>
  </dgm:styleLbl>
  <dgm:styleLbl name="solidFgAcc1">
    <dgm:fillClrLst meth="repeat">
      <a:schemeClr val="lt1"/>
    </dgm:fillClrLst>
    <dgm:linClrLst>
      <a:schemeClr val="accent1"/>
      <a:schemeClr val="accent2"/>
    </dgm:linClrLst>
    <dgm:effectClrLst/>
    <dgm:txLinClrLst/>
    <dgm:txFillClrLst meth="repeat">
      <a:schemeClr val="dk1"/>
    </dgm:txFillClrLst>
    <dgm:txEffectClrLst/>
  </dgm:styleLbl>
  <dgm:styleLbl name="solidAlignAcc1">
    <dgm:fillClrLst meth="repeat">
      <a:schemeClr val="lt1"/>
    </dgm:fillClrLst>
    <dgm:linClrLst>
      <a:schemeClr val="accent1"/>
      <a:schemeClr val="accent2"/>
    </dgm:linClrLst>
    <dgm:effectClrLst/>
    <dgm:txLinClrLst/>
    <dgm:txFillClrLst meth="repeat">
      <a:schemeClr val="dk1"/>
    </dgm:txFillClrLst>
    <dgm:txEffectClrLst/>
  </dgm:styleLbl>
  <dgm:styleLbl name="solidBgAcc1">
    <dgm:fillClrLst meth="repeat">
      <a:schemeClr val="lt1"/>
    </dgm:fillClrLst>
    <dgm:linClrLst>
      <a:schemeClr val="accent1"/>
      <a:schemeClr val="accent2"/>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A0AD01-DE0C-433C-B6B5-9347A8F70B12}" type="doc">
      <dgm:prSet loTypeId="urn:microsoft.com/office/officeart/2005/8/layout/gear1" loCatId="cycle" qsTypeId="urn:microsoft.com/office/officeart/2005/8/quickstyle/3d3#1" qsCatId="3D" csTypeId="urn:microsoft.com/office/officeart/2005/8/colors/colorful3#1" csCatId="colorful" phldr="1"/>
      <dgm:spPr/>
    </dgm:pt>
    <dgm:pt modelId="{31FF8BF9-AD6F-417C-897D-BA9076DE537E}">
      <dgm:prSet phldrT="[Text]"/>
      <dgm:spPr/>
      <dgm:t>
        <a:bodyPr/>
        <a:lstStyle/>
        <a:p>
          <a:r>
            <a:rPr lang="en-GB" dirty="0"/>
            <a:t>Relevant and Reliable</a:t>
          </a:r>
        </a:p>
      </dgm:t>
    </dgm:pt>
    <dgm:pt modelId="{15AB7E1D-D4BA-4AB4-91F2-96FD519742BD}" type="parTrans" cxnId="{F60372CB-79CA-4080-9B54-CD0D2083EA69}">
      <dgm:prSet/>
      <dgm:spPr/>
      <dgm:t>
        <a:bodyPr/>
        <a:lstStyle/>
        <a:p>
          <a:endParaRPr lang="en-GB"/>
        </a:p>
      </dgm:t>
    </dgm:pt>
    <dgm:pt modelId="{3EE77390-7D74-4AF7-8CF2-9D017342BC09}" type="sibTrans" cxnId="{F60372CB-79CA-4080-9B54-CD0D2083EA69}">
      <dgm:prSet/>
      <dgm:spPr/>
      <dgm:t>
        <a:bodyPr/>
        <a:lstStyle/>
        <a:p>
          <a:endParaRPr lang="en-GB"/>
        </a:p>
      </dgm:t>
    </dgm:pt>
    <dgm:pt modelId="{3BC89690-EB15-4661-8E81-64C129A03DDB}">
      <dgm:prSet phldrT="[Text]"/>
      <dgm:spPr/>
      <dgm:t>
        <a:bodyPr/>
        <a:lstStyle/>
        <a:p>
          <a:r>
            <a:rPr lang="en-GB" dirty="0"/>
            <a:t>Granular</a:t>
          </a:r>
        </a:p>
      </dgm:t>
    </dgm:pt>
    <dgm:pt modelId="{467A074D-5861-4FFB-A928-46EE0B860C88}" type="parTrans" cxnId="{3735BD77-A999-4503-8815-E251F62206CE}">
      <dgm:prSet/>
      <dgm:spPr/>
      <dgm:t>
        <a:bodyPr/>
        <a:lstStyle/>
        <a:p>
          <a:endParaRPr lang="en-GB"/>
        </a:p>
      </dgm:t>
    </dgm:pt>
    <dgm:pt modelId="{90273909-DAD4-400D-B802-AC9071B3C7FA}" type="sibTrans" cxnId="{3735BD77-A999-4503-8815-E251F62206CE}">
      <dgm:prSet/>
      <dgm:spPr/>
      <dgm:t>
        <a:bodyPr/>
        <a:lstStyle/>
        <a:p>
          <a:endParaRPr lang="en-GB"/>
        </a:p>
      </dgm:t>
    </dgm:pt>
    <dgm:pt modelId="{A95D7BE3-E7D4-4F9A-B06E-702C282474CB}">
      <dgm:prSet phldrT="[Text]"/>
      <dgm:spPr/>
      <dgm:t>
        <a:bodyPr/>
        <a:lstStyle/>
        <a:p>
          <a:r>
            <a:rPr lang="en-GB"/>
            <a:t>Frequent</a:t>
          </a:r>
          <a:endParaRPr lang="en-GB" dirty="0"/>
        </a:p>
      </dgm:t>
    </dgm:pt>
    <dgm:pt modelId="{4141EBB2-B308-4760-883F-D58FBACA1B38}" type="parTrans" cxnId="{0F731CB1-ED7B-4A99-B664-955C9C3BE153}">
      <dgm:prSet/>
      <dgm:spPr/>
      <dgm:t>
        <a:bodyPr/>
        <a:lstStyle/>
        <a:p>
          <a:endParaRPr lang="en-GB"/>
        </a:p>
      </dgm:t>
    </dgm:pt>
    <dgm:pt modelId="{8AED96CA-EB31-4E49-8A4E-B0F140785D90}" type="sibTrans" cxnId="{0F731CB1-ED7B-4A99-B664-955C9C3BE153}">
      <dgm:prSet/>
      <dgm:spPr/>
      <dgm:t>
        <a:bodyPr/>
        <a:lstStyle/>
        <a:p>
          <a:endParaRPr lang="en-GB"/>
        </a:p>
      </dgm:t>
    </dgm:pt>
    <dgm:pt modelId="{47371936-ECC7-4130-8CC7-CCD8D96F1FAD}" type="pres">
      <dgm:prSet presAssocID="{62A0AD01-DE0C-433C-B6B5-9347A8F70B12}" presName="composite" presStyleCnt="0">
        <dgm:presLayoutVars>
          <dgm:chMax val="3"/>
          <dgm:animLvl val="lvl"/>
          <dgm:resizeHandles val="exact"/>
        </dgm:presLayoutVars>
      </dgm:prSet>
      <dgm:spPr/>
    </dgm:pt>
    <dgm:pt modelId="{164DED37-749F-4BDE-BAFA-CECC4F63E0DB}" type="pres">
      <dgm:prSet presAssocID="{31FF8BF9-AD6F-417C-897D-BA9076DE537E}" presName="gear1" presStyleLbl="node1" presStyleIdx="0" presStyleCnt="3">
        <dgm:presLayoutVars>
          <dgm:chMax val="1"/>
          <dgm:bulletEnabled val="1"/>
        </dgm:presLayoutVars>
      </dgm:prSet>
      <dgm:spPr/>
    </dgm:pt>
    <dgm:pt modelId="{C2F951A3-5612-46DD-9DEB-4AAB926AEF87}" type="pres">
      <dgm:prSet presAssocID="{31FF8BF9-AD6F-417C-897D-BA9076DE537E}" presName="gear1srcNode" presStyleLbl="node1" presStyleIdx="0" presStyleCnt="3"/>
      <dgm:spPr/>
    </dgm:pt>
    <dgm:pt modelId="{2FAE76EB-3262-4C74-AEBC-03DBC1FF29A2}" type="pres">
      <dgm:prSet presAssocID="{31FF8BF9-AD6F-417C-897D-BA9076DE537E}" presName="gear1dstNode" presStyleLbl="node1" presStyleIdx="0" presStyleCnt="3"/>
      <dgm:spPr/>
    </dgm:pt>
    <dgm:pt modelId="{4BC7830B-8B22-4740-8074-06B627E3A205}" type="pres">
      <dgm:prSet presAssocID="{A95D7BE3-E7D4-4F9A-B06E-702C282474CB}" presName="gear2" presStyleLbl="node1" presStyleIdx="1" presStyleCnt="3">
        <dgm:presLayoutVars>
          <dgm:chMax val="1"/>
          <dgm:bulletEnabled val="1"/>
        </dgm:presLayoutVars>
      </dgm:prSet>
      <dgm:spPr/>
    </dgm:pt>
    <dgm:pt modelId="{18D3FAE8-94BA-4461-9A12-5461C58B4A91}" type="pres">
      <dgm:prSet presAssocID="{A95D7BE3-E7D4-4F9A-B06E-702C282474CB}" presName="gear2srcNode" presStyleLbl="node1" presStyleIdx="1" presStyleCnt="3"/>
      <dgm:spPr/>
    </dgm:pt>
    <dgm:pt modelId="{D77C2D18-BE24-42B0-B79A-635B14EDF169}" type="pres">
      <dgm:prSet presAssocID="{A95D7BE3-E7D4-4F9A-B06E-702C282474CB}" presName="gear2dstNode" presStyleLbl="node1" presStyleIdx="1" presStyleCnt="3"/>
      <dgm:spPr/>
    </dgm:pt>
    <dgm:pt modelId="{49706FA6-A611-41D9-9954-D4AA3BEE5AF2}" type="pres">
      <dgm:prSet presAssocID="{3BC89690-EB15-4661-8E81-64C129A03DDB}" presName="gear3" presStyleLbl="node1" presStyleIdx="2" presStyleCnt="3"/>
      <dgm:spPr/>
    </dgm:pt>
    <dgm:pt modelId="{1FC90674-2DF7-4D19-A0FD-F60824B2677A}" type="pres">
      <dgm:prSet presAssocID="{3BC89690-EB15-4661-8E81-64C129A03DDB}" presName="gear3tx" presStyleLbl="node1" presStyleIdx="2" presStyleCnt="3">
        <dgm:presLayoutVars>
          <dgm:chMax val="1"/>
          <dgm:bulletEnabled val="1"/>
        </dgm:presLayoutVars>
      </dgm:prSet>
      <dgm:spPr/>
    </dgm:pt>
    <dgm:pt modelId="{1B200048-0BCE-4329-9063-A99A8EC76ABC}" type="pres">
      <dgm:prSet presAssocID="{3BC89690-EB15-4661-8E81-64C129A03DDB}" presName="gear3srcNode" presStyleLbl="node1" presStyleIdx="2" presStyleCnt="3"/>
      <dgm:spPr/>
    </dgm:pt>
    <dgm:pt modelId="{47A445CE-9B48-4222-B8B7-7472F61B1C46}" type="pres">
      <dgm:prSet presAssocID="{3BC89690-EB15-4661-8E81-64C129A03DDB}" presName="gear3dstNode" presStyleLbl="node1" presStyleIdx="2" presStyleCnt="3"/>
      <dgm:spPr/>
    </dgm:pt>
    <dgm:pt modelId="{3B930D2D-FEC7-4821-BE89-C2B65637611E}" type="pres">
      <dgm:prSet presAssocID="{3EE77390-7D74-4AF7-8CF2-9D017342BC09}" presName="connector1" presStyleLbl="sibTrans2D1" presStyleIdx="0" presStyleCnt="3"/>
      <dgm:spPr/>
    </dgm:pt>
    <dgm:pt modelId="{D14416B6-B10B-426C-A660-16F0544DD062}" type="pres">
      <dgm:prSet presAssocID="{8AED96CA-EB31-4E49-8A4E-B0F140785D90}" presName="connector2" presStyleLbl="sibTrans2D1" presStyleIdx="1" presStyleCnt="3"/>
      <dgm:spPr/>
    </dgm:pt>
    <dgm:pt modelId="{E1B566CC-791F-40CF-A925-4ABD9DD51F85}" type="pres">
      <dgm:prSet presAssocID="{90273909-DAD4-400D-B802-AC9071B3C7FA}" presName="connector3" presStyleLbl="sibTrans2D1" presStyleIdx="2" presStyleCnt="3"/>
      <dgm:spPr/>
    </dgm:pt>
  </dgm:ptLst>
  <dgm:cxnLst>
    <dgm:cxn modelId="{10CD6B05-6E34-41D2-AC65-25BF481731CF}" type="presOf" srcId="{8AED96CA-EB31-4E49-8A4E-B0F140785D90}" destId="{D14416B6-B10B-426C-A660-16F0544DD062}" srcOrd="0" destOrd="0" presId="urn:microsoft.com/office/officeart/2005/8/layout/gear1"/>
    <dgm:cxn modelId="{424D1F2B-3EDD-4F6F-B94F-1E2678F07FD6}" type="presOf" srcId="{31FF8BF9-AD6F-417C-897D-BA9076DE537E}" destId="{164DED37-749F-4BDE-BAFA-CECC4F63E0DB}" srcOrd="0" destOrd="0" presId="urn:microsoft.com/office/officeart/2005/8/layout/gear1"/>
    <dgm:cxn modelId="{A6AE7F5B-9182-4E38-B486-92A4EBC6C2B3}" type="presOf" srcId="{A95D7BE3-E7D4-4F9A-B06E-702C282474CB}" destId="{D77C2D18-BE24-42B0-B79A-635B14EDF169}" srcOrd="2" destOrd="0" presId="urn:microsoft.com/office/officeart/2005/8/layout/gear1"/>
    <dgm:cxn modelId="{C932E64A-04DF-46ED-B347-AA37868B7858}" type="presOf" srcId="{31FF8BF9-AD6F-417C-897D-BA9076DE537E}" destId="{C2F951A3-5612-46DD-9DEB-4AAB926AEF87}" srcOrd="1" destOrd="0" presId="urn:microsoft.com/office/officeart/2005/8/layout/gear1"/>
    <dgm:cxn modelId="{5247F152-DB6E-45AE-9D07-364522B1EFB9}" type="presOf" srcId="{3BC89690-EB15-4661-8E81-64C129A03DDB}" destId="{47A445CE-9B48-4222-B8B7-7472F61B1C46}" srcOrd="3" destOrd="0" presId="urn:microsoft.com/office/officeart/2005/8/layout/gear1"/>
    <dgm:cxn modelId="{3735BD77-A999-4503-8815-E251F62206CE}" srcId="{62A0AD01-DE0C-433C-B6B5-9347A8F70B12}" destId="{3BC89690-EB15-4661-8E81-64C129A03DDB}" srcOrd="2" destOrd="0" parTransId="{467A074D-5861-4FFB-A928-46EE0B860C88}" sibTransId="{90273909-DAD4-400D-B802-AC9071B3C7FA}"/>
    <dgm:cxn modelId="{527C3C7F-DCA1-4DFB-8195-91C799543645}" type="presOf" srcId="{3BC89690-EB15-4661-8E81-64C129A03DDB}" destId="{1B200048-0BCE-4329-9063-A99A8EC76ABC}" srcOrd="2" destOrd="0" presId="urn:microsoft.com/office/officeart/2005/8/layout/gear1"/>
    <dgm:cxn modelId="{CA635B81-FC3D-49A2-9A22-965BB3352C44}" type="presOf" srcId="{A95D7BE3-E7D4-4F9A-B06E-702C282474CB}" destId="{18D3FAE8-94BA-4461-9A12-5461C58B4A91}" srcOrd="1" destOrd="0" presId="urn:microsoft.com/office/officeart/2005/8/layout/gear1"/>
    <dgm:cxn modelId="{95125EA7-8A89-4E03-A2D0-746BA771914A}" type="presOf" srcId="{31FF8BF9-AD6F-417C-897D-BA9076DE537E}" destId="{2FAE76EB-3262-4C74-AEBC-03DBC1FF29A2}" srcOrd="2" destOrd="0" presId="urn:microsoft.com/office/officeart/2005/8/layout/gear1"/>
    <dgm:cxn modelId="{AC1DD3AD-510E-45EE-8946-91709E19AA8C}" type="presOf" srcId="{62A0AD01-DE0C-433C-B6B5-9347A8F70B12}" destId="{47371936-ECC7-4130-8CC7-CCD8D96F1FAD}" srcOrd="0" destOrd="0" presId="urn:microsoft.com/office/officeart/2005/8/layout/gear1"/>
    <dgm:cxn modelId="{0F731CB1-ED7B-4A99-B664-955C9C3BE153}" srcId="{62A0AD01-DE0C-433C-B6B5-9347A8F70B12}" destId="{A95D7BE3-E7D4-4F9A-B06E-702C282474CB}" srcOrd="1" destOrd="0" parTransId="{4141EBB2-B308-4760-883F-D58FBACA1B38}" sibTransId="{8AED96CA-EB31-4E49-8A4E-B0F140785D90}"/>
    <dgm:cxn modelId="{8BFBB3BD-E478-4EC9-B2D6-4C37D6074B8C}" type="presOf" srcId="{3BC89690-EB15-4661-8E81-64C129A03DDB}" destId="{49706FA6-A611-41D9-9954-D4AA3BEE5AF2}" srcOrd="0" destOrd="0" presId="urn:microsoft.com/office/officeart/2005/8/layout/gear1"/>
    <dgm:cxn modelId="{2329D9C0-AB7A-4867-B241-7274502AF322}" type="presOf" srcId="{3BC89690-EB15-4661-8E81-64C129A03DDB}" destId="{1FC90674-2DF7-4D19-A0FD-F60824B2677A}" srcOrd="1" destOrd="0" presId="urn:microsoft.com/office/officeart/2005/8/layout/gear1"/>
    <dgm:cxn modelId="{7B7397C1-C360-4632-B95A-B5155A8930D0}" type="presOf" srcId="{3EE77390-7D74-4AF7-8CF2-9D017342BC09}" destId="{3B930D2D-FEC7-4821-BE89-C2B65637611E}" srcOrd="0" destOrd="0" presId="urn:microsoft.com/office/officeart/2005/8/layout/gear1"/>
    <dgm:cxn modelId="{18A908C4-81DE-4EC6-A0BC-DBF4F9E6E0FD}" type="presOf" srcId="{A95D7BE3-E7D4-4F9A-B06E-702C282474CB}" destId="{4BC7830B-8B22-4740-8074-06B627E3A205}" srcOrd="0" destOrd="0" presId="urn:microsoft.com/office/officeart/2005/8/layout/gear1"/>
    <dgm:cxn modelId="{F60372CB-79CA-4080-9B54-CD0D2083EA69}" srcId="{62A0AD01-DE0C-433C-B6B5-9347A8F70B12}" destId="{31FF8BF9-AD6F-417C-897D-BA9076DE537E}" srcOrd="0" destOrd="0" parTransId="{15AB7E1D-D4BA-4AB4-91F2-96FD519742BD}" sibTransId="{3EE77390-7D74-4AF7-8CF2-9D017342BC09}"/>
    <dgm:cxn modelId="{536578EF-82F2-4251-99B6-8A29A37AC167}" type="presOf" srcId="{90273909-DAD4-400D-B802-AC9071B3C7FA}" destId="{E1B566CC-791F-40CF-A925-4ABD9DD51F85}" srcOrd="0" destOrd="0" presId="urn:microsoft.com/office/officeart/2005/8/layout/gear1"/>
    <dgm:cxn modelId="{42211738-CEFE-41B3-96E4-C34DA2766561}" type="presParOf" srcId="{47371936-ECC7-4130-8CC7-CCD8D96F1FAD}" destId="{164DED37-749F-4BDE-BAFA-CECC4F63E0DB}" srcOrd="0" destOrd="0" presId="urn:microsoft.com/office/officeart/2005/8/layout/gear1"/>
    <dgm:cxn modelId="{F5CA203C-7DA5-40D3-8CB7-10B6883F8A0E}" type="presParOf" srcId="{47371936-ECC7-4130-8CC7-CCD8D96F1FAD}" destId="{C2F951A3-5612-46DD-9DEB-4AAB926AEF87}" srcOrd="1" destOrd="0" presId="urn:microsoft.com/office/officeart/2005/8/layout/gear1"/>
    <dgm:cxn modelId="{63D403B9-BF80-416F-809D-9D7705063114}" type="presParOf" srcId="{47371936-ECC7-4130-8CC7-CCD8D96F1FAD}" destId="{2FAE76EB-3262-4C74-AEBC-03DBC1FF29A2}" srcOrd="2" destOrd="0" presId="urn:microsoft.com/office/officeart/2005/8/layout/gear1"/>
    <dgm:cxn modelId="{F8DA513B-2B67-4FB0-8F83-EDEEA9DD3AED}" type="presParOf" srcId="{47371936-ECC7-4130-8CC7-CCD8D96F1FAD}" destId="{4BC7830B-8B22-4740-8074-06B627E3A205}" srcOrd="3" destOrd="0" presId="urn:microsoft.com/office/officeart/2005/8/layout/gear1"/>
    <dgm:cxn modelId="{19699836-771A-4FD4-964D-2A7C907B72FE}" type="presParOf" srcId="{47371936-ECC7-4130-8CC7-CCD8D96F1FAD}" destId="{18D3FAE8-94BA-4461-9A12-5461C58B4A91}" srcOrd="4" destOrd="0" presId="urn:microsoft.com/office/officeart/2005/8/layout/gear1"/>
    <dgm:cxn modelId="{4F08AA80-F557-4391-AE4B-92C9B9FBD51E}" type="presParOf" srcId="{47371936-ECC7-4130-8CC7-CCD8D96F1FAD}" destId="{D77C2D18-BE24-42B0-B79A-635B14EDF169}" srcOrd="5" destOrd="0" presId="urn:microsoft.com/office/officeart/2005/8/layout/gear1"/>
    <dgm:cxn modelId="{C9C12E53-1A5C-424B-82B0-5062D8D91B0E}" type="presParOf" srcId="{47371936-ECC7-4130-8CC7-CCD8D96F1FAD}" destId="{49706FA6-A611-41D9-9954-D4AA3BEE5AF2}" srcOrd="6" destOrd="0" presId="urn:microsoft.com/office/officeart/2005/8/layout/gear1"/>
    <dgm:cxn modelId="{0554DFB1-F62C-4D96-8101-FDCDBAC1EDE6}" type="presParOf" srcId="{47371936-ECC7-4130-8CC7-CCD8D96F1FAD}" destId="{1FC90674-2DF7-4D19-A0FD-F60824B2677A}" srcOrd="7" destOrd="0" presId="urn:microsoft.com/office/officeart/2005/8/layout/gear1"/>
    <dgm:cxn modelId="{1BA99A05-615C-4EEB-BACA-34777CD07438}" type="presParOf" srcId="{47371936-ECC7-4130-8CC7-CCD8D96F1FAD}" destId="{1B200048-0BCE-4329-9063-A99A8EC76ABC}" srcOrd="8" destOrd="0" presId="urn:microsoft.com/office/officeart/2005/8/layout/gear1"/>
    <dgm:cxn modelId="{FF6EBE14-334F-4823-B751-3D8EE9B7539D}" type="presParOf" srcId="{47371936-ECC7-4130-8CC7-CCD8D96F1FAD}" destId="{47A445CE-9B48-4222-B8B7-7472F61B1C46}" srcOrd="9" destOrd="0" presId="urn:microsoft.com/office/officeart/2005/8/layout/gear1"/>
    <dgm:cxn modelId="{57530CEB-DD28-48EE-ACE4-B2EE91B8E3C5}" type="presParOf" srcId="{47371936-ECC7-4130-8CC7-CCD8D96F1FAD}" destId="{3B930D2D-FEC7-4821-BE89-C2B65637611E}" srcOrd="10" destOrd="0" presId="urn:microsoft.com/office/officeart/2005/8/layout/gear1"/>
    <dgm:cxn modelId="{A5E5E5C7-E5B9-4734-984D-CBE27F93D0E4}" type="presParOf" srcId="{47371936-ECC7-4130-8CC7-CCD8D96F1FAD}" destId="{D14416B6-B10B-426C-A660-16F0544DD062}" srcOrd="11" destOrd="0" presId="urn:microsoft.com/office/officeart/2005/8/layout/gear1"/>
    <dgm:cxn modelId="{5E4541E5-D8A8-46DC-B73D-3F0C88178CF5}" type="presParOf" srcId="{47371936-ECC7-4130-8CC7-CCD8D96F1FAD}" destId="{E1B566CC-791F-40CF-A925-4ABD9DD51F85}" srcOrd="12" destOrd="0" presId="urn:microsoft.com/office/officeart/2005/8/layout/gear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4DED37-749F-4BDE-BAFA-CECC4F63E0DB}">
      <dsp:nvSpPr>
        <dsp:cNvPr id="0" name=""/>
        <dsp:cNvSpPr/>
      </dsp:nvSpPr>
      <dsp:spPr>
        <a:xfrm>
          <a:off x="2436395" y="2101307"/>
          <a:ext cx="2568265" cy="2568265"/>
        </a:xfrm>
        <a:prstGeom prst="gear9">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Relevant and Reliable</a:t>
          </a:r>
        </a:p>
      </dsp:txBody>
      <dsp:txXfrm>
        <a:off x="2952731" y="2702911"/>
        <a:ext cx="1535593" cy="1320141"/>
      </dsp:txXfrm>
    </dsp:sp>
    <dsp:sp modelId="{4BC7830B-8B22-4740-8074-06B627E3A205}">
      <dsp:nvSpPr>
        <dsp:cNvPr id="0" name=""/>
        <dsp:cNvSpPr/>
      </dsp:nvSpPr>
      <dsp:spPr>
        <a:xfrm>
          <a:off x="942132" y="1494263"/>
          <a:ext cx="1867829" cy="1867829"/>
        </a:xfrm>
        <a:prstGeom prst="gear6">
          <a:avLst/>
        </a:prstGeom>
        <a:solidFill>
          <a:schemeClr val="accent1">
            <a:hueOff val="53576"/>
            <a:satOff val="0"/>
            <a:lumOff val="-549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a:t>Frequent</a:t>
          </a:r>
          <a:endParaRPr lang="en-GB" sz="1800" kern="1200" dirty="0"/>
        </a:p>
      </dsp:txBody>
      <dsp:txXfrm>
        <a:off x="1412364" y="1967337"/>
        <a:ext cx="927365" cy="921681"/>
      </dsp:txXfrm>
    </dsp:sp>
    <dsp:sp modelId="{49706FA6-A611-41D9-9954-D4AA3BEE5AF2}">
      <dsp:nvSpPr>
        <dsp:cNvPr id="0" name=""/>
        <dsp:cNvSpPr/>
      </dsp:nvSpPr>
      <dsp:spPr>
        <a:xfrm rot="20700000">
          <a:off x="1988307" y="205651"/>
          <a:ext cx="1830091" cy="1830091"/>
        </a:xfrm>
        <a:prstGeom prst="gear6">
          <a:avLst/>
        </a:prstGeom>
        <a:solidFill>
          <a:schemeClr val="accent1">
            <a:hueOff val="107152"/>
            <a:satOff val="0"/>
            <a:lumOff val="-1098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GB" sz="1800" kern="1200" dirty="0"/>
            <a:t>Granular</a:t>
          </a:r>
        </a:p>
      </dsp:txBody>
      <dsp:txXfrm rot="-20700000">
        <a:off x="2389700" y="607044"/>
        <a:ext cx="1027306" cy="1027306"/>
      </dsp:txXfrm>
    </dsp:sp>
    <dsp:sp modelId="{3B930D2D-FEC7-4821-BE89-C2B65637611E}">
      <dsp:nvSpPr>
        <dsp:cNvPr id="0" name=""/>
        <dsp:cNvSpPr/>
      </dsp:nvSpPr>
      <dsp:spPr>
        <a:xfrm>
          <a:off x="2244162" y="1710769"/>
          <a:ext cx="3287379" cy="3287379"/>
        </a:xfrm>
        <a:prstGeom prst="circularArrow">
          <a:avLst>
            <a:gd name="adj1" fmla="val 4687"/>
            <a:gd name="adj2" fmla="val 299029"/>
            <a:gd name="adj3" fmla="val 2526460"/>
            <a:gd name="adj4" fmla="val 15839276"/>
            <a:gd name="adj5" fmla="val 5469"/>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D14416B6-B10B-426C-A660-16F0544DD062}">
      <dsp:nvSpPr>
        <dsp:cNvPr id="0" name=""/>
        <dsp:cNvSpPr/>
      </dsp:nvSpPr>
      <dsp:spPr>
        <a:xfrm>
          <a:off x="611343" y="1078943"/>
          <a:ext cx="2388486" cy="2388486"/>
        </a:xfrm>
        <a:prstGeom prst="leftCircularArrow">
          <a:avLst>
            <a:gd name="adj1" fmla="val 6452"/>
            <a:gd name="adj2" fmla="val 429999"/>
            <a:gd name="adj3" fmla="val 10489124"/>
            <a:gd name="adj4" fmla="val 14837806"/>
            <a:gd name="adj5" fmla="val 7527"/>
          </a:avLst>
        </a:prstGeom>
        <a:solidFill>
          <a:schemeClr val="accent1">
            <a:hueOff val="53576"/>
            <a:satOff val="0"/>
            <a:lumOff val="-549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E1B566CC-791F-40CF-A925-4ABD9DD51F85}">
      <dsp:nvSpPr>
        <dsp:cNvPr id="0" name=""/>
        <dsp:cNvSpPr/>
      </dsp:nvSpPr>
      <dsp:spPr>
        <a:xfrm>
          <a:off x="1564988" y="-197246"/>
          <a:ext cx="2575269" cy="2575269"/>
        </a:xfrm>
        <a:prstGeom prst="circularArrow">
          <a:avLst>
            <a:gd name="adj1" fmla="val 5984"/>
            <a:gd name="adj2" fmla="val 394124"/>
            <a:gd name="adj3" fmla="val 13313824"/>
            <a:gd name="adj4" fmla="val 10508221"/>
            <a:gd name="adj5" fmla="val 6981"/>
          </a:avLst>
        </a:prstGeom>
        <a:solidFill>
          <a:schemeClr val="accent1">
            <a:hueOff val="107152"/>
            <a:satOff val="0"/>
            <a:lumOff val="-1098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1">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38D9FE-6EDD-B89A-A2A2-78F8FE2CDF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EC2BA2B3-B3E2-9A36-3A3C-9E6D932CF9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B45C41-19DC-4509-BFAB-1FDAE10DCC9C}" type="datetimeFigureOut">
              <a:rPr lang="en-CA" smtClean="0"/>
              <a:t>2026-09-24</a:t>
            </a:fld>
            <a:endParaRPr lang="en-CA"/>
          </a:p>
        </p:txBody>
      </p:sp>
      <p:sp>
        <p:nvSpPr>
          <p:cNvPr id="4" name="Footer Placeholder 3">
            <a:extLst>
              <a:ext uri="{FF2B5EF4-FFF2-40B4-BE49-F238E27FC236}">
                <a16:creationId xmlns:a16="http://schemas.microsoft.com/office/drawing/2014/main" id="{D533CB27-08AA-C41F-7109-35915F1D03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F199C093-E5A3-D3ED-450C-61425F73D6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6F01639-F8F9-430A-8896-FC6B77F401AB}" type="slidenum">
              <a:rPr lang="en-CA" smtClean="0"/>
              <a:t>‹#›</a:t>
            </a:fld>
            <a:endParaRPr lang="en-CA"/>
          </a:p>
        </p:txBody>
      </p:sp>
    </p:spTree>
    <p:extLst>
      <p:ext uri="{BB962C8B-B14F-4D97-AF65-F5344CB8AC3E}">
        <p14:creationId xmlns:p14="http://schemas.microsoft.com/office/powerpoint/2010/main" val="30597732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D4E1B1-2B9E-4EF2-95B8-289BDABD244D}" type="datetimeFigureOut">
              <a:rPr lang="fr-FR" smtClean="0"/>
              <a:t>24/09/2026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72775D-8540-437C-B87D-7D0FB9C4447C}" type="slidenum">
              <a:rPr lang="fr-FR" smtClean="0"/>
              <a:t>‹#›</a:t>
            </a:fld>
            <a:endParaRPr lang="fr-FR"/>
          </a:p>
        </p:txBody>
      </p:sp>
    </p:spTree>
    <p:extLst>
      <p:ext uri="{BB962C8B-B14F-4D97-AF65-F5344CB8AC3E}">
        <p14:creationId xmlns:p14="http://schemas.microsoft.com/office/powerpoint/2010/main" val="3068088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Data Innovation for Africa (DI4A) is the Statistics Department's programme to move data innovation from promise to practice. Three pillars structure the talk: institutionalise, prove, build capacity — and we close with the STG17 workshop in Kigali.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t>Development agendas — the High 5s, the SDGs and Agenda 2063 — all depend on data that is frequent, granular, relevant and reliable. Traditional sources alone cannot keep up with this monitoring demand.</a:t>
            </a:r>
          </a:p>
        </p:txBody>
      </p:sp>
      <p:sp>
        <p:nvSpPr>
          <p:cNvPr id="4" name="Espace réservé du numéro de diapositive 3"/>
          <p:cNvSpPr>
            <a:spLocks noGrp="1"/>
          </p:cNvSpPr>
          <p:nvPr>
            <p:ph type="sldNum" sz="quarter" idx="5"/>
          </p:nvPr>
        </p:nvSpPr>
        <p:spPr/>
        <p:txBody>
          <a:bodyPr/>
          <a:lstStyle/>
          <a:p>
            <a:fld id="{04BBB532-3F97-40DC-A6FB-3EBACACC2817}" type="slidenum">
              <a:rPr lang="fr-FR" smtClean="0"/>
              <a:pPr/>
              <a:t>2</a:t>
            </a:fld>
            <a:endParaRPr lang="fr-FR"/>
          </a:p>
        </p:txBody>
      </p:sp>
    </p:spTree>
    <p:extLst>
      <p:ext uri="{BB962C8B-B14F-4D97-AF65-F5344CB8AC3E}">
        <p14:creationId xmlns:p14="http://schemas.microsoft.com/office/powerpoint/2010/main" val="3172380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8f30d6b365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8f30d6b365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Four situations depending on the maturity of statistics and technology: late, effective, perilous and ambiguous. Many offices sit in 'late' — solid methods, slow manual production. The arrow marks the risk of the 'ambiguous' quadrant: abundant data without statistical rigour.</a:t>
            </a:r>
          </a:p>
        </p:txBody>
      </p:sp>
    </p:spTree>
    <p:extLst>
      <p:ext uri="{BB962C8B-B14F-4D97-AF65-F5344CB8AC3E}">
        <p14:creationId xmlns:p14="http://schemas.microsoft.com/office/powerpoint/2010/main" val="1400514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8f30d6b365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8f30d6b365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For each starting point, a tailored response: build from scratch, boost statistical competence, boost technological competence, or sustain, monitor and adjust for offices that are already effective.</a:t>
            </a:r>
          </a:p>
        </p:txBody>
      </p:sp>
    </p:spTree>
    <p:extLst>
      <p:ext uri="{BB962C8B-B14F-4D97-AF65-F5344CB8AC3E}">
        <p14:creationId xmlns:p14="http://schemas.microsoft.com/office/powerpoint/2010/main" val="2784602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goals: understand the world and its causalities, and take decisions with immediate impact. Both require data that is reliable, real-time, granular, forward-looking and integrated.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Institutionalisation happens in two stages: first creating Data Innovation Labs around data needs, skills, culture, leadership and finance; then connecting them into a network for sharing, priorities, technology transfer and joint resource mobilisation.</a:t>
            </a:r>
          </a:p>
        </p:txBody>
      </p:sp>
      <p:sp>
        <p:nvSpPr>
          <p:cNvPr id="4" name="Slide Number Placeholder 3"/>
          <p:cNvSpPr>
            <a:spLocks noGrp="1"/>
          </p:cNvSpPr>
          <p:nvPr>
            <p:ph type="sldNum" sz="quarter" idx="5"/>
          </p:nvPr>
        </p:nvSpPr>
        <p:spPr/>
        <p:txBody>
          <a:bodyPr/>
          <a:lstStyle/>
          <a:p>
            <a:fld id="{F11695B4-E353-4F75-87FD-93CF99020F00}" type="slidenum">
              <a:rPr lang="fr-FR" smtClean="0"/>
              <a:t>6</a:t>
            </a:fld>
            <a:endParaRPr lang="fr-FR"/>
          </a:p>
        </p:txBody>
      </p:sp>
    </p:spTree>
    <p:extLst>
      <p:ext uri="{BB962C8B-B14F-4D97-AF65-F5344CB8AC3E}">
        <p14:creationId xmlns:p14="http://schemas.microsoft.com/office/powerpoint/2010/main" val="612132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 Innovation Maturity Model is a 12-dimension diagnostic, applied in eight regional member countries to guide national action plans. The QR code links to the practical guide.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C0D23-E7B0-450C-7F1B-543D553BB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243E1-119D-E00C-BECE-F59CA7AA79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448FD-CB4E-862E-A40B-CD775A6FC21D}"/>
              </a:ext>
            </a:extLst>
          </p:cNvPr>
          <p:cNvSpPr>
            <a:spLocks noGrp="1"/>
          </p:cNvSpPr>
          <p:nvPr>
            <p:ph type="body" idx="1"/>
          </p:nvPr>
        </p:nvSpPr>
        <p:spPr/>
        <p:txBody>
          <a:bodyPr/>
          <a:lstStyle/>
          <a:p>
            <a:r>
              <a:t>The DIL Network links francophone and anglophone labs through six mechanisms: knowledge sharing, joint projects, harmonised data governance, capacity building, an open innovation platform, and challenges and hackathons.</a:t>
            </a:r>
          </a:p>
        </p:txBody>
      </p:sp>
      <p:sp>
        <p:nvSpPr>
          <p:cNvPr id="4" name="Slide Number Placeholder 3">
            <a:extLst>
              <a:ext uri="{FF2B5EF4-FFF2-40B4-BE49-F238E27FC236}">
                <a16:creationId xmlns:a16="http://schemas.microsoft.com/office/drawing/2014/main" id="{6DC4E1B9-21F6-0E01-3DC1-B7A584AAE531}"/>
              </a:ext>
            </a:extLst>
          </p:cNvPr>
          <p:cNvSpPr>
            <a:spLocks noGrp="1"/>
          </p:cNvSpPr>
          <p:nvPr>
            <p:ph type="sldNum" sz="quarter" idx="5"/>
          </p:nvPr>
        </p:nvSpPr>
        <p:spPr/>
        <p:txBody>
          <a:bodyPr/>
          <a:lstStyle/>
          <a:p>
            <a:fld id="{F11695B4-E353-4F75-87FD-93CF99020F00}" type="slidenum">
              <a:rPr lang="fr-FR" smtClean="0"/>
              <a:t>8</a:t>
            </a:fld>
            <a:endParaRPr lang="fr-FR"/>
          </a:p>
        </p:txBody>
      </p:sp>
    </p:spTree>
    <p:extLst>
      <p:ext uri="{BB962C8B-B14F-4D97-AF65-F5344CB8AC3E}">
        <p14:creationId xmlns:p14="http://schemas.microsoft.com/office/powerpoint/2010/main" val="355389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Proving value: four products built on governed, licensed non-traditional data — accessibility, night-time lights, displacement mapping and connectivity gaps — each tied to development outcomes.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Capacity building since 2023: five joint workshops with the World Bank and the IMF, moving from standards to practice through real use cases, pipelines, infrastructure as code and AI-ready data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milestone: the STG17 workshop 'Emerging Issues, Emerging Practice', Kigali, 28 September to 2 October 2026, delivered with AU STATAFRIC under SHaSA II. Five days, 27 contact hours, 12 hands-on labs, fully bilingual. The week moves from AI concepts to prompt engineering, non-traditional data, night-time lights and finally publishing on GitHub.</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makes it different: every AU member state is covered by the country registry, every lab has a tested fallback, and the limitations statement is part of the deliverable. It responds directly to the obstacles identified in Kigali in 2025 and to Work Package 4.2 of the Action Plan. Invite participants to scan the QR code and create their accounts before arrival — Earth Engine approval takes time.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Reveal the power of data in Africa — questions and discussion.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72747-1E1B-4A53-9D04-F32E41C343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51CC2AC1-B19E-4C59-8BE7-989237F543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8B3AC3F6-F2BD-45F6-99BE-08D2D3B68DA7}"/>
              </a:ext>
            </a:extLst>
          </p:cNvPr>
          <p:cNvSpPr>
            <a:spLocks noGrp="1"/>
          </p:cNvSpPr>
          <p:nvPr>
            <p:ph type="dt" sz="half" idx="10"/>
          </p:nvPr>
        </p:nvSpPr>
        <p:spPr/>
        <p:txBody>
          <a:bodyPr/>
          <a:lstStyle/>
          <a:p>
            <a:fld id="{22359F02-B406-484B-AB4F-FDEE5DE714B2}" type="datetime1">
              <a:rPr lang="fr-FR" smtClean="0"/>
              <a:t>24/09/2026</a:t>
            </a:fld>
            <a:endParaRPr lang="fr-FR"/>
          </a:p>
        </p:txBody>
      </p:sp>
      <p:sp>
        <p:nvSpPr>
          <p:cNvPr id="5" name="Footer Placeholder 4">
            <a:extLst>
              <a:ext uri="{FF2B5EF4-FFF2-40B4-BE49-F238E27FC236}">
                <a16:creationId xmlns:a16="http://schemas.microsoft.com/office/drawing/2014/main" id="{DC09A887-4E70-4B3B-879E-68C3A0BCFDBC}"/>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D602ACDA-85E7-4474-BB52-005441DC1449}"/>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3822874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10247-D8FC-47EC-898A-B1B12994F211}"/>
              </a:ext>
            </a:extLst>
          </p:cNvPr>
          <p:cNvSpPr>
            <a:spLocks noGrp="1"/>
          </p:cNvSpPr>
          <p:nvPr>
            <p:ph type="title"/>
          </p:nvPr>
        </p:nvSpPr>
        <p:spPr>
          <a:xfrm>
            <a:off x="0" y="0"/>
            <a:ext cx="10515600" cy="1010653"/>
          </a:xfrm>
        </p:spPr>
        <p:txBody>
          <a:bodyPr lIns="252000" tIns="0"/>
          <a:lstStyle/>
          <a:p>
            <a:r>
              <a:rPr lang="en-US"/>
              <a:t>Click to edit Master title style</a:t>
            </a:r>
            <a:endParaRPr lang="fr-FR"/>
          </a:p>
        </p:txBody>
      </p:sp>
      <p:sp>
        <p:nvSpPr>
          <p:cNvPr id="3" name="Content Placeholder 2">
            <a:extLst>
              <a:ext uri="{FF2B5EF4-FFF2-40B4-BE49-F238E27FC236}">
                <a16:creationId xmlns:a16="http://schemas.microsoft.com/office/drawing/2014/main" id="{7B34142B-BECF-4F4D-813F-94D708BC7114}"/>
              </a:ext>
            </a:extLst>
          </p:cNvPr>
          <p:cNvSpPr>
            <a:spLocks noGrp="1"/>
          </p:cNvSpPr>
          <p:nvPr>
            <p:ph idx="1" hasCustomPrompt="1"/>
          </p:nvPr>
        </p:nvSpPr>
        <p:spPr>
          <a:xfrm>
            <a:off x="0" y="1147679"/>
            <a:ext cx="10515600" cy="4351338"/>
          </a:xfrm>
        </p:spPr>
        <p:txBody>
          <a:bodyPr lIns="21600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9FE75192-6509-431A-886F-78D5AC758809}"/>
              </a:ext>
            </a:extLst>
          </p:cNvPr>
          <p:cNvSpPr>
            <a:spLocks noGrp="1"/>
          </p:cNvSpPr>
          <p:nvPr>
            <p:ph type="dt" sz="half" idx="10"/>
          </p:nvPr>
        </p:nvSpPr>
        <p:spPr/>
        <p:txBody>
          <a:bodyPr/>
          <a:lstStyle/>
          <a:p>
            <a:fld id="{1B793966-9D1C-4B28-9D18-31F550840FBB}" type="datetime1">
              <a:rPr lang="fr-FR" smtClean="0"/>
              <a:t>24/09/2026</a:t>
            </a:fld>
            <a:endParaRPr lang="fr-FR"/>
          </a:p>
        </p:txBody>
      </p:sp>
      <p:sp>
        <p:nvSpPr>
          <p:cNvPr id="5" name="Footer Placeholder 4">
            <a:extLst>
              <a:ext uri="{FF2B5EF4-FFF2-40B4-BE49-F238E27FC236}">
                <a16:creationId xmlns:a16="http://schemas.microsoft.com/office/drawing/2014/main" id="{91312CF3-6AAC-4381-9A4D-99F92C455B62}"/>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DF45A533-DAB7-4C0B-93CB-6B0D1E015266}"/>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1268138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563C-5E20-4555-B3B2-BDD45F28DA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75FAE49B-9022-4AD0-8E6F-1ACA0BFBE6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465966E-1F23-449C-87EC-1E1CC87F6DD5}"/>
              </a:ext>
            </a:extLst>
          </p:cNvPr>
          <p:cNvSpPr>
            <a:spLocks noGrp="1"/>
          </p:cNvSpPr>
          <p:nvPr>
            <p:ph type="dt" sz="half" idx="10"/>
          </p:nvPr>
        </p:nvSpPr>
        <p:spPr/>
        <p:txBody>
          <a:bodyPr/>
          <a:lstStyle/>
          <a:p>
            <a:fld id="{C100802C-94F3-46D5-971B-CB286FBB6B0B}" type="datetime1">
              <a:rPr lang="fr-FR" smtClean="0"/>
              <a:t>24/09/2026</a:t>
            </a:fld>
            <a:endParaRPr lang="fr-FR"/>
          </a:p>
        </p:txBody>
      </p:sp>
      <p:sp>
        <p:nvSpPr>
          <p:cNvPr id="5" name="Footer Placeholder 4">
            <a:extLst>
              <a:ext uri="{FF2B5EF4-FFF2-40B4-BE49-F238E27FC236}">
                <a16:creationId xmlns:a16="http://schemas.microsoft.com/office/drawing/2014/main" id="{D3762252-A300-48D6-9331-D3E9F0820A2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C97B82A4-5C3D-4DA4-A330-EDCC577A58B9}"/>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2983982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0F047-336F-4A49-9C95-27B8B9037A60}"/>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EDF17E79-3DD4-4993-B487-E120CFECD51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EE6397A3-FF85-4719-8E02-047DFF4A6AD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20171103-EC2B-49DD-A1B3-15DE70862BF8}"/>
              </a:ext>
            </a:extLst>
          </p:cNvPr>
          <p:cNvSpPr>
            <a:spLocks noGrp="1"/>
          </p:cNvSpPr>
          <p:nvPr>
            <p:ph type="dt" sz="half" idx="10"/>
          </p:nvPr>
        </p:nvSpPr>
        <p:spPr/>
        <p:txBody>
          <a:bodyPr/>
          <a:lstStyle/>
          <a:p>
            <a:fld id="{F3D4D184-71D0-45A7-A2B1-03D900C06A4D}" type="datetime1">
              <a:rPr lang="fr-FR" smtClean="0"/>
              <a:t>24/09/2026</a:t>
            </a:fld>
            <a:endParaRPr lang="fr-FR"/>
          </a:p>
        </p:txBody>
      </p:sp>
      <p:sp>
        <p:nvSpPr>
          <p:cNvPr id="6" name="Footer Placeholder 5">
            <a:extLst>
              <a:ext uri="{FF2B5EF4-FFF2-40B4-BE49-F238E27FC236}">
                <a16:creationId xmlns:a16="http://schemas.microsoft.com/office/drawing/2014/main" id="{6C847CE2-C49A-4B27-BFDA-D7ED574B6309}"/>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A37E3B05-1B7D-4BA0-AACD-E93BC41AF577}"/>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887576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7A358-7C09-4DFB-9ABD-75C37CB7BF99}"/>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E5AF8F20-DBF4-491C-AE17-6824F0DCCE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7D41B9D-7837-4487-BEEA-7D3AABB8B9D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FC649534-0CF0-4C48-BF73-847A2438F7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D2D8645-8A18-4108-B9E2-6809CA37723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83DCB011-997C-450E-BA9D-2C4F8D518A01}"/>
              </a:ext>
            </a:extLst>
          </p:cNvPr>
          <p:cNvSpPr>
            <a:spLocks noGrp="1"/>
          </p:cNvSpPr>
          <p:nvPr>
            <p:ph type="dt" sz="half" idx="10"/>
          </p:nvPr>
        </p:nvSpPr>
        <p:spPr/>
        <p:txBody>
          <a:bodyPr/>
          <a:lstStyle/>
          <a:p>
            <a:fld id="{115D535F-85B9-4A2C-A316-59646F714AD2}" type="datetime1">
              <a:rPr lang="fr-FR" smtClean="0"/>
              <a:t>24/09/2026</a:t>
            </a:fld>
            <a:endParaRPr lang="fr-FR"/>
          </a:p>
        </p:txBody>
      </p:sp>
      <p:sp>
        <p:nvSpPr>
          <p:cNvPr id="8" name="Footer Placeholder 7">
            <a:extLst>
              <a:ext uri="{FF2B5EF4-FFF2-40B4-BE49-F238E27FC236}">
                <a16:creationId xmlns:a16="http://schemas.microsoft.com/office/drawing/2014/main" id="{1D35B087-D49F-4FED-A806-B274FA9AC845}"/>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19335B8A-EBA6-409D-8BEE-82D4B980A32C}"/>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96460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51B14-F928-46C5-B417-3679C7DE0944}"/>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B75785D7-E448-48F0-94FF-4EF1D1E8B14F}"/>
              </a:ext>
            </a:extLst>
          </p:cNvPr>
          <p:cNvSpPr>
            <a:spLocks noGrp="1"/>
          </p:cNvSpPr>
          <p:nvPr>
            <p:ph type="dt" sz="half" idx="10"/>
          </p:nvPr>
        </p:nvSpPr>
        <p:spPr/>
        <p:txBody>
          <a:bodyPr/>
          <a:lstStyle/>
          <a:p>
            <a:fld id="{1190C55D-CFC4-447B-9DB2-66F609BB7C84}" type="datetime1">
              <a:rPr lang="fr-FR" smtClean="0"/>
              <a:t>24/09/2026</a:t>
            </a:fld>
            <a:endParaRPr lang="fr-FR"/>
          </a:p>
        </p:txBody>
      </p:sp>
      <p:sp>
        <p:nvSpPr>
          <p:cNvPr id="4" name="Footer Placeholder 3">
            <a:extLst>
              <a:ext uri="{FF2B5EF4-FFF2-40B4-BE49-F238E27FC236}">
                <a16:creationId xmlns:a16="http://schemas.microsoft.com/office/drawing/2014/main" id="{7937B13B-75F5-4B1D-88C3-5E7711953A8D}"/>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CD61F9FA-5119-49E8-B2CA-D2E4D05830F0}"/>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585872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08D9F8-BB2F-4CAA-9CDB-68C14FECE484}"/>
              </a:ext>
            </a:extLst>
          </p:cNvPr>
          <p:cNvSpPr>
            <a:spLocks noGrp="1"/>
          </p:cNvSpPr>
          <p:nvPr>
            <p:ph type="dt" sz="half" idx="10"/>
          </p:nvPr>
        </p:nvSpPr>
        <p:spPr/>
        <p:txBody>
          <a:bodyPr/>
          <a:lstStyle/>
          <a:p>
            <a:fld id="{51DB3115-56E0-403F-B103-E00874CB1B54}" type="datetime1">
              <a:rPr lang="fr-FR" smtClean="0"/>
              <a:t>24/09/2026</a:t>
            </a:fld>
            <a:endParaRPr lang="fr-FR"/>
          </a:p>
        </p:txBody>
      </p:sp>
      <p:sp>
        <p:nvSpPr>
          <p:cNvPr id="3" name="Footer Placeholder 2">
            <a:extLst>
              <a:ext uri="{FF2B5EF4-FFF2-40B4-BE49-F238E27FC236}">
                <a16:creationId xmlns:a16="http://schemas.microsoft.com/office/drawing/2014/main" id="{FB17FD29-1830-4B8B-8F46-526DA7BC90D9}"/>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46984EC2-1179-4273-86C5-95D6C9C55C16}"/>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2507341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EB2A5-81CD-4DF1-B032-F38DA1999E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27A0A478-18BB-471E-B62D-D1550F1778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28F19075-1C37-4677-99E5-E9EC766AA8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2E89ACE-90DF-41A7-8832-432B9BCB49E6}"/>
              </a:ext>
            </a:extLst>
          </p:cNvPr>
          <p:cNvSpPr>
            <a:spLocks noGrp="1"/>
          </p:cNvSpPr>
          <p:nvPr>
            <p:ph type="dt" sz="half" idx="10"/>
          </p:nvPr>
        </p:nvSpPr>
        <p:spPr/>
        <p:txBody>
          <a:bodyPr/>
          <a:lstStyle/>
          <a:p>
            <a:fld id="{E5B410F8-A2D5-4A4D-877E-9D41C3B0BA98}" type="datetime1">
              <a:rPr lang="fr-FR" smtClean="0"/>
              <a:t>24/09/2026</a:t>
            </a:fld>
            <a:endParaRPr lang="fr-FR"/>
          </a:p>
        </p:txBody>
      </p:sp>
      <p:sp>
        <p:nvSpPr>
          <p:cNvPr id="6" name="Footer Placeholder 5">
            <a:extLst>
              <a:ext uri="{FF2B5EF4-FFF2-40B4-BE49-F238E27FC236}">
                <a16:creationId xmlns:a16="http://schemas.microsoft.com/office/drawing/2014/main" id="{E433139D-CCFA-4527-ABE6-275267219DAC}"/>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ACB554A1-5A90-43EE-B1D9-D26A8A638955}"/>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1248954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D2D32-76EB-44D5-A210-D7722FEE0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3F1A325A-8184-42F6-838A-AC59F30F9F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423613AD-9056-4779-87F1-CB2E357EF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91F4B8-7211-4E0F-9850-FC5C496A91D3}"/>
              </a:ext>
            </a:extLst>
          </p:cNvPr>
          <p:cNvSpPr>
            <a:spLocks noGrp="1"/>
          </p:cNvSpPr>
          <p:nvPr>
            <p:ph type="dt" sz="half" idx="10"/>
          </p:nvPr>
        </p:nvSpPr>
        <p:spPr/>
        <p:txBody>
          <a:bodyPr/>
          <a:lstStyle/>
          <a:p>
            <a:fld id="{50FFD357-16DB-4257-A49A-D3D9EDD45EF1}" type="datetime1">
              <a:rPr lang="fr-FR" smtClean="0"/>
              <a:t>24/09/2026</a:t>
            </a:fld>
            <a:endParaRPr lang="fr-FR"/>
          </a:p>
        </p:txBody>
      </p:sp>
      <p:sp>
        <p:nvSpPr>
          <p:cNvPr id="6" name="Footer Placeholder 5">
            <a:extLst>
              <a:ext uri="{FF2B5EF4-FFF2-40B4-BE49-F238E27FC236}">
                <a16:creationId xmlns:a16="http://schemas.microsoft.com/office/drawing/2014/main" id="{CF63CF49-3B63-48D3-A9AC-DF697B5161AD}"/>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F89BF380-362D-4438-A844-39E3B095A0FA}"/>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4270900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EFCA-BC0F-490C-9688-01A1DB6BF5DA}"/>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4314569C-93B9-4733-9E21-73180371B4C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0C47C62C-C17D-44FE-8832-576DF5CAE74F}"/>
              </a:ext>
            </a:extLst>
          </p:cNvPr>
          <p:cNvSpPr>
            <a:spLocks noGrp="1"/>
          </p:cNvSpPr>
          <p:nvPr>
            <p:ph type="dt" sz="half" idx="10"/>
          </p:nvPr>
        </p:nvSpPr>
        <p:spPr/>
        <p:txBody>
          <a:bodyPr/>
          <a:lstStyle/>
          <a:p>
            <a:fld id="{281118C8-2FA7-4DF3-82A2-C820FD2D43D9}" type="datetime1">
              <a:rPr lang="fr-FR" smtClean="0"/>
              <a:t>24/09/2026</a:t>
            </a:fld>
            <a:endParaRPr lang="fr-FR"/>
          </a:p>
        </p:txBody>
      </p:sp>
      <p:sp>
        <p:nvSpPr>
          <p:cNvPr id="5" name="Footer Placeholder 4">
            <a:extLst>
              <a:ext uri="{FF2B5EF4-FFF2-40B4-BE49-F238E27FC236}">
                <a16:creationId xmlns:a16="http://schemas.microsoft.com/office/drawing/2014/main" id="{605BC79E-DEEB-4A4B-95C5-2EECEED64968}"/>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D4DFB83-6FD9-401E-9792-ECA87135D568}"/>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265816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7D4169-58B0-4558-AC16-725447F030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FA7B087C-295B-4841-899D-2708844CE8A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BE72FDCC-10D8-4548-8684-7FCF727466CC}"/>
              </a:ext>
            </a:extLst>
          </p:cNvPr>
          <p:cNvSpPr>
            <a:spLocks noGrp="1"/>
          </p:cNvSpPr>
          <p:nvPr>
            <p:ph type="dt" sz="half" idx="10"/>
          </p:nvPr>
        </p:nvSpPr>
        <p:spPr/>
        <p:txBody>
          <a:bodyPr/>
          <a:lstStyle/>
          <a:p>
            <a:fld id="{4BD6270B-D0A6-4237-A7CC-A0D00FA382EB}" type="datetime1">
              <a:rPr lang="fr-FR" smtClean="0"/>
              <a:t>24/09/2026</a:t>
            </a:fld>
            <a:endParaRPr lang="fr-FR"/>
          </a:p>
        </p:txBody>
      </p:sp>
      <p:sp>
        <p:nvSpPr>
          <p:cNvPr id="5" name="Footer Placeholder 4">
            <a:extLst>
              <a:ext uri="{FF2B5EF4-FFF2-40B4-BE49-F238E27FC236}">
                <a16:creationId xmlns:a16="http://schemas.microsoft.com/office/drawing/2014/main" id="{BD0C7A47-692C-4553-8AD9-C7B2F33DB214}"/>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80EBAFD9-E9A6-4E77-A6A5-687B0DA926EB}"/>
              </a:ext>
            </a:extLst>
          </p:cNvPr>
          <p:cNvSpPr>
            <a:spLocks noGrp="1"/>
          </p:cNvSpPr>
          <p:nvPr>
            <p:ph type="sldNum" sz="quarter" idx="12"/>
          </p:nvPr>
        </p:nvSpPr>
        <p:spPr/>
        <p:txBody>
          <a:bodyPr/>
          <a:lstStyle/>
          <a:p>
            <a:fld id="{63EF9FF7-6DF0-457B-920F-306E9E09158C}" type="slidenum">
              <a:rPr lang="fr-FR" smtClean="0"/>
              <a:t>‹#›</a:t>
            </a:fld>
            <a:endParaRPr lang="fr-FR"/>
          </a:p>
        </p:txBody>
      </p:sp>
    </p:spTree>
    <p:extLst>
      <p:ext uri="{BB962C8B-B14F-4D97-AF65-F5344CB8AC3E}">
        <p14:creationId xmlns:p14="http://schemas.microsoft.com/office/powerpoint/2010/main" val="1683827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One Column 1">
  <p:cSld name="Title + One Column 1">
    <p:spTree>
      <p:nvGrpSpPr>
        <p:cNvPr id="1" name="Shape 46"/>
        <p:cNvGrpSpPr/>
        <p:nvPr/>
      </p:nvGrpSpPr>
      <p:grpSpPr>
        <a:xfrm>
          <a:off x="0" y="0"/>
          <a:ext cx="0" cy="0"/>
          <a:chOff x="0" y="0"/>
          <a:chExt cx="0" cy="0"/>
        </a:xfrm>
      </p:grpSpPr>
      <p:sp>
        <p:nvSpPr>
          <p:cNvPr id="47" name="Google Shape;47;p13"/>
          <p:cNvSpPr txBox="1">
            <a:spLocks noGrp="1"/>
          </p:cNvSpPr>
          <p:nvPr>
            <p:ph type="title"/>
          </p:nvPr>
        </p:nvSpPr>
        <p:spPr>
          <a:xfrm>
            <a:off x="7980767" y="2174017"/>
            <a:ext cx="3312400" cy="1131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800"/>
              <a:buNone/>
              <a:defRPr>
                <a:solidFill>
                  <a:schemeClr val="dk1"/>
                </a:solidFill>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48" name="Google Shape;48;p13"/>
          <p:cNvSpPr txBox="1">
            <a:spLocks noGrp="1"/>
          </p:cNvSpPr>
          <p:nvPr>
            <p:ph type="subTitle" idx="1"/>
          </p:nvPr>
        </p:nvSpPr>
        <p:spPr>
          <a:xfrm>
            <a:off x="7961333" y="3450363"/>
            <a:ext cx="3351200" cy="123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solidFill>
                  <a:schemeClr val="dk2"/>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3988560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4629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941B9F-E07C-4DD5-B636-912C232D07F0}"/>
              </a:ext>
            </a:extLst>
          </p:cNvPr>
          <p:cNvSpPr>
            <a:spLocks noGrp="1"/>
          </p:cNvSpPr>
          <p:nvPr>
            <p:ph type="title"/>
          </p:nvPr>
        </p:nvSpPr>
        <p:spPr>
          <a:xfrm>
            <a:off x="0" y="0"/>
            <a:ext cx="10515600" cy="915988"/>
          </a:xfrm>
          <a:prstGeom prst="rect">
            <a:avLst/>
          </a:prstGeom>
        </p:spPr>
        <p:txBody>
          <a:bodyPr vert="horz" lIns="180000" tIns="45720" rIns="91440" bIns="45720" rtlCol="0" anchor="ctr">
            <a:noAutofit/>
          </a:bodyPr>
          <a:lstStyle/>
          <a:p>
            <a:r>
              <a:rPr lang="en-US" dirty="0"/>
              <a:t>Click to edit Master title style</a:t>
            </a:r>
            <a:endParaRPr lang="fr-FR" dirty="0"/>
          </a:p>
        </p:txBody>
      </p:sp>
      <p:sp>
        <p:nvSpPr>
          <p:cNvPr id="3" name="Text Placeholder 2">
            <a:extLst>
              <a:ext uri="{FF2B5EF4-FFF2-40B4-BE49-F238E27FC236}">
                <a16:creationId xmlns:a16="http://schemas.microsoft.com/office/drawing/2014/main" id="{CC8374E6-F5D8-45D2-9E18-324BA19AA3EB}"/>
              </a:ext>
            </a:extLst>
          </p:cNvPr>
          <p:cNvSpPr>
            <a:spLocks noGrp="1"/>
          </p:cNvSpPr>
          <p:nvPr>
            <p:ph type="body" idx="1"/>
          </p:nvPr>
        </p:nvSpPr>
        <p:spPr>
          <a:xfrm>
            <a:off x="0" y="1205431"/>
            <a:ext cx="10515600" cy="4351338"/>
          </a:xfrm>
          <a:prstGeom prst="rect">
            <a:avLst/>
          </a:prstGeom>
        </p:spPr>
        <p:txBody>
          <a:bodyPr vert="horz" lIns="18000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FR" dirty="0"/>
          </a:p>
        </p:txBody>
      </p:sp>
      <p:sp>
        <p:nvSpPr>
          <p:cNvPr id="4" name="Date Placeholder 3">
            <a:extLst>
              <a:ext uri="{FF2B5EF4-FFF2-40B4-BE49-F238E27FC236}">
                <a16:creationId xmlns:a16="http://schemas.microsoft.com/office/drawing/2014/main" id="{7739EEB9-4343-46E9-8564-D3B59CF1BBA3}"/>
              </a:ext>
            </a:extLst>
          </p:cNvPr>
          <p:cNvSpPr>
            <a:spLocks noGrp="1"/>
          </p:cNvSpPr>
          <p:nvPr>
            <p:ph type="dt" sz="half" idx="2"/>
          </p:nvPr>
        </p:nvSpPr>
        <p:spPr>
          <a:xfrm>
            <a:off x="0" y="6356349"/>
            <a:ext cx="2743200" cy="365125"/>
          </a:xfrm>
          <a:prstGeom prst="rect">
            <a:avLst/>
          </a:prstGeom>
        </p:spPr>
        <p:txBody>
          <a:bodyPr vert="horz" lIns="91440" tIns="45720" rIns="91440" bIns="45720" rtlCol="0" anchor="ctr"/>
          <a:lstStyle>
            <a:lvl1pPr algn="l">
              <a:defRPr sz="800">
                <a:solidFill>
                  <a:schemeClr val="tx1">
                    <a:tint val="75000"/>
                  </a:schemeClr>
                </a:solidFill>
              </a:defRPr>
            </a:lvl1pPr>
          </a:lstStyle>
          <a:p>
            <a:fld id="{648934AE-4FAB-4FDE-9590-189FF196E788}" type="datetime1">
              <a:rPr lang="fr-FR" smtClean="0"/>
              <a:pPr/>
              <a:t>24/09/2026</a:t>
            </a:fld>
            <a:endParaRPr lang="fr-FR"/>
          </a:p>
        </p:txBody>
      </p:sp>
      <p:sp>
        <p:nvSpPr>
          <p:cNvPr id="5" name="Footer Placeholder 4">
            <a:extLst>
              <a:ext uri="{FF2B5EF4-FFF2-40B4-BE49-F238E27FC236}">
                <a16:creationId xmlns:a16="http://schemas.microsoft.com/office/drawing/2014/main" id="{C9D70A42-CEB1-4E3D-9701-6776A3C156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B2642052-C3FE-4C7E-A080-00ABC2E086FC}"/>
              </a:ext>
            </a:extLst>
          </p:cNvPr>
          <p:cNvSpPr>
            <a:spLocks noGrp="1"/>
          </p:cNvSpPr>
          <p:nvPr>
            <p:ph type="sldNum" sz="quarter" idx="4"/>
          </p:nvPr>
        </p:nvSpPr>
        <p:spPr>
          <a:xfrm>
            <a:off x="9448800" y="6356349"/>
            <a:ext cx="2743200"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63EF9FF7-6DF0-457B-920F-306E9E09158C}" type="slidenum">
              <a:rPr lang="fr-FR" smtClean="0"/>
              <a:pPr/>
              <a:t>‹#›</a:t>
            </a:fld>
            <a:endParaRPr lang="fr-FR"/>
          </a:p>
        </p:txBody>
      </p:sp>
    </p:spTree>
    <p:extLst>
      <p:ext uri="{BB962C8B-B14F-4D97-AF65-F5344CB8AC3E}">
        <p14:creationId xmlns:p14="http://schemas.microsoft.com/office/powerpoint/2010/main" val="83966892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87" r:id="rId12"/>
    <p:sldLayoutId id="2147483713" r:id="rId13"/>
  </p:sldLayoutIdLst>
  <p:hf hdr="0" ftr="0" dt="0"/>
  <p:txStyles>
    <p:titleStyle>
      <a:lvl1pPr algn="l" defTabSz="914400" rtl="0" eaLnBrk="1" latinLnBrk="0" hangingPunct="1">
        <a:lnSpc>
          <a:spcPct val="90000"/>
        </a:lnSpc>
        <a:spcBef>
          <a:spcPct val="0"/>
        </a:spcBef>
        <a:buNone/>
        <a:defRPr sz="44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5.png"/><Relationship Id="rId7" Type="http://schemas.openxmlformats.org/officeDocument/2006/relationships/diagramData" Target="../diagrams/data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11" Type="http://schemas.microsoft.com/office/2007/relationships/diagramDrawing" Target="../diagrams/drawing1.xml"/><Relationship Id="rId5" Type="http://schemas.openxmlformats.org/officeDocument/2006/relationships/image" Target="../media/image7.png"/><Relationship Id="rId10" Type="http://schemas.openxmlformats.org/officeDocument/2006/relationships/diagramColors" Target="../diagrams/colors1.xml"/><Relationship Id="rId4" Type="http://schemas.openxmlformats.org/officeDocument/2006/relationships/image" Target="../media/image6.png"/><Relationship Id="rId9"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39.jpg"/><Relationship Id="rId3" Type="http://schemas.openxmlformats.org/officeDocument/2006/relationships/image" Target="../media/image34.png"/><Relationship Id="rId7" Type="http://schemas.openxmlformats.org/officeDocument/2006/relationships/image" Target="../media/image38.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11.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12.xml.rels><?xml version="1.0" encoding="UTF-8" standalone="yes"?>
<Relationships xmlns="http://schemas.openxmlformats.org/package/2006/relationships"><Relationship Id="rId3" Type="http://schemas.openxmlformats.org/officeDocument/2006/relationships/hyperlink" Target="https://datainnov4africa-web.github.io/stg17-workshop/"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51.png"/></Relationships>
</file>

<file path=ppt/slides/_rels/slide13.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14" name="Picture 13" descr="hero_panel.jpg"/>
          <p:cNvPicPr>
            <a:picLocks noChangeAspect="1"/>
          </p:cNvPicPr>
          <p:nvPr/>
        </p:nvPicPr>
        <p:blipFill>
          <a:blip r:embed="rId3"/>
          <a:stretch>
            <a:fillRect/>
          </a:stretch>
        </p:blipFill>
        <p:spPr>
          <a:xfrm>
            <a:off x="0" y="0"/>
            <a:ext cx="5257800" cy="6858000"/>
          </a:xfrm>
          <a:prstGeom prst="rect">
            <a:avLst/>
          </a:prstGeom>
        </p:spPr>
      </p:pic>
      <p:pic>
        <p:nvPicPr>
          <p:cNvPr id="2" name="Picture 1" descr="cover_avatar.png"/>
          <p:cNvPicPr>
            <a:picLocks noChangeAspect="1"/>
          </p:cNvPicPr>
          <p:nvPr/>
        </p:nvPicPr>
        <p:blipFill>
          <a:blip r:embed="rId4"/>
          <a:stretch>
            <a:fillRect/>
          </a:stretch>
        </p:blipFill>
        <p:spPr>
          <a:xfrm>
            <a:off x="5440680" y="1188720"/>
            <a:ext cx="6583680" cy="4629312"/>
          </a:xfrm>
          <a:prstGeom prst="rect">
            <a:avLst/>
          </a:prstGeom>
        </p:spPr>
      </p:pic>
      <p:pic>
        <p:nvPicPr>
          <p:cNvPr id="3" name="Picture 2" descr="image.png"/>
          <p:cNvPicPr>
            <a:picLocks noChangeAspect="1"/>
          </p:cNvPicPr>
          <p:nvPr/>
        </p:nvPicPr>
        <p:blipFill>
          <a:blip r:embed="rId5"/>
          <a:stretch>
            <a:fillRect/>
          </a:stretch>
        </p:blipFill>
        <p:spPr>
          <a:xfrm>
            <a:off x="5715000" y="384048"/>
            <a:ext cx="1899745" cy="457200"/>
          </a:xfrm>
          <a:prstGeom prst="rect">
            <a:avLst/>
          </a:prstGeom>
        </p:spPr>
      </p:pic>
      <p:pic>
        <p:nvPicPr>
          <p:cNvPr id="4" name="Picture 3" descr="image.png"/>
          <p:cNvPicPr>
            <a:picLocks noChangeAspect="1"/>
          </p:cNvPicPr>
          <p:nvPr/>
        </p:nvPicPr>
        <p:blipFill>
          <a:blip r:embed="rId6"/>
          <a:stretch>
            <a:fillRect/>
          </a:stretch>
        </p:blipFill>
        <p:spPr>
          <a:xfrm>
            <a:off x="11018520" y="256032"/>
            <a:ext cx="868680" cy="868680"/>
          </a:xfrm>
          <a:prstGeom prst="rect">
            <a:avLst/>
          </a:prstGeom>
        </p:spPr>
      </p:pic>
      <p:sp>
        <p:nvSpPr>
          <p:cNvPr id="5" name="TextBox 4"/>
          <p:cNvSpPr txBox="1"/>
          <p:nvPr/>
        </p:nvSpPr>
        <p:spPr>
          <a:xfrm>
            <a:off x="548640" y="1600200"/>
            <a:ext cx="4572000" cy="274320"/>
          </a:xfrm>
          <a:prstGeom prst="rect">
            <a:avLst/>
          </a:prstGeom>
          <a:noFill/>
        </p:spPr>
        <p:txBody>
          <a:bodyPr wrap="square" lIns="0" tIns="0" rIns="0" bIns="0" anchor="t">
            <a:spAutoFit/>
          </a:bodyPr>
          <a:lstStyle/>
          <a:p>
            <a:pPr algn="l"/>
            <a:r>
              <a:rPr sz="1050" b="1" i="0" spc="300">
                <a:solidFill>
                  <a:srgbClr val="F5C242"/>
                </a:solidFill>
                <a:latin typeface="Calibri"/>
              </a:rPr>
              <a:t>DATA INNOVATION LAB  ·  AfDB</a:t>
            </a:r>
          </a:p>
        </p:txBody>
      </p:sp>
      <p:sp>
        <p:nvSpPr>
          <p:cNvPr id="6" name="TextBox 5"/>
          <p:cNvSpPr txBox="1"/>
          <p:nvPr/>
        </p:nvSpPr>
        <p:spPr>
          <a:xfrm>
            <a:off x="548640" y="1920240"/>
            <a:ext cx="4572000" cy="1188720"/>
          </a:xfrm>
          <a:prstGeom prst="rect">
            <a:avLst/>
          </a:prstGeom>
          <a:noFill/>
        </p:spPr>
        <p:txBody>
          <a:bodyPr wrap="square" lIns="0" tIns="0" rIns="0" bIns="0" anchor="t">
            <a:spAutoFit/>
          </a:bodyPr>
          <a:lstStyle/>
          <a:p>
            <a:pPr algn="l">
              <a:lnSpc>
                <a:spcPct val="95000"/>
              </a:lnSpc>
            </a:pPr>
            <a:r>
              <a:rPr sz="4600" b="1" i="0">
                <a:solidFill>
                  <a:srgbClr val="FFFFFF"/>
                </a:solidFill>
                <a:latin typeface="Calibri"/>
              </a:rPr>
              <a:t>Data Innovation</a:t>
            </a:r>
          </a:p>
          <a:p>
            <a:pPr algn="l">
              <a:lnSpc>
                <a:spcPct val="95000"/>
              </a:lnSpc>
            </a:pPr>
            <a:r>
              <a:rPr sz="4600" b="1" i="0">
                <a:solidFill>
                  <a:srgbClr val="FFFFFF"/>
                </a:solidFill>
                <a:latin typeface="Calibri"/>
              </a:rPr>
              <a:t>for Africa</a:t>
            </a:r>
          </a:p>
        </p:txBody>
      </p:sp>
      <p:sp>
        <p:nvSpPr>
          <p:cNvPr id="7" name="TextBox 6"/>
          <p:cNvSpPr txBox="1"/>
          <p:nvPr/>
        </p:nvSpPr>
        <p:spPr>
          <a:xfrm>
            <a:off x="548640" y="3310128"/>
            <a:ext cx="4572000" cy="548640"/>
          </a:xfrm>
          <a:prstGeom prst="rect">
            <a:avLst/>
          </a:prstGeom>
          <a:noFill/>
        </p:spPr>
        <p:txBody>
          <a:bodyPr wrap="square" lIns="0" tIns="0" rIns="0" bIns="0" anchor="t">
            <a:spAutoFit/>
          </a:bodyPr>
          <a:lstStyle/>
          <a:p>
            <a:pPr algn="l"/>
            <a:r>
              <a:rPr sz="2000" b="0" i="1">
                <a:solidFill>
                  <a:srgbClr val="E6F6EE"/>
                </a:solidFill>
                <a:latin typeface="Calibri"/>
              </a:rPr>
              <a:t>From Promise to Practice</a:t>
            </a:r>
          </a:p>
        </p:txBody>
      </p:sp>
      <p:sp>
        <p:nvSpPr>
          <p:cNvPr id="8" name="Rounded Rectangle 7"/>
          <p:cNvSpPr/>
          <p:nvPr/>
        </p:nvSpPr>
        <p:spPr>
          <a:xfrm>
            <a:off x="548640" y="4114800"/>
            <a:ext cx="1481328" cy="402336"/>
          </a:xfrm>
          <a:prstGeom prst="roundRect">
            <a:avLst>
              <a:gd name="adj" fmla="val 50000"/>
            </a:avLst>
          </a:prstGeom>
          <a:solidFill>
            <a:srgbClr val="FFFFFF">
              <a:alpha val="14000"/>
            </a:srgbClr>
          </a:solidFill>
          <a:ln w="9525">
            <a:solidFill>
              <a:srgbClr val="FFFFFF">
                <a:alpha val="55000"/>
              </a:srgbClr>
            </a:solidFill>
          </a:ln>
        </p:spPr>
        <p:txBody>
          <a:bodyPr wrap="square" lIns="0" tIns="0" rIns="0" bIns="0" rtlCol="0" anchor="ctr"/>
          <a:lstStyle/>
          <a:p>
            <a:pPr algn="ctr"/>
            <a:r>
              <a:rPr sz="1200" b="1" i="0">
                <a:solidFill>
                  <a:srgbClr val="FFFFFF"/>
                </a:solidFill>
                <a:latin typeface="Calibri"/>
              </a:rPr>
              <a:t>Institutionalise</a:t>
            </a:r>
          </a:p>
        </p:txBody>
      </p:sp>
      <p:sp>
        <p:nvSpPr>
          <p:cNvPr id="9" name="TextBox 8"/>
          <p:cNvSpPr txBox="1"/>
          <p:nvPr/>
        </p:nvSpPr>
        <p:spPr>
          <a:xfrm>
            <a:off x="2029968" y="4114800"/>
            <a:ext cx="274320" cy="402336"/>
          </a:xfrm>
          <a:prstGeom prst="rect">
            <a:avLst/>
          </a:prstGeom>
          <a:noFill/>
        </p:spPr>
        <p:txBody>
          <a:bodyPr wrap="square" lIns="0" tIns="0" rIns="0" bIns="0" anchor="ctr">
            <a:spAutoFit/>
          </a:bodyPr>
          <a:lstStyle/>
          <a:p>
            <a:pPr algn="ctr"/>
            <a:r>
              <a:rPr sz="2000" b="1" i="0">
                <a:solidFill>
                  <a:srgbClr val="F5C242"/>
                </a:solidFill>
                <a:latin typeface="Calibri"/>
              </a:rPr>
              <a:t>›</a:t>
            </a:r>
          </a:p>
        </p:txBody>
      </p:sp>
      <p:sp>
        <p:nvSpPr>
          <p:cNvPr id="10" name="Rounded Rectangle 9"/>
          <p:cNvSpPr/>
          <p:nvPr/>
        </p:nvSpPr>
        <p:spPr>
          <a:xfrm>
            <a:off x="2304288" y="4114800"/>
            <a:ext cx="868680" cy="402336"/>
          </a:xfrm>
          <a:prstGeom prst="roundRect">
            <a:avLst>
              <a:gd name="adj" fmla="val 50000"/>
            </a:avLst>
          </a:prstGeom>
          <a:solidFill>
            <a:srgbClr val="FFFFFF">
              <a:alpha val="14000"/>
            </a:srgbClr>
          </a:solidFill>
          <a:ln w="9525">
            <a:solidFill>
              <a:srgbClr val="FFFFFF">
                <a:alpha val="55000"/>
              </a:srgbClr>
            </a:solidFill>
          </a:ln>
        </p:spPr>
        <p:txBody>
          <a:bodyPr wrap="square" lIns="0" tIns="0" rIns="0" bIns="0" rtlCol="0" anchor="ctr"/>
          <a:lstStyle/>
          <a:p>
            <a:pPr algn="ctr"/>
            <a:r>
              <a:rPr sz="1200" b="1" i="0">
                <a:solidFill>
                  <a:srgbClr val="FFFFFF"/>
                </a:solidFill>
                <a:latin typeface="Calibri"/>
              </a:rPr>
              <a:t>Prove</a:t>
            </a:r>
          </a:p>
        </p:txBody>
      </p:sp>
      <p:sp>
        <p:nvSpPr>
          <p:cNvPr id="11" name="TextBox 10"/>
          <p:cNvSpPr txBox="1"/>
          <p:nvPr/>
        </p:nvSpPr>
        <p:spPr>
          <a:xfrm>
            <a:off x="3172968" y="4114800"/>
            <a:ext cx="274320" cy="402336"/>
          </a:xfrm>
          <a:prstGeom prst="rect">
            <a:avLst/>
          </a:prstGeom>
          <a:noFill/>
        </p:spPr>
        <p:txBody>
          <a:bodyPr wrap="square" lIns="0" tIns="0" rIns="0" bIns="0" anchor="ctr">
            <a:spAutoFit/>
          </a:bodyPr>
          <a:lstStyle/>
          <a:p>
            <a:pPr algn="ctr"/>
            <a:r>
              <a:rPr sz="2000" b="1" i="0">
                <a:solidFill>
                  <a:srgbClr val="F5C242"/>
                </a:solidFill>
                <a:latin typeface="Calibri"/>
              </a:rPr>
              <a:t>›</a:t>
            </a:r>
          </a:p>
        </p:txBody>
      </p:sp>
      <p:sp>
        <p:nvSpPr>
          <p:cNvPr id="12" name="Rounded Rectangle 11"/>
          <p:cNvSpPr/>
          <p:nvPr/>
        </p:nvSpPr>
        <p:spPr>
          <a:xfrm>
            <a:off x="3447287" y="4114800"/>
            <a:ext cx="1481328" cy="402336"/>
          </a:xfrm>
          <a:prstGeom prst="roundRect">
            <a:avLst>
              <a:gd name="adj" fmla="val 50000"/>
            </a:avLst>
          </a:prstGeom>
          <a:solidFill>
            <a:srgbClr val="FFFFFF">
              <a:alpha val="14000"/>
            </a:srgbClr>
          </a:solidFill>
          <a:ln w="9525">
            <a:solidFill>
              <a:srgbClr val="FFFFFF">
                <a:alpha val="55000"/>
              </a:srgbClr>
            </a:solidFill>
          </a:ln>
        </p:spPr>
        <p:txBody>
          <a:bodyPr wrap="square" lIns="0" tIns="0" rIns="0" bIns="0" rtlCol="0" anchor="ctr"/>
          <a:lstStyle/>
          <a:p>
            <a:pPr algn="ctr"/>
            <a:r>
              <a:rPr sz="1200" b="1" i="0">
                <a:solidFill>
                  <a:srgbClr val="FFFFFF"/>
                </a:solidFill>
                <a:latin typeface="Calibri"/>
              </a:rPr>
              <a:t>Build capacity</a:t>
            </a:r>
          </a:p>
        </p:txBody>
      </p:sp>
      <p:sp>
        <p:nvSpPr>
          <p:cNvPr id="13" name="TextBox 12"/>
          <p:cNvSpPr txBox="1"/>
          <p:nvPr/>
        </p:nvSpPr>
        <p:spPr>
          <a:xfrm>
            <a:off x="548640" y="5897880"/>
            <a:ext cx="4572000" cy="457200"/>
          </a:xfrm>
          <a:prstGeom prst="rect">
            <a:avLst/>
          </a:prstGeom>
          <a:noFill/>
        </p:spPr>
        <p:txBody>
          <a:bodyPr wrap="square" lIns="0" tIns="0" rIns="0" bIns="0" anchor="t">
            <a:spAutoFit/>
          </a:bodyPr>
          <a:lstStyle/>
          <a:p>
            <a:pPr algn="l"/>
            <a:r>
              <a:rPr sz="1100" b="0" i="0">
                <a:solidFill>
                  <a:srgbClr val="E6F6EE"/>
                </a:solidFill>
                <a:latin typeface="Calibri"/>
              </a:rPr>
              <a:t>Statistics Department (ECST)</a:t>
            </a:r>
          </a:p>
          <a:p>
            <a:pPr algn="l"/>
            <a:r>
              <a:rPr sz="1100" b="0" i="0">
                <a:solidFill>
                  <a:srgbClr val="E6F6EE"/>
                </a:solidFill>
                <a:latin typeface="Calibri"/>
              </a:rPr>
              <a:t>African Development Bank Group</a:t>
            </a:r>
          </a:p>
        </p:txBody>
      </p:sp>
      <p:sp>
        <p:nvSpPr>
          <p:cNvPr id="15" name="Rectangle 14"/>
          <p:cNvSpPr/>
          <p:nvPr/>
        </p:nvSpPr>
        <p:spPr>
          <a:xfrm>
            <a:off x="0" y="6748272"/>
            <a:ext cx="12191695" cy="109728"/>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3923156857"/>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2" name="Oval 31"/>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a:extLst>
              <a:ext uri="{FF2B5EF4-FFF2-40B4-BE49-F238E27FC236}">
                <a16:creationId xmlns:a16="http://schemas.microsoft.com/office/drawing/2014/main" id="{1F799658-A511-4C88-AFC0-74918248F7DC}"/>
              </a:ext>
            </a:extLst>
          </p:cNvPr>
          <p:cNvPicPr>
            <a:picLocks noChangeAspect="1"/>
          </p:cNvPicPr>
          <p:nvPr/>
        </p:nvPicPr>
        <p:blipFill>
          <a:blip r:embed="rId3"/>
          <a:stretch>
            <a:fillRect/>
          </a:stretch>
        </p:blipFill>
        <p:spPr>
          <a:xfrm>
            <a:off x="1129713" y="1325880"/>
            <a:ext cx="2700761" cy="2388428"/>
          </a:xfrm>
          <a:prstGeom prst="rect">
            <a:avLst/>
          </a:prstGeom>
        </p:spPr>
      </p:pic>
      <p:pic>
        <p:nvPicPr>
          <p:cNvPr id="19" name="Picture 18">
            <a:extLst>
              <a:ext uri="{FF2B5EF4-FFF2-40B4-BE49-F238E27FC236}">
                <a16:creationId xmlns:a16="http://schemas.microsoft.com/office/drawing/2014/main" id="{088C5527-ECBA-4B6F-837A-5E87161A4E07}"/>
              </a:ext>
            </a:extLst>
          </p:cNvPr>
          <p:cNvPicPr>
            <a:picLocks noChangeAspect="1"/>
          </p:cNvPicPr>
          <p:nvPr/>
        </p:nvPicPr>
        <p:blipFill>
          <a:blip r:embed="rId4"/>
          <a:stretch>
            <a:fillRect/>
          </a:stretch>
        </p:blipFill>
        <p:spPr>
          <a:xfrm>
            <a:off x="7787726" y="1325880"/>
            <a:ext cx="2700762" cy="2377646"/>
          </a:xfrm>
          <a:prstGeom prst="rect">
            <a:avLst/>
          </a:prstGeom>
        </p:spPr>
      </p:pic>
      <p:pic>
        <p:nvPicPr>
          <p:cNvPr id="22" name="Picture 21">
            <a:extLst>
              <a:ext uri="{FF2B5EF4-FFF2-40B4-BE49-F238E27FC236}">
                <a16:creationId xmlns:a16="http://schemas.microsoft.com/office/drawing/2014/main" id="{128F47E1-3B21-48D4-8E36-666AB35AEC89}"/>
              </a:ext>
            </a:extLst>
          </p:cNvPr>
          <p:cNvPicPr>
            <a:picLocks noChangeAspect="1"/>
          </p:cNvPicPr>
          <p:nvPr/>
        </p:nvPicPr>
        <p:blipFill>
          <a:blip r:embed="rId5"/>
          <a:stretch>
            <a:fillRect/>
          </a:stretch>
        </p:blipFill>
        <p:spPr>
          <a:xfrm>
            <a:off x="1920240" y="4041648"/>
            <a:ext cx="2295144" cy="2148840"/>
          </a:xfrm>
          <a:prstGeom prst="rect">
            <a:avLst/>
          </a:prstGeom>
        </p:spPr>
      </p:pic>
      <p:pic>
        <p:nvPicPr>
          <p:cNvPr id="27" name="Picture 26">
            <a:extLst>
              <a:ext uri="{FF2B5EF4-FFF2-40B4-BE49-F238E27FC236}">
                <a16:creationId xmlns:a16="http://schemas.microsoft.com/office/drawing/2014/main" id="{4428029E-4A7E-40B1-B991-347B365507E0}"/>
              </a:ext>
            </a:extLst>
          </p:cNvPr>
          <p:cNvPicPr>
            <a:picLocks noChangeAspect="1"/>
          </p:cNvPicPr>
          <p:nvPr/>
        </p:nvPicPr>
        <p:blipFill>
          <a:blip r:embed="rId6"/>
          <a:stretch>
            <a:fillRect/>
          </a:stretch>
        </p:blipFill>
        <p:spPr>
          <a:xfrm>
            <a:off x="7927848" y="4160520"/>
            <a:ext cx="2450592" cy="1984248"/>
          </a:xfrm>
          <a:prstGeom prst="rect">
            <a:avLst/>
          </a:prstGeom>
        </p:spPr>
      </p:pic>
      <p:graphicFrame>
        <p:nvGraphicFramePr>
          <p:cNvPr id="17" name="Diagram 16">
            <a:extLst>
              <a:ext uri="{FF2B5EF4-FFF2-40B4-BE49-F238E27FC236}">
                <a16:creationId xmlns:a16="http://schemas.microsoft.com/office/drawing/2014/main" id="{E288F582-C72C-41C9-A30C-66CB4BD4A54C}"/>
              </a:ext>
            </a:extLst>
          </p:cNvPr>
          <p:cNvGraphicFramePr/>
          <p:nvPr/>
        </p:nvGraphicFramePr>
        <p:xfrm>
          <a:off x="3048001" y="1412777"/>
          <a:ext cx="5339749" cy="466957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8" name="TextBox 27"/>
          <p:cNvSpPr txBox="1"/>
          <p:nvPr/>
        </p:nvSpPr>
        <p:spPr>
          <a:xfrm>
            <a:off x="548640" y="365760"/>
            <a:ext cx="11064240" cy="274320"/>
          </a:xfrm>
          <a:prstGeom prst="rect">
            <a:avLst/>
          </a:prstGeom>
          <a:noFill/>
        </p:spPr>
        <p:txBody>
          <a:bodyPr wrap="square" lIns="0" tIns="0" rIns="0" bIns="0" anchor="t">
            <a:spAutoFit/>
          </a:bodyPr>
          <a:lstStyle/>
          <a:p>
            <a:pPr algn="l"/>
            <a:r>
              <a:rPr sz="1050" b="1" i="0" spc="300">
                <a:solidFill>
                  <a:srgbClr val="00704A"/>
                </a:solidFill>
                <a:latin typeface="Calibri"/>
              </a:rPr>
              <a:t>01 · THE MONITORING NEEDS</a:t>
            </a:r>
          </a:p>
        </p:txBody>
      </p:sp>
      <p:sp>
        <p:nvSpPr>
          <p:cNvPr id="29" name="TextBox 28"/>
          <p:cNvSpPr txBox="1"/>
          <p:nvPr/>
        </p:nvSpPr>
        <p:spPr>
          <a:xfrm>
            <a:off x="548640" y="658368"/>
            <a:ext cx="11064240" cy="457200"/>
          </a:xfrm>
          <a:prstGeom prst="rect">
            <a:avLst/>
          </a:prstGeom>
          <a:noFill/>
        </p:spPr>
        <p:txBody>
          <a:bodyPr wrap="square" lIns="0" tIns="0" rIns="0" bIns="0" anchor="t">
            <a:spAutoFit/>
          </a:bodyPr>
          <a:lstStyle/>
          <a:p>
            <a:pPr algn="l"/>
            <a:r>
              <a:rPr sz="2800" b="1" i="0">
                <a:solidFill>
                  <a:srgbClr val="231F20"/>
                </a:solidFill>
                <a:latin typeface="Calibri"/>
              </a:rPr>
              <a:t>Development agendas demand better data</a:t>
            </a:r>
          </a:p>
        </p:txBody>
      </p:sp>
      <p:sp>
        <p:nvSpPr>
          <p:cNvPr id="30" name="TextBox 29"/>
          <p:cNvSpPr txBox="1"/>
          <p:nvPr/>
        </p:nvSpPr>
        <p:spPr>
          <a:xfrm>
            <a:off x="548640" y="6419088"/>
            <a:ext cx="6400800" cy="274320"/>
          </a:xfrm>
          <a:prstGeom prst="rect">
            <a:avLst/>
          </a:prstGeom>
          <a:noFill/>
        </p:spPr>
        <p:txBody>
          <a:bodyPr wrap="square" lIns="0" tIns="0" rIns="0" bIns="0" anchor="t">
            <a:spAutoFit/>
          </a:bodyPr>
          <a:lstStyle/>
          <a:p>
            <a:pPr algn="l"/>
            <a:r>
              <a:rPr sz="850" b="0" i="0">
                <a:solidFill>
                  <a:srgbClr val="8A9590"/>
                </a:solidFill>
                <a:latin typeface="Calibri"/>
              </a:rPr>
              <a:t>Data Innovation for Africa  ·  AfDB Statistics Department (ECST)</a:t>
            </a:r>
          </a:p>
        </p:txBody>
      </p:sp>
      <p:sp>
        <p:nvSpPr>
          <p:cNvPr id="31" name="TextBox 30"/>
          <p:cNvSpPr txBox="1"/>
          <p:nvPr/>
        </p:nvSpPr>
        <p:spPr>
          <a:xfrm>
            <a:off x="9811512" y="6419088"/>
            <a:ext cx="1828800" cy="274320"/>
          </a:xfrm>
          <a:prstGeom prst="rect">
            <a:avLst/>
          </a:prstGeom>
          <a:noFill/>
        </p:spPr>
        <p:txBody>
          <a:bodyPr wrap="square" lIns="0" tIns="0" rIns="0" bIns="0" anchor="t">
            <a:spAutoFit/>
          </a:bodyPr>
          <a:lstStyle/>
          <a:p>
            <a:pPr algn="r"/>
            <a:r>
              <a:rPr sz="850" b="0" i="0">
                <a:solidFill>
                  <a:srgbClr val="8A9590"/>
                </a:solidFill>
                <a:latin typeface="Calibri"/>
              </a:rPr>
              <a:t>2</a:t>
            </a:r>
          </a:p>
        </p:txBody>
      </p:sp>
      <p:sp>
        <p:nvSpPr>
          <p:cNvPr id="34" name="Rectangle 33"/>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10607040" y="448056"/>
            <a:ext cx="118872" cy="118872"/>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108356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110642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112928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115214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4978052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arn(inVertical)">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489"/>
        <p:cNvGrpSpPr/>
        <p:nvPr/>
      </p:nvGrpSpPr>
      <p:grpSpPr>
        <a:xfrm>
          <a:off x="0" y="0"/>
          <a:ext cx="0" cy="0"/>
          <a:chOff x="0" y="0"/>
          <a:chExt cx="0" cy="0"/>
        </a:xfrm>
      </p:grpSpPr>
      <p:sp>
        <p:nvSpPr>
          <p:cNvPr id="46" name="Oval 45"/>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48640" y="365760"/>
            <a:ext cx="11064240" cy="274320"/>
          </a:xfrm>
          <a:prstGeom prst="rect">
            <a:avLst/>
          </a:prstGeom>
          <a:noFill/>
        </p:spPr>
        <p:txBody>
          <a:bodyPr wrap="square" lIns="0" tIns="0" rIns="0" bIns="0" anchor="t">
            <a:spAutoFit/>
          </a:bodyPr>
          <a:lstStyle/>
          <a:p>
            <a:pPr algn="l"/>
            <a:r>
              <a:rPr sz="1050" b="1" i="0" spc="300">
                <a:solidFill>
                  <a:srgbClr val="00704A"/>
                </a:solidFill>
                <a:latin typeface="Calibri"/>
              </a:rPr>
              <a:t>01 · THE ISSUE</a:t>
            </a:r>
          </a:p>
        </p:txBody>
      </p:sp>
      <p:sp>
        <p:nvSpPr>
          <p:cNvPr id="14" name="TextBox 13"/>
          <p:cNvSpPr txBox="1"/>
          <p:nvPr/>
        </p:nvSpPr>
        <p:spPr>
          <a:xfrm>
            <a:off x="548640" y="658368"/>
            <a:ext cx="11064240" cy="658368"/>
          </a:xfrm>
          <a:prstGeom prst="rect">
            <a:avLst/>
          </a:prstGeom>
          <a:noFill/>
        </p:spPr>
        <p:txBody>
          <a:bodyPr wrap="square" lIns="0" tIns="0" rIns="0" bIns="0" anchor="t">
            <a:spAutoFit/>
          </a:bodyPr>
          <a:lstStyle/>
          <a:p>
            <a:pPr algn="l"/>
            <a:r>
              <a:rPr sz="2800" b="1" i="0">
                <a:solidFill>
                  <a:srgbClr val="231F20"/>
                </a:solidFill>
                <a:latin typeface="Calibri"/>
              </a:rPr>
              <a:t>When statistics and technology fall out of step</a:t>
            </a:r>
          </a:p>
        </p:txBody>
      </p:sp>
      <p:sp>
        <p:nvSpPr>
          <p:cNvPr id="15" name="Rounded Rectangle 14"/>
          <p:cNvSpPr/>
          <p:nvPr/>
        </p:nvSpPr>
        <p:spPr>
          <a:xfrm>
            <a:off x="1463040" y="1600200"/>
            <a:ext cx="4892040" cy="4041648"/>
          </a:xfrm>
          <a:prstGeom prst="roundRect">
            <a:avLst>
              <a:gd name="adj" fmla="val 5000"/>
            </a:avLst>
          </a:prstGeom>
          <a:solidFill>
            <a:srgbClr val="E8F5EF"/>
          </a:solidFill>
          <a:ln>
            <a:noFill/>
          </a:ln>
        </p:spPr>
        <p:txBody>
          <a:bodyPr rtlCol="0" anchor="ctr"/>
          <a:lstStyle/>
          <a:p>
            <a:endParaRPr/>
          </a:p>
        </p:txBody>
      </p:sp>
      <p:cxnSp>
        <p:nvCxnSpPr>
          <p:cNvPr id="16" name="Connector 15"/>
          <p:cNvCxnSpPr/>
          <p:nvPr/>
        </p:nvCxnSpPr>
        <p:spPr>
          <a:xfrm flipV="1">
            <a:off x="1234440" y="1554480"/>
            <a:ext cx="0" cy="4206240"/>
          </a:xfrm>
          <a:prstGeom prst="line">
            <a:avLst/>
          </a:prstGeom>
          <a:ln w="25400">
            <a:solidFill>
              <a:srgbClr val="A9B5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234440" y="5760720"/>
            <a:ext cx="10287000" cy="0"/>
          </a:xfrm>
          <a:prstGeom prst="line">
            <a:avLst/>
          </a:prstGeom>
          <a:ln w="25400">
            <a:solidFill>
              <a:srgbClr val="A9B5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rot="16200000">
            <a:off x="73152" y="3520440"/>
            <a:ext cx="1828800" cy="274320"/>
          </a:xfrm>
          <a:prstGeom prst="rect">
            <a:avLst/>
          </a:prstGeom>
          <a:noFill/>
        </p:spPr>
        <p:txBody>
          <a:bodyPr wrap="square" lIns="0" tIns="0" rIns="0" bIns="0" anchor="t">
            <a:spAutoFit/>
          </a:bodyPr>
          <a:lstStyle/>
          <a:p>
            <a:pPr algn="ctr"/>
            <a:r>
              <a:rPr sz="1100" b="1" i="0" spc="200">
                <a:solidFill>
                  <a:srgbClr val="5E6964"/>
                </a:solidFill>
                <a:latin typeface="Calibri"/>
              </a:rPr>
              <a:t>STATISTICS</a:t>
            </a:r>
          </a:p>
        </p:txBody>
      </p:sp>
      <p:sp>
        <p:nvSpPr>
          <p:cNvPr id="19" name="TextBox 18"/>
          <p:cNvSpPr txBox="1"/>
          <p:nvPr/>
        </p:nvSpPr>
        <p:spPr>
          <a:xfrm>
            <a:off x="685800" y="1481328"/>
            <a:ext cx="457200" cy="228600"/>
          </a:xfrm>
          <a:prstGeom prst="rect">
            <a:avLst/>
          </a:prstGeom>
          <a:noFill/>
        </p:spPr>
        <p:txBody>
          <a:bodyPr wrap="square" lIns="0" tIns="0" rIns="0" bIns="0" anchor="t">
            <a:spAutoFit/>
          </a:bodyPr>
          <a:lstStyle/>
          <a:p>
            <a:pPr algn="r"/>
            <a:r>
              <a:rPr sz="1100" b="0" i="0">
                <a:solidFill>
                  <a:srgbClr val="5E6964"/>
                </a:solidFill>
                <a:latin typeface="Calibri"/>
              </a:rPr>
              <a:t>High</a:t>
            </a:r>
          </a:p>
        </p:txBody>
      </p:sp>
      <p:sp>
        <p:nvSpPr>
          <p:cNvPr id="20" name="TextBox 19"/>
          <p:cNvSpPr txBox="1"/>
          <p:nvPr/>
        </p:nvSpPr>
        <p:spPr>
          <a:xfrm>
            <a:off x="685800" y="5669280"/>
            <a:ext cx="457200" cy="228600"/>
          </a:xfrm>
          <a:prstGeom prst="rect">
            <a:avLst/>
          </a:prstGeom>
          <a:noFill/>
        </p:spPr>
        <p:txBody>
          <a:bodyPr wrap="square" lIns="0" tIns="0" rIns="0" bIns="0" anchor="t">
            <a:spAutoFit/>
          </a:bodyPr>
          <a:lstStyle/>
          <a:p>
            <a:pPr algn="r"/>
            <a:r>
              <a:rPr sz="1100" b="0" i="0">
                <a:solidFill>
                  <a:srgbClr val="5E6964"/>
                </a:solidFill>
                <a:latin typeface="Calibri"/>
              </a:rPr>
              <a:t>Low</a:t>
            </a:r>
          </a:p>
        </p:txBody>
      </p:sp>
      <p:sp>
        <p:nvSpPr>
          <p:cNvPr id="21" name="TextBox 20"/>
          <p:cNvSpPr txBox="1"/>
          <p:nvPr/>
        </p:nvSpPr>
        <p:spPr>
          <a:xfrm>
            <a:off x="5120640" y="5870448"/>
            <a:ext cx="2377440" cy="274320"/>
          </a:xfrm>
          <a:prstGeom prst="rect">
            <a:avLst/>
          </a:prstGeom>
          <a:noFill/>
        </p:spPr>
        <p:txBody>
          <a:bodyPr wrap="square" lIns="0" tIns="0" rIns="0" bIns="0" anchor="t">
            <a:spAutoFit/>
          </a:bodyPr>
          <a:lstStyle/>
          <a:p>
            <a:pPr algn="ctr"/>
            <a:r>
              <a:rPr sz="1100" b="1" i="0" spc="200">
                <a:solidFill>
                  <a:srgbClr val="5E6964"/>
                </a:solidFill>
                <a:latin typeface="Calibri"/>
              </a:rPr>
              <a:t>TECHNOLOGY</a:t>
            </a:r>
          </a:p>
        </p:txBody>
      </p:sp>
      <p:sp>
        <p:nvSpPr>
          <p:cNvPr id="22" name="TextBox 21"/>
          <p:cNvSpPr txBox="1"/>
          <p:nvPr/>
        </p:nvSpPr>
        <p:spPr>
          <a:xfrm>
            <a:off x="10881360" y="5870448"/>
            <a:ext cx="640080" cy="228600"/>
          </a:xfrm>
          <a:prstGeom prst="rect">
            <a:avLst/>
          </a:prstGeom>
          <a:noFill/>
        </p:spPr>
        <p:txBody>
          <a:bodyPr wrap="square" lIns="0" tIns="0" rIns="0" bIns="0" anchor="t">
            <a:spAutoFit/>
          </a:bodyPr>
          <a:lstStyle/>
          <a:p>
            <a:pPr algn="r"/>
            <a:r>
              <a:rPr sz="1100" b="0" i="0">
                <a:solidFill>
                  <a:srgbClr val="5E6964"/>
                </a:solidFill>
                <a:latin typeface="Calibri"/>
              </a:rPr>
              <a:t>High</a:t>
            </a:r>
          </a:p>
        </p:txBody>
      </p:sp>
      <p:sp>
        <p:nvSpPr>
          <p:cNvPr id="23" name="Rounded Rectangle 22"/>
          <p:cNvSpPr/>
          <p:nvPr/>
        </p:nvSpPr>
        <p:spPr>
          <a:xfrm>
            <a:off x="1600200" y="1737360"/>
            <a:ext cx="4434840" cy="1783080"/>
          </a:xfrm>
          <a:prstGeom prst="roundRect">
            <a:avLst>
              <a:gd name="adj" fmla="val 8000"/>
            </a:avLst>
          </a:prstGeom>
          <a:solidFill>
            <a:srgbClr val="FFFFFF"/>
          </a:solidFill>
          <a:ln w="12700">
            <a:solidFill>
              <a:srgbClr val="D5DED9"/>
            </a:solidFill>
          </a:ln>
          <a:effectLst>
            <a:outerShdw blurRad="177800" dist="38100" dir="5400000" algn="t" rotWithShape="0">
              <a:srgbClr val="000000">
                <a:alpha val="14000"/>
              </a:srgbClr>
            </a:outerShdw>
          </a:effectLst>
        </p:spPr>
        <p:txBody>
          <a:bodyPr rtlCol="0" anchor="ctr"/>
          <a:lstStyle/>
          <a:p>
            <a:endParaRPr/>
          </a:p>
        </p:txBody>
      </p:sp>
      <p:sp>
        <p:nvSpPr>
          <p:cNvPr id="24" name="Oval 23"/>
          <p:cNvSpPr/>
          <p:nvPr/>
        </p:nvSpPr>
        <p:spPr>
          <a:xfrm>
            <a:off x="1920240" y="2217420"/>
            <a:ext cx="822960" cy="822960"/>
          </a:xfrm>
          <a:prstGeom prst="ellipse">
            <a:avLst/>
          </a:prstGeom>
          <a:solidFill>
            <a:srgbClr val="D49A00"/>
          </a:solidFill>
          <a:ln>
            <a:noFill/>
          </a:ln>
        </p:spPr>
        <p:txBody>
          <a:bodyPr rtlCol="0" anchor="ctr"/>
          <a:lstStyle/>
          <a:p>
            <a:endParaRPr/>
          </a:p>
        </p:txBody>
      </p:sp>
      <p:pic>
        <p:nvPicPr>
          <p:cNvPr id="25" name="Picture 24" descr="late_w.png"/>
          <p:cNvPicPr>
            <a:picLocks noChangeAspect="1"/>
          </p:cNvPicPr>
          <p:nvPr/>
        </p:nvPicPr>
        <p:blipFill>
          <a:blip r:embed="rId3"/>
          <a:stretch>
            <a:fillRect/>
          </a:stretch>
        </p:blipFill>
        <p:spPr>
          <a:xfrm>
            <a:off x="2134209" y="2431389"/>
            <a:ext cx="395020" cy="395020"/>
          </a:xfrm>
          <a:prstGeom prst="rect">
            <a:avLst/>
          </a:prstGeom>
        </p:spPr>
      </p:pic>
      <p:sp>
        <p:nvSpPr>
          <p:cNvPr id="26" name="TextBox 25"/>
          <p:cNvSpPr txBox="1"/>
          <p:nvPr/>
        </p:nvSpPr>
        <p:spPr>
          <a:xfrm>
            <a:off x="2971800" y="2148840"/>
            <a:ext cx="2834639" cy="457200"/>
          </a:xfrm>
          <a:prstGeom prst="rect">
            <a:avLst/>
          </a:prstGeom>
          <a:noFill/>
        </p:spPr>
        <p:txBody>
          <a:bodyPr wrap="square" lIns="0" tIns="0" rIns="0" bIns="0" anchor="t">
            <a:spAutoFit/>
          </a:bodyPr>
          <a:lstStyle/>
          <a:p>
            <a:pPr algn="l"/>
            <a:r>
              <a:rPr sz="2400" b="1" i="0">
                <a:solidFill>
                  <a:srgbClr val="231F20"/>
                </a:solidFill>
                <a:latin typeface="Calibri"/>
              </a:rPr>
              <a:t>Late</a:t>
            </a:r>
          </a:p>
        </p:txBody>
      </p:sp>
      <p:sp>
        <p:nvSpPr>
          <p:cNvPr id="27" name="TextBox 26"/>
          <p:cNvSpPr txBox="1"/>
          <p:nvPr/>
        </p:nvSpPr>
        <p:spPr>
          <a:xfrm>
            <a:off x="2971800" y="2651760"/>
            <a:ext cx="2834639" cy="640080"/>
          </a:xfrm>
          <a:prstGeom prst="rect">
            <a:avLst/>
          </a:prstGeom>
          <a:noFill/>
        </p:spPr>
        <p:txBody>
          <a:bodyPr wrap="square" lIns="0" tIns="0" rIns="0" bIns="0" anchor="t">
            <a:spAutoFit/>
          </a:bodyPr>
          <a:lstStyle/>
          <a:p>
            <a:pPr algn="l"/>
            <a:r>
              <a:rPr sz="1400" b="0" i="0">
                <a:solidFill>
                  <a:srgbClr val="5E6964"/>
                </a:solidFill>
                <a:latin typeface="Calibri"/>
              </a:rPr>
              <a:t>Solid statistics, but slow and manual production</a:t>
            </a:r>
          </a:p>
        </p:txBody>
      </p:sp>
      <p:sp>
        <p:nvSpPr>
          <p:cNvPr id="28" name="Rounded Rectangle 27"/>
          <p:cNvSpPr/>
          <p:nvPr/>
        </p:nvSpPr>
        <p:spPr>
          <a:xfrm>
            <a:off x="6492240" y="1737360"/>
            <a:ext cx="4434840" cy="1783080"/>
          </a:xfrm>
          <a:prstGeom prst="roundRect">
            <a:avLst>
              <a:gd name="adj" fmla="val 8000"/>
            </a:avLst>
          </a:prstGeom>
          <a:solidFill>
            <a:srgbClr val="00704A"/>
          </a:solidFill>
          <a:ln>
            <a:noFill/>
          </a:ln>
          <a:effectLst>
            <a:outerShdw blurRad="177800" dist="38100" dir="5400000" algn="t" rotWithShape="0">
              <a:srgbClr val="000000">
                <a:alpha val="25000"/>
              </a:srgbClr>
            </a:outerShdw>
          </a:effectLst>
        </p:spPr>
        <p:txBody>
          <a:bodyPr rtlCol="0" anchor="ctr"/>
          <a:lstStyle/>
          <a:p>
            <a:endParaRPr/>
          </a:p>
        </p:txBody>
      </p:sp>
      <p:sp>
        <p:nvSpPr>
          <p:cNvPr id="29" name="Oval 28"/>
          <p:cNvSpPr/>
          <p:nvPr/>
        </p:nvSpPr>
        <p:spPr>
          <a:xfrm>
            <a:off x="6812279" y="2217420"/>
            <a:ext cx="822960" cy="822960"/>
          </a:xfrm>
          <a:prstGeom prst="ellipse">
            <a:avLst/>
          </a:prstGeom>
          <a:solidFill>
            <a:srgbClr val="00A86A"/>
          </a:solidFill>
          <a:ln>
            <a:noFill/>
          </a:ln>
        </p:spPr>
        <p:txBody>
          <a:bodyPr rtlCol="0" anchor="ctr"/>
          <a:lstStyle/>
          <a:p>
            <a:endParaRPr/>
          </a:p>
        </p:txBody>
      </p:sp>
      <p:pic>
        <p:nvPicPr>
          <p:cNvPr id="30" name="Picture 29" descr="effective_w.png"/>
          <p:cNvPicPr>
            <a:picLocks noChangeAspect="1"/>
          </p:cNvPicPr>
          <p:nvPr/>
        </p:nvPicPr>
        <p:blipFill>
          <a:blip r:embed="rId4"/>
          <a:stretch>
            <a:fillRect/>
          </a:stretch>
        </p:blipFill>
        <p:spPr>
          <a:xfrm>
            <a:off x="7026249" y="2431389"/>
            <a:ext cx="395020" cy="395020"/>
          </a:xfrm>
          <a:prstGeom prst="rect">
            <a:avLst/>
          </a:prstGeom>
        </p:spPr>
      </p:pic>
      <p:sp>
        <p:nvSpPr>
          <p:cNvPr id="31" name="TextBox 30"/>
          <p:cNvSpPr txBox="1"/>
          <p:nvPr/>
        </p:nvSpPr>
        <p:spPr>
          <a:xfrm>
            <a:off x="7863840" y="2148840"/>
            <a:ext cx="2834639" cy="457200"/>
          </a:xfrm>
          <a:prstGeom prst="rect">
            <a:avLst/>
          </a:prstGeom>
          <a:noFill/>
        </p:spPr>
        <p:txBody>
          <a:bodyPr wrap="square" lIns="0" tIns="0" rIns="0" bIns="0" anchor="t">
            <a:spAutoFit/>
          </a:bodyPr>
          <a:lstStyle/>
          <a:p>
            <a:pPr algn="l"/>
            <a:r>
              <a:rPr sz="2400" b="1" i="0">
                <a:solidFill>
                  <a:srgbClr val="FFFFFF"/>
                </a:solidFill>
                <a:latin typeface="Calibri"/>
              </a:rPr>
              <a:t>Effective</a:t>
            </a:r>
          </a:p>
        </p:txBody>
      </p:sp>
      <p:sp>
        <p:nvSpPr>
          <p:cNvPr id="32" name="TextBox 31"/>
          <p:cNvSpPr txBox="1"/>
          <p:nvPr/>
        </p:nvSpPr>
        <p:spPr>
          <a:xfrm>
            <a:off x="7863840" y="2651760"/>
            <a:ext cx="2834639" cy="640080"/>
          </a:xfrm>
          <a:prstGeom prst="rect">
            <a:avLst/>
          </a:prstGeom>
          <a:noFill/>
        </p:spPr>
        <p:txBody>
          <a:bodyPr wrap="square" lIns="0" tIns="0" rIns="0" bIns="0" anchor="t">
            <a:spAutoFit/>
          </a:bodyPr>
          <a:lstStyle/>
          <a:p>
            <a:pPr algn="l"/>
            <a:r>
              <a:rPr sz="1400" b="0" i="0">
                <a:solidFill>
                  <a:srgbClr val="CFE8DC"/>
                </a:solidFill>
                <a:latin typeface="Calibri"/>
              </a:rPr>
              <a:t>Sound methods powered by modern technology</a:t>
            </a:r>
          </a:p>
        </p:txBody>
      </p:sp>
      <p:sp>
        <p:nvSpPr>
          <p:cNvPr id="33" name="Rounded Rectangle 32"/>
          <p:cNvSpPr/>
          <p:nvPr/>
        </p:nvSpPr>
        <p:spPr>
          <a:xfrm>
            <a:off x="1600200" y="3749039"/>
            <a:ext cx="4434840" cy="1783080"/>
          </a:xfrm>
          <a:prstGeom prst="roundRect">
            <a:avLst>
              <a:gd name="adj" fmla="val 8000"/>
            </a:avLst>
          </a:prstGeom>
          <a:solidFill>
            <a:srgbClr val="FFFFFF"/>
          </a:solidFill>
          <a:ln w="12700">
            <a:solidFill>
              <a:srgbClr val="D5DED9"/>
            </a:solidFill>
          </a:ln>
          <a:effectLst>
            <a:outerShdw blurRad="177800" dist="38100" dir="5400000" algn="t" rotWithShape="0">
              <a:srgbClr val="000000">
                <a:alpha val="14000"/>
              </a:srgbClr>
            </a:outerShdw>
          </a:effectLst>
        </p:spPr>
        <p:txBody>
          <a:bodyPr rtlCol="0" anchor="ctr"/>
          <a:lstStyle/>
          <a:p>
            <a:endParaRPr/>
          </a:p>
        </p:txBody>
      </p:sp>
      <p:sp>
        <p:nvSpPr>
          <p:cNvPr id="34" name="Oval 33"/>
          <p:cNvSpPr/>
          <p:nvPr/>
        </p:nvSpPr>
        <p:spPr>
          <a:xfrm>
            <a:off x="1920240" y="4229100"/>
            <a:ext cx="822960" cy="822960"/>
          </a:xfrm>
          <a:prstGeom prst="ellipse">
            <a:avLst/>
          </a:prstGeom>
          <a:solidFill>
            <a:srgbClr val="B83B2E"/>
          </a:solidFill>
          <a:ln>
            <a:noFill/>
          </a:ln>
        </p:spPr>
        <p:txBody>
          <a:bodyPr rtlCol="0" anchor="ctr"/>
          <a:lstStyle/>
          <a:p>
            <a:endParaRPr/>
          </a:p>
        </p:txBody>
      </p:sp>
      <p:pic>
        <p:nvPicPr>
          <p:cNvPr id="35" name="Picture 34" descr="perilous_w.png"/>
          <p:cNvPicPr>
            <a:picLocks noChangeAspect="1"/>
          </p:cNvPicPr>
          <p:nvPr/>
        </p:nvPicPr>
        <p:blipFill>
          <a:blip r:embed="rId5"/>
          <a:stretch>
            <a:fillRect/>
          </a:stretch>
        </p:blipFill>
        <p:spPr>
          <a:xfrm>
            <a:off x="2134209" y="4443069"/>
            <a:ext cx="395020" cy="395020"/>
          </a:xfrm>
          <a:prstGeom prst="rect">
            <a:avLst/>
          </a:prstGeom>
        </p:spPr>
      </p:pic>
      <p:sp>
        <p:nvSpPr>
          <p:cNvPr id="36" name="TextBox 35"/>
          <p:cNvSpPr txBox="1"/>
          <p:nvPr/>
        </p:nvSpPr>
        <p:spPr>
          <a:xfrm>
            <a:off x="2971800" y="4160520"/>
            <a:ext cx="2834639" cy="457200"/>
          </a:xfrm>
          <a:prstGeom prst="rect">
            <a:avLst/>
          </a:prstGeom>
          <a:noFill/>
        </p:spPr>
        <p:txBody>
          <a:bodyPr wrap="square" lIns="0" tIns="0" rIns="0" bIns="0" anchor="t">
            <a:spAutoFit/>
          </a:bodyPr>
          <a:lstStyle/>
          <a:p>
            <a:pPr algn="l"/>
            <a:r>
              <a:rPr sz="2400" b="1" i="0">
                <a:solidFill>
                  <a:srgbClr val="231F20"/>
                </a:solidFill>
                <a:latin typeface="Calibri"/>
              </a:rPr>
              <a:t>Perilous</a:t>
            </a:r>
          </a:p>
        </p:txBody>
      </p:sp>
      <p:sp>
        <p:nvSpPr>
          <p:cNvPr id="37" name="TextBox 36"/>
          <p:cNvSpPr txBox="1"/>
          <p:nvPr/>
        </p:nvSpPr>
        <p:spPr>
          <a:xfrm>
            <a:off x="2971800" y="4663440"/>
            <a:ext cx="2834639" cy="640080"/>
          </a:xfrm>
          <a:prstGeom prst="rect">
            <a:avLst/>
          </a:prstGeom>
          <a:noFill/>
        </p:spPr>
        <p:txBody>
          <a:bodyPr wrap="square" lIns="0" tIns="0" rIns="0" bIns="0" anchor="t">
            <a:spAutoFit/>
          </a:bodyPr>
          <a:lstStyle/>
          <a:p>
            <a:pPr algn="l"/>
            <a:r>
              <a:rPr sz="1400" b="0" i="0">
                <a:solidFill>
                  <a:srgbClr val="5E6964"/>
                </a:solidFill>
                <a:latin typeface="Calibri"/>
              </a:rPr>
              <a:t>Weak statistics and weak technology</a:t>
            </a:r>
          </a:p>
        </p:txBody>
      </p:sp>
      <p:sp>
        <p:nvSpPr>
          <p:cNvPr id="38" name="Rounded Rectangle 37"/>
          <p:cNvSpPr/>
          <p:nvPr/>
        </p:nvSpPr>
        <p:spPr>
          <a:xfrm>
            <a:off x="6492240" y="3749039"/>
            <a:ext cx="4434840" cy="1783080"/>
          </a:xfrm>
          <a:prstGeom prst="roundRect">
            <a:avLst>
              <a:gd name="adj" fmla="val 8000"/>
            </a:avLst>
          </a:prstGeom>
          <a:solidFill>
            <a:srgbClr val="FFFFFF"/>
          </a:solidFill>
          <a:ln w="12700">
            <a:solidFill>
              <a:srgbClr val="D5DED9"/>
            </a:solidFill>
          </a:ln>
          <a:effectLst>
            <a:outerShdw blurRad="177800" dist="38100" dir="5400000" algn="t" rotWithShape="0">
              <a:srgbClr val="000000">
                <a:alpha val="14000"/>
              </a:srgbClr>
            </a:outerShdw>
          </a:effectLst>
        </p:spPr>
        <p:txBody>
          <a:bodyPr rtlCol="0" anchor="ctr"/>
          <a:lstStyle/>
          <a:p>
            <a:endParaRPr/>
          </a:p>
        </p:txBody>
      </p:sp>
      <p:sp>
        <p:nvSpPr>
          <p:cNvPr id="39" name="Oval 38"/>
          <p:cNvSpPr/>
          <p:nvPr/>
        </p:nvSpPr>
        <p:spPr>
          <a:xfrm>
            <a:off x="6812279" y="4229100"/>
            <a:ext cx="822960" cy="822960"/>
          </a:xfrm>
          <a:prstGeom prst="ellipse">
            <a:avLst/>
          </a:prstGeom>
          <a:solidFill>
            <a:srgbClr val="0E7C86"/>
          </a:solidFill>
          <a:ln>
            <a:noFill/>
          </a:ln>
        </p:spPr>
        <p:txBody>
          <a:bodyPr rtlCol="0" anchor="ctr"/>
          <a:lstStyle/>
          <a:p>
            <a:endParaRPr/>
          </a:p>
        </p:txBody>
      </p:sp>
      <p:pic>
        <p:nvPicPr>
          <p:cNvPr id="40" name="Picture 39" descr="ambiguous_w.png"/>
          <p:cNvPicPr>
            <a:picLocks noChangeAspect="1"/>
          </p:cNvPicPr>
          <p:nvPr/>
        </p:nvPicPr>
        <p:blipFill>
          <a:blip r:embed="rId6"/>
          <a:stretch>
            <a:fillRect/>
          </a:stretch>
        </p:blipFill>
        <p:spPr>
          <a:xfrm>
            <a:off x="7026249" y="4443069"/>
            <a:ext cx="395020" cy="395020"/>
          </a:xfrm>
          <a:prstGeom prst="rect">
            <a:avLst/>
          </a:prstGeom>
        </p:spPr>
      </p:pic>
      <p:sp>
        <p:nvSpPr>
          <p:cNvPr id="41" name="TextBox 40"/>
          <p:cNvSpPr txBox="1"/>
          <p:nvPr/>
        </p:nvSpPr>
        <p:spPr>
          <a:xfrm>
            <a:off x="7863840" y="4160520"/>
            <a:ext cx="2834639" cy="457200"/>
          </a:xfrm>
          <a:prstGeom prst="rect">
            <a:avLst/>
          </a:prstGeom>
          <a:noFill/>
        </p:spPr>
        <p:txBody>
          <a:bodyPr wrap="square" lIns="0" tIns="0" rIns="0" bIns="0" anchor="t">
            <a:spAutoFit/>
          </a:bodyPr>
          <a:lstStyle/>
          <a:p>
            <a:pPr algn="l"/>
            <a:r>
              <a:rPr sz="2400" b="1" i="0">
                <a:solidFill>
                  <a:srgbClr val="231F20"/>
                </a:solidFill>
                <a:latin typeface="Calibri"/>
              </a:rPr>
              <a:t>Ambiguous</a:t>
            </a:r>
          </a:p>
        </p:txBody>
      </p:sp>
      <p:sp>
        <p:nvSpPr>
          <p:cNvPr id="42" name="TextBox 41"/>
          <p:cNvSpPr txBox="1"/>
          <p:nvPr/>
        </p:nvSpPr>
        <p:spPr>
          <a:xfrm>
            <a:off x="7863840" y="4663440"/>
            <a:ext cx="2834639" cy="640080"/>
          </a:xfrm>
          <a:prstGeom prst="rect">
            <a:avLst/>
          </a:prstGeom>
          <a:noFill/>
        </p:spPr>
        <p:txBody>
          <a:bodyPr wrap="square" lIns="0" tIns="0" rIns="0" bIns="0" anchor="t">
            <a:spAutoFit/>
          </a:bodyPr>
          <a:lstStyle/>
          <a:p>
            <a:pPr algn="l"/>
            <a:r>
              <a:rPr sz="1400" b="0" i="0">
                <a:solidFill>
                  <a:srgbClr val="5E6964"/>
                </a:solidFill>
                <a:latin typeface="Calibri"/>
              </a:rPr>
              <a:t>Abundant data, but weak statistical rigour</a:t>
            </a:r>
          </a:p>
        </p:txBody>
      </p:sp>
      <p:sp>
        <p:nvSpPr>
          <p:cNvPr id="43" name="Left Arrow 42"/>
          <p:cNvSpPr/>
          <p:nvPr/>
        </p:nvSpPr>
        <p:spPr>
          <a:xfrm>
            <a:off x="11064240" y="4366259"/>
            <a:ext cx="548640" cy="502920"/>
          </a:xfrm>
          <a:prstGeom prst="leftArrow">
            <a:avLst/>
          </a:prstGeom>
          <a:solidFill>
            <a:srgbClr val="D49A00"/>
          </a:solidFill>
          <a:ln>
            <a:noFill/>
          </a:ln>
        </p:spPr>
        <p:txBody>
          <a:bodyPr rtlCol="0" anchor="ctr"/>
          <a:lstStyle/>
          <a:p>
            <a:endParaRPr/>
          </a:p>
        </p:txBody>
      </p:sp>
      <p:sp>
        <p:nvSpPr>
          <p:cNvPr id="44" name="TextBox 43"/>
          <p:cNvSpPr txBox="1"/>
          <p:nvPr/>
        </p:nvSpPr>
        <p:spPr>
          <a:xfrm>
            <a:off x="548640" y="6419088"/>
            <a:ext cx="5486400" cy="274320"/>
          </a:xfrm>
          <a:prstGeom prst="rect">
            <a:avLst/>
          </a:prstGeom>
          <a:noFill/>
        </p:spPr>
        <p:txBody>
          <a:bodyPr wrap="square" lIns="0" tIns="0" rIns="0" bIns="0" anchor="t">
            <a:spAutoFit/>
          </a:bodyPr>
          <a:lstStyle/>
          <a:p>
            <a:pPr algn="l"/>
            <a:r>
              <a:rPr sz="850" b="0" i="0">
                <a:solidFill>
                  <a:srgbClr val="8A9590"/>
                </a:solidFill>
                <a:latin typeface="Calibri"/>
              </a:rPr>
              <a:t>Data Innovation for Africa  ·  AfDB Statistics Department (ECST)</a:t>
            </a:r>
          </a:p>
        </p:txBody>
      </p:sp>
      <p:sp>
        <p:nvSpPr>
          <p:cNvPr id="45" name="TextBox 44"/>
          <p:cNvSpPr txBox="1"/>
          <p:nvPr/>
        </p:nvSpPr>
        <p:spPr>
          <a:xfrm>
            <a:off x="6153912" y="6419088"/>
            <a:ext cx="5486400" cy="274320"/>
          </a:xfrm>
          <a:prstGeom prst="rect">
            <a:avLst/>
          </a:prstGeom>
          <a:noFill/>
        </p:spPr>
        <p:txBody>
          <a:bodyPr wrap="square" lIns="0" tIns="0" rIns="0" bIns="0" anchor="t">
            <a:spAutoFit/>
          </a:bodyPr>
          <a:lstStyle/>
          <a:p>
            <a:pPr algn="r"/>
            <a:r>
              <a:rPr sz="850" b="0" i="0">
                <a:solidFill>
                  <a:srgbClr val="8A9590"/>
                </a:solidFill>
                <a:latin typeface="Calibri"/>
              </a:rPr>
              <a:t>3</a:t>
            </a:r>
          </a:p>
        </p:txBody>
      </p:sp>
      <p:sp>
        <p:nvSpPr>
          <p:cNvPr id="48" name="Rectangle 47"/>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ectangle 48"/>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10607040" y="448056"/>
            <a:ext cx="118872" cy="118872"/>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108356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Oval 51"/>
          <p:cNvSpPr/>
          <p:nvPr/>
        </p:nvSpPr>
        <p:spPr>
          <a:xfrm>
            <a:off x="110642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112928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Oval 53"/>
          <p:cNvSpPr/>
          <p:nvPr/>
        </p:nvSpPr>
        <p:spPr>
          <a:xfrm>
            <a:off x="115214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179747413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heel(1)">
                                      <p:cBhvr>
                                        <p:cTn id="7" dur="20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right)">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489"/>
        <p:cNvGrpSpPr/>
        <p:nvPr/>
      </p:nvGrpSpPr>
      <p:grpSpPr>
        <a:xfrm>
          <a:off x="0" y="0"/>
          <a:ext cx="0" cy="0"/>
          <a:chOff x="0" y="0"/>
          <a:chExt cx="0" cy="0"/>
        </a:xfrm>
      </p:grpSpPr>
      <p:sp>
        <p:nvSpPr>
          <p:cNvPr id="44" name="Oval 43"/>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48640" y="365760"/>
            <a:ext cx="11064240" cy="274320"/>
          </a:xfrm>
          <a:prstGeom prst="rect">
            <a:avLst/>
          </a:prstGeom>
          <a:noFill/>
        </p:spPr>
        <p:txBody>
          <a:bodyPr wrap="square" lIns="0" tIns="0" rIns="0" bIns="0" anchor="t">
            <a:spAutoFit/>
          </a:bodyPr>
          <a:lstStyle/>
          <a:p>
            <a:pPr algn="l"/>
            <a:r>
              <a:rPr sz="1050" b="1" i="0" spc="300">
                <a:solidFill>
                  <a:srgbClr val="00704A"/>
                </a:solidFill>
                <a:latin typeface="Calibri"/>
              </a:rPr>
              <a:t>01 · THE ACTION</a:t>
            </a:r>
          </a:p>
        </p:txBody>
      </p:sp>
      <p:sp>
        <p:nvSpPr>
          <p:cNvPr id="16" name="TextBox 15"/>
          <p:cNvSpPr txBox="1"/>
          <p:nvPr/>
        </p:nvSpPr>
        <p:spPr>
          <a:xfrm>
            <a:off x="548640" y="658368"/>
            <a:ext cx="11064240" cy="658368"/>
          </a:xfrm>
          <a:prstGeom prst="rect">
            <a:avLst/>
          </a:prstGeom>
          <a:noFill/>
        </p:spPr>
        <p:txBody>
          <a:bodyPr wrap="square" lIns="0" tIns="0" rIns="0" bIns="0" anchor="t">
            <a:spAutoFit/>
          </a:bodyPr>
          <a:lstStyle/>
          <a:p>
            <a:pPr algn="l"/>
            <a:r>
              <a:rPr sz="2800" b="1" i="0">
                <a:solidFill>
                  <a:srgbClr val="231F20"/>
                </a:solidFill>
                <a:latin typeface="Calibri"/>
              </a:rPr>
              <a:t>A tailored response for every starting point</a:t>
            </a:r>
          </a:p>
        </p:txBody>
      </p:sp>
      <p:cxnSp>
        <p:nvCxnSpPr>
          <p:cNvPr id="17" name="Connector 16"/>
          <p:cNvCxnSpPr/>
          <p:nvPr/>
        </p:nvCxnSpPr>
        <p:spPr>
          <a:xfrm flipV="1">
            <a:off x="1234440" y="1554480"/>
            <a:ext cx="0" cy="4206240"/>
          </a:xfrm>
          <a:prstGeom prst="line">
            <a:avLst/>
          </a:prstGeom>
          <a:ln w="25400">
            <a:solidFill>
              <a:srgbClr val="A9B5B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234440" y="5760720"/>
            <a:ext cx="10287000" cy="0"/>
          </a:xfrm>
          <a:prstGeom prst="line">
            <a:avLst/>
          </a:prstGeom>
          <a:ln w="25400">
            <a:solidFill>
              <a:srgbClr val="A9B5B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rot="16200000">
            <a:off x="73152" y="3520440"/>
            <a:ext cx="1828800" cy="274320"/>
          </a:xfrm>
          <a:prstGeom prst="rect">
            <a:avLst/>
          </a:prstGeom>
          <a:noFill/>
        </p:spPr>
        <p:txBody>
          <a:bodyPr wrap="square" lIns="0" tIns="0" rIns="0" bIns="0" anchor="t">
            <a:spAutoFit/>
          </a:bodyPr>
          <a:lstStyle/>
          <a:p>
            <a:pPr algn="ctr"/>
            <a:r>
              <a:rPr sz="1100" b="1" i="0" spc="200">
                <a:solidFill>
                  <a:srgbClr val="5E6964"/>
                </a:solidFill>
                <a:latin typeface="Calibri"/>
              </a:rPr>
              <a:t>STATISTICS</a:t>
            </a:r>
          </a:p>
        </p:txBody>
      </p:sp>
      <p:sp>
        <p:nvSpPr>
          <p:cNvPr id="20" name="TextBox 19"/>
          <p:cNvSpPr txBox="1"/>
          <p:nvPr/>
        </p:nvSpPr>
        <p:spPr>
          <a:xfrm>
            <a:off x="685800" y="1481328"/>
            <a:ext cx="457200" cy="228600"/>
          </a:xfrm>
          <a:prstGeom prst="rect">
            <a:avLst/>
          </a:prstGeom>
          <a:noFill/>
        </p:spPr>
        <p:txBody>
          <a:bodyPr wrap="square" lIns="0" tIns="0" rIns="0" bIns="0" anchor="t">
            <a:spAutoFit/>
          </a:bodyPr>
          <a:lstStyle/>
          <a:p>
            <a:pPr algn="r"/>
            <a:r>
              <a:rPr sz="1100" b="0" i="0">
                <a:solidFill>
                  <a:srgbClr val="5E6964"/>
                </a:solidFill>
                <a:latin typeface="Calibri"/>
              </a:rPr>
              <a:t>High</a:t>
            </a:r>
          </a:p>
        </p:txBody>
      </p:sp>
      <p:sp>
        <p:nvSpPr>
          <p:cNvPr id="21" name="TextBox 20"/>
          <p:cNvSpPr txBox="1"/>
          <p:nvPr/>
        </p:nvSpPr>
        <p:spPr>
          <a:xfrm>
            <a:off x="685800" y="5669280"/>
            <a:ext cx="457200" cy="228600"/>
          </a:xfrm>
          <a:prstGeom prst="rect">
            <a:avLst/>
          </a:prstGeom>
          <a:noFill/>
        </p:spPr>
        <p:txBody>
          <a:bodyPr wrap="square" lIns="0" tIns="0" rIns="0" bIns="0" anchor="t">
            <a:spAutoFit/>
          </a:bodyPr>
          <a:lstStyle/>
          <a:p>
            <a:pPr algn="r"/>
            <a:r>
              <a:rPr sz="1100" b="0" i="0">
                <a:solidFill>
                  <a:srgbClr val="5E6964"/>
                </a:solidFill>
                <a:latin typeface="Calibri"/>
              </a:rPr>
              <a:t>Low</a:t>
            </a:r>
          </a:p>
        </p:txBody>
      </p:sp>
      <p:sp>
        <p:nvSpPr>
          <p:cNvPr id="22" name="TextBox 21"/>
          <p:cNvSpPr txBox="1"/>
          <p:nvPr/>
        </p:nvSpPr>
        <p:spPr>
          <a:xfrm>
            <a:off x="5120640" y="5870448"/>
            <a:ext cx="2377440" cy="274320"/>
          </a:xfrm>
          <a:prstGeom prst="rect">
            <a:avLst/>
          </a:prstGeom>
          <a:noFill/>
        </p:spPr>
        <p:txBody>
          <a:bodyPr wrap="square" lIns="0" tIns="0" rIns="0" bIns="0" anchor="t">
            <a:spAutoFit/>
          </a:bodyPr>
          <a:lstStyle/>
          <a:p>
            <a:pPr algn="ctr"/>
            <a:r>
              <a:rPr sz="1100" b="1" i="0" spc="200">
                <a:solidFill>
                  <a:srgbClr val="5E6964"/>
                </a:solidFill>
                <a:latin typeface="Calibri"/>
              </a:rPr>
              <a:t>TECHNOLOGY</a:t>
            </a:r>
          </a:p>
        </p:txBody>
      </p:sp>
      <p:sp>
        <p:nvSpPr>
          <p:cNvPr id="23" name="TextBox 22"/>
          <p:cNvSpPr txBox="1"/>
          <p:nvPr/>
        </p:nvSpPr>
        <p:spPr>
          <a:xfrm>
            <a:off x="10881360" y="5870448"/>
            <a:ext cx="640080" cy="228600"/>
          </a:xfrm>
          <a:prstGeom prst="rect">
            <a:avLst/>
          </a:prstGeom>
          <a:noFill/>
        </p:spPr>
        <p:txBody>
          <a:bodyPr wrap="square" lIns="0" tIns="0" rIns="0" bIns="0" anchor="t">
            <a:spAutoFit/>
          </a:bodyPr>
          <a:lstStyle/>
          <a:p>
            <a:pPr algn="r"/>
            <a:r>
              <a:rPr sz="1100" b="0" i="0">
                <a:solidFill>
                  <a:srgbClr val="5E6964"/>
                </a:solidFill>
                <a:latin typeface="Calibri"/>
              </a:rPr>
              <a:t>High</a:t>
            </a:r>
          </a:p>
        </p:txBody>
      </p:sp>
      <p:sp>
        <p:nvSpPr>
          <p:cNvPr id="24" name="Rounded Rectangle 23"/>
          <p:cNvSpPr/>
          <p:nvPr/>
        </p:nvSpPr>
        <p:spPr>
          <a:xfrm>
            <a:off x="1600200" y="1737360"/>
            <a:ext cx="4434840" cy="1783080"/>
          </a:xfrm>
          <a:prstGeom prst="roundRect">
            <a:avLst>
              <a:gd name="adj" fmla="val 8000"/>
            </a:avLst>
          </a:prstGeom>
          <a:solidFill>
            <a:srgbClr val="F4F7F5"/>
          </a:solidFill>
          <a:ln w="9525">
            <a:solidFill>
              <a:srgbClr val="D5DED9"/>
            </a:solidFill>
          </a:ln>
        </p:spPr>
        <p:txBody>
          <a:bodyPr rtlCol="0" anchor="ctr"/>
          <a:lstStyle/>
          <a:p>
            <a:endParaRPr/>
          </a:p>
        </p:txBody>
      </p:sp>
      <p:sp>
        <p:nvSpPr>
          <p:cNvPr id="25" name="Oval 24"/>
          <p:cNvSpPr/>
          <p:nvPr/>
        </p:nvSpPr>
        <p:spPr>
          <a:xfrm>
            <a:off x="1920240" y="2217420"/>
            <a:ext cx="822960" cy="822960"/>
          </a:xfrm>
          <a:prstGeom prst="ellipse">
            <a:avLst/>
          </a:prstGeom>
          <a:solidFill>
            <a:srgbClr val="00A86A"/>
          </a:solidFill>
          <a:ln>
            <a:noFill/>
          </a:ln>
        </p:spPr>
        <p:txBody>
          <a:bodyPr rtlCol="0" anchor="ctr"/>
          <a:lstStyle/>
          <a:p>
            <a:endParaRPr/>
          </a:p>
        </p:txBody>
      </p:sp>
      <p:pic>
        <p:nvPicPr>
          <p:cNvPr id="26" name="Picture 25" descr="stat_w.png"/>
          <p:cNvPicPr>
            <a:picLocks noChangeAspect="1"/>
          </p:cNvPicPr>
          <p:nvPr/>
        </p:nvPicPr>
        <p:blipFill>
          <a:blip r:embed="rId3"/>
          <a:stretch>
            <a:fillRect/>
          </a:stretch>
        </p:blipFill>
        <p:spPr>
          <a:xfrm>
            <a:off x="2134209" y="2431389"/>
            <a:ext cx="395020" cy="395020"/>
          </a:xfrm>
          <a:prstGeom prst="rect">
            <a:avLst/>
          </a:prstGeom>
        </p:spPr>
      </p:pic>
      <p:sp>
        <p:nvSpPr>
          <p:cNvPr id="27" name="TextBox 26"/>
          <p:cNvSpPr txBox="1"/>
          <p:nvPr/>
        </p:nvSpPr>
        <p:spPr>
          <a:xfrm>
            <a:off x="2971800" y="1737360"/>
            <a:ext cx="2606039" cy="1783080"/>
          </a:xfrm>
          <a:prstGeom prst="rect">
            <a:avLst/>
          </a:prstGeom>
          <a:noFill/>
        </p:spPr>
        <p:txBody>
          <a:bodyPr wrap="square" lIns="0" tIns="0" rIns="0" bIns="0" anchor="ctr">
            <a:spAutoFit/>
          </a:bodyPr>
          <a:lstStyle/>
          <a:p>
            <a:pPr algn="l"/>
            <a:r>
              <a:rPr sz="2200" b="1" i="0">
                <a:solidFill>
                  <a:srgbClr val="231F20"/>
                </a:solidFill>
                <a:latin typeface="Calibri"/>
              </a:rPr>
              <a:t>Boost Statistical Competence</a:t>
            </a:r>
          </a:p>
        </p:txBody>
      </p:sp>
      <p:sp>
        <p:nvSpPr>
          <p:cNvPr id="28" name="Rounded Rectangle 27"/>
          <p:cNvSpPr/>
          <p:nvPr/>
        </p:nvSpPr>
        <p:spPr>
          <a:xfrm>
            <a:off x="6492240" y="1737360"/>
            <a:ext cx="4434840" cy="1783080"/>
          </a:xfrm>
          <a:prstGeom prst="roundRect">
            <a:avLst>
              <a:gd name="adj" fmla="val 8000"/>
            </a:avLst>
          </a:prstGeom>
          <a:solidFill>
            <a:srgbClr val="E8F5EF"/>
          </a:solidFill>
          <a:ln w="19050">
            <a:solidFill>
              <a:srgbClr val="00A86A"/>
            </a:solidFill>
          </a:ln>
        </p:spPr>
        <p:txBody>
          <a:bodyPr rtlCol="0" anchor="ctr"/>
          <a:lstStyle/>
          <a:p>
            <a:endParaRPr/>
          </a:p>
        </p:txBody>
      </p:sp>
      <p:sp>
        <p:nvSpPr>
          <p:cNvPr id="29" name="Oval 28"/>
          <p:cNvSpPr/>
          <p:nvPr/>
        </p:nvSpPr>
        <p:spPr>
          <a:xfrm>
            <a:off x="9784080" y="2217420"/>
            <a:ext cx="822960" cy="822960"/>
          </a:xfrm>
          <a:prstGeom prst="ellipse">
            <a:avLst/>
          </a:prstGeom>
          <a:solidFill>
            <a:srgbClr val="D49A00"/>
          </a:solidFill>
          <a:ln>
            <a:noFill/>
          </a:ln>
        </p:spPr>
        <p:txBody>
          <a:bodyPr rtlCol="0" anchor="ctr"/>
          <a:lstStyle/>
          <a:p>
            <a:endParaRPr/>
          </a:p>
        </p:txBody>
      </p:sp>
      <p:pic>
        <p:nvPicPr>
          <p:cNvPr id="30" name="Picture 29" descr="sustain_w.png"/>
          <p:cNvPicPr>
            <a:picLocks noChangeAspect="1"/>
          </p:cNvPicPr>
          <p:nvPr/>
        </p:nvPicPr>
        <p:blipFill>
          <a:blip r:embed="rId4"/>
          <a:stretch>
            <a:fillRect/>
          </a:stretch>
        </p:blipFill>
        <p:spPr>
          <a:xfrm>
            <a:off x="9998049" y="2431389"/>
            <a:ext cx="395020" cy="395020"/>
          </a:xfrm>
          <a:prstGeom prst="rect">
            <a:avLst/>
          </a:prstGeom>
        </p:spPr>
      </p:pic>
      <p:sp>
        <p:nvSpPr>
          <p:cNvPr id="31" name="TextBox 30"/>
          <p:cNvSpPr txBox="1"/>
          <p:nvPr/>
        </p:nvSpPr>
        <p:spPr>
          <a:xfrm>
            <a:off x="6903720" y="1737360"/>
            <a:ext cx="2606039" cy="1783080"/>
          </a:xfrm>
          <a:prstGeom prst="rect">
            <a:avLst/>
          </a:prstGeom>
          <a:noFill/>
        </p:spPr>
        <p:txBody>
          <a:bodyPr wrap="square" lIns="0" tIns="0" rIns="0" bIns="0" anchor="ctr">
            <a:spAutoFit/>
          </a:bodyPr>
          <a:lstStyle/>
          <a:p>
            <a:pPr algn="r"/>
            <a:r>
              <a:rPr sz="2200" b="1" i="0">
                <a:solidFill>
                  <a:srgbClr val="231F20"/>
                </a:solidFill>
                <a:latin typeface="Calibri"/>
              </a:rPr>
              <a:t>Sustain, Monitor and Adjust</a:t>
            </a:r>
          </a:p>
        </p:txBody>
      </p:sp>
      <p:sp>
        <p:nvSpPr>
          <p:cNvPr id="32" name="Rounded Rectangle 31"/>
          <p:cNvSpPr/>
          <p:nvPr/>
        </p:nvSpPr>
        <p:spPr>
          <a:xfrm>
            <a:off x="1600200" y="3749039"/>
            <a:ext cx="4434840" cy="1783080"/>
          </a:xfrm>
          <a:prstGeom prst="roundRect">
            <a:avLst>
              <a:gd name="adj" fmla="val 8000"/>
            </a:avLst>
          </a:prstGeom>
          <a:solidFill>
            <a:srgbClr val="F4F7F5"/>
          </a:solidFill>
          <a:ln w="9525">
            <a:solidFill>
              <a:srgbClr val="D5DED9"/>
            </a:solidFill>
          </a:ln>
        </p:spPr>
        <p:txBody>
          <a:bodyPr rtlCol="0" anchor="ctr"/>
          <a:lstStyle/>
          <a:p>
            <a:endParaRPr/>
          </a:p>
        </p:txBody>
      </p:sp>
      <p:sp>
        <p:nvSpPr>
          <p:cNvPr id="33" name="Oval 32"/>
          <p:cNvSpPr/>
          <p:nvPr/>
        </p:nvSpPr>
        <p:spPr>
          <a:xfrm>
            <a:off x="1920240" y="4229100"/>
            <a:ext cx="822960" cy="822960"/>
          </a:xfrm>
          <a:prstGeom prst="ellipse">
            <a:avLst/>
          </a:prstGeom>
          <a:solidFill>
            <a:srgbClr val="B83B2E"/>
          </a:solidFill>
          <a:ln>
            <a:noFill/>
          </a:ln>
        </p:spPr>
        <p:txBody>
          <a:bodyPr rtlCol="0" anchor="ctr"/>
          <a:lstStyle/>
          <a:p>
            <a:endParaRPr/>
          </a:p>
        </p:txBody>
      </p:sp>
      <p:pic>
        <p:nvPicPr>
          <p:cNvPr id="34" name="Picture 33" descr="build_w.png"/>
          <p:cNvPicPr>
            <a:picLocks noChangeAspect="1"/>
          </p:cNvPicPr>
          <p:nvPr/>
        </p:nvPicPr>
        <p:blipFill>
          <a:blip r:embed="rId5"/>
          <a:stretch>
            <a:fillRect/>
          </a:stretch>
        </p:blipFill>
        <p:spPr>
          <a:xfrm>
            <a:off x="2134209" y="4443069"/>
            <a:ext cx="395020" cy="395020"/>
          </a:xfrm>
          <a:prstGeom prst="rect">
            <a:avLst/>
          </a:prstGeom>
        </p:spPr>
      </p:pic>
      <p:sp>
        <p:nvSpPr>
          <p:cNvPr id="35" name="TextBox 34"/>
          <p:cNvSpPr txBox="1"/>
          <p:nvPr/>
        </p:nvSpPr>
        <p:spPr>
          <a:xfrm>
            <a:off x="2971800" y="3749039"/>
            <a:ext cx="2606039" cy="1783080"/>
          </a:xfrm>
          <a:prstGeom prst="rect">
            <a:avLst/>
          </a:prstGeom>
          <a:noFill/>
        </p:spPr>
        <p:txBody>
          <a:bodyPr wrap="square" lIns="0" tIns="0" rIns="0" bIns="0" anchor="ctr">
            <a:spAutoFit/>
          </a:bodyPr>
          <a:lstStyle/>
          <a:p>
            <a:pPr algn="l"/>
            <a:r>
              <a:rPr sz="2200" b="1" i="0">
                <a:solidFill>
                  <a:srgbClr val="231F20"/>
                </a:solidFill>
                <a:latin typeface="Calibri"/>
              </a:rPr>
              <a:t>Build From Scratch</a:t>
            </a:r>
          </a:p>
        </p:txBody>
      </p:sp>
      <p:sp>
        <p:nvSpPr>
          <p:cNvPr id="36" name="Rounded Rectangle 35"/>
          <p:cNvSpPr/>
          <p:nvPr/>
        </p:nvSpPr>
        <p:spPr>
          <a:xfrm>
            <a:off x="6492240" y="3749039"/>
            <a:ext cx="4434840" cy="1783080"/>
          </a:xfrm>
          <a:prstGeom prst="roundRect">
            <a:avLst>
              <a:gd name="adj" fmla="val 8000"/>
            </a:avLst>
          </a:prstGeom>
          <a:solidFill>
            <a:srgbClr val="F4F7F5"/>
          </a:solidFill>
          <a:ln w="9525">
            <a:solidFill>
              <a:srgbClr val="D5DED9"/>
            </a:solidFill>
          </a:ln>
        </p:spPr>
        <p:txBody>
          <a:bodyPr rtlCol="0" anchor="ctr"/>
          <a:lstStyle/>
          <a:p>
            <a:endParaRPr/>
          </a:p>
        </p:txBody>
      </p:sp>
      <p:sp>
        <p:nvSpPr>
          <p:cNvPr id="37" name="Oval 36"/>
          <p:cNvSpPr/>
          <p:nvPr/>
        </p:nvSpPr>
        <p:spPr>
          <a:xfrm>
            <a:off x="9784080" y="4229100"/>
            <a:ext cx="822960" cy="822960"/>
          </a:xfrm>
          <a:prstGeom prst="ellipse">
            <a:avLst/>
          </a:prstGeom>
          <a:solidFill>
            <a:srgbClr val="0E7C86"/>
          </a:solidFill>
          <a:ln>
            <a:noFill/>
          </a:ln>
        </p:spPr>
        <p:txBody>
          <a:bodyPr rtlCol="0" anchor="ctr"/>
          <a:lstStyle/>
          <a:p>
            <a:endParaRPr/>
          </a:p>
        </p:txBody>
      </p:sp>
      <p:pic>
        <p:nvPicPr>
          <p:cNvPr id="38" name="Picture 37" descr="tech_w.png"/>
          <p:cNvPicPr>
            <a:picLocks noChangeAspect="1"/>
          </p:cNvPicPr>
          <p:nvPr/>
        </p:nvPicPr>
        <p:blipFill>
          <a:blip r:embed="rId6"/>
          <a:stretch>
            <a:fillRect/>
          </a:stretch>
        </p:blipFill>
        <p:spPr>
          <a:xfrm>
            <a:off x="9998049" y="4443069"/>
            <a:ext cx="395020" cy="395020"/>
          </a:xfrm>
          <a:prstGeom prst="rect">
            <a:avLst/>
          </a:prstGeom>
        </p:spPr>
      </p:pic>
      <p:sp>
        <p:nvSpPr>
          <p:cNvPr id="39" name="TextBox 38"/>
          <p:cNvSpPr txBox="1"/>
          <p:nvPr/>
        </p:nvSpPr>
        <p:spPr>
          <a:xfrm>
            <a:off x="6903720" y="3749039"/>
            <a:ext cx="2606039" cy="1783080"/>
          </a:xfrm>
          <a:prstGeom prst="rect">
            <a:avLst/>
          </a:prstGeom>
          <a:noFill/>
        </p:spPr>
        <p:txBody>
          <a:bodyPr wrap="square" lIns="0" tIns="0" rIns="0" bIns="0" anchor="ctr">
            <a:spAutoFit/>
          </a:bodyPr>
          <a:lstStyle/>
          <a:p>
            <a:pPr algn="r"/>
            <a:r>
              <a:rPr sz="2200" b="1" i="0">
                <a:solidFill>
                  <a:srgbClr val="231F20"/>
                </a:solidFill>
                <a:latin typeface="Calibri"/>
              </a:rPr>
              <a:t>Boost Technological Competence</a:t>
            </a:r>
          </a:p>
        </p:txBody>
      </p:sp>
      <p:sp>
        <p:nvSpPr>
          <p:cNvPr id="40" name="Oval 39"/>
          <p:cNvSpPr/>
          <p:nvPr/>
        </p:nvSpPr>
        <p:spPr>
          <a:xfrm>
            <a:off x="5783580" y="3108960"/>
            <a:ext cx="1097280" cy="1097280"/>
          </a:xfrm>
          <a:prstGeom prst="ellipse">
            <a:avLst/>
          </a:prstGeom>
          <a:solidFill>
            <a:srgbClr val="D49A00"/>
          </a:solidFill>
          <a:ln w="50800">
            <a:solidFill>
              <a:srgbClr val="FFFFFF"/>
            </a:solidFill>
          </a:ln>
        </p:spPr>
        <p:txBody>
          <a:bodyPr rtlCol="0" anchor="ctr"/>
          <a:lstStyle/>
          <a:p>
            <a:endParaRPr/>
          </a:p>
        </p:txBody>
      </p:sp>
      <p:pic>
        <p:nvPicPr>
          <p:cNvPr id="41" name="Picture 40" descr="sustain_d.png"/>
          <p:cNvPicPr>
            <a:picLocks noChangeAspect="1"/>
          </p:cNvPicPr>
          <p:nvPr/>
        </p:nvPicPr>
        <p:blipFill>
          <a:blip r:embed="rId7"/>
          <a:stretch>
            <a:fillRect/>
          </a:stretch>
        </p:blipFill>
        <p:spPr>
          <a:xfrm>
            <a:off x="6057900" y="3383280"/>
            <a:ext cx="548640" cy="548640"/>
          </a:xfrm>
          <a:prstGeom prst="rect">
            <a:avLst/>
          </a:prstGeom>
        </p:spPr>
      </p:pic>
      <p:sp>
        <p:nvSpPr>
          <p:cNvPr id="42" name="TextBox 41"/>
          <p:cNvSpPr txBox="1"/>
          <p:nvPr/>
        </p:nvSpPr>
        <p:spPr>
          <a:xfrm>
            <a:off x="548640" y="6419088"/>
            <a:ext cx="5486400" cy="274320"/>
          </a:xfrm>
          <a:prstGeom prst="rect">
            <a:avLst/>
          </a:prstGeom>
          <a:noFill/>
        </p:spPr>
        <p:txBody>
          <a:bodyPr wrap="square" lIns="0" tIns="0" rIns="0" bIns="0" anchor="t">
            <a:spAutoFit/>
          </a:bodyPr>
          <a:lstStyle/>
          <a:p>
            <a:pPr algn="l"/>
            <a:r>
              <a:rPr sz="850" b="0" i="0">
                <a:solidFill>
                  <a:srgbClr val="8A9590"/>
                </a:solidFill>
                <a:latin typeface="Calibri"/>
              </a:rPr>
              <a:t>Data Innovation for Africa  ·  AfDB Statistics Department (ECST)</a:t>
            </a:r>
          </a:p>
        </p:txBody>
      </p:sp>
      <p:sp>
        <p:nvSpPr>
          <p:cNvPr id="43" name="TextBox 42"/>
          <p:cNvSpPr txBox="1"/>
          <p:nvPr/>
        </p:nvSpPr>
        <p:spPr>
          <a:xfrm>
            <a:off x="6153912" y="6419088"/>
            <a:ext cx="5486400" cy="274320"/>
          </a:xfrm>
          <a:prstGeom prst="rect">
            <a:avLst/>
          </a:prstGeom>
          <a:noFill/>
        </p:spPr>
        <p:txBody>
          <a:bodyPr wrap="square" lIns="0" tIns="0" rIns="0" bIns="0" anchor="t">
            <a:spAutoFit/>
          </a:bodyPr>
          <a:lstStyle/>
          <a:p>
            <a:pPr algn="r"/>
            <a:r>
              <a:rPr sz="850" b="0" i="0">
                <a:solidFill>
                  <a:srgbClr val="8A9590"/>
                </a:solidFill>
                <a:latin typeface="Calibri"/>
              </a:rPr>
              <a:t>4</a:t>
            </a:r>
          </a:p>
        </p:txBody>
      </p:sp>
      <p:sp>
        <p:nvSpPr>
          <p:cNvPr id="46" name="Rectangle 45"/>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ectangle 46"/>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Oval 47"/>
          <p:cNvSpPr/>
          <p:nvPr/>
        </p:nvSpPr>
        <p:spPr>
          <a:xfrm>
            <a:off x="10607040" y="448056"/>
            <a:ext cx="118872" cy="118872"/>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108356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Oval 49"/>
          <p:cNvSpPr/>
          <p:nvPr/>
        </p:nvSpPr>
        <p:spPr>
          <a:xfrm>
            <a:off x="110642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Oval 50"/>
          <p:cNvSpPr/>
          <p:nvPr/>
        </p:nvSpPr>
        <p:spPr>
          <a:xfrm>
            <a:off x="112928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Oval 51"/>
          <p:cNvSpPr/>
          <p:nvPr/>
        </p:nvSpPr>
        <p:spPr>
          <a:xfrm>
            <a:off x="115214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2413321715"/>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2" name="Oval 31"/>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Box 1"/>
          <p:cNvSpPr txBox="1"/>
          <p:nvPr/>
        </p:nvSpPr>
        <p:spPr>
          <a:xfrm>
            <a:off x="548640" y="365760"/>
            <a:ext cx="11064240" cy="274320"/>
          </a:xfrm>
          <a:prstGeom prst="rect">
            <a:avLst/>
          </a:prstGeom>
          <a:noFill/>
        </p:spPr>
        <p:txBody>
          <a:bodyPr wrap="square" lIns="0" tIns="0" rIns="0" bIns="0" anchor="t">
            <a:spAutoFit/>
          </a:bodyPr>
          <a:lstStyle/>
          <a:p>
            <a:pPr algn="l"/>
            <a:r>
              <a:rPr sz="1050" b="1" i="0" spc="300">
                <a:solidFill>
                  <a:srgbClr val="00704A"/>
                </a:solidFill>
                <a:latin typeface="Calibri"/>
              </a:rPr>
              <a:t>01 · DECISION-MAKING NECESSITIES</a:t>
            </a:r>
          </a:p>
        </p:txBody>
      </p:sp>
      <p:sp>
        <p:nvSpPr>
          <p:cNvPr id="3" name="TextBox 2"/>
          <p:cNvSpPr txBox="1"/>
          <p:nvPr/>
        </p:nvSpPr>
        <p:spPr>
          <a:xfrm>
            <a:off x="548640" y="658368"/>
            <a:ext cx="11064240" cy="658368"/>
          </a:xfrm>
          <a:prstGeom prst="rect">
            <a:avLst/>
          </a:prstGeom>
          <a:noFill/>
        </p:spPr>
        <p:txBody>
          <a:bodyPr wrap="square" lIns="0" tIns="0" rIns="0" bIns="0" anchor="t">
            <a:spAutoFit/>
          </a:bodyPr>
          <a:lstStyle/>
          <a:p>
            <a:pPr algn="l"/>
            <a:r>
              <a:rPr sz="2800" b="1" i="0">
                <a:solidFill>
                  <a:srgbClr val="231F20"/>
                </a:solidFill>
                <a:latin typeface="Calibri"/>
              </a:rPr>
              <a:t>Better decisions start with better data</a:t>
            </a:r>
          </a:p>
        </p:txBody>
      </p:sp>
      <p:sp>
        <p:nvSpPr>
          <p:cNvPr id="4" name="TextBox 3"/>
          <p:cNvSpPr txBox="1"/>
          <p:nvPr/>
        </p:nvSpPr>
        <p:spPr>
          <a:xfrm>
            <a:off x="548640" y="1783080"/>
            <a:ext cx="1005840" cy="731520"/>
          </a:xfrm>
          <a:prstGeom prst="rect">
            <a:avLst/>
          </a:prstGeom>
          <a:noFill/>
        </p:spPr>
        <p:txBody>
          <a:bodyPr wrap="square" lIns="0" tIns="0" rIns="0" bIns="0" anchor="t">
            <a:spAutoFit/>
          </a:bodyPr>
          <a:lstStyle/>
          <a:p>
            <a:pPr algn="l"/>
            <a:r>
              <a:rPr sz="4400" b="1" i="0">
                <a:solidFill>
                  <a:srgbClr val="D49A00"/>
                </a:solidFill>
                <a:latin typeface="Calibri"/>
              </a:rPr>
              <a:t>01</a:t>
            </a:r>
          </a:p>
        </p:txBody>
      </p:sp>
      <p:sp>
        <p:nvSpPr>
          <p:cNvPr id="5" name="TextBox 4"/>
          <p:cNvSpPr txBox="1"/>
          <p:nvPr/>
        </p:nvSpPr>
        <p:spPr>
          <a:xfrm>
            <a:off x="1600200" y="1847088"/>
            <a:ext cx="4206240" cy="1371600"/>
          </a:xfrm>
          <a:prstGeom prst="rect">
            <a:avLst/>
          </a:prstGeom>
          <a:noFill/>
        </p:spPr>
        <p:txBody>
          <a:bodyPr wrap="square" lIns="0" tIns="0" rIns="0" bIns="0" anchor="t">
            <a:spAutoFit/>
          </a:bodyPr>
          <a:lstStyle/>
          <a:p>
            <a:pPr algn="l">
              <a:lnSpc>
                <a:spcPct val="110000"/>
              </a:lnSpc>
            </a:pPr>
            <a:r>
              <a:rPr sz="2100" b="0" i="0">
                <a:solidFill>
                  <a:srgbClr val="231F20"/>
                </a:solidFill>
                <a:latin typeface="Calibri"/>
              </a:rPr>
              <a:t>Better understand the world in which we live — and its causalities</a:t>
            </a:r>
          </a:p>
        </p:txBody>
      </p:sp>
      <p:sp>
        <p:nvSpPr>
          <p:cNvPr id="6" name="Rounded Rectangle 5"/>
          <p:cNvSpPr/>
          <p:nvPr/>
        </p:nvSpPr>
        <p:spPr>
          <a:xfrm>
            <a:off x="548640" y="3520440"/>
            <a:ext cx="5349240" cy="2331720"/>
          </a:xfrm>
          <a:prstGeom prst="roundRect">
            <a:avLst>
              <a:gd name="adj" fmla="val 7000"/>
            </a:avLst>
          </a:prstGeom>
          <a:solidFill>
            <a:srgbClr val="00704A"/>
          </a:solidFill>
          <a:ln>
            <a:noFill/>
          </a:ln>
          <a:effectLst>
            <a:outerShdw blurRad="177800" dist="38100" dir="5400000" algn="t" rotWithShape="0">
              <a:srgbClr val="000000">
                <a:alpha val="22000"/>
              </a:srgbClr>
            </a:outerShdw>
          </a:effectLst>
        </p:spPr>
        <p:txBody>
          <a:bodyPr rtlCol="0" anchor="ctr"/>
          <a:lstStyle/>
          <a:p>
            <a:endParaRPr/>
          </a:p>
        </p:txBody>
      </p:sp>
      <p:sp>
        <p:nvSpPr>
          <p:cNvPr id="7" name="TextBox 6"/>
          <p:cNvSpPr txBox="1"/>
          <p:nvPr/>
        </p:nvSpPr>
        <p:spPr>
          <a:xfrm>
            <a:off x="868680" y="3749039"/>
            <a:ext cx="1005840" cy="731520"/>
          </a:xfrm>
          <a:prstGeom prst="rect">
            <a:avLst/>
          </a:prstGeom>
          <a:noFill/>
        </p:spPr>
        <p:txBody>
          <a:bodyPr wrap="square" lIns="0" tIns="0" rIns="0" bIns="0" anchor="t">
            <a:spAutoFit/>
          </a:bodyPr>
          <a:lstStyle/>
          <a:p>
            <a:pPr algn="l"/>
            <a:r>
              <a:rPr sz="4400" b="1" i="0">
                <a:solidFill>
                  <a:srgbClr val="F5C242"/>
                </a:solidFill>
                <a:latin typeface="Calibri"/>
              </a:rPr>
              <a:t>02</a:t>
            </a:r>
          </a:p>
        </p:txBody>
      </p:sp>
      <p:sp>
        <p:nvSpPr>
          <p:cNvPr id="8" name="TextBox 7"/>
          <p:cNvSpPr txBox="1"/>
          <p:nvPr/>
        </p:nvSpPr>
        <p:spPr>
          <a:xfrm>
            <a:off x="1920240" y="3840480"/>
            <a:ext cx="3749039" cy="1828800"/>
          </a:xfrm>
          <a:prstGeom prst="rect">
            <a:avLst/>
          </a:prstGeom>
          <a:noFill/>
        </p:spPr>
        <p:txBody>
          <a:bodyPr wrap="square" lIns="0" tIns="0" rIns="0" bIns="0" anchor="t">
            <a:spAutoFit/>
          </a:bodyPr>
          <a:lstStyle/>
          <a:p>
            <a:pPr algn="l">
              <a:lnSpc>
                <a:spcPct val="110000"/>
              </a:lnSpc>
              <a:spcAft>
                <a:spcPts val="800"/>
              </a:spcAft>
            </a:pPr>
            <a:r>
              <a:rPr sz="2100" b="0" i="0">
                <a:solidFill>
                  <a:srgbClr val="FFFFFF"/>
                </a:solidFill>
                <a:latin typeface="Calibri"/>
              </a:rPr>
              <a:t>Better decisions with immediate impact…</a:t>
            </a:r>
          </a:p>
          <a:p>
            <a:pPr algn="l">
              <a:lnSpc>
                <a:spcPct val="110000"/>
              </a:lnSpc>
              <a:spcAft>
                <a:spcPts val="800"/>
              </a:spcAft>
            </a:pPr>
            <a:r>
              <a:rPr sz="1800" b="1" i="0">
                <a:solidFill>
                  <a:srgbClr val="F5C242"/>
                </a:solidFill>
                <a:latin typeface="Calibri"/>
              </a:rPr>
              <a:t>must be driven by data that is:</a:t>
            </a:r>
          </a:p>
        </p:txBody>
      </p:sp>
      <p:sp>
        <p:nvSpPr>
          <p:cNvPr id="9" name="Chevron 8"/>
          <p:cNvSpPr/>
          <p:nvPr/>
        </p:nvSpPr>
        <p:spPr>
          <a:xfrm>
            <a:off x="6035040" y="4480560"/>
            <a:ext cx="411480" cy="411480"/>
          </a:xfrm>
          <a:prstGeom prst="chevron">
            <a:avLst/>
          </a:prstGeom>
          <a:solidFill>
            <a:srgbClr val="D49A00"/>
          </a:solidFill>
          <a:ln>
            <a:noFill/>
          </a:ln>
        </p:spPr>
        <p:txBody>
          <a:bodyPr rtlCol="0" anchor="ctr"/>
          <a:lstStyle/>
          <a:p>
            <a:endParaRPr/>
          </a:p>
        </p:txBody>
      </p:sp>
      <p:sp>
        <p:nvSpPr>
          <p:cNvPr id="10" name="Rounded Rectangle 9"/>
          <p:cNvSpPr/>
          <p:nvPr/>
        </p:nvSpPr>
        <p:spPr>
          <a:xfrm>
            <a:off x="6629400" y="1691640"/>
            <a:ext cx="5029200" cy="713232"/>
          </a:xfrm>
          <a:prstGeom prst="roundRect">
            <a:avLst>
              <a:gd name="adj" fmla="val 50000"/>
            </a:avLst>
          </a:prstGeom>
          <a:solidFill>
            <a:srgbClr val="F4F7F5"/>
          </a:solidFill>
          <a:ln w="12700">
            <a:solidFill>
              <a:srgbClr val="D5DED9"/>
            </a:solidFill>
          </a:ln>
        </p:spPr>
        <p:txBody>
          <a:bodyPr rtlCol="0" anchor="ctr"/>
          <a:lstStyle/>
          <a:p>
            <a:endParaRPr/>
          </a:p>
        </p:txBody>
      </p:sp>
      <p:sp>
        <p:nvSpPr>
          <p:cNvPr id="11" name="Oval 10"/>
          <p:cNvSpPr/>
          <p:nvPr/>
        </p:nvSpPr>
        <p:spPr>
          <a:xfrm>
            <a:off x="6729984" y="1792224"/>
            <a:ext cx="512064" cy="512064"/>
          </a:xfrm>
          <a:prstGeom prst="ellipse">
            <a:avLst/>
          </a:prstGeom>
          <a:solidFill>
            <a:srgbClr val="00A86A"/>
          </a:solidFill>
          <a:ln>
            <a:noFill/>
          </a:ln>
        </p:spPr>
        <p:txBody>
          <a:bodyPr rtlCol="0" anchor="ctr"/>
          <a:lstStyle/>
          <a:p>
            <a:endParaRPr/>
          </a:p>
        </p:txBody>
      </p:sp>
      <p:pic>
        <p:nvPicPr>
          <p:cNvPr id="12" name="Picture 11" descr="reliable_w.png"/>
          <p:cNvPicPr>
            <a:picLocks noChangeAspect="1"/>
          </p:cNvPicPr>
          <p:nvPr/>
        </p:nvPicPr>
        <p:blipFill>
          <a:blip r:embed="rId3"/>
          <a:stretch>
            <a:fillRect/>
          </a:stretch>
        </p:blipFill>
        <p:spPr>
          <a:xfrm>
            <a:off x="6852879" y="1915119"/>
            <a:ext cx="266273" cy="266273"/>
          </a:xfrm>
          <a:prstGeom prst="rect">
            <a:avLst/>
          </a:prstGeom>
        </p:spPr>
      </p:pic>
      <p:sp>
        <p:nvSpPr>
          <p:cNvPr id="13" name="TextBox 12"/>
          <p:cNvSpPr txBox="1"/>
          <p:nvPr/>
        </p:nvSpPr>
        <p:spPr>
          <a:xfrm>
            <a:off x="7498079" y="1691640"/>
            <a:ext cx="3931920" cy="713232"/>
          </a:xfrm>
          <a:prstGeom prst="rect">
            <a:avLst/>
          </a:prstGeom>
          <a:noFill/>
        </p:spPr>
        <p:txBody>
          <a:bodyPr wrap="square" lIns="0" tIns="0" rIns="0" bIns="0" anchor="ctr">
            <a:spAutoFit/>
          </a:bodyPr>
          <a:lstStyle/>
          <a:p>
            <a:pPr algn="l"/>
            <a:r>
              <a:rPr sz="2000" b="1" i="0">
                <a:solidFill>
                  <a:srgbClr val="231F20"/>
                </a:solidFill>
                <a:latin typeface="Calibri"/>
              </a:rPr>
              <a:t>Reliable</a:t>
            </a:r>
          </a:p>
        </p:txBody>
      </p:sp>
      <p:sp>
        <p:nvSpPr>
          <p:cNvPr id="14" name="Rounded Rectangle 13"/>
          <p:cNvSpPr/>
          <p:nvPr/>
        </p:nvSpPr>
        <p:spPr>
          <a:xfrm>
            <a:off x="6629400" y="2542032"/>
            <a:ext cx="5029200" cy="713232"/>
          </a:xfrm>
          <a:prstGeom prst="roundRect">
            <a:avLst>
              <a:gd name="adj" fmla="val 50000"/>
            </a:avLst>
          </a:prstGeom>
          <a:solidFill>
            <a:srgbClr val="F4F7F5"/>
          </a:solidFill>
          <a:ln w="12700">
            <a:solidFill>
              <a:srgbClr val="D5DED9"/>
            </a:solidFill>
          </a:ln>
        </p:spPr>
        <p:txBody>
          <a:bodyPr rtlCol="0" anchor="ctr"/>
          <a:lstStyle/>
          <a:p>
            <a:endParaRPr/>
          </a:p>
        </p:txBody>
      </p:sp>
      <p:sp>
        <p:nvSpPr>
          <p:cNvPr id="15" name="Oval 14"/>
          <p:cNvSpPr/>
          <p:nvPr/>
        </p:nvSpPr>
        <p:spPr>
          <a:xfrm>
            <a:off x="6729984" y="2642616"/>
            <a:ext cx="512064" cy="512064"/>
          </a:xfrm>
          <a:prstGeom prst="ellipse">
            <a:avLst/>
          </a:prstGeom>
          <a:solidFill>
            <a:srgbClr val="00A86A"/>
          </a:solidFill>
          <a:ln>
            <a:noFill/>
          </a:ln>
        </p:spPr>
        <p:txBody>
          <a:bodyPr rtlCol="0" anchor="ctr"/>
          <a:lstStyle/>
          <a:p>
            <a:endParaRPr/>
          </a:p>
        </p:txBody>
      </p:sp>
      <p:pic>
        <p:nvPicPr>
          <p:cNvPr id="16" name="Picture 15" descr="realtime_w.png"/>
          <p:cNvPicPr>
            <a:picLocks noChangeAspect="1"/>
          </p:cNvPicPr>
          <p:nvPr/>
        </p:nvPicPr>
        <p:blipFill>
          <a:blip r:embed="rId4"/>
          <a:stretch>
            <a:fillRect/>
          </a:stretch>
        </p:blipFill>
        <p:spPr>
          <a:xfrm>
            <a:off x="6852879" y="2765511"/>
            <a:ext cx="266273" cy="266273"/>
          </a:xfrm>
          <a:prstGeom prst="rect">
            <a:avLst/>
          </a:prstGeom>
        </p:spPr>
      </p:pic>
      <p:sp>
        <p:nvSpPr>
          <p:cNvPr id="17" name="TextBox 16"/>
          <p:cNvSpPr txBox="1"/>
          <p:nvPr/>
        </p:nvSpPr>
        <p:spPr>
          <a:xfrm>
            <a:off x="7498079" y="2542032"/>
            <a:ext cx="3931920" cy="713232"/>
          </a:xfrm>
          <a:prstGeom prst="rect">
            <a:avLst/>
          </a:prstGeom>
          <a:noFill/>
        </p:spPr>
        <p:txBody>
          <a:bodyPr wrap="square" lIns="0" tIns="0" rIns="0" bIns="0" anchor="ctr">
            <a:spAutoFit/>
          </a:bodyPr>
          <a:lstStyle/>
          <a:p>
            <a:pPr algn="l"/>
            <a:r>
              <a:rPr sz="2000" b="1" i="0">
                <a:solidFill>
                  <a:srgbClr val="231F20"/>
                </a:solidFill>
                <a:latin typeface="Calibri"/>
              </a:rPr>
              <a:t>Real time</a:t>
            </a:r>
          </a:p>
        </p:txBody>
      </p:sp>
      <p:sp>
        <p:nvSpPr>
          <p:cNvPr id="18" name="Rounded Rectangle 17"/>
          <p:cNvSpPr/>
          <p:nvPr/>
        </p:nvSpPr>
        <p:spPr>
          <a:xfrm>
            <a:off x="6629400" y="3392424"/>
            <a:ext cx="5029200" cy="713232"/>
          </a:xfrm>
          <a:prstGeom prst="roundRect">
            <a:avLst>
              <a:gd name="adj" fmla="val 50000"/>
            </a:avLst>
          </a:prstGeom>
          <a:solidFill>
            <a:srgbClr val="F4F7F5"/>
          </a:solidFill>
          <a:ln w="12700">
            <a:solidFill>
              <a:srgbClr val="D5DED9"/>
            </a:solidFill>
          </a:ln>
        </p:spPr>
        <p:txBody>
          <a:bodyPr rtlCol="0" anchor="ctr"/>
          <a:lstStyle/>
          <a:p>
            <a:endParaRPr/>
          </a:p>
        </p:txBody>
      </p:sp>
      <p:sp>
        <p:nvSpPr>
          <p:cNvPr id="19" name="Oval 18"/>
          <p:cNvSpPr/>
          <p:nvPr/>
        </p:nvSpPr>
        <p:spPr>
          <a:xfrm>
            <a:off x="6729984" y="3493008"/>
            <a:ext cx="512064" cy="512064"/>
          </a:xfrm>
          <a:prstGeom prst="ellipse">
            <a:avLst/>
          </a:prstGeom>
          <a:solidFill>
            <a:srgbClr val="00A86A"/>
          </a:solidFill>
          <a:ln>
            <a:noFill/>
          </a:ln>
        </p:spPr>
        <p:txBody>
          <a:bodyPr rtlCol="0" anchor="ctr"/>
          <a:lstStyle/>
          <a:p>
            <a:endParaRPr/>
          </a:p>
        </p:txBody>
      </p:sp>
      <p:pic>
        <p:nvPicPr>
          <p:cNvPr id="20" name="Picture 19" descr="granular_w.png"/>
          <p:cNvPicPr>
            <a:picLocks noChangeAspect="1"/>
          </p:cNvPicPr>
          <p:nvPr/>
        </p:nvPicPr>
        <p:blipFill>
          <a:blip r:embed="rId5"/>
          <a:stretch>
            <a:fillRect/>
          </a:stretch>
        </p:blipFill>
        <p:spPr>
          <a:xfrm>
            <a:off x="6852879" y="3615903"/>
            <a:ext cx="266273" cy="266273"/>
          </a:xfrm>
          <a:prstGeom prst="rect">
            <a:avLst/>
          </a:prstGeom>
        </p:spPr>
      </p:pic>
      <p:sp>
        <p:nvSpPr>
          <p:cNvPr id="21" name="TextBox 20"/>
          <p:cNvSpPr txBox="1"/>
          <p:nvPr/>
        </p:nvSpPr>
        <p:spPr>
          <a:xfrm>
            <a:off x="7498079" y="3392424"/>
            <a:ext cx="3931920" cy="713232"/>
          </a:xfrm>
          <a:prstGeom prst="rect">
            <a:avLst/>
          </a:prstGeom>
          <a:noFill/>
        </p:spPr>
        <p:txBody>
          <a:bodyPr wrap="square" lIns="0" tIns="0" rIns="0" bIns="0" anchor="ctr">
            <a:spAutoFit/>
          </a:bodyPr>
          <a:lstStyle/>
          <a:p>
            <a:pPr algn="l"/>
            <a:r>
              <a:rPr sz="2000" b="1" i="0">
                <a:solidFill>
                  <a:srgbClr val="231F20"/>
                </a:solidFill>
                <a:latin typeface="Calibri"/>
              </a:rPr>
              <a:t>Granular</a:t>
            </a:r>
          </a:p>
        </p:txBody>
      </p:sp>
      <p:sp>
        <p:nvSpPr>
          <p:cNvPr id="22" name="Rounded Rectangle 21"/>
          <p:cNvSpPr/>
          <p:nvPr/>
        </p:nvSpPr>
        <p:spPr>
          <a:xfrm>
            <a:off x="6629400" y="4242816"/>
            <a:ext cx="5029200" cy="713232"/>
          </a:xfrm>
          <a:prstGeom prst="roundRect">
            <a:avLst>
              <a:gd name="adj" fmla="val 50000"/>
            </a:avLst>
          </a:prstGeom>
          <a:solidFill>
            <a:srgbClr val="F4F7F5"/>
          </a:solidFill>
          <a:ln w="12700">
            <a:solidFill>
              <a:srgbClr val="D5DED9"/>
            </a:solidFill>
          </a:ln>
        </p:spPr>
        <p:txBody>
          <a:bodyPr rtlCol="0" anchor="ctr"/>
          <a:lstStyle/>
          <a:p>
            <a:endParaRPr/>
          </a:p>
        </p:txBody>
      </p:sp>
      <p:sp>
        <p:nvSpPr>
          <p:cNvPr id="23" name="Oval 22"/>
          <p:cNvSpPr/>
          <p:nvPr/>
        </p:nvSpPr>
        <p:spPr>
          <a:xfrm>
            <a:off x="6729984" y="4343400"/>
            <a:ext cx="512064" cy="512064"/>
          </a:xfrm>
          <a:prstGeom prst="ellipse">
            <a:avLst/>
          </a:prstGeom>
          <a:solidFill>
            <a:srgbClr val="00A86A"/>
          </a:solidFill>
          <a:ln>
            <a:noFill/>
          </a:ln>
        </p:spPr>
        <p:txBody>
          <a:bodyPr rtlCol="0" anchor="ctr"/>
          <a:lstStyle/>
          <a:p>
            <a:endParaRPr/>
          </a:p>
        </p:txBody>
      </p:sp>
      <p:pic>
        <p:nvPicPr>
          <p:cNvPr id="24" name="Picture 23" descr="forward_w.png"/>
          <p:cNvPicPr>
            <a:picLocks noChangeAspect="1"/>
          </p:cNvPicPr>
          <p:nvPr/>
        </p:nvPicPr>
        <p:blipFill>
          <a:blip r:embed="rId6"/>
          <a:stretch>
            <a:fillRect/>
          </a:stretch>
        </p:blipFill>
        <p:spPr>
          <a:xfrm>
            <a:off x="6852879" y="4466295"/>
            <a:ext cx="266273" cy="266273"/>
          </a:xfrm>
          <a:prstGeom prst="rect">
            <a:avLst/>
          </a:prstGeom>
        </p:spPr>
      </p:pic>
      <p:sp>
        <p:nvSpPr>
          <p:cNvPr id="25" name="TextBox 24"/>
          <p:cNvSpPr txBox="1"/>
          <p:nvPr/>
        </p:nvSpPr>
        <p:spPr>
          <a:xfrm>
            <a:off x="7498079" y="4242816"/>
            <a:ext cx="3931920" cy="713232"/>
          </a:xfrm>
          <a:prstGeom prst="rect">
            <a:avLst/>
          </a:prstGeom>
          <a:noFill/>
        </p:spPr>
        <p:txBody>
          <a:bodyPr wrap="square" lIns="0" tIns="0" rIns="0" bIns="0" anchor="ctr">
            <a:spAutoFit/>
          </a:bodyPr>
          <a:lstStyle/>
          <a:p>
            <a:pPr algn="l"/>
            <a:r>
              <a:rPr sz="2000" b="1" i="0">
                <a:solidFill>
                  <a:srgbClr val="231F20"/>
                </a:solidFill>
                <a:latin typeface="Calibri"/>
              </a:rPr>
              <a:t>Forward looking</a:t>
            </a:r>
          </a:p>
        </p:txBody>
      </p:sp>
      <p:sp>
        <p:nvSpPr>
          <p:cNvPr id="26" name="Rounded Rectangle 25"/>
          <p:cNvSpPr/>
          <p:nvPr/>
        </p:nvSpPr>
        <p:spPr>
          <a:xfrm>
            <a:off x="6629400" y="5093208"/>
            <a:ext cx="5029200" cy="713232"/>
          </a:xfrm>
          <a:prstGeom prst="roundRect">
            <a:avLst>
              <a:gd name="adj" fmla="val 50000"/>
            </a:avLst>
          </a:prstGeom>
          <a:solidFill>
            <a:srgbClr val="F4F7F5"/>
          </a:solidFill>
          <a:ln w="12700">
            <a:solidFill>
              <a:srgbClr val="D5DED9"/>
            </a:solidFill>
          </a:ln>
        </p:spPr>
        <p:txBody>
          <a:bodyPr rtlCol="0" anchor="ctr"/>
          <a:lstStyle/>
          <a:p>
            <a:endParaRPr/>
          </a:p>
        </p:txBody>
      </p:sp>
      <p:sp>
        <p:nvSpPr>
          <p:cNvPr id="27" name="Oval 26"/>
          <p:cNvSpPr/>
          <p:nvPr/>
        </p:nvSpPr>
        <p:spPr>
          <a:xfrm>
            <a:off x="6729984" y="5193792"/>
            <a:ext cx="512064" cy="512064"/>
          </a:xfrm>
          <a:prstGeom prst="ellipse">
            <a:avLst/>
          </a:prstGeom>
          <a:solidFill>
            <a:srgbClr val="00A86A"/>
          </a:solidFill>
          <a:ln>
            <a:noFill/>
          </a:ln>
        </p:spPr>
        <p:txBody>
          <a:bodyPr rtlCol="0" anchor="ctr"/>
          <a:lstStyle/>
          <a:p>
            <a:endParaRPr/>
          </a:p>
        </p:txBody>
      </p:sp>
      <p:pic>
        <p:nvPicPr>
          <p:cNvPr id="28" name="Picture 27" descr="integrated_w.png"/>
          <p:cNvPicPr>
            <a:picLocks noChangeAspect="1"/>
          </p:cNvPicPr>
          <p:nvPr/>
        </p:nvPicPr>
        <p:blipFill>
          <a:blip r:embed="rId7"/>
          <a:stretch>
            <a:fillRect/>
          </a:stretch>
        </p:blipFill>
        <p:spPr>
          <a:xfrm>
            <a:off x="6852879" y="5316687"/>
            <a:ext cx="266273" cy="266273"/>
          </a:xfrm>
          <a:prstGeom prst="rect">
            <a:avLst/>
          </a:prstGeom>
        </p:spPr>
      </p:pic>
      <p:sp>
        <p:nvSpPr>
          <p:cNvPr id="29" name="TextBox 28"/>
          <p:cNvSpPr txBox="1"/>
          <p:nvPr/>
        </p:nvSpPr>
        <p:spPr>
          <a:xfrm>
            <a:off x="7498079" y="5093208"/>
            <a:ext cx="3931920" cy="713232"/>
          </a:xfrm>
          <a:prstGeom prst="rect">
            <a:avLst/>
          </a:prstGeom>
          <a:noFill/>
        </p:spPr>
        <p:txBody>
          <a:bodyPr wrap="square" lIns="0" tIns="0" rIns="0" bIns="0" anchor="ctr">
            <a:spAutoFit/>
          </a:bodyPr>
          <a:lstStyle/>
          <a:p>
            <a:pPr algn="l"/>
            <a:r>
              <a:rPr sz="2000" b="1" i="0">
                <a:solidFill>
                  <a:srgbClr val="231F20"/>
                </a:solidFill>
                <a:latin typeface="Calibri"/>
              </a:rPr>
              <a:t>Integrated</a:t>
            </a:r>
          </a:p>
        </p:txBody>
      </p:sp>
      <p:sp>
        <p:nvSpPr>
          <p:cNvPr id="30" name="TextBox 29"/>
          <p:cNvSpPr txBox="1"/>
          <p:nvPr/>
        </p:nvSpPr>
        <p:spPr>
          <a:xfrm>
            <a:off x="548640" y="6419088"/>
            <a:ext cx="5486400" cy="274320"/>
          </a:xfrm>
          <a:prstGeom prst="rect">
            <a:avLst/>
          </a:prstGeom>
          <a:noFill/>
        </p:spPr>
        <p:txBody>
          <a:bodyPr wrap="square" lIns="0" tIns="0" rIns="0" bIns="0" anchor="t">
            <a:spAutoFit/>
          </a:bodyPr>
          <a:lstStyle/>
          <a:p>
            <a:pPr algn="l"/>
            <a:r>
              <a:rPr sz="850" b="0" i="0">
                <a:solidFill>
                  <a:srgbClr val="8A9590"/>
                </a:solidFill>
                <a:latin typeface="Calibri"/>
              </a:rPr>
              <a:t>Data Innovation for Africa  ·  AfDB Statistics Department (ECST)</a:t>
            </a:r>
          </a:p>
        </p:txBody>
      </p:sp>
      <p:sp>
        <p:nvSpPr>
          <p:cNvPr id="31" name="TextBox 30"/>
          <p:cNvSpPr txBox="1"/>
          <p:nvPr/>
        </p:nvSpPr>
        <p:spPr>
          <a:xfrm>
            <a:off x="6153912" y="6419088"/>
            <a:ext cx="5486400" cy="274320"/>
          </a:xfrm>
          <a:prstGeom prst="rect">
            <a:avLst/>
          </a:prstGeom>
          <a:noFill/>
        </p:spPr>
        <p:txBody>
          <a:bodyPr wrap="square" lIns="0" tIns="0" rIns="0" bIns="0" anchor="t">
            <a:spAutoFit/>
          </a:bodyPr>
          <a:lstStyle/>
          <a:p>
            <a:pPr algn="r"/>
            <a:r>
              <a:rPr sz="850" b="0" i="0">
                <a:solidFill>
                  <a:srgbClr val="8A9590"/>
                </a:solidFill>
                <a:latin typeface="Calibri"/>
              </a:rPr>
              <a:t>5</a:t>
            </a:r>
          </a:p>
        </p:txBody>
      </p:sp>
      <p:sp>
        <p:nvSpPr>
          <p:cNvPr id="34" name="Rectangle 33"/>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ectangle 34"/>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10607040" y="448056"/>
            <a:ext cx="118872" cy="118872"/>
          </a:xfrm>
          <a:prstGeom prst="ellipse">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108356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110642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112928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115214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4282485748"/>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1" name="Oval 30"/>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1" name="Group 10">
            <a:extLst>
              <a:ext uri="{FF2B5EF4-FFF2-40B4-BE49-F238E27FC236}">
                <a16:creationId xmlns:a16="http://schemas.microsoft.com/office/drawing/2014/main" id="{7A4BCBDB-AA8A-4DA2-99E6-9C0550D7944B}"/>
              </a:ext>
            </a:extLst>
          </p:cNvPr>
          <p:cNvGrpSpPr/>
          <p:nvPr/>
        </p:nvGrpSpPr>
        <p:grpSpPr>
          <a:xfrm>
            <a:off x="2817380" y="810229"/>
            <a:ext cx="6557239" cy="4539012"/>
            <a:chOff x="3321062" y="1435744"/>
            <a:chExt cx="5549876" cy="3800818"/>
          </a:xfrm>
          <a:effectLst>
            <a:outerShdw blurRad="50800" dist="38100" dir="5400000" algn="t" rotWithShape="0">
              <a:prstClr val="black">
                <a:alpha val="40000"/>
              </a:prstClr>
            </a:outerShdw>
          </a:effectLst>
        </p:grpSpPr>
        <p:sp>
          <p:nvSpPr>
            <p:cNvPr id="12" name="Block Arc 11">
              <a:extLst>
                <a:ext uri="{FF2B5EF4-FFF2-40B4-BE49-F238E27FC236}">
                  <a16:creationId xmlns:a16="http://schemas.microsoft.com/office/drawing/2014/main" id="{2C0A76C2-74D6-45F3-86C6-AE36CE19C3F1}"/>
                </a:ext>
              </a:extLst>
            </p:cNvPr>
            <p:cNvSpPr/>
            <p:nvPr/>
          </p:nvSpPr>
          <p:spPr>
            <a:xfrm rot="5400000" flipV="1">
              <a:off x="5021313" y="1435744"/>
              <a:ext cx="2566417" cy="2566417"/>
            </a:xfrm>
            <a:prstGeom prst="blockArc">
              <a:avLst>
                <a:gd name="adj1" fmla="val 249725"/>
                <a:gd name="adj2" fmla="val 1611"/>
                <a:gd name="adj3" fmla="val 16238"/>
              </a:avLst>
            </a:prstGeom>
            <a:solidFill>
              <a:schemeClr val="accent2"/>
            </a:solidFill>
            <a:ln>
              <a:noFill/>
            </a:ln>
            <a:effectLst>
              <a:outerShdw blurRad="76200" dir="13500000" sy="23000" kx="1200000" algn="b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nvGrpSpPr>
            <p:cNvPr id="13" name="Group 12">
              <a:extLst>
                <a:ext uri="{FF2B5EF4-FFF2-40B4-BE49-F238E27FC236}">
                  <a16:creationId xmlns:a16="http://schemas.microsoft.com/office/drawing/2014/main" id="{2EE906E2-81D3-43DF-9DB3-566557EB9E5D}"/>
                </a:ext>
              </a:extLst>
            </p:cNvPr>
            <p:cNvGrpSpPr/>
            <p:nvPr/>
          </p:nvGrpSpPr>
          <p:grpSpPr>
            <a:xfrm rot="5400000" flipH="1" flipV="1">
              <a:off x="4277111" y="1532612"/>
              <a:ext cx="778335" cy="2690434"/>
              <a:chOff x="7670292" y="228600"/>
              <a:chExt cx="928116" cy="4792933"/>
            </a:xfrm>
            <a:solidFill>
              <a:schemeClr val="accent5">
                <a:lumMod val="75000"/>
              </a:schemeClr>
            </a:solidFill>
          </p:grpSpPr>
          <p:sp>
            <p:nvSpPr>
              <p:cNvPr id="23" name="Rectangle 22">
                <a:extLst>
                  <a:ext uri="{FF2B5EF4-FFF2-40B4-BE49-F238E27FC236}">
                    <a16:creationId xmlns:a16="http://schemas.microsoft.com/office/drawing/2014/main" id="{899CF94F-67C6-47A0-A1BC-C0BD51B5DD1B}"/>
                  </a:ext>
                </a:extLst>
              </p:cNvPr>
              <p:cNvSpPr/>
              <p:nvPr/>
            </p:nvSpPr>
            <p:spPr>
              <a:xfrm>
                <a:off x="7886699" y="1028700"/>
                <a:ext cx="495300" cy="399283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Isosceles Triangle 23">
                <a:extLst>
                  <a:ext uri="{FF2B5EF4-FFF2-40B4-BE49-F238E27FC236}">
                    <a16:creationId xmlns:a16="http://schemas.microsoft.com/office/drawing/2014/main" id="{CEBA994A-7D93-4EE4-B92A-F9583C5E7B06}"/>
                  </a:ext>
                </a:extLst>
              </p:cNvPr>
              <p:cNvSpPr/>
              <p:nvPr/>
            </p:nvSpPr>
            <p:spPr>
              <a:xfrm>
                <a:off x="7670292" y="228600"/>
                <a:ext cx="928116" cy="80010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15" name="Block Arc 14">
              <a:extLst>
                <a:ext uri="{FF2B5EF4-FFF2-40B4-BE49-F238E27FC236}">
                  <a16:creationId xmlns:a16="http://schemas.microsoft.com/office/drawing/2014/main" id="{68A90F7D-3C1B-4E21-96D3-B55FD096B8A0}"/>
                </a:ext>
              </a:extLst>
            </p:cNvPr>
            <p:cNvSpPr/>
            <p:nvPr/>
          </p:nvSpPr>
          <p:spPr>
            <a:xfrm rot="5400000" flipH="1">
              <a:off x="4604271" y="2670145"/>
              <a:ext cx="2566417" cy="2566417"/>
            </a:xfrm>
            <a:prstGeom prst="blockArc">
              <a:avLst>
                <a:gd name="adj1" fmla="val 49636"/>
                <a:gd name="adj2" fmla="val 1611"/>
                <a:gd name="adj3" fmla="val 16238"/>
              </a:avLst>
            </a:prstGeom>
            <a:solidFill>
              <a:schemeClr val="accent1"/>
            </a:solidFill>
            <a:ln>
              <a:noFill/>
            </a:ln>
            <a:effectLst>
              <a:outerShdw blurRad="76200" dir="13500000" sy="23000" kx="1200000" algn="b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16" name="Group 15">
              <a:extLst>
                <a:ext uri="{FF2B5EF4-FFF2-40B4-BE49-F238E27FC236}">
                  <a16:creationId xmlns:a16="http://schemas.microsoft.com/office/drawing/2014/main" id="{AFF95B4A-7A18-4B75-A51D-DCE9A55BFE9B}"/>
                </a:ext>
              </a:extLst>
            </p:cNvPr>
            <p:cNvGrpSpPr/>
            <p:nvPr/>
          </p:nvGrpSpPr>
          <p:grpSpPr>
            <a:xfrm rot="5400000">
              <a:off x="7150728" y="2463432"/>
              <a:ext cx="778335" cy="2662084"/>
              <a:chOff x="7341393" y="228599"/>
              <a:chExt cx="928116" cy="4742425"/>
            </a:xfrm>
            <a:solidFill>
              <a:schemeClr val="accent3"/>
            </a:solidFill>
          </p:grpSpPr>
          <p:sp>
            <p:nvSpPr>
              <p:cNvPr id="21" name="Rectangle 20">
                <a:extLst>
                  <a:ext uri="{FF2B5EF4-FFF2-40B4-BE49-F238E27FC236}">
                    <a16:creationId xmlns:a16="http://schemas.microsoft.com/office/drawing/2014/main" id="{73DC57B1-60ED-4614-9935-5073673F9C80}"/>
                  </a:ext>
                </a:extLst>
              </p:cNvPr>
              <p:cNvSpPr/>
              <p:nvPr/>
            </p:nvSpPr>
            <p:spPr>
              <a:xfrm>
                <a:off x="7557807" y="1028704"/>
                <a:ext cx="495300" cy="39423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Isosceles Triangle 21">
                <a:extLst>
                  <a:ext uri="{FF2B5EF4-FFF2-40B4-BE49-F238E27FC236}">
                    <a16:creationId xmlns:a16="http://schemas.microsoft.com/office/drawing/2014/main" id="{886DFA48-C87E-4670-A66B-895E7F37C205}"/>
                  </a:ext>
                </a:extLst>
              </p:cNvPr>
              <p:cNvSpPr/>
              <p:nvPr/>
            </p:nvSpPr>
            <p:spPr>
              <a:xfrm>
                <a:off x="7341393" y="228599"/>
                <a:ext cx="928116" cy="80009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9" name="Rectangle 18">
              <a:extLst>
                <a:ext uri="{FF2B5EF4-FFF2-40B4-BE49-F238E27FC236}">
                  <a16:creationId xmlns:a16="http://schemas.microsoft.com/office/drawing/2014/main" id="{B29D4A5E-3860-4F50-857D-AAAFB8DF2F05}"/>
                </a:ext>
              </a:extLst>
            </p:cNvPr>
            <p:cNvSpPr/>
            <p:nvPr/>
          </p:nvSpPr>
          <p:spPr>
            <a:xfrm rot="10800000" flipH="1" flipV="1">
              <a:off x="3872055" y="2701620"/>
              <a:ext cx="1913554" cy="352415"/>
            </a:xfrm>
            <a:prstGeom prst="rect">
              <a:avLst/>
            </a:prstGeom>
          </p:spPr>
          <p:txBody>
            <a:bodyPr wrap="square">
              <a:spAutoFit/>
            </a:bodyPr>
            <a:lstStyle/>
            <a:p>
              <a:r>
                <a:rPr lang="en-US" sz="2000" b="1" dirty="0">
                  <a:solidFill>
                    <a:schemeClr val="bg1"/>
                  </a:solidFill>
                  <a:latin typeface="Calibri" panose="02040502050405020303" pitchFamily="18" charset="0"/>
                  <a:ea typeface="Calibri" panose="02040503050406030204" pitchFamily="18" charset="0"/>
                  <a:cs typeface="Calibri" panose="02020603050405020304" pitchFamily="18" charset="0"/>
                </a:rPr>
                <a:t>DILs Creation</a:t>
              </a:r>
            </a:p>
          </p:txBody>
        </p:sp>
        <p:sp>
          <p:nvSpPr>
            <p:cNvPr id="20" name="Rectangle 19">
              <a:extLst>
                <a:ext uri="{FF2B5EF4-FFF2-40B4-BE49-F238E27FC236}">
                  <a16:creationId xmlns:a16="http://schemas.microsoft.com/office/drawing/2014/main" id="{023D9F24-0DD5-47D0-8564-E3FE59BA455D}"/>
                </a:ext>
              </a:extLst>
            </p:cNvPr>
            <p:cNvSpPr/>
            <p:nvPr/>
          </p:nvSpPr>
          <p:spPr>
            <a:xfrm>
              <a:off x="6598874" y="3625193"/>
              <a:ext cx="1913554" cy="352415"/>
            </a:xfrm>
            <a:prstGeom prst="rect">
              <a:avLst/>
            </a:prstGeom>
          </p:spPr>
          <p:txBody>
            <a:bodyPr wrap="square">
              <a:spAutoFit/>
            </a:bodyPr>
            <a:lstStyle/>
            <a:p>
              <a:pPr algn="r"/>
              <a:r>
                <a:rPr lang="en-US" sz="2000" b="1" dirty="0">
                  <a:solidFill>
                    <a:schemeClr val="bg1"/>
                  </a:solidFill>
                  <a:latin typeface="Calibri" panose="02040502050405020303" pitchFamily="18" charset="0"/>
                  <a:ea typeface="Calibri" panose="02040503050406030204" pitchFamily="18" charset="0"/>
                  <a:cs typeface="Calibri" panose="02020603050405020304" pitchFamily="18" charset="0"/>
                </a:rPr>
                <a:t>DILs Network</a:t>
              </a:r>
            </a:p>
          </p:txBody>
        </p:sp>
      </p:grpSp>
      <p:sp>
        <p:nvSpPr>
          <p:cNvPr id="25" name="Oval 24">
            <a:extLst>
              <a:ext uri="{FF2B5EF4-FFF2-40B4-BE49-F238E27FC236}">
                <a16:creationId xmlns:a16="http://schemas.microsoft.com/office/drawing/2014/main" id="{AA517875-CC1E-422E-89C9-18F4B51A4EA2}"/>
              </a:ext>
            </a:extLst>
          </p:cNvPr>
          <p:cNvSpPr/>
          <p:nvPr/>
        </p:nvSpPr>
        <p:spPr>
          <a:xfrm>
            <a:off x="1414243" y="2046694"/>
            <a:ext cx="923110" cy="883672"/>
          </a:xfrm>
          <a:prstGeom prst="ellipse">
            <a:avLst/>
          </a:prstGeom>
          <a:blipFill>
            <a:blip r:embed="rId3"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a:stretch>
          </a:blipFill>
          <a:effectLst>
            <a:outerShdw blurRad="57150" dist="19050" dir="5400000" algn="ctr" rotWithShape="0">
              <a:srgbClr val="000000">
                <a:alpha val="63000"/>
              </a:srgbClr>
            </a:outerShdw>
            <a:reflection blurRad="6350" stA="52000" endA="300" endPos="35000" dir="5400000" sy="-100000" algn="bl" rotWithShape="0"/>
          </a:effectLst>
        </p:spPr>
        <p:style>
          <a:lnRef idx="0">
            <a:schemeClr val="lt1">
              <a:hueOff val="0"/>
              <a:satOff val="0"/>
              <a:lumOff val="0"/>
              <a:alphaOff val="0"/>
            </a:schemeClr>
          </a:lnRef>
          <a:fillRef idx="1">
            <a:scrgbClr r="0" g="0" b="0"/>
          </a:fillRef>
          <a:effectRef idx="3">
            <a:schemeClr val="accent1">
              <a:tint val="50000"/>
              <a:hueOff val="0"/>
              <a:satOff val="0"/>
              <a:lumOff val="0"/>
              <a:alphaOff val="0"/>
            </a:schemeClr>
          </a:effectRef>
          <a:fontRef idx="minor">
            <a:schemeClr val="lt1">
              <a:hueOff val="0"/>
              <a:satOff val="0"/>
              <a:lumOff val="0"/>
              <a:alphaOff val="0"/>
            </a:schemeClr>
          </a:fontRef>
        </p:style>
        <p:txBody>
          <a:bodyPr/>
          <a:lstStyle/>
          <a:p>
            <a:endParaRPr lang="fr-FR" dirty="0"/>
          </a:p>
        </p:txBody>
      </p:sp>
      <p:sp>
        <p:nvSpPr>
          <p:cNvPr id="2" name="Rectangle 1">
            <a:extLst>
              <a:ext uri="{FF2B5EF4-FFF2-40B4-BE49-F238E27FC236}">
                <a16:creationId xmlns:a16="http://schemas.microsoft.com/office/drawing/2014/main" id="{669CAD01-0FDF-472B-8573-15FFB725A7C9}"/>
              </a:ext>
            </a:extLst>
          </p:cNvPr>
          <p:cNvSpPr/>
          <p:nvPr/>
        </p:nvSpPr>
        <p:spPr>
          <a:xfrm>
            <a:off x="548640" y="3108960"/>
            <a:ext cx="3749039" cy="2286000"/>
          </a:xfrm>
          <a:prstGeom prst="roundRect">
            <a:avLst/>
          </a:prstGeom>
          <a:solidFill>
            <a:srgbClr val="F4F7F5"/>
          </a:solidFill>
          <a:ln w="12700">
            <a:solidFill>
              <a:srgbClr val="D5DED9"/>
            </a:solidFill>
          </a:ln>
        </p:spPr>
        <p:txBody>
          <a:bodyPr wrap="square" tIns="109728" bIns="109728">
            <a:spAutoFit/>
          </a:bodyPr>
          <a:lstStyle/>
          <a:p>
            <a:pPr marL="285750" lvl="0" indent="-285750">
              <a:spcAft>
                <a:spcPts val="600"/>
              </a:spcAft>
              <a:buFont typeface="Arial" panose="020B0604020202020204" pitchFamily="34" charset="0"/>
              <a:buChar char="•"/>
            </a:pPr>
            <a:r>
              <a:rPr lang="en-US" sz="1300" b="1" dirty="0">
                <a:solidFill>
                  <a:srgbClr val="231F20"/>
                </a:solidFill>
              </a:rPr>
              <a:t>Data needs and access</a:t>
            </a:r>
          </a:p>
          <a:p>
            <a:pPr marL="285750" lvl="0" indent="-285750">
              <a:spcAft>
                <a:spcPts val="600"/>
              </a:spcAft>
              <a:buFont typeface="Arial" panose="020B0604020202020204" pitchFamily="34" charset="0"/>
              <a:buChar char="•"/>
            </a:pPr>
            <a:r>
              <a:rPr lang="en-US" sz="1300" b="1" dirty="0">
                <a:solidFill>
                  <a:srgbClr val="231F20"/>
                </a:solidFill>
              </a:rPr>
              <a:t>Accelerate innovation</a:t>
            </a:r>
          </a:p>
          <a:p>
            <a:pPr marL="285750" lvl="0" indent="-285750">
              <a:spcAft>
                <a:spcPts val="600"/>
              </a:spcAft>
              <a:buFont typeface="Arial" panose="020B0604020202020204" pitchFamily="34" charset="0"/>
              <a:buChar char="•"/>
            </a:pPr>
            <a:r>
              <a:rPr lang="en-US" sz="1300" b="1" dirty="0">
                <a:solidFill>
                  <a:srgbClr val="231F20"/>
                </a:solidFill>
              </a:rPr>
              <a:t>Data augmentation and use</a:t>
            </a:r>
          </a:p>
          <a:p>
            <a:pPr marL="285750" lvl="0" indent="-285750">
              <a:spcAft>
                <a:spcPts val="600"/>
              </a:spcAft>
              <a:buFont typeface="Arial" panose="020B0604020202020204" pitchFamily="34" charset="0"/>
              <a:buChar char="•"/>
            </a:pPr>
            <a:r>
              <a:rPr lang="en-US" sz="1300" b="1" dirty="0">
                <a:solidFill>
                  <a:srgbClr val="231F20"/>
                </a:solidFill>
              </a:rPr>
              <a:t>Developing data skills</a:t>
            </a:r>
          </a:p>
          <a:p>
            <a:pPr marL="285750" lvl="0" indent="-285750">
              <a:spcAft>
                <a:spcPts val="600"/>
              </a:spcAft>
              <a:buFont typeface="Arial" panose="020B0604020202020204" pitchFamily="34" charset="0"/>
              <a:buChar char="•"/>
            </a:pPr>
            <a:r>
              <a:rPr lang="en-US" sz="1300" b="1" dirty="0">
                <a:solidFill>
                  <a:srgbClr val="231F20"/>
                </a:solidFill>
              </a:rPr>
              <a:t>Empowering data culture</a:t>
            </a:r>
          </a:p>
          <a:p>
            <a:pPr marL="285750" lvl="0" indent="-285750">
              <a:spcAft>
                <a:spcPts val="600"/>
              </a:spcAft>
              <a:buFont typeface="Arial" panose="020B0604020202020204" pitchFamily="34" charset="0"/>
              <a:buChar char="•"/>
            </a:pPr>
            <a:r>
              <a:rPr lang="en-US" sz="1300" b="1" dirty="0">
                <a:solidFill>
                  <a:srgbClr val="231F20"/>
                </a:solidFill>
              </a:rPr>
              <a:t>Leadership &amp; Legal framework</a:t>
            </a:r>
          </a:p>
          <a:p>
            <a:pPr marL="285750" lvl="0" indent="-285750">
              <a:spcAft>
                <a:spcPts val="600"/>
              </a:spcAft>
              <a:buFont typeface="Arial" panose="020B0604020202020204" pitchFamily="34" charset="0"/>
              <a:buChar char="•"/>
            </a:pPr>
            <a:r>
              <a:rPr lang="en-US" sz="1300" b="1" dirty="0">
                <a:solidFill>
                  <a:srgbClr val="231F20"/>
                </a:solidFill>
              </a:rPr>
              <a:t>Finance</a:t>
            </a:r>
          </a:p>
        </p:txBody>
      </p:sp>
      <p:sp>
        <p:nvSpPr>
          <p:cNvPr id="26" name="Oval 25">
            <a:extLst>
              <a:ext uri="{FF2B5EF4-FFF2-40B4-BE49-F238E27FC236}">
                <a16:creationId xmlns:a16="http://schemas.microsoft.com/office/drawing/2014/main" id="{DC14248C-9CCD-4899-9FF1-EFA4B9671218}"/>
              </a:ext>
            </a:extLst>
          </p:cNvPr>
          <p:cNvSpPr/>
          <p:nvPr/>
        </p:nvSpPr>
        <p:spPr>
          <a:xfrm>
            <a:off x="9829451" y="3068317"/>
            <a:ext cx="1022587" cy="1023505"/>
          </a:xfrm>
          <a:prstGeom prst="ellipse">
            <a:avLst/>
          </a:prstGeom>
          <a:blipFill>
            <a:blip r:embed="rId4"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a:stretch>
          </a:blipFill>
          <a:effectLst>
            <a:outerShdw blurRad="57150" dist="19050" dir="5400000" algn="ctr" rotWithShape="0">
              <a:srgbClr val="000000">
                <a:alpha val="63000"/>
              </a:srgbClr>
            </a:outerShdw>
            <a:reflection blurRad="6350" stA="52000" endA="300" endPos="35000" dir="5400000" sy="-100000" algn="bl" rotWithShape="0"/>
          </a:effectLst>
        </p:spPr>
        <p:style>
          <a:lnRef idx="0">
            <a:schemeClr val="lt1">
              <a:hueOff val="0"/>
              <a:satOff val="0"/>
              <a:lumOff val="0"/>
              <a:alphaOff val="0"/>
            </a:schemeClr>
          </a:lnRef>
          <a:fillRef idx="1">
            <a:scrgbClr r="0" g="0" b="0"/>
          </a:fillRef>
          <a:effectRef idx="3">
            <a:schemeClr val="accent1">
              <a:tint val="50000"/>
              <a:hueOff val="0"/>
              <a:satOff val="0"/>
              <a:lumOff val="0"/>
              <a:alphaOff val="0"/>
            </a:schemeClr>
          </a:effectRef>
          <a:fontRef idx="minor">
            <a:schemeClr val="lt1">
              <a:hueOff val="0"/>
              <a:satOff val="0"/>
              <a:lumOff val="0"/>
              <a:alphaOff val="0"/>
            </a:schemeClr>
          </a:fontRef>
        </p:style>
        <p:txBody>
          <a:bodyPr/>
          <a:lstStyle/>
          <a:p>
            <a:endParaRPr lang="fr-FR" dirty="0"/>
          </a:p>
        </p:txBody>
      </p:sp>
      <p:sp>
        <p:nvSpPr>
          <p:cNvPr id="3" name="Rectangle 2">
            <a:extLst>
              <a:ext uri="{FF2B5EF4-FFF2-40B4-BE49-F238E27FC236}">
                <a16:creationId xmlns:a16="http://schemas.microsoft.com/office/drawing/2014/main" id="{5DBCF097-F585-4CD1-87A5-2C3925DB59FB}"/>
              </a:ext>
            </a:extLst>
          </p:cNvPr>
          <p:cNvSpPr/>
          <p:nvPr/>
        </p:nvSpPr>
        <p:spPr>
          <a:xfrm>
            <a:off x="7909560" y="4206240"/>
            <a:ext cx="3749039" cy="2057400"/>
          </a:xfrm>
          <a:prstGeom prst="roundRect">
            <a:avLst/>
          </a:prstGeom>
          <a:solidFill>
            <a:srgbClr val="F4F7F5"/>
          </a:solidFill>
          <a:ln w="12700">
            <a:solidFill>
              <a:srgbClr val="D5DED9"/>
            </a:solidFill>
          </a:ln>
        </p:spPr>
        <p:txBody>
          <a:bodyPr wrap="square" tIns="109728" bIns="109728">
            <a:spAutoFit/>
          </a:bodyPr>
          <a:lstStyle/>
          <a:p>
            <a:pPr marL="285750" indent="-285750">
              <a:spcAft>
                <a:spcPts val="600"/>
              </a:spcAft>
              <a:buFont typeface="Arial" panose="020B0604020202020204" pitchFamily="34" charset="0"/>
              <a:buChar char="•"/>
            </a:pPr>
            <a:r>
              <a:rPr lang="en-US" sz="1300" b="1" dirty="0">
                <a:solidFill>
                  <a:srgbClr val="231F20"/>
                </a:solidFill>
              </a:rPr>
              <a:t>Collaborative environment</a:t>
            </a:r>
          </a:p>
          <a:p>
            <a:pPr marL="285750" indent="-285750">
              <a:spcAft>
                <a:spcPts val="600"/>
              </a:spcAft>
              <a:buFont typeface="Arial" panose="020B0604020202020204" pitchFamily="34" charset="0"/>
              <a:buChar char="•"/>
            </a:pPr>
            <a:r>
              <a:rPr lang="en-US" sz="1300" b="1" dirty="0">
                <a:solidFill>
                  <a:srgbClr val="231F20"/>
                </a:solidFill>
              </a:rPr>
              <a:t>Knowledge &amp; data sharing</a:t>
            </a:r>
          </a:p>
          <a:p>
            <a:pPr marL="285750" indent="-285750">
              <a:spcAft>
                <a:spcPts val="600"/>
              </a:spcAft>
              <a:buFont typeface="Arial" panose="020B0604020202020204" pitchFamily="34" charset="0"/>
              <a:buChar char="•"/>
            </a:pPr>
            <a:r>
              <a:rPr lang="en-US" sz="1300" b="1" dirty="0">
                <a:solidFill>
                  <a:srgbClr val="231F20"/>
                </a:solidFill>
              </a:rPr>
              <a:t>Identify priorities</a:t>
            </a:r>
          </a:p>
          <a:p>
            <a:pPr marL="285750" indent="-285750">
              <a:spcAft>
                <a:spcPts val="600"/>
              </a:spcAft>
              <a:buFont typeface="Arial" panose="020B0604020202020204" pitchFamily="34" charset="0"/>
              <a:buChar char="•"/>
            </a:pPr>
            <a:r>
              <a:rPr lang="en-US" sz="1300" b="1" dirty="0">
                <a:solidFill>
                  <a:srgbClr val="231F20"/>
                </a:solidFill>
              </a:rPr>
              <a:t>Technology transfer</a:t>
            </a:r>
          </a:p>
          <a:p>
            <a:pPr marL="285750" indent="-285750">
              <a:spcAft>
                <a:spcPts val="600"/>
              </a:spcAft>
              <a:buFont typeface="Arial" panose="020B0604020202020204" pitchFamily="34" charset="0"/>
              <a:buChar char="•"/>
            </a:pPr>
            <a:r>
              <a:rPr lang="en-US" sz="1300" b="1" dirty="0">
                <a:solidFill>
                  <a:srgbClr val="231F20"/>
                </a:solidFill>
              </a:rPr>
              <a:t>Complementarity &amp; interoperability</a:t>
            </a:r>
          </a:p>
          <a:p>
            <a:pPr marL="285750" indent="-285750">
              <a:spcAft>
                <a:spcPts val="600"/>
              </a:spcAft>
              <a:buFont typeface="Arial" panose="020B0604020202020204" pitchFamily="34" charset="0"/>
              <a:buChar char="•"/>
            </a:pPr>
            <a:r>
              <a:rPr lang="en-US" sz="1300" b="1" dirty="0">
                <a:solidFill>
                  <a:srgbClr val="231F20"/>
                </a:solidFill>
              </a:rPr>
              <a:t>Mobilize funds</a:t>
            </a:r>
          </a:p>
        </p:txBody>
      </p:sp>
      <p:sp>
        <p:nvSpPr>
          <p:cNvPr id="27" name="TextBox 26"/>
          <p:cNvSpPr txBox="1"/>
          <p:nvPr/>
        </p:nvSpPr>
        <p:spPr>
          <a:xfrm>
            <a:off x="548640" y="365760"/>
            <a:ext cx="11064240" cy="274320"/>
          </a:xfrm>
          <a:prstGeom prst="rect">
            <a:avLst/>
          </a:prstGeom>
          <a:noFill/>
        </p:spPr>
        <p:txBody>
          <a:bodyPr wrap="square" lIns="0" tIns="0" rIns="0" bIns="0" anchor="t">
            <a:spAutoFit/>
          </a:bodyPr>
          <a:lstStyle/>
          <a:p>
            <a:pPr algn="l"/>
            <a:r>
              <a:rPr sz="1050" b="1" i="0" spc="300">
                <a:solidFill>
                  <a:srgbClr val="00704A"/>
                </a:solidFill>
                <a:latin typeface="Calibri"/>
              </a:rPr>
              <a:t>02 · INSTITUTIONALISE  ·  FROM CREATION TO NETWORK</a:t>
            </a:r>
          </a:p>
        </p:txBody>
      </p:sp>
      <p:sp>
        <p:nvSpPr>
          <p:cNvPr id="28" name="TextBox 27"/>
          <p:cNvSpPr txBox="1"/>
          <p:nvPr/>
        </p:nvSpPr>
        <p:spPr>
          <a:xfrm>
            <a:off x="548640" y="658368"/>
            <a:ext cx="4206240" cy="1005840"/>
          </a:xfrm>
          <a:prstGeom prst="rect">
            <a:avLst/>
          </a:prstGeom>
          <a:noFill/>
        </p:spPr>
        <p:txBody>
          <a:bodyPr wrap="square" lIns="0" tIns="0" rIns="0" bIns="0" anchor="t">
            <a:spAutoFit/>
          </a:bodyPr>
          <a:lstStyle/>
          <a:p>
            <a:pPr algn="l"/>
            <a:r>
              <a:rPr sz="2800" b="1" i="0">
                <a:solidFill>
                  <a:srgbClr val="231F20"/>
                </a:solidFill>
                <a:latin typeface="Calibri"/>
              </a:rPr>
              <a:t>From DIL creation</a:t>
            </a:r>
          </a:p>
          <a:p>
            <a:pPr algn="l"/>
            <a:r>
              <a:rPr sz="2800" b="1" i="0">
                <a:solidFill>
                  <a:srgbClr val="231F20"/>
                </a:solidFill>
                <a:latin typeface="Calibri"/>
              </a:rPr>
              <a:t>to a DIL network</a:t>
            </a:r>
          </a:p>
        </p:txBody>
      </p:sp>
      <p:sp>
        <p:nvSpPr>
          <p:cNvPr id="29" name="TextBox 28"/>
          <p:cNvSpPr txBox="1"/>
          <p:nvPr/>
        </p:nvSpPr>
        <p:spPr>
          <a:xfrm>
            <a:off x="548640" y="6419088"/>
            <a:ext cx="5486400" cy="274320"/>
          </a:xfrm>
          <a:prstGeom prst="rect">
            <a:avLst/>
          </a:prstGeom>
          <a:noFill/>
        </p:spPr>
        <p:txBody>
          <a:bodyPr wrap="square" lIns="0" tIns="0" rIns="0" bIns="0" anchor="t">
            <a:spAutoFit/>
          </a:bodyPr>
          <a:lstStyle/>
          <a:p>
            <a:pPr algn="l"/>
            <a:r>
              <a:rPr sz="850" b="0" i="0">
                <a:solidFill>
                  <a:srgbClr val="8A9590"/>
                </a:solidFill>
                <a:latin typeface="Calibri"/>
              </a:rPr>
              <a:t>Data Innovation for Africa  ·  AfDB Statistics Department (ECST)</a:t>
            </a:r>
          </a:p>
        </p:txBody>
      </p:sp>
      <p:sp>
        <p:nvSpPr>
          <p:cNvPr id="30" name="TextBox 29"/>
          <p:cNvSpPr txBox="1"/>
          <p:nvPr/>
        </p:nvSpPr>
        <p:spPr>
          <a:xfrm>
            <a:off x="6153912" y="6419088"/>
            <a:ext cx="5486400" cy="274320"/>
          </a:xfrm>
          <a:prstGeom prst="rect">
            <a:avLst/>
          </a:prstGeom>
          <a:noFill/>
        </p:spPr>
        <p:txBody>
          <a:bodyPr wrap="square" lIns="0" tIns="0" rIns="0" bIns="0" anchor="t">
            <a:spAutoFit/>
          </a:bodyPr>
          <a:lstStyle/>
          <a:p>
            <a:pPr algn="r"/>
            <a:r>
              <a:rPr sz="850" b="0" i="0">
                <a:solidFill>
                  <a:srgbClr val="8A9590"/>
                </a:solidFill>
                <a:latin typeface="Calibri"/>
              </a:rPr>
              <a:t>6</a:t>
            </a:r>
          </a:p>
        </p:txBody>
      </p:sp>
      <p:sp>
        <p:nvSpPr>
          <p:cNvPr id="33" name="Rectangle 32"/>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106070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10835640" y="448056"/>
            <a:ext cx="118872" cy="118872"/>
          </a:xfrm>
          <a:prstGeom prst="ellipse">
            <a:avLst/>
          </a:prstGeom>
          <a:solidFill>
            <a:srgbClr val="007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110642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112928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115214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1623617751"/>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Oval 104"/>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Oval 105"/>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 0"/>
          <p:cNvSpPr/>
          <p:nvPr/>
        </p:nvSpPr>
        <p:spPr>
          <a:xfrm>
            <a:off x="502920" y="365760"/>
            <a:ext cx="11185855" cy="274320"/>
          </a:xfrm>
          <a:prstGeom prst="rect">
            <a:avLst/>
          </a:prstGeom>
          <a:noFill/>
          <a:ln/>
        </p:spPr>
        <p:txBody>
          <a:bodyPr wrap="square" lIns="0" tIns="0" rIns="0" bIns="0" rtlCol="0" anchor="ctr"/>
          <a:lstStyle/>
          <a:p>
            <a:pPr marL="0" indent="0" algn="l">
              <a:buNone/>
            </a:pPr>
            <a:r>
              <a:rPr lang="en-US" sz="1050" b="1" kern="0" spc="300" dirty="0">
                <a:solidFill>
                  <a:srgbClr val="00704A"/>
                </a:solidFill>
                <a:latin typeface="Calibri" pitchFamily="34" charset="0"/>
                <a:ea typeface="Calibri" pitchFamily="34" charset="-122"/>
                <a:cs typeface="Calibri" pitchFamily="34" charset="-120"/>
              </a:rPr>
              <a:t>02 · INSTITUTIONALISE  ·  THE MATURITY MODEL IN RMCs</a:t>
            </a:r>
            <a:endParaRPr lang="en-US" sz="1250" dirty="0"/>
          </a:p>
        </p:txBody>
      </p:sp>
      <p:sp>
        <p:nvSpPr>
          <p:cNvPr id="3" name="Text 1"/>
          <p:cNvSpPr/>
          <p:nvPr/>
        </p:nvSpPr>
        <p:spPr>
          <a:xfrm>
            <a:off x="502920" y="640080"/>
            <a:ext cx="11185855" cy="640080"/>
          </a:xfrm>
          <a:prstGeom prst="rect">
            <a:avLst/>
          </a:prstGeom>
          <a:noFill/>
          <a:ln/>
        </p:spPr>
        <p:txBody>
          <a:bodyPr wrap="square" lIns="0" tIns="0" rIns="0" bIns="0" rtlCol="0" anchor="t"/>
          <a:lstStyle/>
          <a:p>
            <a:pPr marL="0" indent="0" algn="l">
              <a:buNone/>
            </a:pPr>
            <a:r>
              <a:rPr lang="en-US" sz="2800" b="1" dirty="0">
                <a:solidFill>
                  <a:srgbClr val="231F20"/>
                </a:solidFill>
                <a:latin typeface="Calibri" pitchFamily="34" charset="0"/>
                <a:ea typeface="Calibri" pitchFamily="34" charset="-122"/>
                <a:cs typeface="Calibri" pitchFamily="34" charset="-120"/>
              </a:rPr>
              <a:t>The Data Innovation Maturity Model</a:t>
            </a:r>
            <a:endParaRPr lang="en-US" sz="3200" dirty="0"/>
          </a:p>
        </p:txBody>
      </p:sp>
      <p:sp>
        <p:nvSpPr>
          <p:cNvPr id="4" name="Text 2"/>
          <p:cNvSpPr/>
          <p:nvPr/>
        </p:nvSpPr>
        <p:spPr>
          <a:xfrm>
            <a:off x="502920" y="1417320"/>
            <a:ext cx="3108960" cy="256032"/>
          </a:xfrm>
          <a:prstGeom prst="rect">
            <a:avLst/>
          </a:prstGeom>
          <a:noFill/>
          <a:ln/>
        </p:spPr>
        <p:txBody>
          <a:bodyPr wrap="square" lIns="0" tIns="0" rIns="0" bIns="0" rtlCol="0" anchor="ctr"/>
          <a:lstStyle/>
          <a:p>
            <a:pPr marL="0" indent="0" algn="l">
              <a:buNone/>
            </a:pPr>
            <a:r>
              <a:rPr lang="en-US" sz="1100" b="1" kern="0" spc="150" dirty="0">
                <a:solidFill>
                  <a:srgbClr val="00704A"/>
                </a:solidFill>
                <a:latin typeface="Calibri" pitchFamily="34" charset="0"/>
                <a:ea typeface="Calibri" pitchFamily="34" charset="-122"/>
                <a:cs typeface="Calibri" pitchFamily="34" charset="-120"/>
              </a:rPr>
              <a:t>THE 12 DIMENSIONS</a:t>
            </a:r>
            <a:endParaRPr lang="en-US" sz="1100" dirty="0"/>
          </a:p>
        </p:txBody>
      </p:sp>
      <p:sp>
        <p:nvSpPr>
          <p:cNvPr id="5" name="Shape 3"/>
          <p:cNvSpPr/>
          <p:nvPr/>
        </p:nvSpPr>
        <p:spPr>
          <a:xfrm>
            <a:off x="502920" y="1773936"/>
            <a:ext cx="274320" cy="274320"/>
          </a:xfrm>
          <a:prstGeom prst="ellipse">
            <a:avLst/>
          </a:prstGeom>
          <a:solidFill>
            <a:srgbClr val="00A86A"/>
          </a:solidFill>
          <a:ln/>
        </p:spPr>
        <p:txBody>
          <a:bodyPr/>
          <a:lstStyle/>
          <a:p>
            <a:endParaRPr lang="en-US"/>
          </a:p>
        </p:txBody>
      </p:sp>
      <p:sp>
        <p:nvSpPr>
          <p:cNvPr id="6" name="Text 4"/>
          <p:cNvSpPr/>
          <p:nvPr/>
        </p:nvSpPr>
        <p:spPr>
          <a:xfrm>
            <a:off x="502920" y="177393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886968" y="1755648"/>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Leadership &amp; membership</a:t>
            </a:r>
            <a:endParaRPr lang="en-US" sz="1150" dirty="0"/>
          </a:p>
        </p:txBody>
      </p:sp>
      <p:sp>
        <p:nvSpPr>
          <p:cNvPr id="8" name="Shape 6"/>
          <p:cNvSpPr/>
          <p:nvPr/>
        </p:nvSpPr>
        <p:spPr>
          <a:xfrm>
            <a:off x="502920" y="2073859"/>
            <a:ext cx="274320" cy="274320"/>
          </a:xfrm>
          <a:prstGeom prst="ellipse">
            <a:avLst/>
          </a:prstGeom>
          <a:solidFill>
            <a:srgbClr val="00664A"/>
          </a:solidFill>
          <a:ln/>
        </p:spPr>
        <p:txBody>
          <a:bodyPr/>
          <a:lstStyle/>
          <a:p>
            <a:endParaRPr lang="en-US"/>
          </a:p>
        </p:txBody>
      </p:sp>
      <p:sp>
        <p:nvSpPr>
          <p:cNvPr id="9" name="Text 7"/>
          <p:cNvSpPr/>
          <p:nvPr/>
        </p:nvSpPr>
        <p:spPr>
          <a:xfrm>
            <a:off x="502920" y="2073859"/>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0" name="Text 8"/>
          <p:cNvSpPr/>
          <p:nvPr/>
        </p:nvSpPr>
        <p:spPr>
          <a:xfrm>
            <a:off x="886968" y="2055571"/>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Strategic transformation vision</a:t>
            </a:r>
            <a:endParaRPr lang="en-US" sz="1150" dirty="0"/>
          </a:p>
        </p:txBody>
      </p:sp>
      <p:sp>
        <p:nvSpPr>
          <p:cNvPr id="11" name="Shape 9"/>
          <p:cNvSpPr/>
          <p:nvPr/>
        </p:nvSpPr>
        <p:spPr>
          <a:xfrm>
            <a:off x="502920" y="2373782"/>
            <a:ext cx="274320" cy="274320"/>
          </a:xfrm>
          <a:prstGeom prst="ellipse">
            <a:avLst/>
          </a:prstGeom>
          <a:solidFill>
            <a:srgbClr val="D49A00"/>
          </a:solidFill>
          <a:ln/>
        </p:spPr>
        <p:txBody>
          <a:bodyPr/>
          <a:lstStyle/>
          <a:p>
            <a:endParaRPr lang="en-US"/>
          </a:p>
        </p:txBody>
      </p:sp>
      <p:sp>
        <p:nvSpPr>
          <p:cNvPr id="12" name="Text 10"/>
          <p:cNvSpPr/>
          <p:nvPr/>
        </p:nvSpPr>
        <p:spPr>
          <a:xfrm>
            <a:off x="502920" y="2373782"/>
            <a:ext cx="274320" cy="274320"/>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03</a:t>
            </a:r>
            <a:endParaRPr lang="en-US" sz="1100" dirty="0"/>
          </a:p>
        </p:txBody>
      </p:sp>
      <p:sp>
        <p:nvSpPr>
          <p:cNvPr id="13" name="Text 11"/>
          <p:cNvSpPr/>
          <p:nvPr/>
        </p:nvSpPr>
        <p:spPr>
          <a:xfrm>
            <a:off x="886968" y="2355494"/>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Legal &amp; institutional framework</a:t>
            </a:r>
            <a:endParaRPr lang="en-US" sz="1150" dirty="0"/>
          </a:p>
        </p:txBody>
      </p:sp>
      <p:sp>
        <p:nvSpPr>
          <p:cNvPr id="14" name="Shape 12"/>
          <p:cNvSpPr/>
          <p:nvPr/>
        </p:nvSpPr>
        <p:spPr>
          <a:xfrm>
            <a:off x="502920" y="2673706"/>
            <a:ext cx="274320" cy="274320"/>
          </a:xfrm>
          <a:prstGeom prst="ellipse">
            <a:avLst/>
          </a:prstGeom>
          <a:solidFill>
            <a:srgbClr val="0A4D33"/>
          </a:solidFill>
          <a:ln/>
        </p:spPr>
        <p:txBody>
          <a:bodyPr/>
          <a:lstStyle/>
          <a:p>
            <a:endParaRPr lang="en-US"/>
          </a:p>
        </p:txBody>
      </p:sp>
      <p:sp>
        <p:nvSpPr>
          <p:cNvPr id="15" name="Text 13"/>
          <p:cNvSpPr/>
          <p:nvPr/>
        </p:nvSpPr>
        <p:spPr>
          <a:xfrm>
            <a:off x="502920" y="267370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6" name="Text 14"/>
          <p:cNvSpPr/>
          <p:nvPr/>
        </p:nvSpPr>
        <p:spPr>
          <a:xfrm>
            <a:off x="886968" y="2655418"/>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Human resources</a:t>
            </a:r>
            <a:endParaRPr lang="en-US" sz="1150" dirty="0"/>
          </a:p>
        </p:txBody>
      </p:sp>
      <p:sp>
        <p:nvSpPr>
          <p:cNvPr id="17" name="Shape 15"/>
          <p:cNvSpPr/>
          <p:nvPr/>
        </p:nvSpPr>
        <p:spPr>
          <a:xfrm>
            <a:off x="502920" y="2973629"/>
            <a:ext cx="274320" cy="274320"/>
          </a:xfrm>
          <a:prstGeom prst="ellipse">
            <a:avLst/>
          </a:prstGeom>
          <a:solidFill>
            <a:srgbClr val="33AF7C"/>
          </a:solidFill>
          <a:ln/>
        </p:spPr>
        <p:txBody>
          <a:bodyPr/>
          <a:lstStyle/>
          <a:p>
            <a:endParaRPr lang="en-US"/>
          </a:p>
        </p:txBody>
      </p:sp>
      <p:sp>
        <p:nvSpPr>
          <p:cNvPr id="18" name="Text 16"/>
          <p:cNvSpPr/>
          <p:nvPr/>
        </p:nvSpPr>
        <p:spPr>
          <a:xfrm>
            <a:off x="502920" y="2973629"/>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19" name="Text 17"/>
          <p:cNvSpPr/>
          <p:nvPr/>
        </p:nvSpPr>
        <p:spPr>
          <a:xfrm>
            <a:off x="886968" y="2955341"/>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Information technology</a:t>
            </a:r>
            <a:endParaRPr lang="en-US" sz="1150" dirty="0"/>
          </a:p>
        </p:txBody>
      </p:sp>
      <p:sp>
        <p:nvSpPr>
          <p:cNvPr id="20" name="Shape 18"/>
          <p:cNvSpPr/>
          <p:nvPr/>
        </p:nvSpPr>
        <p:spPr>
          <a:xfrm>
            <a:off x="502920" y="3273552"/>
            <a:ext cx="274320" cy="274320"/>
          </a:xfrm>
          <a:prstGeom prst="ellipse">
            <a:avLst/>
          </a:prstGeom>
          <a:solidFill>
            <a:srgbClr val="08875A"/>
          </a:solidFill>
          <a:ln/>
        </p:spPr>
        <p:txBody>
          <a:bodyPr/>
          <a:lstStyle/>
          <a:p>
            <a:endParaRPr lang="en-US"/>
          </a:p>
        </p:txBody>
      </p:sp>
      <p:sp>
        <p:nvSpPr>
          <p:cNvPr id="21" name="Text 19"/>
          <p:cNvSpPr/>
          <p:nvPr/>
        </p:nvSpPr>
        <p:spPr>
          <a:xfrm>
            <a:off x="502920" y="3273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22" name="Text 20"/>
          <p:cNvSpPr/>
          <p:nvPr/>
        </p:nvSpPr>
        <p:spPr>
          <a:xfrm>
            <a:off x="886968" y="3255264"/>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Financing</a:t>
            </a:r>
            <a:endParaRPr lang="en-US" sz="1150" dirty="0"/>
          </a:p>
        </p:txBody>
      </p:sp>
      <p:sp>
        <p:nvSpPr>
          <p:cNvPr id="23" name="Shape 21"/>
          <p:cNvSpPr/>
          <p:nvPr/>
        </p:nvSpPr>
        <p:spPr>
          <a:xfrm>
            <a:off x="502920" y="3573475"/>
            <a:ext cx="274320" cy="274320"/>
          </a:xfrm>
          <a:prstGeom prst="ellipse">
            <a:avLst/>
          </a:prstGeom>
          <a:solidFill>
            <a:srgbClr val="00704A"/>
          </a:solidFill>
          <a:ln/>
        </p:spPr>
        <p:txBody>
          <a:bodyPr/>
          <a:lstStyle/>
          <a:p>
            <a:endParaRPr lang="en-US"/>
          </a:p>
        </p:txBody>
      </p:sp>
      <p:sp>
        <p:nvSpPr>
          <p:cNvPr id="24" name="Text 22"/>
          <p:cNvSpPr/>
          <p:nvPr/>
        </p:nvSpPr>
        <p:spPr>
          <a:xfrm>
            <a:off x="502920" y="3573475"/>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25" name="Text 23"/>
          <p:cNvSpPr/>
          <p:nvPr/>
        </p:nvSpPr>
        <p:spPr>
          <a:xfrm>
            <a:off x="886968" y="3555187"/>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Partnerships</a:t>
            </a:r>
            <a:endParaRPr lang="en-US" sz="1150" dirty="0"/>
          </a:p>
        </p:txBody>
      </p:sp>
      <p:sp>
        <p:nvSpPr>
          <p:cNvPr id="26" name="Shape 24"/>
          <p:cNvSpPr/>
          <p:nvPr/>
        </p:nvSpPr>
        <p:spPr>
          <a:xfrm>
            <a:off x="502920" y="3873398"/>
            <a:ext cx="274320" cy="274320"/>
          </a:xfrm>
          <a:prstGeom prst="ellipse">
            <a:avLst/>
          </a:prstGeom>
          <a:solidFill>
            <a:srgbClr val="D49A00"/>
          </a:solidFill>
          <a:ln/>
        </p:spPr>
        <p:txBody>
          <a:bodyPr/>
          <a:lstStyle/>
          <a:p>
            <a:endParaRPr lang="en-US"/>
          </a:p>
        </p:txBody>
      </p:sp>
      <p:sp>
        <p:nvSpPr>
          <p:cNvPr id="27" name="Text 25"/>
          <p:cNvSpPr/>
          <p:nvPr/>
        </p:nvSpPr>
        <p:spPr>
          <a:xfrm>
            <a:off x="502920" y="3873398"/>
            <a:ext cx="274320" cy="274320"/>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08</a:t>
            </a:r>
            <a:endParaRPr lang="en-US" sz="1100" dirty="0"/>
          </a:p>
        </p:txBody>
      </p:sp>
      <p:sp>
        <p:nvSpPr>
          <p:cNvPr id="28" name="Text 26"/>
          <p:cNvSpPr/>
          <p:nvPr/>
        </p:nvSpPr>
        <p:spPr>
          <a:xfrm>
            <a:off x="886968" y="3855110"/>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Expertise in research &amp; analysis</a:t>
            </a:r>
            <a:endParaRPr lang="en-US" sz="1150" dirty="0"/>
          </a:p>
        </p:txBody>
      </p:sp>
      <p:sp>
        <p:nvSpPr>
          <p:cNvPr id="29" name="Shape 27"/>
          <p:cNvSpPr/>
          <p:nvPr/>
        </p:nvSpPr>
        <p:spPr>
          <a:xfrm>
            <a:off x="502920" y="4173322"/>
            <a:ext cx="274320" cy="274320"/>
          </a:xfrm>
          <a:prstGeom prst="ellipse">
            <a:avLst/>
          </a:prstGeom>
          <a:solidFill>
            <a:srgbClr val="008A5B"/>
          </a:solidFill>
          <a:ln/>
        </p:spPr>
        <p:txBody>
          <a:bodyPr/>
          <a:lstStyle/>
          <a:p>
            <a:endParaRPr lang="en-US"/>
          </a:p>
        </p:txBody>
      </p:sp>
      <p:sp>
        <p:nvSpPr>
          <p:cNvPr id="30" name="Text 28"/>
          <p:cNvSpPr/>
          <p:nvPr/>
        </p:nvSpPr>
        <p:spPr>
          <a:xfrm>
            <a:off x="502920" y="417332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31" name="Text 29"/>
          <p:cNvSpPr/>
          <p:nvPr/>
        </p:nvSpPr>
        <p:spPr>
          <a:xfrm>
            <a:off x="886968" y="4155034"/>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Quality, norms &amp; standards</a:t>
            </a:r>
            <a:endParaRPr lang="en-US" sz="1150" dirty="0"/>
          </a:p>
        </p:txBody>
      </p:sp>
      <p:sp>
        <p:nvSpPr>
          <p:cNvPr id="32" name="Shape 30"/>
          <p:cNvSpPr/>
          <p:nvPr/>
        </p:nvSpPr>
        <p:spPr>
          <a:xfrm>
            <a:off x="502920" y="4473245"/>
            <a:ext cx="274320" cy="274320"/>
          </a:xfrm>
          <a:prstGeom prst="ellipse">
            <a:avLst/>
          </a:prstGeom>
          <a:solidFill>
            <a:srgbClr val="10A06A"/>
          </a:solidFill>
          <a:ln/>
        </p:spPr>
        <p:txBody>
          <a:bodyPr/>
          <a:lstStyle/>
          <a:p>
            <a:endParaRPr lang="en-US"/>
          </a:p>
        </p:txBody>
      </p:sp>
      <p:sp>
        <p:nvSpPr>
          <p:cNvPr id="33" name="Text 31"/>
          <p:cNvSpPr/>
          <p:nvPr/>
        </p:nvSpPr>
        <p:spPr>
          <a:xfrm>
            <a:off x="502920" y="4473245"/>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4" name="Text 32"/>
          <p:cNvSpPr/>
          <p:nvPr/>
        </p:nvSpPr>
        <p:spPr>
          <a:xfrm>
            <a:off x="886968" y="4454957"/>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Non-traditional sources</a:t>
            </a:r>
            <a:endParaRPr lang="en-US" sz="1150" dirty="0"/>
          </a:p>
        </p:txBody>
      </p:sp>
      <p:sp>
        <p:nvSpPr>
          <p:cNvPr id="35" name="Shape 33"/>
          <p:cNvSpPr/>
          <p:nvPr/>
        </p:nvSpPr>
        <p:spPr>
          <a:xfrm>
            <a:off x="502920" y="4773168"/>
            <a:ext cx="274320" cy="274320"/>
          </a:xfrm>
          <a:prstGeom prst="ellipse">
            <a:avLst/>
          </a:prstGeom>
          <a:solidFill>
            <a:srgbClr val="0E6E49"/>
          </a:solidFill>
          <a:ln/>
        </p:spPr>
        <p:txBody>
          <a:bodyPr/>
          <a:lstStyle/>
          <a:p>
            <a:endParaRPr lang="en-US"/>
          </a:p>
        </p:txBody>
      </p:sp>
      <p:sp>
        <p:nvSpPr>
          <p:cNvPr id="36" name="Text 34"/>
          <p:cNvSpPr/>
          <p:nvPr/>
        </p:nvSpPr>
        <p:spPr>
          <a:xfrm>
            <a:off x="502920" y="477316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37" name="Text 35"/>
          <p:cNvSpPr/>
          <p:nvPr/>
        </p:nvSpPr>
        <p:spPr>
          <a:xfrm>
            <a:off x="886968" y="4754880"/>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Communication</a:t>
            </a:r>
            <a:endParaRPr lang="en-US" sz="1150" dirty="0"/>
          </a:p>
        </p:txBody>
      </p:sp>
      <p:sp>
        <p:nvSpPr>
          <p:cNvPr id="38" name="Shape 36"/>
          <p:cNvSpPr/>
          <p:nvPr/>
        </p:nvSpPr>
        <p:spPr>
          <a:xfrm>
            <a:off x="502920" y="5073091"/>
            <a:ext cx="274320" cy="274320"/>
          </a:xfrm>
          <a:prstGeom prst="ellipse">
            <a:avLst/>
          </a:prstGeom>
          <a:solidFill>
            <a:srgbClr val="57BD92"/>
          </a:solidFill>
          <a:ln/>
        </p:spPr>
        <p:txBody>
          <a:bodyPr/>
          <a:lstStyle/>
          <a:p>
            <a:endParaRPr lang="en-US"/>
          </a:p>
        </p:txBody>
      </p:sp>
      <p:sp>
        <p:nvSpPr>
          <p:cNvPr id="39" name="Text 37"/>
          <p:cNvSpPr/>
          <p:nvPr/>
        </p:nvSpPr>
        <p:spPr>
          <a:xfrm>
            <a:off x="502920" y="5073091"/>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40" name="Text 38"/>
          <p:cNvSpPr/>
          <p:nvPr/>
        </p:nvSpPr>
        <p:spPr>
          <a:xfrm>
            <a:off x="886968" y="5054803"/>
            <a:ext cx="2788920" cy="310896"/>
          </a:xfrm>
          <a:prstGeom prst="rect">
            <a:avLst/>
          </a:prstGeom>
          <a:noFill/>
          <a:ln/>
        </p:spPr>
        <p:txBody>
          <a:bodyPr wrap="square" lIns="0" tIns="0" rIns="0" bIns="0" rtlCol="0" anchor="ctr"/>
          <a:lstStyle/>
          <a:p>
            <a:pPr marL="0" indent="0" algn="l">
              <a:buNone/>
            </a:pPr>
            <a:r>
              <a:rPr lang="en-US" sz="1150" dirty="0">
                <a:solidFill>
                  <a:srgbClr val="231F20"/>
                </a:solidFill>
                <a:latin typeface="Calibri" pitchFamily="34" charset="0"/>
                <a:ea typeface="Calibri" pitchFamily="34" charset="-122"/>
                <a:cs typeface="Calibri" pitchFamily="34" charset="-120"/>
              </a:rPr>
              <a:t>Comms &amp; user relations</a:t>
            </a:r>
            <a:endParaRPr lang="en-US" sz="1150" dirty="0"/>
          </a:p>
        </p:txBody>
      </p:sp>
      <p:sp>
        <p:nvSpPr>
          <p:cNvPr id="41" name="Shape 39"/>
          <p:cNvSpPr/>
          <p:nvPr/>
        </p:nvSpPr>
        <p:spPr>
          <a:xfrm>
            <a:off x="4773168" y="1828800"/>
            <a:ext cx="3255264" cy="3255264"/>
          </a:xfrm>
          <a:prstGeom prst="ellipse">
            <a:avLst/>
          </a:prstGeom>
          <a:ln w="22225">
            <a:solidFill>
              <a:srgbClr val="D5DED9"/>
            </a:solidFill>
            <a:prstDash val="solid"/>
          </a:ln>
        </p:spPr>
        <p:txBody>
          <a:bodyPr/>
          <a:lstStyle/>
          <a:p>
            <a:endParaRPr lang="en-US"/>
          </a:p>
        </p:txBody>
      </p:sp>
      <p:sp>
        <p:nvSpPr>
          <p:cNvPr id="42" name="Shape 40"/>
          <p:cNvSpPr/>
          <p:nvPr/>
        </p:nvSpPr>
        <p:spPr>
          <a:xfrm>
            <a:off x="6071616" y="1499616"/>
            <a:ext cx="658368" cy="658368"/>
          </a:xfrm>
          <a:prstGeom prst="ellipse">
            <a:avLst/>
          </a:prstGeom>
          <a:solidFill>
            <a:srgbClr val="00A86A"/>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43" name="Text 41"/>
          <p:cNvSpPr/>
          <p:nvPr/>
        </p:nvSpPr>
        <p:spPr>
          <a:xfrm>
            <a:off x="6071616" y="1499616"/>
            <a:ext cx="658368" cy="65836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44" name="Shape 42"/>
          <p:cNvSpPr/>
          <p:nvPr/>
        </p:nvSpPr>
        <p:spPr>
          <a:xfrm>
            <a:off x="6885432" y="1717677"/>
            <a:ext cx="658368" cy="658368"/>
          </a:xfrm>
          <a:prstGeom prst="ellipse">
            <a:avLst/>
          </a:prstGeom>
          <a:solidFill>
            <a:srgbClr val="00664A"/>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45" name="Text 43"/>
          <p:cNvSpPr/>
          <p:nvPr/>
        </p:nvSpPr>
        <p:spPr>
          <a:xfrm>
            <a:off x="6885432" y="1717677"/>
            <a:ext cx="658368" cy="65836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46" name="Shape 44"/>
          <p:cNvSpPr/>
          <p:nvPr/>
        </p:nvSpPr>
        <p:spPr>
          <a:xfrm>
            <a:off x="7481187" y="2313432"/>
            <a:ext cx="658368" cy="658368"/>
          </a:xfrm>
          <a:prstGeom prst="ellipse">
            <a:avLst/>
          </a:prstGeom>
          <a:solidFill>
            <a:srgbClr val="D49A00"/>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47" name="Text 45"/>
          <p:cNvSpPr/>
          <p:nvPr/>
        </p:nvSpPr>
        <p:spPr>
          <a:xfrm>
            <a:off x="7481187" y="2313432"/>
            <a:ext cx="658368" cy="658368"/>
          </a:xfrm>
          <a:prstGeom prst="rect">
            <a:avLst/>
          </a:prstGeom>
          <a:noFill/>
          <a:ln/>
        </p:spPr>
        <p:txBody>
          <a:bodyPr wrap="square" lIns="0" tIns="0" rIns="0" bIns="0" rtlCol="0" anchor="ctr"/>
          <a:lstStyle/>
          <a:p>
            <a:pPr marL="0" indent="0" algn="ctr">
              <a:buNone/>
            </a:pPr>
            <a:r>
              <a:rPr lang="en-US" sz="1600" b="1" dirty="0">
                <a:solidFill>
                  <a:srgbClr val="231F20"/>
                </a:solidFill>
                <a:latin typeface="Calibri" pitchFamily="34" charset="0"/>
                <a:ea typeface="Calibri" pitchFamily="34" charset="-122"/>
                <a:cs typeface="Calibri" pitchFamily="34" charset="-120"/>
              </a:rPr>
              <a:t>03</a:t>
            </a:r>
            <a:endParaRPr lang="en-US" sz="1600" dirty="0"/>
          </a:p>
        </p:txBody>
      </p:sp>
      <p:sp>
        <p:nvSpPr>
          <p:cNvPr id="48" name="Shape 46"/>
          <p:cNvSpPr/>
          <p:nvPr/>
        </p:nvSpPr>
        <p:spPr>
          <a:xfrm>
            <a:off x="7699248" y="3127248"/>
            <a:ext cx="658368" cy="658368"/>
          </a:xfrm>
          <a:prstGeom prst="ellipse">
            <a:avLst/>
          </a:prstGeom>
          <a:solidFill>
            <a:srgbClr val="0A4D33"/>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49" name="Text 47"/>
          <p:cNvSpPr/>
          <p:nvPr/>
        </p:nvSpPr>
        <p:spPr>
          <a:xfrm>
            <a:off x="7699248" y="3127248"/>
            <a:ext cx="658368" cy="65836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50" name="Shape 48"/>
          <p:cNvSpPr/>
          <p:nvPr/>
        </p:nvSpPr>
        <p:spPr>
          <a:xfrm>
            <a:off x="7481187" y="3941064"/>
            <a:ext cx="658368" cy="658368"/>
          </a:xfrm>
          <a:prstGeom prst="ellipse">
            <a:avLst/>
          </a:prstGeom>
          <a:solidFill>
            <a:srgbClr val="33AF7C"/>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51" name="Text 49"/>
          <p:cNvSpPr/>
          <p:nvPr/>
        </p:nvSpPr>
        <p:spPr>
          <a:xfrm>
            <a:off x="7481187" y="3941064"/>
            <a:ext cx="658368" cy="65836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52" name="Shape 50"/>
          <p:cNvSpPr/>
          <p:nvPr/>
        </p:nvSpPr>
        <p:spPr>
          <a:xfrm>
            <a:off x="6885432" y="4536819"/>
            <a:ext cx="658368" cy="658368"/>
          </a:xfrm>
          <a:prstGeom prst="ellipse">
            <a:avLst/>
          </a:prstGeom>
          <a:solidFill>
            <a:srgbClr val="08875A"/>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53" name="Text 51"/>
          <p:cNvSpPr/>
          <p:nvPr/>
        </p:nvSpPr>
        <p:spPr>
          <a:xfrm>
            <a:off x="6885432" y="4536819"/>
            <a:ext cx="658368" cy="65836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54" name="Shape 52"/>
          <p:cNvSpPr/>
          <p:nvPr/>
        </p:nvSpPr>
        <p:spPr>
          <a:xfrm>
            <a:off x="6071616" y="4754880"/>
            <a:ext cx="658368" cy="658368"/>
          </a:xfrm>
          <a:prstGeom prst="ellipse">
            <a:avLst/>
          </a:prstGeom>
          <a:solidFill>
            <a:srgbClr val="00704A"/>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55" name="Text 53"/>
          <p:cNvSpPr/>
          <p:nvPr/>
        </p:nvSpPr>
        <p:spPr>
          <a:xfrm>
            <a:off x="6071616" y="4754880"/>
            <a:ext cx="658368" cy="65836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56" name="Shape 54"/>
          <p:cNvSpPr/>
          <p:nvPr/>
        </p:nvSpPr>
        <p:spPr>
          <a:xfrm>
            <a:off x="5257800" y="4536819"/>
            <a:ext cx="658368" cy="658368"/>
          </a:xfrm>
          <a:prstGeom prst="ellipse">
            <a:avLst/>
          </a:prstGeom>
          <a:solidFill>
            <a:srgbClr val="D49A00"/>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57" name="Text 55"/>
          <p:cNvSpPr/>
          <p:nvPr/>
        </p:nvSpPr>
        <p:spPr>
          <a:xfrm>
            <a:off x="5257800" y="4536819"/>
            <a:ext cx="658368" cy="658368"/>
          </a:xfrm>
          <a:prstGeom prst="rect">
            <a:avLst/>
          </a:prstGeom>
          <a:noFill/>
          <a:ln/>
        </p:spPr>
        <p:txBody>
          <a:bodyPr wrap="square" lIns="0" tIns="0" rIns="0" bIns="0" rtlCol="0" anchor="ctr"/>
          <a:lstStyle/>
          <a:p>
            <a:pPr marL="0" indent="0" algn="ctr">
              <a:buNone/>
            </a:pPr>
            <a:r>
              <a:rPr lang="en-US" sz="1600" b="1" dirty="0">
                <a:solidFill>
                  <a:srgbClr val="231F20"/>
                </a:solidFill>
                <a:latin typeface="Calibri" pitchFamily="34" charset="0"/>
                <a:ea typeface="Calibri" pitchFamily="34" charset="-122"/>
                <a:cs typeface="Calibri" pitchFamily="34" charset="-120"/>
              </a:rPr>
              <a:t>08</a:t>
            </a:r>
            <a:endParaRPr lang="en-US" sz="1600" dirty="0"/>
          </a:p>
        </p:txBody>
      </p:sp>
      <p:sp>
        <p:nvSpPr>
          <p:cNvPr id="58" name="Shape 56"/>
          <p:cNvSpPr/>
          <p:nvPr/>
        </p:nvSpPr>
        <p:spPr>
          <a:xfrm>
            <a:off x="4662045" y="3941064"/>
            <a:ext cx="658368" cy="658368"/>
          </a:xfrm>
          <a:prstGeom prst="ellipse">
            <a:avLst/>
          </a:prstGeom>
          <a:solidFill>
            <a:srgbClr val="008A5B"/>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59" name="Text 57"/>
          <p:cNvSpPr/>
          <p:nvPr/>
        </p:nvSpPr>
        <p:spPr>
          <a:xfrm>
            <a:off x="4662045" y="3941064"/>
            <a:ext cx="658368" cy="65836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09</a:t>
            </a:r>
            <a:endParaRPr lang="en-US" sz="1600" dirty="0"/>
          </a:p>
        </p:txBody>
      </p:sp>
      <p:sp>
        <p:nvSpPr>
          <p:cNvPr id="60" name="Shape 58"/>
          <p:cNvSpPr/>
          <p:nvPr/>
        </p:nvSpPr>
        <p:spPr>
          <a:xfrm>
            <a:off x="4443984" y="3127248"/>
            <a:ext cx="658368" cy="658368"/>
          </a:xfrm>
          <a:prstGeom prst="ellipse">
            <a:avLst/>
          </a:prstGeom>
          <a:solidFill>
            <a:srgbClr val="10A06A"/>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61" name="Text 59"/>
          <p:cNvSpPr/>
          <p:nvPr/>
        </p:nvSpPr>
        <p:spPr>
          <a:xfrm>
            <a:off x="4443984" y="3127248"/>
            <a:ext cx="658368" cy="65836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62" name="Shape 60"/>
          <p:cNvSpPr/>
          <p:nvPr/>
        </p:nvSpPr>
        <p:spPr>
          <a:xfrm>
            <a:off x="4662045" y="2313432"/>
            <a:ext cx="658368" cy="658368"/>
          </a:xfrm>
          <a:prstGeom prst="ellipse">
            <a:avLst/>
          </a:prstGeom>
          <a:solidFill>
            <a:srgbClr val="0E6E49"/>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63" name="Text 61"/>
          <p:cNvSpPr/>
          <p:nvPr/>
        </p:nvSpPr>
        <p:spPr>
          <a:xfrm>
            <a:off x="4662045" y="2313432"/>
            <a:ext cx="658368" cy="65836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64" name="Shape 62"/>
          <p:cNvSpPr/>
          <p:nvPr/>
        </p:nvSpPr>
        <p:spPr>
          <a:xfrm>
            <a:off x="5257800" y="1717677"/>
            <a:ext cx="658368" cy="658368"/>
          </a:xfrm>
          <a:prstGeom prst="ellipse">
            <a:avLst/>
          </a:prstGeom>
          <a:solidFill>
            <a:srgbClr val="57BD92"/>
          </a:solidFill>
          <a:ln w="25400">
            <a:solidFill>
              <a:srgbClr val="FFFFFF"/>
            </a:solidFill>
            <a:prstDash val="solid"/>
          </a:ln>
          <a:effectLst>
            <a:outerShdw blurRad="63500" dist="25400" dir="5400000" algn="bl" rotWithShape="0">
              <a:srgbClr val="00704A">
                <a:alpha val="18000"/>
              </a:srgbClr>
            </a:outerShdw>
          </a:effectLst>
        </p:spPr>
        <p:txBody>
          <a:bodyPr/>
          <a:lstStyle/>
          <a:p>
            <a:endParaRPr lang="en-US"/>
          </a:p>
        </p:txBody>
      </p:sp>
      <p:sp>
        <p:nvSpPr>
          <p:cNvPr id="65" name="Text 63"/>
          <p:cNvSpPr/>
          <p:nvPr/>
        </p:nvSpPr>
        <p:spPr>
          <a:xfrm>
            <a:off x="5257800" y="1717677"/>
            <a:ext cx="658368" cy="65836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66" name="Shape 64"/>
          <p:cNvSpPr/>
          <p:nvPr/>
        </p:nvSpPr>
        <p:spPr>
          <a:xfrm>
            <a:off x="5605272" y="2660904"/>
            <a:ext cx="1591056" cy="1591056"/>
          </a:xfrm>
          <a:prstGeom prst="ellipse">
            <a:avLst/>
          </a:prstGeom>
          <a:solidFill>
            <a:srgbClr val="00704A"/>
          </a:solidFill>
          <a:ln w="31750">
            <a:solidFill>
              <a:srgbClr val="D49A00"/>
            </a:solidFill>
            <a:prstDash val="solid"/>
          </a:ln>
        </p:spPr>
        <p:txBody>
          <a:bodyPr/>
          <a:lstStyle/>
          <a:p>
            <a:endParaRPr lang="en-US"/>
          </a:p>
        </p:txBody>
      </p:sp>
      <p:sp>
        <p:nvSpPr>
          <p:cNvPr id="67" name="Text 65"/>
          <p:cNvSpPr/>
          <p:nvPr/>
        </p:nvSpPr>
        <p:spPr>
          <a:xfrm>
            <a:off x="5605272" y="2926080"/>
            <a:ext cx="1591056" cy="640080"/>
          </a:xfrm>
          <a:prstGeom prst="rect">
            <a:avLst/>
          </a:prstGeom>
          <a:noFill/>
          <a:ln/>
        </p:spPr>
        <p:txBody>
          <a:bodyPr wrap="square" lIns="0" tIns="0" rIns="0" bIns="0"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12</a:t>
            </a:r>
            <a:endParaRPr lang="en-US" sz="4200" dirty="0"/>
          </a:p>
        </p:txBody>
      </p:sp>
      <p:sp>
        <p:nvSpPr>
          <p:cNvPr id="68" name="Text 66"/>
          <p:cNvSpPr/>
          <p:nvPr/>
        </p:nvSpPr>
        <p:spPr>
          <a:xfrm>
            <a:off x="5605272" y="3621024"/>
            <a:ext cx="1591056" cy="310896"/>
          </a:xfrm>
          <a:prstGeom prst="rect">
            <a:avLst/>
          </a:prstGeom>
          <a:noFill/>
          <a:ln/>
        </p:spPr>
        <p:txBody>
          <a:bodyPr wrap="square" lIns="0" tIns="0" rIns="0" bIns="0" rtlCol="0" anchor="ctr"/>
          <a:lstStyle/>
          <a:p>
            <a:pPr marL="0" indent="0" algn="ctr">
              <a:buNone/>
            </a:pPr>
            <a:r>
              <a:rPr lang="en-US" sz="1150" b="1" kern="0" spc="200" dirty="0">
                <a:solidFill>
                  <a:srgbClr val="F5C242"/>
                </a:solidFill>
                <a:latin typeface="Calibri" pitchFamily="34" charset="0"/>
                <a:ea typeface="Calibri" pitchFamily="34" charset="-122"/>
                <a:cs typeface="Calibri" pitchFamily="34" charset="-120"/>
              </a:rPr>
              <a:t>DIMENSIONS</a:t>
            </a:r>
            <a:endParaRPr lang="en-US" sz="1150" dirty="0"/>
          </a:p>
        </p:txBody>
      </p:sp>
      <p:sp>
        <p:nvSpPr>
          <p:cNvPr id="69" name="Shape 67"/>
          <p:cNvSpPr/>
          <p:nvPr/>
        </p:nvSpPr>
        <p:spPr>
          <a:xfrm>
            <a:off x="8686800" y="1371600"/>
            <a:ext cx="3001975" cy="4160520"/>
          </a:xfrm>
          <a:prstGeom prst="roundRect">
            <a:avLst>
              <a:gd name="adj" fmla="val 1828"/>
            </a:avLst>
          </a:prstGeom>
          <a:solidFill>
            <a:srgbClr val="00704A"/>
          </a:solidFill>
          <a:ln/>
        </p:spPr>
        <p:txBody>
          <a:bodyPr/>
          <a:lstStyle/>
          <a:p>
            <a:endParaRPr lang="en-US"/>
          </a:p>
        </p:txBody>
      </p:sp>
      <p:sp>
        <p:nvSpPr>
          <p:cNvPr id="70" name="Shape 68"/>
          <p:cNvSpPr/>
          <p:nvPr/>
        </p:nvSpPr>
        <p:spPr>
          <a:xfrm>
            <a:off x="8686800" y="1371600"/>
            <a:ext cx="3001975" cy="64008"/>
          </a:xfrm>
          <a:prstGeom prst="rect">
            <a:avLst/>
          </a:prstGeom>
          <a:solidFill>
            <a:srgbClr val="F5C242"/>
          </a:solidFill>
          <a:ln/>
        </p:spPr>
        <p:txBody>
          <a:bodyPr/>
          <a:lstStyle/>
          <a:p>
            <a:endParaRPr lang="en-US"/>
          </a:p>
        </p:txBody>
      </p:sp>
      <p:sp>
        <p:nvSpPr>
          <p:cNvPr id="71" name="Text 69"/>
          <p:cNvSpPr/>
          <p:nvPr/>
        </p:nvSpPr>
        <p:spPr>
          <a:xfrm>
            <a:off x="8686800" y="1572768"/>
            <a:ext cx="3001975" cy="274320"/>
          </a:xfrm>
          <a:prstGeom prst="rect">
            <a:avLst/>
          </a:prstGeom>
          <a:noFill/>
          <a:ln/>
        </p:spPr>
        <p:txBody>
          <a:bodyPr wrap="square" lIns="0" tIns="0" rIns="0" bIns="0" rtlCol="0" anchor="ctr"/>
          <a:lstStyle/>
          <a:p>
            <a:pPr marL="0" indent="0" algn="ctr">
              <a:buNone/>
            </a:pPr>
            <a:r>
              <a:rPr lang="en-US" sz="1150" b="1" kern="0" spc="200" dirty="0">
                <a:solidFill>
                  <a:srgbClr val="F5C242"/>
                </a:solidFill>
                <a:latin typeface="Calibri" pitchFamily="34" charset="0"/>
                <a:ea typeface="Calibri" pitchFamily="34" charset="-122"/>
                <a:cs typeface="Calibri" pitchFamily="34" charset="-120"/>
              </a:rPr>
              <a:t>APPLIED IN </a:t>
            </a:r>
            <a:r>
              <a:rPr lang="en-US" sz="1400" b="1" kern="0" spc="200" dirty="0">
                <a:solidFill>
                  <a:srgbClr val="FFFFFF"/>
                </a:solidFill>
                <a:latin typeface="Calibri" pitchFamily="34" charset="0"/>
                <a:ea typeface="Calibri" pitchFamily="34" charset="-122"/>
                <a:cs typeface="Calibri" pitchFamily="34" charset="-120"/>
              </a:rPr>
              <a:t>8</a:t>
            </a:r>
            <a:r>
              <a:rPr lang="en-US" sz="1150" b="1" kern="0" spc="200" dirty="0">
                <a:solidFill>
                  <a:srgbClr val="F5C242"/>
                </a:solidFill>
                <a:latin typeface="Calibri" pitchFamily="34" charset="0"/>
                <a:ea typeface="Calibri" pitchFamily="34" charset="-122"/>
                <a:cs typeface="Calibri" pitchFamily="34" charset="-120"/>
              </a:rPr>
              <a:t> RMCs</a:t>
            </a:r>
            <a:endParaRPr lang="en-US" sz="1150" dirty="0"/>
          </a:p>
        </p:txBody>
      </p:sp>
      <p:pic>
        <p:nvPicPr>
          <p:cNvPr id="72" name="Image 0" descr="/tmp/africa_map.png"/>
          <p:cNvPicPr>
            <a:picLocks noChangeAspect="1"/>
          </p:cNvPicPr>
          <p:nvPr/>
        </p:nvPicPr>
        <p:blipFill>
          <a:blip r:embed="rId3"/>
          <a:stretch>
            <a:fillRect/>
          </a:stretch>
        </p:blipFill>
        <p:spPr>
          <a:xfrm>
            <a:off x="8989924" y="1901952"/>
            <a:ext cx="2395728" cy="2595588"/>
          </a:xfrm>
          <a:prstGeom prst="rect">
            <a:avLst/>
          </a:prstGeom>
        </p:spPr>
      </p:pic>
      <p:sp>
        <p:nvSpPr>
          <p:cNvPr id="73" name="Shape 70"/>
          <p:cNvSpPr/>
          <p:nvPr/>
        </p:nvSpPr>
        <p:spPr>
          <a:xfrm>
            <a:off x="8961120" y="4593552"/>
            <a:ext cx="182880" cy="182880"/>
          </a:xfrm>
          <a:prstGeom prst="ellipse">
            <a:avLst/>
          </a:prstGeom>
          <a:solidFill>
            <a:srgbClr val="F5C242"/>
          </a:solidFill>
          <a:ln/>
        </p:spPr>
        <p:txBody>
          <a:bodyPr/>
          <a:lstStyle/>
          <a:p>
            <a:endParaRPr lang="en-US"/>
          </a:p>
        </p:txBody>
      </p:sp>
      <p:sp>
        <p:nvSpPr>
          <p:cNvPr id="74" name="Text 71"/>
          <p:cNvSpPr/>
          <p:nvPr/>
        </p:nvSpPr>
        <p:spPr>
          <a:xfrm>
            <a:off x="8961120" y="4593552"/>
            <a:ext cx="182880" cy="182880"/>
          </a:xfrm>
          <a:prstGeom prst="rect">
            <a:avLst/>
          </a:prstGeom>
          <a:noFill/>
          <a:ln/>
        </p:spPr>
        <p:txBody>
          <a:bodyPr wrap="square" lIns="0" tIns="0" rIns="0" bIns="0" rtlCol="0" anchor="ctr"/>
          <a:lstStyle/>
          <a:p>
            <a:pPr marL="0" indent="0" algn="ctr">
              <a:buNone/>
            </a:pPr>
            <a:r>
              <a:rPr lang="en-US" sz="900" b="1" dirty="0">
                <a:solidFill>
                  <a:srgbClr val="231F20"/>
                </a:solidFill>
                <a:latin typeface="Calibri" pitchFamily="34" charset="0"/>
                <a:ea typeface="Calibri" pitchFamily="34" charset="-122"/>
                <a:cs typeface="Calibri" pitchFamily="34" charset="-120"/>
              </a:rPr>
              <a:t>1</a:t>
            </a:r>
            <a:endParaRPr lang="en-US" sz="900" dirty="0"/>
          </a:p>
        </p:txBody>
      </p:sp>
      <p:sp>
        <p:nvSpPr>
          <p:cNvPr id="75" name="Text 72"/>
          <p:cNvSpPr/>
          <p:nvPr/>
        </p:nvSpPr>
        <p:spPr>
          <a:xfrm>
            <a:off x="9208008" y="4588980"/>
            <a:ext cx="1078992" cy="20116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Tunisia</a:t>
            </a:r>
            <a:endParaRPr lang="en-US" sz="1050" dirty="0"/>
          </a:p>
        </p:txBody>
      </p:sp>
      <p:sp>
        <p:nvSpPr>
          <p:cNvPr id="76" name="Shape 73"/>
          <p:cNvSpPr/>
          <p:nvPr/>
        </p:nvSpPr>
        <p:spPr>
          <a:xfrm>
            <a:off x="8961120" y="4790148"/>
            <a:ext cx="182880" cy="182880"/>
          </a:xfrm>
          <a:prstGeom prst="ellipse">
            <a:avLst/>
          </a:prstGeom>
          <a:solidFill>
            <a:srgbClr val="F5C242"/>
          </a:solidFill>
          <a:ln/>
        </p:spPr>
        <p:txBody>
          <a:bodyPr/>
          <a:lstStyle/>
          <a:p>
            <a:endParaRPr lang="en-US"/>
          </a:p>
        </p:txBody>
      </p:sp>
      <p:sp>
        <p:nvSpPr>
          <p:cNvPr id="77" name="Text 74"/>
          <p:cNvSpPr/>
          <p:nvPr/>
        </p:nvSpPr>
        <p:spPr>
          <a:xfrm>
            <a:off x="8961120" y="4790148"/>
            <a:ext cx="182880" cy="182880"/>
          </a:xfrm>
          <a:prstGeom prst="rect">
            <a:avLst/>
          </a:prstGeom>
          <a:noFill/>
          <a:ln/>
        </p:spPr>
        <p:txBody>
          <a:bodyPr wrap="square" lIns="0" tIns="0" rIns="0" bIns="0" rtlCol="0" anchor="ctr"/>
          <a:lstStyle/>
          <a:p>
            <a:pPr marL="0" indent="0" algn="ctr">
              <a:buNone/>
            </a:pPr>
            <a:r>
              <a:rPr lang="en-US" sz="900" b="1" dirty="0">
                <a:solidFill>
                  <a:srgbClr val="231F20"/>
                </a:solidFill>
                <a:latin typeface="Calibri" pitchFamily="34" charset="0"/>
                <a:ea typeface="Calibri" pitchFamily="34" charset="-122"/>
                <a:cs typeface="Calibri" pitchFamily="34" charset="-120"/>
              </a:rPr>
              <a:t>2</a:t>
            </a:r>
            <a:endParaRPr lang="en-US" sz="900" dirty="0"/>
          </a:p>
        </p:txBody>
      </p:sp>
      <p:sp>
        <p:nvSpPr>
          <p:cNvPr id="78" name="Text 75"/>
          <p:cNvSpPr/>
          <p:nvPr/>
        </p:nvSpPr>
        <p:spPr>
          <a:xfrm>
            <a:off x="9208008" y="4785576"/>
            <a:ext cx="1078992" cy="20116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Senegal</a:t>
            </a:r>
            <a:endParaRPr lang="en-US" sz="1050" dirty="0"/>
          </a:p>
        </p:txBody>
      </p:sp>
      <p:sp>
        <p:nvSpPr>
          <p:cNvPr id="79" name="Shape 76"/>
          <p:cNvSpPr/>
          <p:nvPr/>
        </p:nvSpPr>
        <p:spPr>
          <a:xfrm>
            <a:off x="8961120" y="4986744"/>
            <a:ext cx="182880" cy="182880"/>
          </a:xfrm>
          <a:prstGeom prst="ellipse">
            <a:avLst/>
          </a:prstGeom>
          <a:solidFill>
            <a:srgbClr val="F5C242"/>
          </a:solidFill>
          <a:ln/>
        </p:spPr>
        <p:txBody>
          <a:bodyPr/>
          <a:lstStyle/>
          <a:p>
            <a:endParaRPr lang="en-US"/>
          </a:p>
        </p:txBody>
      </p:sp>
      <p:sp>
        <p:nvSpPr>
          <p:cNvPr id="80" name="Text 77"/>
          <p:cNvSpPr/>
          <p:nvPr/>
        </p:nvSpPr>
        <p:spPr>
          <a:xfrm>
            <a:off x="8961120" y="4986744"/>
            <a:ext cx="182880" cy="182880"/>
          </a:xfrm>
          <a:prstGeom prst="rect">
            <a:avLst/>
          </a:prstGeom>
          <a:noFill/>
          <a:ln/>
        </p:spPr>
        <p:txBody>
          <a:bodyPr wrap="square" lIns="0" tIns="0" rIns="0" bIns="0" rtlCol="0" anchor="ctr"/>
          <a:lstStyle/>
          <a:p>
            <a:pPr marL="0" indent="0" algn="ctr">
              <a:buNone/>
            </a:pPr>
            <a:r>
              <a:rPr lang="en-US" sz="900" b="1" dirty="0">
                <a:solidFill>
                  <a:srgbClr val="231F20"/>
                </a:solidFill>
                <a:latin typeface="Calibri" pitchFamily="34" charset="0"/>
                <a:ea typeface="Calibri" pitchFamily="34" charset="-122"/>
                <a:cs typeface="Calibri" pitchFamily="34" charset="-120"/>
              </a:rPr>
              <a:t>3</a:t>
            </a:r>
            <a:endParaRPr lang="en-US" sz="900" dirty="0"/>
          </a:p>
        </p:txBody>
      </p:sp>
      <p:sp>
        <p:nvSpPr>
          <p:cNvPr id="81" name="Text 78"/>
          <p:cNvSpPr/>
          <p:nvPr/>
        </p:nvSpPr>
        <p:spPr>
          <a:xfrm>
            <a:off x="9208008" y="4982172"/>
            <a:ext cx="1078992" cy="20116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Côte d'Ivoire</a:t>
            </a:r>
            <a:endParaRPr lang="en-US" sz="1050" dirty="0"/>
          </a:p>
        </p:txBody>
      </p:sp>
      <p:sp>
        <p:nvSpPr>
          <p:cNvPr id="82" name="Shape 79"/>
          <p:cNvSpPr/>
          <p:nvPr/>
        </p:nvSpPr>
        <p:spPr>
          <a:xfrm>
            <a:off x="8961120" y="5183340"/>
            <a:ext cx="182880" cy="182880"/>
          </a:xfrm>
          <a:prstGeom prst="ellipse">
            <a:avLst/>
          </a:prstGeom>
          <a:solidFill>
            <a:srgbClr val="F5C242"/>
          </a:solidFill>
          <a:ln/>
        </p:spPr>
        <p:txBody>
          <a:bodyPr/>
          <a:lstStyle/>
          <a:p>
            <a:endParaRPr lang="en-US"/>
          </a:p>
        </p:txBody>
      </p:sp>
      <p:sp>
        <p:nvSpPr>
          <p:cNvPr id="83" name="Text 80"/>
          <p:cNvSpPr/>
          <p:nvPr/>
        </p:nvSpPr>
        <p:spPr>
          <a:xfrm>
            <a:off x="8961120" y="5183340"/>
            <a:ext cx="182880" cy="182880"/>
          </a:xfrm>
          <a:prstGeom prst="rect">
            <a:avLst/>
          </a:prstGeom>
          <a:noFill/>
          <a:ln/>
        </p:spPr>
        <p:txBody>
          <a:bodyPr wrap="square" lIns="0" tIns="0" rIns="0" bIns="0" rtlCol="0" anchor="ctr"/>
          <a:lstStyle/>
          <a:p>
            <a:pPr marL="0" indent="0" algn="ctr">
              <a:buNone/>
            </a:pPr>
            <a:r>
              <a:rPr lang="en-US" sz="900" b="1" dirty="0">
                <a:solidFill>
                  <a:srgbClr val="231F20"/>
                </a:solidFill>
                <a:latin typeface="Calibri" pitchFamily="34" charset="0"/>
                <a:ea typeface="Calibri" pitchFamily="34" charset="-122"/>
                <a:cs typeface="Calibri" pitchFamily="34" charset="-120"/>
              </a:rPr>
              <a:t>4</a:t>
            </a:r>
            <a:endParaRPr lang="en-US" sz="900" dirty="0"/>
          </a:p>
        </p:txBody>
      </p:sp>
      <p:sp>
        <p:nvSpPr>
          <p:cNvPr id="84" name="Text 81"/>
          <p:cNvSpPr/>
          <p:nvPr/>
        </p:nvSpPr>
        <p:spPr>
          <a:xfrm>
            <a:off x="9208008" y="5178768"/>
            <a:ext cx="1078992" cy="20116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Nigeria</a:t>
            </a:r>
            <a:endParaRPr lang="en-US" sz="1050" dirty="0"/>
          </a:p>
        </p:txBody>
      </p:sp>
      <p:sp>
        <p:nvSpPr>
          <p:cNvPr id="85" name="Shape 82"/>
          <p:cNvSpPr/>
          <p:nvPr/>
        </p:nvSpPr>
        <p:spPr>
          <a:xfrm>
            <a:off x="10314432" y="4593552"/>
            <a:ext cx="182880" cy="182880"/>
          </a:xfrm>
          <a:prstGeom prst="ellipse">
            <a:avLst/>
          </a:prstGeom>
          <a:solidFill>
            <a:srgbClr val="F5C242"/>
          </a:solidFill>
          <a:ln/>
        </p:spPr>
        <p:txBody>
          <a:bodyPr/>
          <a:lstStyle/>
          <a:p>
            <a:endParaRPr lang="en-US"/>
          </a:p>
        </p:txBody>
      </p:sp>
      <p:sp>
        <p:nvSpPr>
          <p:cNvPr id="86" name="Text 83"/>
          <p:cNvSpPr/>
          <p:nvPr/>
        </p:nvSpPr>
        <p:spPr>
          <a:xfrm>
            <a:off x="10314432" y="4593552"/>
            <a:ext cx="182880" cy="182880"/>
          </a:xfrm>
          <a:prstGeom prst="rect">
            <a:avLst/>
          </a:prstGeom>
          <a:noFill/>
          <a:ln/>
        </p:spPr>
        <p:txBody>
          <a:bodyPr wrap="square" lIns="0" tIns="0" rIns="0" bIns="0" rtlCol="0" anchor="ctr"/>
          <a:lstStyle/>
          <a:p>
            <a:pPr marL="0" indent="0" algn="ctr">
              <a:buNone/>
            </a:pPr>
            <a:r>
              <a:rPr lang="en-US" sz="900" b="1" dirty="0">
                <a:solidFill>
                  <a:srgbClr val="231F20"/>
                </a:solidFill>
                <a:latin typeface="Calibri" pitchFamily="34" charset="0"/>
                <a:ea typeface="Calibri" pitchFamily="34" charset="-122"/>
                <a:cs typeface="Calibri" pitchFamily="34" charset="-120"/>
              </a:rPr>
              <a:t>5</a:t>
            </a:r>
            <a:endParaRPr lang="en-US" sz="900" dirty="0"/>
          </a:p>
        </p:txBody>
      </p:sp>
      <p:sp>
        <p:nvSpPr>
          <p:cNvPr id="87" name="Text 84"/>
          <p:cNvSpPr/>
          <p:nvPr/>
        </p:nvSpPr>
        <p:spPr>
          <a:xfrm>
            <a:off x="10561320" y="4588980"/>
            <a:ext cx="1170432" cy="20116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Cameroon</a:t>
            </a:r>
            <a:endParaRPr lang="en-US" sz="1050" dirty="0"/>
          </a:p>
        </p:txBody>
      </p:sp>
      <p:sp>
        <p:nvSpPr>
          <p:cNvPr id="88" name="Shape 85"/>
          <p:cNvSpPr/>
          <p:nvPr/>
        </p:nvSpPr>
        <p:spPr>
          <a:xfrm>
            <a:off x="10314432" y="4790148"/>
            <a:ext cx="182880" cy="182880"/>
          </a:xfrm>
          <a:prstGeom prst="ellipse">
            <a:avLst/>
          </a:prstGeom>
          <a:solidFill>
            <a:srgbClr val="F5C242"/>
          </a:solidFill>
          <a:ln/>
        </p:spPr>
        <p:txBody>
          <a:bodyPr/>
          <a:lstStyle/>
          <a:p>
            <a:endParaRPr lang="en-US"/>
          </a:p>
        </p:txBody>
      </p:sp>
      <p:sp>
        <p:nvSpPr>
          <p:cNvPr id="89" name="Text 86"/>
          <p:cNvSpPr/>
          <p:nvPr/>
        </p:nvSpPr>
        <p:spPr>
          <a:xfrm>
            <a:off x="10314432" y="4790148"/>
            <a:ext cx="182880" cy="182880"/>
          </a:xfrm>
          <a:prstGeom prst="rect">
            <a:avLst/>
          </a:prstGeom>
          <a:noFill/>
          <a:ln/>
        </p:spPr>
        <p:txBody>
          <a:bodyPr wrap="square" lIns="0" tIns="0" rIns="0" bIns="0" rtlCol="0" anchor="ctr"/>
          <a:lstStyle/>
          <a:p>
            <a:pPr marL="0" indent="0" algn="ctr">
              <a:buNone/>
            </a:pPr>
            <a:r>
              <a:rPr lang="en-US" sz="900" b="1" dirty="0">
                <a:solidFill>
                  <a:srgbClr val="231F20"/>
                </a:solidFill>
                <a:latin typeface="Calibri" pitchFamily="34" charset="0"/>
                <a:ea typeface="Calibri" pitchFamily="34" charset="-122"/>
                <a:cs typeface="Calibri" pitchFamily="34" charset="-120"/>
              </a:rPr>
              <a:t>6</a:t>
            </a:r>
            <a:endParaRPr lang="en-US" sz="900" dirty="0"/>
          </a:p>
        </p:txBody>
      </p:sp>
      <p:sp>
        <p:nvSpPr>
          <p:cNvPr id="90" name="Text 87"/>
          <p:cNvSpPr/>
          <p:nvPr/>
        </p:nvSpPr>
        <p:spPr>
          <a:xfrm>
            <a:off x="10561320" y="4785576"/>
            <a:ext cx="1170432" cy="20116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Zambia</a:t>
            </a:r>
            <a:endParaRPr lang="en-US" sz="1050" dirty="0"/>
          </a:p>
        </p:txBody>
      </p:sp>
      <p:sp>
        <p:nvSpPr>
          <p:cNvPr id="91" name="Shape 88"/>
          <p:cNvSpPr/>
          <p:nvPr/>
        </p:nvSpPr>
        <p:spPr>
          <a:xfrm>
            <a:off x="10314432" y="4986744"/>
            <a:ext cx="182880" cy="182880"/>
          </a:xfrm>
          <a:prstGeom prst="ellipse">
            <a:avLst/>
          </a:prstGeom>
          <a:solidFill>
            <a:srgbClr val="F5C242"/>
          </a:solidFill>
          <a:ln/>
        </p:spPr>
        <p:txBody>
          <a:bodyPr/>
          <a:lstStyle/>
          <a:p>
            <a:endParaRPr lang="en-US"/>
          </a:p>
        </p:txBody>
      </p:sp>
      <p:sp>
        <p:nvSpPr>
          <p:cNvPr id="92" name="Text 89"/>
          <p:cNvSpPr/>
          <p:nvPr/>
        </p:nvSpPr>
        <p:spPr>
          <a:xfrm>
            <a:off x="10314432" y="4986744"/>
            <a:ext cx="182880" cy="182880"/>
          </a:xfrm>
          <a:prstGeom prst="rect">
            <a:avLst/>
          </a:prstGeom>
          <a:noFill/>
          <a:ln/>
        </p:spPr>
        <p:txBody>
          <a:bodyPr wrap="square" lIns="0" tIns="0" rIns="0" bIns="0" rtlCol="0" anchor="ctr"/>
          <a:lstStyle/>
          <a:p>
            <a:pPr marL="0" indent="0" algn="ctr">
              <a:buNone/>
            </a:pPr>
            <a:r>
              <a:rPr lang="en-US" sz="900" b="1" dirty="0">
                <a:solidFill>
                  <a:srgbClr val="231F20"/>
                </a:solidFill>
                <a:latin typeface="Calibri" pitchFamily="34" charset="0"/>
                <a:ea typeface="Calibri" pitchFamily="34" charset="-122"/>
                <a:cs typeface="Calibri" pitchFamily="34" charset="-120"/>
              </a:rPr>
              <a:t>7</a:t>
            </a:r>
            <a:endParaRPr lang="en-US" sz="900" dirty="0"/>
          </a:p>
        </p:txBody>
      </p:sp>
      <p:sp>
        <p:nvSpPr>
          <p:cNvPr id="93" name="Text 90"/>
          <p:cNvSpPr/>
          <p:nvPr/>
        </p:nvSpPr>
        <p:spPr>
          <a:xfrm>
            <a:off x="10561320" y="4982172"/>
            <a:ext cx="1170432" cy="20116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Botswana</a:t>
            </a:r>
            <a:endParaRPr lang="en-US" sz="1050" dirty="0"/>
          </a:p>
        </p:txBody>
      </p:sp>
      <p:sp>
        <p:nvSpPr>
          <p:cNvPr id="94" name="Shape 91"/>
          <p:cNvSpPr/>
          <p:nvPr/>
        </p:nvSpPr>
        <p:spPr>
          <a:xfrm>
            <a:off x="10314432" y="5183340"/>
            <a:ext cx="182880" cy="182880"/>
          </a:xfrm>
          <a:prstGeom prst="ellipse">
            <a:avLst/>
          </a:prstGeom>
          <a:solidFill>
            <a:srgbClr val="F5C242"/>
          </a:solidFill>
          <a:ln/>
        </p:spPr>
        <p:txBody>
          <a:bodyPr/>
          <a:lstStyle/>
          <a:p>
            <a:endParaRPr lang="en-US"/>
          </a:p>
        </p:txBody>
      </p:sp>
      <p:sp>
        <p:nvSpPr>
          <p:cNvPr id="95" name="Text 92"/>
          <p:cNvSpPr/>
          <p:nvPr/>
        </p:nvSpPr>
        <p:spPr>
          <a:xfrm>
            <a:off x="10314432" y="5183340"/>
            <a:ext cx="182880" cy="182880"/>
          </a:xfrm>
          <a:prstGeom prst="rect">
            <a:avLst/>
          </a:prstGeom>
          <a:noFill/>
          <a:ln/>
        </p:spPr>
        <p:txBody>
          <a:bodyPr wrap="square" lIns="0" tIns="0" rIns="0" bIns="0" rtlCol="0" anchor="ctr"/>
          <a:lstStyle/>
          <a:p>
            <a:pPr marL="0" indent="0" algn="ctr">
              <a:buNone/>
            </a:pPr>
            <a:r>
              <a:rPr lang="en-US" sz="900" b="1" dirty="0">
                <a:solidFill>
                  <a:srgbClr val="231F20"/>
                </a:solidFill>
                <a:latin typeface="Calibri" pitchFamily="34" charset="0"/>
                <a:ea typeface="Calibri" pitchFamily="34" charset="-122"/>
                <a:cs typeface="Calibri" pitchFamily="34" charset="-120"/>
              </a:rPr>
              <a:t>8</a:t>
            </a:r>
            <a:endParaRPr lang="en-US" sz="900" dirty="0"/>
          </a:p>
        </p:txBody>
      </p:sp>
      <p:sp>
        <p:nvSpPr>
          <p:cNvPr id="96" name="Text 93"/>
          <p:cNvSpPr/>
          <p:nvPr/>
        </p:nvSpPr>
        <p:spPr>
          <a:xfrm>
            <a:off x="10561320" y="5178768"/>
            <a:ext cx="1170432" cy="201168"/>
          </a:xfrm>
          <a:prstGeom prst="rect">
            <a:avLst/>
          </a:prstGeom>
          <a:noFill/>
          <a:ln/>
        </p:spPr>
        <p:txBody>
          <a:bodyPr wrap="square" lIns="0" tIns="0" rIns="0" bIns="0" rtlCol="0" anchor="ctr"/>
          <a:lstStyle/>
          <a:p>
            <a:pPr marL="0" indent="0" algn="l">
              <a:buNone/>
            </a:pPr>
            <a:r>
              <a:rPr lang="en-US" sz="1050" dirty="0">
                <a:solidFill>
                  <a:srgbClr val="FFFFFF"/>
                </a:solidFill>
                <a:latin typeface="Calibri" pitchFamily="34" charset="0"/>
                <a:ea typeface="Calibri" pitchFamily="34" charset="-122"/>
                <a:cs typeface="Calibri" pitchFamily="34" charset="-120"/>
              </a:rPr>
              <a:t>Morocco</a:t>
            </a:r>
            <a:endParaRPr lang="en-US" sz="1050" dirty="0"/>
          </a:p>
        </p:txBody>
      </p:sp>
      <p:sp>
        <p:nvSpPr>
          <p:cNvPr id="97" name="Shape 94"/>
          <p:cNvSpPr/>
          <p:nvPr/>
        </p:nvSpPr>
        <p:spPr>
          <a:xfrm>
            <a:off x="502920" y="5650992"/>
            <a:ext cx="11185855" cy="786384"/>
          </a:xfrm>
          <a:prstGeom prst="roundRect">
            <a:avLst>
              <a:gd name="adj" fmla="val 6977"/>
            </a:avLst>
          </a:prstGeom>
          <a:solidFill>
            <a:srgbClr val="00553A"/>
          </a:solidFill>
          <a:ln/>
        </p:spPr>
        <p:txBody>
          <a:bodyPr/>
          <a:lstStyle/>
          <a:p>
            <a:endParaRPr lang="en-US"/>
          </a:p>
        </p:txBody>
      </p:sp>
      <p:sp>
        <p:nvSpPr>
          <p:cNvPr id="98" name="Shape 95"/>
          <p:cNvSpPr/>
          <p:nvPr/>
        </p:nvSpPr>
        <p:spPr>
          <a:xfrm>
            <a:off x="502920" y="5650992"/>
            <a:ext cx="82296" cy="786384"/>
          </a:xfrm>
          <a:prstGeom prst="rect">
            <a:avLst/>
          </a:prstGeom>
          <a:solidFill>
            <a:srgbClr val="F5C242"/>
          </a:solidFill>
          <a:ln/>
        </p:spPr>
        <p:txBody>
          <a:bodyPr/>
          <a:lstStyle/>
          <a:p>
            <a:endParaRPr lang="en-US"/>
          </a:p>
        </p:txBody>
      </p:sp>
      <p:sp>
        <p:nvSpPr>
          <p:cNvPr id="99" name="Shape 96"/>
          <p:cNvSpPr/>
          <p:nvPr/>
        </p:nvSpPr>
        <p:spPr>
          <a:xfrm>
            <a:off x="868680" y="5797296"/>
            <a:ext cx="493776" cy="493776"/>
          </a:xfrm>
          <a:prstGeom prst="ellipse">
            <a:avLst/>
          </a:prstGeom>
          <a:solidFill>
            <a:srgbClr val="F5C242"/>
          </a:solidFill>
          <a:ln/>
        </p:spPr>
        <p:txBody>
          <a:bodyPr/>
          <a:lstStyle/>
          <a:p>
            <a:endParaRPr lang="en-US"/>
          </a:p>
        </p:txBody>
      </p:sp>
      <p:pic>
        <p:nvPicPr>
          <p:cNvPr id="100" name="Image 1" descr="/tmp/icons/cubes_white.png"/>
          <p:cNvPicPr>
            <a:picLocks noChangeAspect="1"/>
          </p:cNvPicPr>
          <p:nvPr/>
        </p:nvPicPr>
        <p:blipFill>
          <a:blip r:embed="rId4"/>
          <a:stretch>
            <a:fillRect/>
          </a:stretch>
        </p:blipFill>
        <p:spPr>
          <a:xfrm>
            <a:off x="1011875" y="5940491"/>
            <a:ext cx="207386" cy="207386"/>
          </a:xfrm>
          <a:prstGeom prst="rect">
            <a:avLst/>
          </a:prstGeom>
        </p:spPr>
      </p:pic>
      <p:sp>
        <p:nvSpPr>
          <p:cNvPr id="101" name="Text 97"/>
          <p:cNvSpPr/>
          <p:nvPr/>
        </p:nvSpPr>
        <p:spPr>
          <a:xfrm>
            <a:off x="1563624" y="5696712"/>
            <a:ext cx="9805111" cy="694944"/>
          </a:xfrm>
          <a:prstGeom prst="rect">
            <a:avLst/>
          </a:prstGeom>
          <a:noFill/>
          <a:ln/>
        </p:spPr>
        <p:txBody>
          <a:bodyPr wrap="square" lIns="0" tIns="0" rIns="0" bIns="0" rtlCol="0" anchor="ctr"/>
          <a:lstStyle/>
          <a:p>
            <a:pPr marL="0" indent="0" algn="l">
              <a:lnSpc>
                <a:spcPct val="100000"/>
              </a:lnSpc>
              <a:buNone/>
            </a:pPr>
            <a:r>
              <a:rPr lang="en-US" sz="1250" b="1" dirty="0">
                <a:solidFill>
                  <a:srgbClr val="F5C242"/>
                </a:solidFill>
                <a:latin typeface="Calibri" pitchFamily="34" charset="0"/>
                <a:ea typeface="Calibri" pitchFamily="34" charset="-122"/>
                <a:cs typeface="Calibri" pitchFamily="34" charset="-120"/>
              </a:rPr>
              <a:t>Support Data Innovation Lab (DIL) creation in RMCs:  </a:t>
            </a:r>
            <a:r>
              <a:rPr lang="en-US" sz="1250" dirty="0">
                <a:solidFill>
                  <a:srgbClr val="FFFFFF"/>
                </a:solidFill>
                <a:latin typeface="Calibri" pitchFamily="34" charset="0"/>
                <a:ea typeface="Calibri" pitchFamily="34" charset="-122"/>
                <a:cs typeface="Calibri" pitchFamily="34" charset="-120"/>
              </a:rPr>
              <a:t>through the Bank's Data Innovation Maturity Model — a 12-dimension diagnostic applied in 8 countries to guide national action plans.</a:t>
            </a:r>
            <a:endParaRPr lang="en-US" sz="1250" dirty="0"/>
          </a:p>
        </p:txBody>
      </p:sp>
      <p:sp>
        <p:nvSpPr>
          <p:cNvPr id="102" name="Text 98"/>
          <p:cNvSpPr/>
          <p:nvPr/>
        </p:nvSpPr>
        <p:spPr>
          <a:xfrm>
            <a:off x="502920" y="6419088"/>
            <a:ext cx="5486400" cy="274320"/>
          </a:xfrm>
          <a:prstGeom prst="rect">
            <a:avLst/>
          </a:prstGeom>
          <a:noFill/>
          <a:ln/>
        </p:spPr>
        <p:txBody>
          <a:bodyPr wrap="square" lIns="0" tIns="0" rIns="0" bIns="0" rtlCol="0" anchor="ctr"/>
          <a:lstStyle/>
          <a:p>
            <a:pPr marL="0" indent="0" algn="l">
              <a:buNone/>
            </a:pPr>
            <a:r>
              <a:rPr lang="en-US" sz="850" b="0" i="0" dirty="0">
                <a:solidFill>
                  <a:srgbClr val="8A9590"/>
                </a:solidFill>
                <a:latin typeface="Calibri" pitchFamily="34" charset="0"/>
                <a:ea typeface="Calibri" pitchFamily="34" charset="-122"/>
                <a:cs typeface="Calibri" pitchFamily="34" charset="-120"/>
              </a:rPr>
              <a:t>Data Innovation for Africa  ·  AfDB Statistics Department (ECST)</a:t>
            </a:r>
            <a:endParaRPr lang="en-US" sz="900" dirty="0"/>
          </a:p>
        </p:txBody>
      </p:sp>
      <p:sp>
        <p:nvSpPr>
          <p:cNvPr id="103" name="Text 99"/>
          <p:cNvSpPr/>
          <p:nvPr/>
        </p:nvSpPr>
        <p:spPr>
          <a:xfrm>
            <a:off x="6202375" y="6419088"/>
            <a:ext cx="5486400" cy="274320"/>
          </a:xfrm>
          <a:prstGeom prst="rect">
            <a:avLst/>
          </a:prstGeom>
          <a:noFill/>
          <a:ln/>
        </p:spPr>
        <p:txBody>
          <a:bodyPr wrap="square" lIns="0" tIns="0" rIns="0" bIns="0" rtlCol="0" anchor="ctr"/>
          <a:lstStyle/>
          <a:p>
            <a:pPr algn="r"/>
            <a:r>
              <a:rPr lang="en-US" sz="850" b="0" i="0" dirty="0">
                <a:solidFill>
                  <a:srgbClr val="8A9590"/>
                </a:solidFill>
                <a:latin typeface="Calibri" pitchFamily="34" charset="0"/>
                <a:ea typeface="Calibri" pitchFamily="34" charset="-122"/>
                <a:cs typeface="Calibri" pitchFamily="34" charset="-120"/>
              </a:rPr>
              <a:t>7</a:t>
            </a:r>
            <a:endParaRPr lang="en-US" sz="900" dirty="0"/>
          </a:p>
        </p:txBody>
      </p:sp>
      <p:pic>
        <p:nvPicPr>
          <p:cNvPr id="104" name="Picture 103">
            <a:extLst>
              <a:ext uri="{FF2B5EF4-FFF2-40B4-BE49-F238E27FC236}">
                <a16:creationId xmlns:a16="http://schemas.microsoft.com/office/drawing/2014/main" id="{04164DAF-2194-4A90-86DD-04CEC8AF94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06840" y="164592"/>
            <a:ext cx="1234440" cy="1234440"/>
          </a:xfrm>
          <a:prstGeom prst="rect">
            <a:avLst/>
          </a:prstGeom>
          <a:ln>
            <a:noFill/>
          </a:ln>
          <a:effectLst>
            <a:outerShdw blurRad="292100" dist="139700" dir="2700000" algn="tl" rotWithShape="0">
              <a:srgbClr val="333333">
                <a:alpha val="65000"/>
              </a:srgbClr>
            </a:outerShdw>
          </a:effectLst>
        </p:spPr>
      </p:pic>
      <p:sp>
        <p:nvSpPr>
          <p:cNvPr id="107" name="Rectangle 106"/>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8" name="Rectangle 107"/>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Oval 108"/>
          <p:cNvSpPr/>
          <p:nvPr/>
        </p:nvSpPr>
        <p:spPr>
          <a:xfrm>
            <a:off x="106070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Oval 109"/>
          <p:cNvSpPr/>
          <p:nvPr/>
        </p:nvSpPr>
        <p:spPr>
          <a:xfrm>
            <a:off x="10835640" y="448056"/>
            <a:ext cx="118872" cy="118872"/>
          </a:xfrm>
          <a:prstGeom prst="ellipse">
            <a:avLst/>
          </a:prstGeom>
          <a:solidFill>
            <a:srgbClr val="007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1" name="Oval 110"/>
          <p:cNvSpPr/>
          <p:nvPr/>
        </p:nvSpPr>
        <p:spPr>
          <a:xfrm>
            <a:off x="110642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Oval 111"/>
          <p:cNvSpPr/>
          <p:nvPr/>
        </p:nvSpPr>
        <p:spPr>
          <a:xfrm>
            <a:off x="112928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Oval 112"/>
          <p:cNvSpPr/>
          <p:nvPr/>
        </p:nvSpPr>
        <p:spPr>
          <a:xfrm>
            <a:off x="115214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0C100049-EB57-44EA-062F-3B4D4DFBA1AB}"/>
            </a:ext>
          </a:extLst>
        </p:cNvPr>
        <p:cNvGrpSpPr/>
        <p:nvPr/>
      </p:nvGrpSpPr>
      <p:grpSpPr>
        <a:xfrm>
          <a:off x="0" y="0"/>
          <a:ext cx="0" cy="0"/>
          <a:chOff x="0" y="0"/>
          <a:chExt cx="0" cy="0"/>
        </a:xfrm>
      </p:grpSpPr>
      <p:sp>
        <p:nvSpPr>
          <p:cNvPr id="113" name="Oval 112"/>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4" name="Oval 113"/>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5" name="Group 14">
            <a:extLst>
              <a:ext uri="{FF2B5EF4-FFF2-40B4-BE49-F238E27FC236}">
                <a16:creationId xmlns:a16="http://schemas.microsoft.com/office/drawing/2014/main" id="{D032E968-A411-4357-AFAC-BB7E0B3F6DB1}"/>
              </a:ext>
            </a:extLst>
          </p:cNvPr>
          <p:cNvGrpSpPr/>
          <p:nvPr/>
        </p:nvGrpSpPr>
        <p:grpSpPr>
          <a:xfrm>
            <a:off x="1021096" y="923320"/>
            <a:ext cx="10149808" cy="4608804"/>
            <a:chOff x="1021096" y="1863034"/>
            <a:chExt cx="10149808" cy="4608804"/>
          </a:xfrm>
        </p:grpSpPr>
        <p:grpSp>
          <p:nvGrpSpPr>
            <p:cNvPr id="16" name="Group 15">
              <a:extLst>
                <a:ext uri="{FF2B5EF4-FFF2-40B4-BE49-F238E27FC236}">
                  <a16:creationId xmlns:a16="http://schemas.microsoft.com/office/drawing/2014/main" id="{BDEFA26E-1CD0-4386-9167-D3B723407119}"/>
                </a:ext>
              </a:extLst>
            </p:cNvPr>
            <p:cNvGrpSpPr/>
            <p:nvPr/>
          </p:nvGrpSpPr>
          <p:grpSpPr>
            <a:xfrm>
              <a:off x="4765829" y="1863034"/>
              <a:ext cx="2608814" cy="4573449"/>
              <a:chOff x="4843562" y="1863034"/>
              <a:chExt cx="2264667" cy="3970133"/>
            </a:xfrm>
          </p:grpSpPr>
          <p:cxnSp>
            <p:nvCxnSpPr>
              <p:cNvPr id="57" name="Google Shape;931;p31">
                <a:extLst>
                  <a:ext uri="{FF2B5EF4-FFF2-40B4-BE49-F238E27FC236}">
                    <a16:creationId xmlns:a16="http://schemas.microsoft.com/office/drawing/2014/main" id="{4444D572-9A63-4B91-8DE2-45337386194F}"/>
                  </a:ext>
                </a:extLst>
              </p:cNvPr>
              <p:cNvCxnSpPr/>
              <p:nvPr/>
            </p:nvCxnSpPr>
            <p:spPr>
              <a:xfrm>
                <a:off x="5496203" y="4895767"/>
                <a:ext cx="35200" cy="75600"/>
              </a:xfrm>
              <a:prstGeom prst="straightConnector1">
                <a:avLst/>
              </a:prstGeom>
              <a:noFill/>
              <a:ln w="9525" cap="flat" cmpd="sng">
                <a:solidFill>
                  <a:srgbClr val="434343"/>
                </a:solidFill>
                <a:prstDash val="solid"/>
                <a:round/>
                <a:headEnd type="none" w="med" len="med"/>
                <a:tailEnd type="none" w="med" len="med"/>
              </a:ln>
            </p:spPr>
          </p:cxnSp>
          <p:sp>
            <p:nvSpPr>
              <p:cNvPr id="58" name="Google Shape;932;p31">
                <a:extLst>
                  <a:ext uri="{FF2B5EF4-FFF2-40B4-BE49-F238E27FC236}">
                    <a16:creationId xmlns:a16="http://schemas.microsoft.com/office/drawing/2014/main" id="{815DAD2C-47AB-4AA3-9192-BD9274374002}"/>
                  </a:ext>
                </a:extLst>
              </p:cNvPr>
              <p:cNvSpPr/>
              <p:nvPr/>
            </p:nvSpPr>
            <p:spPr>
              <a:xfrm>
                <a:off x="5501262" y="4963234"/>
                <a:ext cx="974367" cy="869933"/>
              </a:xfrm>
              <a:custGeom>
                <a:avLst/>
                <a:gdLst/>
                <a:ahLst/>
                <a:cxnLst/>
                <a:rect l="l" t="t" r="r" b="b"/>
                <a:pathLst>
                  <a:path w="29231" h="26098" extrusionOk="0">
                    <a:moveTo>
                      <a:pt x="189" y="0"/>
                    </a:moveTo>
                    <a:lnTo>
                      <a:pt x="189" y="2804"/>
                    </a:lnTo>
                    <a:cubicBezTo>
                      <a:pt x="293" y="3327"/>
                      <a:pt x="628" y="3746"/>
                      <a:pt x="1109" y="3997"/>
                    </a:cubicBezTo>
                    <a:cubicBezTo>
                      <a:pt x="1193" y="4708"/>
                      <a:pt x="816" y="5419"/>
                      <a:pt x="189" y="5775"/>
                    </a:cubicBezTo>
                    <a:lnTo>
                      <a:pt x="189" y="6863"/>
                    </a:lnTo>
                    <a:cubicBezTo>
                      <a:pt x="189" y="6863"/>
                      <a:pt x="942" y="7470"/>
                      <a:pt x="1109" y="7972"/>
                    </a:cubicBezTo>
                    <a:cubicBezTo>
                      <a:pt x="1277" y="8474"/>
                      <a:pt x="356" y="9667"/>
                      <a:pt x="0" y="9834"/>
                    </a:cubicBezTo>
                    <a:lnTo>
                      <a:pt x="0" y="10860"/>
                    </a:lnTo>
                    <a:cubicBezTo>
                      <a:pt x="503" y="10964"/>
                      <a:pt x="921" y="11299"/>
                      <a:pt x="1109" y="11780"/>
                    </a:cubicBezTo>
                    <a:cubicBezTo>
                      <a:pt x="1381" y="12533"/>
                      <a:pt x="691" y="13726"/>
                      <a:pt x="189" y="13977"/>
                    </a:cubicBezTo>
                    <a:lnTo>
                      <a:pt x="189" y="14751"/>
                    </a:lnTo>
                    <a:cubicBezTo>
                      <a:pt x="189" y="14751"/>
                      <a:pt x="1612" y="15588"/>
                      <a:pt x="1109" y="16865"/>
                    </a:cubicBezTo>
                    <a:cubicBezTo>
                      <a:pt x="1109" y="16865"/>
                      <a:pt x="691" y="17534"/>
                      <a:pt x="1863" y="17953"/>
                    </a:cubicBezTo>
                    <a:cubicBezTo>
                      <a:pt x="2197" y="18329"/>
                      <a:pt x="2469" y="18727"/>
                      <a:pt x="2720" y="19145"/>
                    </a:cubicBezTo>
                    <a:cubicBezTo>
                      <a:pt x="2972" y="19647"/>
                      <a:pt x="4750" y="21510"/>
                      <a:pt x="5252" y="21593"/>
                    </a:cubicBezTo>
                    <a:lnTo>
                      <a:pt x="6026" y="21593"/>
                    </a:lnTo>
                    <a:cubicBezTo>
                      <a:pt x="6026" y="21593"/>
                      <a:pt x="8474" y="24146"/>
                      <a:pt x="9332" y="25339"/>
                    </a:cubicBezTo>
                    <a:cubicBezTo>
                      <a:pt x="9332" y="25339"/>
                      <a:pt x="11097" y="26098"/>
                      <a:pt x="12657" y="26098"/>
                    </a:cubicBezTo>
                    <a:cubicBezTo>
                      <a:pt x="12735" y="26098"/>
                      <a:pt x="12813" y="26096"/>
                      <a:pt x="12889" y="26092"/>
                    </a:cubicBezTo>
                    <a:cubicBezTo>
                      <a:pt x="13454" y="25925"/>
                      <a:pt x="14019" y="25820"/>
                      <a:pt x="14626" y="25757"/>
                    </a:cubicBezTo>
                    <a:cubicBezTo>
                      <a:pt x="15212" y="25820"/>
                      <a:pt x="15777" y="25925"/>
                      <a:pt x="16363" y="26092"/>
                    </a:cubicBezTo>
                    <a:cubicBezTo>
                      <a:pt x="16438" y="26096"/>
                      <a:pt x="16515" y="26098"/>
                      <a:pt x="16592" y="26098"/>
                    </a:cubicBezTo>
                    <a:cubicBezTo>
                      <a:pt x="18136" y="26098"/>
                      <a:pt x="19920" y="25339"/>
                      <a:pt x="19920" y="25339"/>
                    </a:cubicBezTo>
                    <a:cubicBezTo>
                      <a:pt x="20757" y="24146"/>
                      <a:pt x="23205" y="21593"/>
                      <a:pt x="23205" y="21593"/>
                    </a:cubicBezTo>
                    <a:lnTo>
                      <a:pt x="23979" y="21593"/>
                    </a:lnTo>
                    <a:cubicBezTo>
                      <a:pt x="24481" y="21510"/>
                      <a:pt x="26260" y="19647"/>
                      <a:pt x="26511" y="19145"/>
                    </a:cubicBezTo>
                    <a:cubicBezTo>
                      <a:pt x="26762" y="18727"/>
                      <a:pt x="27034" y="18329"/>
                      <a:pt x="27368" y="17953"/>
                    </a:cubicBezTo>
                    <a:cubicBezTo>
                      <a:pt x="28540" y="17534"/>
                      <a:pt x="28122" y="16865"/>
                      <a:pt x="28122" y="16865"/>
                    </a:cubicBezTo>
                    <a:cubicBezTo>
                      <a:pt x="27620" y="15588"/>
                      <a:pt x="29063" y="14751"/>
                      <a:pt x="29063" y="14751"/>
                    </a:cubicBezTo>
                    <a:lnTo>
                      <a:pt x="29063" y="13977"/>
                    </a:lnTo>
                    <a:cubicBezTo>
                      <a:pt x="28540" y="13705"/>
                      <a:pt x="27871" y="12533"/>
                      <a:pt x="28122" y="11780"/>
                    </a:cubicBezTo>
                    <a:cubicBezTo>
                      <a:pt x="28310" y="11299"/>
                      <a:pt x="28729" y="10943"/>
                      <a:pt x="29231" y="10839"/>
                    </a:cubicBezTo>
                    <a:lnTo>
                      <a:pt x="29231" y="9813"/>
                    </a:lnTo>
                    <a:cubicBezTo>
                      <a:pt x="28896" y="9646"/>
                      <a:pt x="27954" y="8474"/>
                      <a:pt x="28122" y="7951"/>
                    </a:cubicBezTo>
                    <a:cubicBezTo>
                      <a:pt x="28289" y="7449"/>
                      <a:pt x="29063" y="6863"/>
                      <a:pt x="29063" y="6863"/>
                    </a:cubicBezTo>
                    <a:lnTo>
                      <a:pt x="29063" y="5754"/>
                    </a:lnTo>
                    <a:cubicBezTo>
                      <a:pt x="28415" y="5398"/>
                      <a:pt x="28038" y="4708"/>
                      <a:pt x="28122" y="3976"/>
                    </a:cubicBezTo>
                    <a:cubicBezTo>
                      <a:pt x="28582" y="3746"/>
                      <a:pt x="28938" y="3306"/>
                      <a:pt x="29063" y="2804"/>
                    </a:cubicBezTo>
                    <a:lnTo>
                      <a:pt x="29063" y="21"/>
                    </a:lnTo>
                    <a:cubicBezTo>
                      <a:pt x="25067" y="168"/>
                      <a:pt x="14668" y="335"/>
                      <a:pt x="14668" y="335"/>
                    </a:cubicBezTo>
                    <a:cubicBezTo>
                      <a:pt x="14668" y="335"/>
                      <a:pt x="7324" y="188"/>
                      <a:pt x="2574" y="0"/>
                    </a:cubicBezTo>
                    <a:close/>
                  </a:path>
                </a:pathLst>
              </a:custGeom>
              <a:solidFill>
                <a:schemeClr val="bg1">
                  <a:lumMod val="50000"/>
                </a:schemeClr>
              </a:solidFill>
              <a:ln>
                <a:noFill/>
              </a:ln>
            </p:spPr>
            <p:txBody>
              <a:bodyPr spcFirstLastPara="1" wrap="square" lIns="121900" tIns="121900" rIns="121900" bIns="121900" anchor="ctr" anchorCtr="0">
                <a:noAutofit/>
              </a:bodyPr>
              <a:lstStyle/>
              <a:p>
                <a:endParaRPr sz="2400"/>
              </a:p>
            </p:txBody>
          </p:sp>
          <p:sp>
            <p:nvSpPr>
              <p:cNvPr id="59" name="Google Shape;933;p31">
                <a:extLst>
                  <a:ext uri="{FF2B5EF4-FFF2-40B4-BE49-F238E27FC236}">
                    <a16:creationId xmlns:a16="http://schemas.microsoft.com/office/drawing/2014/main" id="{056082F5-3842-42B5-92EF-885FBBF25803}"/>
                  </a:ext>
                </a:extLst>
              </p:cNvPr>
              <p:cNvSpPr/>
              <p:nvPr/>
            </p:nvSpPr>
            <p:spPr>
              <a:xfrm>
                <a:off x="5727229" y="4993900"/>
                <a:ext cx="740033" cy="76767"/>
              </a:xfrm>
              <a:custGeom>
                <a:avLst/>
                <a:gdLst/>
                <a:ahLst/>
                <a:cxnLst/>
                <a:rect l="l" t="t" r="r" b="b"/>
                <a:pathLst>
                  <a:path w="22201" h="2303" extrusionOk="0">
                    <a:moveTo>
                      <a:pt x="1" y="105"/>
                    </a:moveTo>
                    <a:cubicBezTo>
                      <a:pt x="1" y="105"/>
                      <a:pt x="22" y="106"/>
                      <a:pt x="64" y="108"/>
                    </a:cubicBezTo>
                    <a:lnTo>
                      <a:pt x="64" y="108"/>
                    </a:lnTo>
                    <a:cubicBezTo>
                      <a:pt x="42" y="107"/>
                      <a:pt x="21" y="106"/>
                      <a:pt x="1" y="105"/>
                    </a:cubicBezTo>
                    <a:close/>
                    <a:moveTo>
                      <a:pt x="21008" y="1"/>
                    </a:moveTo>
                    <a:cubicBezTo>
                      <a:pt x="18999" y="257"/>
                      <a:pt x="15591" y="337"/>
                      <a:pt x="12099" y="337"/>
                    </a:cubicBezTo>
                    <a:cubicBezTo>
                      <a:pt x="6521" y="337"/>
                      <a:pt x="727" y="132"/>
                      <a:pt x="64" y="108"/>
                    </a:cubicBezTo>
                    <a:lnTo>
                      <a:pt x="64" y="108"/>
                    </a:lnTo>
                    <a:cubicBezTo>
                      <a:pt x="4706" y="280"/>
                      <a:pt x="18225" y="1110"/>
                      <a:pt x="18204" y="1110"/>
                    </a:cubicBezTo>
                    <a:cubicBezTo>
                      <a:pt x="17284" y="1696"/>
                      <a:pt x="524" y="2030"/>
                      <a:pt x="524" y="2030"/>
                    </a:cubicBezTo>
                    <a:lnTo>
                      <a:pt x="20589" y="2302"/>
                    </a:lnTo>
                    <a:cubicBezTo>
                      <a:pt x="22201" y="1361"/>
                      <a:pt x="21008" y="1"/>
                      <a:pt x="21008"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0" name="Google Shape;934;p31">
                <a:extLst>
                  <a:ext uri="{FF2B5EF4-FFF2-40B4-BE49-F238E27FC236}">
                    <a16:creationId xmlns:a16="http://schemas.microsoft.com/office/drawing/2014/main" id="{E7439CFD-AD08-4D73-B9C8-B5F8AE2A0F25}"/>
                  </a:ext>
                </a:extLst>
              </p:cNvPr>
              <p:cNvSpPr/>
              <p:nvPr/>
            </p:nvSpPr>
            <p:spPr>
              <a:xfrm>
                <a:off x="5575195" y="5109700"/>
                <a:ext cx="804200" cy="31633"/>
              </a:xfrm>
              <a:custGeom>
                <a:avLst/>
                <a:gdLst/>
                <a:ahLst/>
                <a:cxnLst/>
                <a:rect l="l" t="t" r="r" b="b"/>
                <a:pathLst>
                  <a:path w="24126" h="949" extrusionOk="0">
                    <a:moveTo>
                      <a:pt x="0" y="0"/>
                    </a:moveTo>
                    <a:lnTo>
                      <a:pt x="0" y="0"/>
                    </a:lnTo>
                    <a:cubicBezTo>
                      <a:pt x="3132" y="712"/>
                      <a:pt x="6856" y="949"/>
                      <a:pt x="10430" y="949"/>
                    </a:cubicBezTo>
                    <a:cubicBezTo>
                      <a:pt x="17578" y="949"/>
                      <a:pt x="24124" y="0"/>
                      <a:pt x="24125" y="0"/>
                    </a:cubicBezTo>
                    <a:lnTo>
                      <a:pt x="24125" y="0"/>
                    </a:lnTo>
                    <a:cubicBezTo>
                      <a:pt x="20512" y="426"/>
                      <a:pt x="16628" y="567"/>
                      <a:pt x="13054" y="567"/>
                    </a:cubicBezTo>
                    <a:cubicBezTo>
                      <a:pt x="5906" y="567"/>
                      <a:pt x="1" y="0"/>
                      <a:pt x="0"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1" name="Google Shape;935;p31">
                <a:extLst>
                  <a:ext uri="{FF2B5EF4-FFF2-40B4-BE49-F238E27FC236}">
                    <a16:creationId xmlns:a16="http://schemas.microsoft.com/office/drawing/2014/main" id="{226C85D4-A82F-4F87-8B26-261938A44EF0}"/>
                  </a:ext>
                </a:extLst>
              </p:cNvPr>
              <p:cNvSpPr/>
              <p:nvPr/>
            </p:nvSpPr>
            <p:spPr>
              <a:xfrm>
                <a:off x="5580762" y="5214300"/>
                <a:ext cx="804200" cy="31333"/>
              </a:xfrm>
              <a:custGeom>
                <a:avLst/>
                <a:gdLst/>
                <a:ahLst/>
                <a:cxnLst/>
                <a:rect l="l" t="t" r="r" b="b"/>
                <a:pathLst>
                  <a:path w="24126" h="940" extrusionOk="0">
                    <a:moveTo>
                      <a:pt x="1" y="1"/>
                    </a:moveTo>
                    <a:cubicBezTo>
                      <a:pt x="3132" y="705"/>
                      <a:pt x="6857" y="940"/>
                      <a:pt x="10431" y="940"/>
                    </a:cubicBezTo>
                    <a:cubicBezTo>
                      <a:pt x="17578" y="940"/>
                      <a:pt x="24125" y="1"/>
                      <a:pt x="24126" y="1"/>
                    </a:cubicBezTo>
                    <a:lnTo>
                      <a:pt x="24126" y="1"/>
                    </a:lnTo>
                    <a:cubicBezTo>
                      <a:pt x="20513" y="426"/>
                      <a:pt x="16628" y="568"/>
                      <a:pt x="13054" y="568"/>
                    </a:cubicBezTo>
                    <a:cubicBezTo>
                      <a:pt x="5906" y="568"/>
                      <a:pt x="1" y="1"/>
                      <a:pt x="1"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2" name="Google Shape;936;p31">
                <a:extLst>
                  <a:ext uri="{FF2B5EF4-FFF2-40B4-BE49-F238E27FC236}">
                    <a16:creationId xmlns:a16="http://schemas.microsoft.com/office/drawing/2014/main" id="{71F17B16-5DA6-449F-BA81-BB1AB97D4929}"/>
                  </a:ext>
                </a:extLst>
              </p:cNvPr>
              <p:cNvSpPr/>
              <p:nvPr/>
            </p:nvSpPr>
            <p:spPr>
              <a:xfrm>
                <a:off x="5580762" y="5335667"/>
                <a:ext cx="804200" cy="31333"/>
              </a:xfrm>
              <a:custGeom>
                <a:avLst/>
                <a:gdLst/>
                <a:ahLst/>
                <a:cxnLst/>
                <a:rect l="l" t="t" r="r" b="b"/>
                <a:pathLst>
                  <a:path w="24126" h="940" extrusionOk="0">
                    <a:moveTo>
                      <a:pt x="1" y="0"/>
                    </a:moveTo>
                    <a:cubicBezTo>
                      <a:pt x="3132" y="705"/>
                      <a:pt x="6857" y="940"/>
                      <a:pt x="10431" y="940"/>
                    </a:cubicBezTo>
                    <a:cubicBezTo>
                      <a:pt x="17578" y="940"/>
                      <a:pt x="24125" y="1"/>
                      <a:pt x="24126" y="0"/>
                    </a:cubicBezTo>
                    <a:lnTo>
                      <a:pt x="24126" y="0"/>
                    </a:lnTo>
                    <a:cubicBezTo>
                      <a:pt x="20513" y="426"/>
                      <a:pt x="16628" y="568"/>
                      <a:pt x="13054" y="568"/>
                    </a:cubicBezTo>
                    <a:cubicBezTo>
                      <a:pt x="5906" y="568"/>
                      <a:pt x="1" y="0"/>
                      <a:pt x="1"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3" name="Google Shape;937;p31">
                <a:extLst>
                  <a:ext uri="{FF2B5EF4-FFF2-40B4-BE49-F238E27FC236}">
                    <a16:creationId xmlns:a16="http://schemas.microsoft.com/office/drawing/2014/main" id="{99B2A357-3891-43A2-8094-E4A6DE3C1E0C}"/>
                  </a:ext>
                </a:extLst>
              </p:cNvPr>
              <p:cNvSpPr/>
              <p:nvPr/>
            </p:nvSpPr>
            <p:spPr>
              <a:xfrm>
                <a:off x="5589129" y="5440267"/>
                <a:ext cx="804667" cy="31367"/>
              </a:xfrm>
              <a:custGeom>
                <a:avLst/>
                <a:gdLst/>
                <a:ahLst/>
                <a:cxnLst/>
                <a:rect l="l" t="t" r="r" b="b"/>
                <a:pathLst>
                  <a:path w="24140" h="941" extrusionOk="0">
                    <a:moveTo>
                      <a:pt x="24126" y="1"/>
                    </a:moveTo>
                    <a:lnTo>
                      <a:pt x="24126" y="1"/>
                    </a:lnTo>
                    <a:cubicBezTo>
                      <a:pt x="20513" y="426"/>
                      <a:pt x="16628" y="568"/>
                      <a:pt x="13054" y="568"/>
                    </a:cubicBezTo>
                    <a:cubicBezTo>
                      <a:pt x="5906" y="568"/>
                      <a:pt x="1" y="1"/>
                      <a:pt x="1" y="1"/>
                    </a:cubicBezTo>
                    <a:lnTo>
                      <a:pt x="1" y="1"/>
                    </a:lnTo>
                    <a:cubicBezTo>
                      <a:pt x="3132" y="705"/>
                      <a:pt x="6859" y="940"/>
                      <a:pt x="10435" y="940"/>
                    </a:cubicBezTo>
                    <a:cubicBezTo>
                      <a:pt x="17588" y="940"/>
                      <a:pt x="24140" y="1"/>
                      <a:pt x="24126"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4" name="Google Shape;938;p31">
                <a:extLst>
                  <a:ext uri="{FF2B5EF4-FFF2-40B4-BE49-F238E27FC236}">
                    <a16:creationId xmlns:a16="http://schemas.microsoft.com/office/drawing/2014/main" id="{FA9FA830-DF9F-4896-B44E-F8D0788B94DD}"/>
                  </a:ext>
                </a:extLst>
              </p:cNvPr>
              <p:cNvSpPr/>
              <p:nvPr/>
            </p:nvSpPr>
            <p:spPr>
              <a:xfrm>
                <a:off x="5586362" y="5542100"/>
                <a:ext cx="804167" cy="31367"/>
              </a:xfrm>
              <a:custGeom>
                <a:avLst/>
                <a:gdLst/>
                <a:ahLst/>
                <a:cxnLst/>
                <a:rect l="l" t="t" r="r" b="b"/>
                <a:pathLst>
                  <a:path w="24125" h="941" extrusionOk="0">
                    <a:moveTo>
                      <a:pt x="0" y="1"/>
                    </a:moveTo>
                    <a:lnTo>
                      <a:pt x="0" y="1"/>
                    </a:lnTo>
                    <a:cubicBezTo>
                      <a:pt x="3132" y="705"/>
                      <a:pt x="6856" y="940"/>
                      <a:pt x="10430" y="940"/>
                    </a:cubicBezTo>
                    <a:cubicBezTo>
                      <a:pt x="17578" y="940"/>
                      <a:pt x="24124" y="1"/>
                      <a:pt x="24125" y="1"/>
                    </a:cubicBezTo>
                    <a:lnTo>
                      <a:pt x="24125" y="1"/>
                    </a:lnTo>
                    <a:cubicBezTo>
                      <a:pt x="20512" y="419"/>
                      <a:pt x="16627" y="559"/>
                      <a:pt x="13053" y="559"/>
                    </a:cubicBezTo>
                    <a:cubicBezTo>
                      <a:pt x="5905" y="559"/>
                      <a:pt x="1" y="1"/>
                      <a:pt x="0"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5" name="Google Shape;939;p31">
                <a:extLst>
                  <a:ext uri="{FF2B5EF4-FFF2-40B4-BE49-F238E27FC236}">
                    <a16:creationId xmlns:a16="http://schemas.microsoft.com/office/drawing/2014/main" id="{2DEDAA16-95BE-4CA0-8D67-AB238EB9B599}"/>
                  </a:ext>
                </a:extLst>
              </p:cNvPr>
              <p:cNvSpPr/>
              <p:nvPr/>
            </p:nvSpPr>
            <p:spPr>
              <a:xfrm>
                <a:off x="5975529" y="5660667"/>
                <a:ext cx="279700" cy="140933"/>
              </a:xfrm>
              <a:custGeom>
                <a:avLst/>
                <a:gdLst/>
                <a:ahLst/>
                <a:cxnLst/>
                <a:rect l="l" t="t" r="r" b="b"/>
                <a:pathLst>
                  <a:path w="8391" h="4228" extrusionOk="0">
                    <a:moveTo>
                      <a:pt x="0" y="1"/>
                    </a:moveTo>
                    <a:cubicBezTo>
                      <a:pt x="1" y="1"/>
                      <a:pt x="2972" y="1089"/>
                      <a:pt x="4583" y="1173"/>
                    </a:cubicBezTo>
                    <a:cubicBezTo>
                      <a:pt x="6194" y="1256"/>
                      <a:pt x="4666" y="4227"/>
                      <a:pt x="4666" y="4227"/>
                    </a:cubicBezTo>
                    <a:lnTo>
                      <a:pt x="8391" y="1"/>
                    </a:lnTo>
                    <a:lnTo>
                      <a:pt x="8391" y="1"/>
                    </a:lnTo>
                    <a:cubicBezTo>
                      <a:pt x="7686" y="140"/>
                      <a:pt x="6519" y="187"/>
                      <a:pt x="5276" y="187"/>
                    </a:cubicBezTo>
                    <a:cubicBezTo>
                      <a:pt x="2790" y="187"/>
                      <a:pt x="1" y="1"/>
                      <a:pt x="0"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6" name="Google Shape;940;p31">
                <a:extLst>
                  <a:ext uri="{FF2B5EF4-FFF2-40B4-BE49-F238E27FC236}">
                    <a16:creationId xmlns:a16="http://schemas.microsoft.com/office/drawing/2014/main" id="{37A0E96B-0F52-4D17-B453-28C95558D52D}"/>
                  </a:ext>
                </a:extLst>
              </p:cNvPr>
              <p:cNvSpPr/>
              <p:nvPr/>
            </p:nvSpPr>
            <p:spPr>
              <a:xfrm>
                <a:off x="5783729" y="5132000"/>
                <a:ext cx="285300" cy="104667"/>
              </a:xfrm>
              <a:custGeom>
                <a:avLst/>
                <a:gdLst/>
                <a:ahLst/>
                <a:cxnLst/>
                <a:rect l="l" t="t" r="r" b="b"/>
                <a:pathLst>
                  <a:path w="8559" h="3140" extrusionOk="0">
                    <a:moveTo>
                      <a:pt x="5838" y="1"/>
                    </a:moveTo>
                    <a:lnTo>
                      <a:pt x="4248" y="105"/>
                    </a:lnTo>
                    <a:lnTo>
                      <a:pt x="0" y="105"/>
                    </a:lnTo>
                    <a:cubicBezTo>
                      <a:pt x="0" y="105"/>
                      <a:pt x="8035" y="2281"/>
                      <a:pt x="5943" y="2972"/>
                    </a:cubicBezTo>
                    <a:cubicBezTo>
                      <a:pt x="5420" y="3139"/>
                      <a:pt x="8558" y="3139"/>
                      <a:pt x="8558" y="3139"/>
                    </a:cubicBezTo>
                    <a:cubicBezTo>
                      <a:pt x="8558" y="3139"/>
                      <a:pt x="5420" y="691"/>
                      <a:pt x="5838"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7" name="Google Shape;941;p31">
                <a:extLst>
                  <a:ext uri="{FF2B5EF4-FFF2-40B4-BE49-F238E27FC236}">
                    <a16:creationId xmlns:a16="http://schemas.microsoft.com/office/drawing/2014/main" id="{492679D4-A1CE-4797-96E2-575C5B44B93A}"/>
                  </a:ext>
                </a:extLst>
              </p:cNvPr>
              <p:cNvSpPr/>
              <p:nvPr/>
            </p:nvSpPr>
            <p:spPr>
              <a:xfrm>
                <a:off x="5789295" y="5231034"/>
                <a:ext cx="285300" cy="130467"/>
              </a:xfrm>
              <a:custGeom>
                <a:avLst/>
                <a:gdLst/>
                <a:ahLst/>
                <a:cxnLst/>
                <a:rect l="l" t="t" r="r" b="b"/>
                <a:pathLst>
                  <a:path w="8559" h="3914" extrusionOk="0">
                    <a:moveTo>
                      <a:pt x="5859" y="1"/>
                    </a:moveTo>
                    <a:lnTo>
                      <a:pt x="4248" y="126"/>
                    </a:lnTo>
                    <a:lnTo>
                      <a:pt x="1" y="126"/>
                    </a:lnTo>
                    <a:cubicBezTo>
                      <a:pt x="1" y="126"/>
                      <a:pt x="8036" y="2826"/>
                      <a:pt x="5943" y="3704"/>
                    </a:cubicBezTo>
                    <a:cubicBezTo>
                      <a:pt x="5420" y="3914"/>
                      <a:pt x="8559" y="3914"/>
                      <a:pt x="8559" y="3914"/>
                    </a:cubicBezTo>
                    <a:cubicBezTo>
                      <a:pt x="8559" y="3914"/>
                      <a:pt x="5441" y="859"/>
                      <a:pt x="5859"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8" name="Google Shape;942;p31">
                <a:extLst>
                  <a:ext uri="{FF2B5EF4-FFF2-40B4-BE49-F238E27FC236}">
                    <a16:creationId xmlns:a16="http://schemas.microsoft.com/office/drawing/2014/main" id="{4D6B92A0-EC3D-4DED-B005-43409A29D0F7}"/>
                  </a:ext>
                </a:extLst>
              </p:cNvPr>
              <p:cNvSpPr/>
              <p:nvPr/>
            </p:nvSpPr>
            <p:spPr>
              <a:xfrm>
                <a:off x="5893929" y="5355200"/>
                <a:ext cx="284600" cy="110233"/>
              </a:xfrm>
              <a:custGeom>
                <a:avLst/>
                <a:gdLst/>
                <a:ahLst/>
                <a:cxnLst/>
                <a:rect l="l" t="t" r="r" b="b"/>
                <a:pathLst>
                  <a:path w="8538" h="3307" extrusionOk="0">
                    <a:moveTo>
                      <a:pt x="5838" y="0"/>
                    </a:moveTo>
                    <a:lnTo>
                      <a:pt x="4227" y="84"/>
                    </a:lnTo>
                    <a:lnTo>
                      <a:pt x="0" y="84"/>
                    </a:lnTo>
                    <a:cubicBezTo>
                      <a:pt x="0" y="84"/>
                      <a:pt x="8035" y="2386"/>
                      <a:pt x="5922" y="3139"/>
                    </a:cubicBezTo>
                    <a:cubicBezTo>
                      <a:pt x="5420" y="3306"/>
                      <a:pt x="8537" y="3306"/>
                      <a:pt x="8537" y="3306"/>
                    </a:cubicBezTo>
                    <a:cubicBezTo>
                      <a:pt x="8537" y="3306"/>
                      <a:pt x="5399" y="691"/>
                      <a:pt x="5838" y="0"/>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69" name="Google Shape;943;p31">
                <a:extLst>
                  <a:ext uri="{FF2B5EF4-FFF2-40B4-BE49-F238E27FC236}">
                    <a16:creationId xmlns:a16="http://schemas.microsoft.com/office/drawing/2014/main" id="{5379569B-D3A6-4435-891C-B5CD11965EAC}"/>
                  </a:ext>
                </a:extLst>
              </p:cNvPr>
              <p:cNvSpPr/>
              <p:nvPr/>
            </p:nvSpPr>
            <p:spPr>
              <a:xfrm>
                <a:off x="5718862" y="5461900"/>
                <a:ext cx="285300" cy="110933"/>
              </a:xfrm>
              <a:custGeom>
                <a:avLst/>
                <a:gdLst/>
                <a:ahLst/>
                <a:cxnLst/>
                <a:rect l="l" t="t" r="r" b="b"/>
                <a:pathLst>
                  <a:path w="8559" h="3328" extrusionOk="0">
                    <a:moveTo>
                      <a:pt x="5838" y="1"/>
                    </a:moveTo>
                    <a:lnTo>
                      <a:pt x="4248" y="105"/>
                    </a:lnTo>
                    <a:lnTo>
                      <a:pt x="1" y="105"/>
                    </a:lnTo>
                    <a:cubicBezTo>
                      <a:pt x="1" y="105"/>
                      <a:pt x="8035" y="2407"/>
                      <a:pt x="5943" y="3160"/>
                    </a:cubicBezTo>
                    <a:cubicBezTo>
                      <a:pt x="5420" y="3327"/>
                      <a:pt x="8558" y="3327"/>
                      <a:pt x="8558" y="3327"/>
                    </a:cubicBezTo>
                    <a:cubicBezTo>
                      <a:pt x="8558" y="3327"/>
                      <a:pt x="5420" y="712"/>
                      <a:pt x="5838" y="1"/>
                    </a:cubicBezTo>
                    <a:close/>
                  </a:path>
                </a:pathLst>
              </a:custGeom>
              <a:solidFill>
                <a:srgbClr val="FFFFFF"/>
              </a:solidFill>
              <a:ln>
                <a:noFill/>
              </a:ln>
            </p:spPr>
            <p:txBody>
              <a:bodyPr spcFirstLastPara="1" wrap="square" lIns="121900" tIns="121900" rIns="121900" bIns="121900" anchor="ctr" anchorCtr="0">
                <a:noAutofit/>
              </a:bodyPr>
              <a:lstStyle/>
              <a:p>
                <a:endParaRPr sz="2400"/>
              </a:p>
            </p:txBody>
          </p:sp>
          <p:sp>
            <p:nvSpPr>
              <p:cNvPr id="70" name="Google Shape;944;p31">
                <a:extLst>
                  <a:ext uri="{FF2B5EF4-FFF2-40B4-BE49-F238E27FC236}">
                    <a16:creationId xmlns:a16="http://schemas.microsoft.com/office/drawing/2014/main" id="{E8BA7AA8-29E0-4039-BDE1-8DAC6F4997B5}"/>
                  </a:ext>
                </a:extLst>
              </p:cNvPr>
              <p:cNvSpPr/>
              <p:nvPr/>
            </p:nvSpPr>
            <p:spPr>
              <a:xfrm>
                <a:off x="4953062" y="2015101"/>
                <a:ext cx="2102867" cy="2940500"/>
              </a:xfrm>
              <a:custGeom>
                <a:avLst/>
                <a:gdLst/>
                <a:ahLst/>
                <a:cxnLst/>
                <a:rect l="l" t="t" r="r" b="b"/>
                <a:pathLst>
                  <a:path w="63086" h="88215" fill="none" extrusionOk="0">
                    <a:moveTo>
                      <a:pt x="35843" y="75158"/>
                    </a:moveTo>
                    <a:lnTo>
                      <a:pt x="45216" y="88214"/>
                    </a:lnTo>
                    <a:lnTo>
                      <a:pt x="54841" y="67876"/>
                    </a:lnTo>
                    <a:lnTo>
                      <a:pt x="63085" y="44107"/>
                    </a:lnTo>
                    <a:lnTo>
                      <a:pt x="0" y="17785"/>
                    </a:lnTo>
                    <a:lnTo>
                      <a:pt x="19836" y="0"/>
                    </a:lnTo>
                    <a:lnTo>
                      <a:pt x="57038" y="20380"/>
                    </a:lnTo>
                    <a:lnTo>
                      <a:pt x="2825" y="52811"/>
                    </a:lnTo>
                    <a:lnTo>
                      <a:pt x="43208" y="53125"/>
                    </a:lnTo>
                    <a:lnTo>
                      <a:pt x="54841" y="67876"/>
                    </a:lnTo>
                    <a:lnTo>
                      <a:pt x="16300" y="86122"/>
                    </a:lnTo>
                    <a:lnTo>
                      <a:pt x="9207" y="74300"/>
                    </a:lnTo>
                    <a:lnTo>
                      <a:pt x="6947" y="64089"/>
                    </a:lnTo>
                  </a:path>
                </a:pathLst>
              </a:custGeom>
              <a:noFill/>
              <a:ln w="13075" cap="flat" cmpd="sng">
                <a:solidFill>
                  <a:srgbClr val="434343"/>
                </a:solidFill>
                <a:prstDash val="solid"/>
                <a:miter lim="20923"/>
                <a:headEnd type="none" w="sm" len="sm"/>
                <a:tailEnd type="none" w="sm" len="sm"/>
              </a:ln>
            </p:spPr>
            <p:txBody>
              <a:bodyPr spcFirstLastPara="1" wrap="square" lIns="121900" tIns="121900" rIns="121900" bIns="121900" anchor="ctr" anchorCtr="0">
                <a:noAutofit/>
              </a:bodyPr>
              <a:lstStyle/>
              <a:p>
                <a:endParaRPr sz="2400"/>
              </a:p>
            </p:txBody>
          </p:sp>
          <p:sp>
            <p:nvSpPr>
              <p:cNvPr id="71" name="Google Shape;945;p31">
                <a:extLst>
                  <a:ext uri="{FF2B5EF4-FFF2-40B4-BE49-F238E27FC236}">
                    <a16:creationId xmlns:a16="http://schemas.microsoft.com/office/drawing/2014/main" id="{424CB2E1-2570-45FD-B386-FCFEAF1C24A1}"/>
                  </a:ext>
                </a:extLst>
              </p:cNvPr>
              <p:cNvSpPr/>
              <p:nvPr/>
            </p:nvSpPr>
            <p:spPr>
              <a:xfrm>
                <a:off x="5956695" y="2071567"/>
                <a:ext cx="1099233" cy="1413800"/>
              </a:xfrm>
              <a:custGeom>
                <a:avLst/>
                <a:gdLst/>
                <a:ahLst/>
                <a:cxnLst/>
                <a:rect l="l" t="t" r="r" b="b"/>
                <a:pathLst>
                  <a:path w="32977" h="42414" fill="none" extrusionOk="0">
                    <a:moveTo>
                      <a:pt x="10044" y="9437"/>
                    </a:moveTo>
                    <a:lnTo>
                      <a:pt x="16530" y="1"/>
                    </a:lnTo>
                    <a:lnTo>
                      <a:pt x="26929" y="18686"/>
                    </a:lnTo>
                    <a:lnTo>
                      <a:pt x="31825" y="16175"/>
                    </a:lnTo>
                    <a:lnTo>
                      <a:pt x="32976" y="42413"/>
                    </a:lnTo>
                    <a:lnTo>
                      <a:pt x="26929" y="18686"/>
                    </a:lnTo>
                    <a:lnTo>
                      <a:pt x="1" y="11906"/>
                    </a:lnTo>
                  </a:path>
                </a:pathLst>
              </a:custGeom>
              <a:noFill/>
              <a:ln w="13075" cap="flat" cmpd="sng">
                <a:solidFill>
                  <a:srgbClr val="434343"/>
                </a:solidFill>
                <a:prstDash val="solid"/>
                <a:miter lim="20923"/>
                <a:headEnd type="none" w="sm" len="sm"/>
                <a:tailEnd type="none" w="sm" len="sm"/>
              </a:ln>
            </p:spPr>
            <p:txBody>
              <a:bodyPr spcFirstLastPara="1" wrap="square" lIns="121900" tIns="121900" rIns="121900" bIns="121900" anchor="ctr" anchorCtr="0">
                <a:noAutofit/>
              </a:bodyPr>
              <a:lstStyle/>
              <a:p>
                <a:endParaRPr sz="2400"/>
              </a:p>
            </p:txBody>
          </p:sp>
          <p:sp>
            <p:nvSpPr>
              <p:cNvPr id="72" name="Google Shape;946;p31">
                <a:extLst>
                  <a:ext uri="{FF2B5EF4-FFF2-40B4-BE49-F238E27FC236}">
                    <a16:creationId xmlns:a16="http://schemas.microsoft.com/office/drawing/2014/main" id="{24F42E10-C836-4C67-B014-28515BA3BB17}"/>
                  </a:ext>
                </a:extLst>
              </p:cNvPr>
              <p:cNvSpPr/>
              <p:nvPr/>
            </p:nvSpPr>
            <p:spPr>
              <a:xfrm>
                <a:off x="4901462" y="2333134"/>
                <a:ext cx="1279134" cy="2187933"/>
              </a:xfrm>
              <a:custGeom>
                <a:avLst/>
                <a:gdLst/>
                <a:ahLst/>
                <a:cxnLst/>
                <a:rect l="l" t="t" r="r" b="b"/>
                <a:pathLst>
                  <a:path w="38374" h="65638" fill="none" extrusionOk="0">
                    <a:moveTo>
                      <a:pt x="31155" y="20819"/>
                    </a:moveTo>
                    <a:lnTo>
                      <a:pt x="31658" y="4059"/>
                    </a:lnTo>
                    <a:lnTo>
                      <a:pt x="10755" y="0"/>
                    </a:lnTo>
                    <a:lnTo>
                      <a:pt x="19187" y="15735"/>
                    </a:lnTo>
                    <a:lnTo>
                      <a:pt x="0" y="25904"/>
                    </a:lnTo>
                    <a:lnTo>
                      <a:pt x="4373" y="43270"/>
                    </a:lnTo>
                    <a:lnTo>
                      <a:pt x="8495" y="54548"/>
                    </a:lnTo>
                    <a:lnTo>
                      <a:pt x="26929" y="43438"/>
                    </a:lnTo>
                    <a:lnTo>
                      <a:pt x="10755" y="64759"/>
                    </a:lnTo>
                    <a:lnTo>
                      <a:pt x="38374" y="65638"/>
                    </a:lnTo>
                    <a:lnTo>
                      <a:pt x="29272" y="28373"/>
                    </a:lnTo>
                  </a:path>
                </a:pathLst>
              </a:custGeom>
              <a:noFill/>
              <a:ln w="13075" cap="flat" cmpd="sng">
                <a:solidFill>
                  <a:srgbClr val="434343"/>
                </a:solidFill>
                <a:prstDash val="solid"/>
                <a:miter lim="20923"/>
                <a:headEnd type="none" w="sm" len="sm"/>
                <a:tailEnd type="none" w="sm" len="sm"/>
              </a:ln>
            </p:spPr>
            <p:txBody>
              <a:bodyPr spcFirstLastPara="1" wrap="square" lIns="121900" tIns="121900" rIns="121900" bIns="121900" anchor="ctr" anchorCtr="0">
                <a:noAutofit/>
              </a:bodyPr>
              <a:lstStyle/>
              <a:p>
                <a:endParaRPr sz="2400"/>
              </a:p>
            </p:txBody>
          </p:sp>
          <p:sp>
            <p:nvSpPr>
              <p:cNvPr id="73" name="Google Shape;947;p31">
                <a:extLst>
                  <a:ext uri="{FF2B5EF4-FFF2-40B4-BE49-F238E27FC236}">
                    <a16:creationId xmlns:a16="http://schemas.microsoft.com/office/drawing/2014/main" id="{2BAA33B8-3C73-451A-80D2-49E89A293EBC}"/>
                  </a:ext>
                </a:extLst>
              </p:cNvPr>
              <p:cNvSpPr/>
              <p:nvPr/>
            </p:nvSpPr>
            <p:spPr>
              <a:xfrm>
                <a:off x="4901462" y="2607934"/>
                <a:ext cx="51633" cy="588667"/>
              </a:xfrm>
              <a:custGeom>
                <a:avLst/>
                <a:gdLst/>
                <a:ahLst/>
                <a:cxnLst/>
                <a:rect l="l" t="t" r="r" b="b"/>
                <a:pathLst>
                  <a:path w="1549" h="17660" fill="none" extrusionOk="0">
                    <a:moveTo>
                      <a:pt x="1548" y="0"/>
                    </a:moveTo>
                    <a:lnTo>
                      <a:pt x="0" y="17660"/>
                    </a:lnTo>
                  </a:path>
                </a:pathLst>
              </a:custGeom>
              <a:noFill/>
              <a:ln w="13075" cap="flat" cmpd="sng">
                <a:solidFill>
                  <a:srgbClr val="434343"/>
                </a:solidFill>
                <a:prstDash val="solid"/>
                <a:miter lim="20923"/>
                <a:headEnd type="none" w="sm" len="sm"/>
                <a:tailEnd type="none" w="sm" len="sm"/>
              </a:ln>
            </p:spPr>
            <p:txBody>
              <a:bodyPr spcFirstLastPara="1" wrap="square" lIns="121900" tIns="121900" rIns="121900" bIns="121900" anchor="ctr" anchorCtr="0">
                <a:noAutofit/>
              </a:bodyPr>
              <a:lstStyle/>
              <a:p>
                <a:endParaRPr sz="2400"/>
              </a:p>
            </p:txBody>
          </p:sp>
          <p:sp>
            <p:nvSpPr>
              <p:cNvPr id="74" name="Google Shape;948;p31">
                <a:extLst>
                  <a:ext uri="{FF2B5EF4-FFF2-40B4-BE49-F238E27FC236}">
                    <a16:creationId xmlns:a16="http://schemas.microsoft.com/office/drawing/2014/main" id="{73D0247E-C3E9-48DB-80B7-EF8A8FEE682D}"/>
                  </a:ext>
                </a:extLst>
              </p:cNvPr>
              <p:cNvSpPr/>
              <p:nvPr/>
            </p:nvSpPr>
            <p:spPr>
              <a:xfrm>
                <a:off x="5614262" y="1936267"/>
                <a:ext cx="1403300" cy="674467"/>
              </a:xfrm>
              <a:custGeom>
                <a:avLst/>
                <a:gdLst/>
                <a:ahLst/>
                <a:cxnLst/>
                <a:rect l="l" t="t" r="r" b="b"/>
                <a:pathLst>
                  <a:path w="42099" h="20234" fill="none" extrusionOk="0">
                    <a:moveTo>
                      <a:pt x="42098" y="20234"/>
                    </a:moveTo>
                    <a:lnTo>
                      <a:pt x="26803" y="4060"/>
                    </a:lnTo>
                    <a:lnTo>
                      <a:pt x="13098" y="1"/>
                    </a:lnTo>
                    <a:lnTo>
                      <a:pt x="0" y="2365"/>
                    </a:lnTo>
                  </a:path>
                </a:pathLst>
              </a:custGeom>
              <a:noFill/>
              <a:ln w="13075" cap="flat" cmpd="sng">
                <a:solidFill>
                  <a:srgbClr val="434343"/>
                </a:solidFill>
                <a:prstDash val="solid"/>
                <a:miter lim="20923"/>
                <a:headEnd type="none" w="sm" len="sm"/>
                <a:tailEnd type="none" w="sm" len="sm"/>
              </a:ln>
            </p:spPr>
            <p:txBody>
              <a:bodyPr spcFirstLastPara="1" wrap="square" lIns="121900" tIns="121900" rIns="121900" bIns="121900" anchor="ctr" anchorCtr="0">
                <a:noAutofit/>
              </a:bodyPr>
              <a:lstStyle/>
              <a:p>
                <a:endParaRPr sz="2400"/>
              </a:p>
            </p:txBody>
          </p:sp>
          <p:sp>
            <p:nvSpPr>
              <p:cNvPr id="75" name="Google Shape;949;p31">
                <a:extLst>
                  <a:ext uri="{FF2B5EF4-FFF2-40B4-BE49-F238E27FC236}">
                    <a16:creationId xmlns:a16="http://schemas.microsoft.com/office/drawing/2014/main" id="{6440047B-B617-4E02-BBB3-DCDB979A6D2B}"/>
                  </a:ext>
                </a:extLst>
              </p:cNvPr>
              <p:cNvSpPr/>
              <p:nvPr/>
            </p:nvSpPr>
            <p:spPr>
              <a:xfrm>
                <a:off x="5453829" y="2857601"/>
                <a:ext cx="87233" cy="674467"/>
              </a:xfrm>
              <a:custGeom>
                <a:avLst/>
                <a:gdLst/>
                <a:ahLst/>
                <a:cxnLst/>
                <a:rect l="l" t="t" r="r" b="b"/>
                <a:pathLst>
                  <a:path w="2617" h="20234" fill="none" extrusionOk="0">
                    <a:moveTo>
                      <a:pt x="1" y="20234"/>
                    </a:moveTo>
                    <a:lnTo>
                      <a:pt x="2616" y="1"/>
                    </a:lnTo>
                  </a:path>
                </a:pathLst>
              </a:custGeom>
              <a:noFill/>
              <a:ln w="13075" cap="flat" cmpd="sng">
                <a:solidFill>
                  <a:srgbClr val="434343"/>
                </a:solidFill>
                <a:prstDash val="solid"/>
                <a:miter lim="20923"/>
                <a:headEnd type="none" w="sm" len="sm"/>
                <a:tailEnd type="none" w="sm" len="sm"/>
              </a:ln>
            </p:spPr>
            <p:txBody>
              <a:bodyPr spcFirstLastPara="1" wrap="square" lIns="121900" tIns="121900" rIns="121900" bIns="121900" anchor="ctr" anchorCtr="0">
                <a:noAutofit/>
              </a:bodyPr>
              <a:lstStyle/>
              <a:p>
                <a:endParaRPr sz="2400"/>
              </a:p>
            </p:txBody>
          </p:sp>
          <p:sp>
            <p:nvSpPr>
              <p:cNvPr id="76" name="Google Shape;950;p31">
                <a:extLst>
                  <a:ext uri="{FF2B5EF4-FFF2-40B4-BE49-F238E27FC236}">
                    <a16:creationId xmlns:a16="http://schemas.microsoft.com/office/drawing/2014/main" id="{57D2CC9C-7D10-4224-889A-BCA8A8B7A21D}"/>
                  </a:ext>
                </a:extLst>
              </p:cNvPr>
              <p:cNvSpPr/>
              <p:nvPr/>
            </p:nvSpPr>
            <p:spPr>
              <a:xfrm>
                <a:off x="6140829" y="3121234"/>
                <a:ext cx="807667" cy="664733"/>
              </a:xfrm>
              <a:custGeom>
                <a:avLst/>
                <a:gdLst/>
                <a:ahLst/>
                <a:cxnLst/>
                <a:rect l="l" t="t" r="r" b="b"/>
                <a:pathLst>
                  <a:path w="24230" h="19942" fill="none" extrusionOk="0">
                    <a:moveTo>
                      <a:pt x="24230" y="11174"/>
                    </a:moveTo>
                    <a:lnTo>
                      <a:pt x="7575" y="19941"/>
                    </a:lnTo>
                    <a:lnTo>
                      <a:pt x="0" y="1"/>
                    </a:lnTo>
                  </a:path>
                </a:pathLst>
              </a:custGeom>
              <a:noFill/>
              <a:ln w="13075" cap="flat" cmpd="sng">
                <a:solidFill>
                  <a:srgbClr val="434343"/>
                </a:solidFill>
                <a:prstDash val="solid"/>
                <a:miter lim="20923"/>
                <a:headEnd type="none" w="sm" len="sm"/>
                <a:tailEnd type="none" w="sm" len="sm"/>
              </a:ln>
            </p:spPr>
            <p:txBody>
              <a:bodyPr spcFirstLastPara="1" wrap="square" lIns="121900" tIns="121900" rIns="121900" bIns="121900" anchor="ctr" anchorCtr="0">
                <a:noAutofit/>
              </a:bodyPr>
              <a:lstStyle/>
              <a:p>
                <a:endParaRPr sz="2400"/>
              </a:p>
            </p:txBody>
          </p:sp>
          <p:sp>
            <p:nvSpPr>
              <p:cNvPr id="77" name="Google Shape;951;p31">
                <a:extLst>
                  <a:ext uri="{FF2B5EF4-FFF2-40B4-BE49-F238E27FC236}">
                    <a16:creationId xmlns:a16="http://schemas.microsoft.com/office/drawing/2014/main" id="{52AA72BB-4271-4B00-85CE-6BB69C130FFE}"/>
                  </a:ext>
                </a:extLst>
              </p:cNvPr>
              <p:cNvSpPr/>
              <p:nvPr/>
            </p:nvSpPr>
            <p:spPr>
              <a:xfrm>
                <a:off x="5586362" y="4071867"/>
                <a:ext cx="594233" cy="449200"/>
              </a:xfrm>
              <a:custGeom>
                <a:avLst/>
                <a:gdLst/>
                <a:ahLst/>
                <a:cxnLst/>
                <a:rect l="l" t="t" r="r" b="b"/>
                <a:pathLst>
                  <a:path w="17827" h="13476" fill="none" extrusionOk="0">
                    <a:moveTo>
                      <a:pt x="0" y="1"/>
                    </a:moveTo>
                    <a:lnTo>
                      <a:pt x="17827" y="13476"/>
                    </a:lnTo>
                  </a:path>
                </a:pathLst>
              </a:custGeom>
              <a:noFill/>
              <a:ln w="13075" cap="flat" cmpd="sng">
                <a:solidFill>
                  <a:srgbClr val="434343"/>
                </a:solidFill>
                <a:prstDash val="solid"/>
                <a:miter lim="20923"/>
                <a:headEnd type="none" w="sm" len="sm"/>
                <a:tailEnd type="none" w="sm" len="sm"/>
              </a:ln>
            </p:spPr>
            <p:txBody>
              <a:bodyPr spcFirstLastPara="1" wrap="square" lIns="121900" tIns="121900" rIns="121900" bIns="121900" anchor="ctr" anchorCtr="0">
                <a:noAutofit/>
              </a:bodyPr>
              <a:lstStyle/>
              <a:p>
                <a:endParaRPr sz="2400"/>
              </a:p>
            </p:txBody>
          </p:sp>
          <p:sp>
            <p:nvSpPr>
              <p:cNvPr id="78" name="Google Shape;952;p31">
                <a:extLst>
                  <a:ext uri="{FF2B5EF4-FFF2-40B4-BE49-F238E27FC236}">
                    <a16:creationId xmlns:a16="http://schemas.microsoft.com/office/drawing/2014/main" id="{1D6E2CE9-AB88-4776-8A15-9B41C9BFE3A6}"/>
                  </a:ext>
                </a:extLst>
              </p:cNvPr>
              <p:cNvSpPr/>
              <p:nvPr/>
            </p:nvSpPr>
            <p:spPr>
              <a:xfrm>
                <a:off x="6187562" y="4003534"/>
                <a:ext cx="359900" cy="507067"/>
              </a:xfrm>
              <a:custGeom>
                <a:avLst/>
                <a:gdLst/>
                <a:ahLst/>
                <a:cxnLst/>
                <a:rect l="l" t="t" r="r" b="b"/>
                <a:pathLst>
                  <a:path w="10797" h="15212" fill="none" extrusionOk="0">
                    <a:moveTo>
                      <a:pt x="10797" y="0"/>
                    </a:moveTo>
                    <a:lnTo>
                      <a:pt x="0" y="15212"/>
                    </a:lnTo>
                  </a:path>
                </a:pathLst>
              </a:custGeom>
              <a:noFill/>
              <a:ln w="13075" cap="flat" cmpd="sng">
                <a:solidFill>
                  <a:srgbClr val="434343"/>
                </a:solidFill>
                <a:prstDash val="solid"/>
                <a:miter lim="20923"/>
                <a:headEnd type="none" w="sm" len="sm"/>
                <a:tailEnd type="none" w="sm" len="sm"/>
              </a:ln>
            </p:spPr>
            <p:txBody>
              <a:bodyPr spcFirstLastPara="1" wrap="square" lIns="121900" tIns="121900" rIns="121900" bIns="121900" anchor="ctr" anchorCtr="0">
                <a:noAutofit/>
              </a:bodyPr>
              <a:lstStyle/>
              <a:p>
                <a:endParaRPr sz="2400"/>
              </a:p>
            </p:txBody>
          </p:sp>
          <p:sp>
            <p:nvSpPr>
              <p:cNvPr id="79" name="Google Shape;953;p31">
                <a:extLst>
                  <a:ext uri="{FF2B5EF4-FFF2-40B4-BE49-F238E27FC236}">
                    <a16:creationId xmlns:a16="http://schemas.microsoft.com/office/drawing/2014/main" id="{0D3E6FF5-F5FD-4653-AB83-604FAD481E8D}"/>
                  </a:ext>
                </a:extLst>
              </p:cNvPr>
              <p:cNvSpPr/>
              <p:nvPr/>
            </p:nvSpPr>
            <p:spPr>
              <a:xfrm>
                <a:off x="5191595" y="4407367"/>
                <a:ext cx="162533" cy="162533"/>
              </a:xfrm>
              <a:custGeom>
                <a:avLst/>
                <a:gdLst/>
                <a:ahLst/>
                <a:cxnLst/>
                <a:rect l="l" t="t" r="r" b="b"/>
                <a:pathLst>
                  <a:path w="4876" h="4876" extrusionOk="0">
                    <a:moveTo>
                      <a:pt x="2448" y="0"/>
                    </a:moveTo>
                    <a:cubicBezTo>
                      <a:pt x="1088" y="0"/>
                      <a:pt x="0" y="1088"/>
                      <a:pt x="0" y="2448"/>
                    </a:cubicBezTo>
                    <a:cubicBezTo>
                      <a:pt x="0" y="3787"/>
                      <a:pt x="1088" y="4875"/>
                      <a:pt x="2448" y="4875"/>
                    </a:cubicBezTo>
                    <a:cubicBezTo>
                      <a:pt x="3787" y="4875"/>
                      <a:pt x="4876" y="3787"/>
                      <a:pt x="4876" y="2448"/>
                    </a:cubicBezTo>
                    <a:cubicBezTo>
                      <a:pt x="4876" y="1088"/>
                      <a:pt x="3787" y="0"/>
                      <a:pt x="2448"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80" name="Google Shape;954;p31">
                <a:extLst>
                  <a:ext uri="{FF2B5EF4-FFF2-40B4-BE49-F238E27FC236}">
                    <a16:creationId xmlns:a16="http://schemas.microsoft.com/office/drawing/2014/main" id="{0C07D14E-F36D-4B42-8349-B5055CCB47A2}"/>
                  </a:ext>
                </a:extLst>
              </p:cNvPr>
              <p:cNvSpPr/>
              <p:nvPr/>
            </p:nvSpPr>
            <p:spPr>
              <a:xfrm>
                <a:off x="6084329" y="4407367"/>
                <a:ext cx="205767" cy="205767"/>
              </a:xfrm>
              <a:custGeom>
                <a:avLst/>
                <a:gdLst/>
                <a:ahLst/>
                <a:cxnLst/>
                <a:rect l="l" t="t" r="r" b="b"/>
                <a:pathLst>
                  <a:path w="6173" h="6173" extrusionOk="0">
                    <a:moveTo>
                      <a:pt x="3097" y="0"/>
                    </a:moveTo>
                    <a:cubicBezTo>
                      <a:pt x="1382" y="0"/>
                      <a:pt x="1" y="1381"/>
                      <a:pt x="1" y="3097"/>
                    </a:cubicBezTo>
                    <a:cubicBezTo>
                      <a:pt x="1" y="4792"/>
                      <a:pt x="1382" y="6173"/>
                      <a:pt x="3097" y="6173"/>
                    </a:cubicBezTo>
                    <a:cubicBezTo>
                      <a:pt x="4792" y="6173"/>
                      <a:pt x="6173" y="4792"/>
                      <a:pt x="6173" y="3097"/>
                    </a:cubicBezTo>
                    <a:cubicBezTo>
                      <a:pt x="6173" y="1381"/>
                      <a:pt x="4792" y="0"/>
                      <a:pt x="3097"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81" name="Google Shape;955;p31">
                <a:extLst>
                  <a:ext uri="{FF2B5EF4-FFF2-40B4-BE49-F238E27FC236}">
                    <a16:creationId xmlns:a16="http://schemas.microsoft.com/office/drawing/2014/main" id="{3CF50B38-2645-4633-8323-0B6FB284ABA6}"/>
                  </a:ext>
                </a:extLst>
              </p:cNvPr>
              <p:cNvSpPr/>
              <p:nvPr/>
            </p:nvSpPr>
            <p:spPr>
              <a:xfrm>
                <a:off x="6699496" y="4207867"/>
                <a:ext cx="133933" cy="133967"/>
              </a:xfrm>
              <a:custGeom>
                <a:avLst/>
                <a:gdLst/>
                <a:ahLst/>
                <a:cxnLst/>
                <a:rect l="l" t="t" r="r" b="b"/>
                <a:pathLst>
                  <a:path w="4018" h="4019" extrusionOk="0">
                    <a:moveTo>
                      <a:pt x="2009" y="1"/>
                    </a:moveTo>
                    <a:cubicBezTo>
                      <a:pt x="900" y="1"/>
                      <a:pt x="0" y="901"/>
                      <a:pt x="0" y="2010"/>
                    </a:cubicBezTo>
                    <a:cubicBezTo>
                      <a:pt x="0" y="3119"/>
                      <a:pt x="900" y="4018"/>
                      <a:pt x="2009" y="4018"/>
                    </a:cubicBezTo>
                    <a:cubicBezTo>
                      <a:pt x="3118" y="4018"/>
                      <a:pt x="4018" y="3119"/>
                      <a:pt x="4018" y="2010"/>
                    </a:cubicBezTo>
                    <a:cubicBezTo>
                      <a:pt x="4018" y="901"/>
                      <a:pt x="3118" y="1"/>
                      <a:pt x="2009"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82" name="Google Shape;956;p31">
                <a:extLst>
                  <a:ext uri="{FF2B5EF4-FFF2-40B4-BE49-F238E27FC236}">
                    <a16:creationId xmlns:a16="http://schemas.microsoft.com/office/drawing/2014/main" id="{EEED0C12-E6E8-4216-AFAD-D591FAC78919}"/>
                  </a:ext>
                </a:extLst>
              </p:cNvPr>
              <p:cNvSpPr/>
              <p:nvPr/>
            </p:nvSpPr>
            <p:spPr>
              <a:xfrm>
                <a:off x="6330529" y="3712701"/>
                <a:ext cx="128367" cy="128367"/>
              </a:xfrm>
              <a:custGeom>
                <a:avLst/>
                <a:gdLst/>
                <a:ahLst/>
                <a:cxnLst/>
                <a:rect l="l" t="t" r="r" b="b"/>
                <a:pathLst>
                  <a:path w="3851" h="3851" extrusionOk="0">
                    <a:moveTo>
                      <a:pt x="1926" y="0"/>
                    </a:moveTo>
                    <a:cubicBezTo>
                      <a:pt x="858" y="0"/>
                      <a:pt x="1" y="858"/>
                      <a:pt x="1" y="1925"/>
                    </a:cubicBezTo>
                    <a:cubicBezTo>
                      <a:pt x="1" y="2992"/>
                      <a:pt x="858" y="3850"/>
                      <a:pt x="1926" y="3850"/>
                    </a:cubicBezTo>
                    <a:cubicBezTo>
                      <a:pt x="2972" y="3850"/>
                      <a:pt x="3851" y="2992"/>
                      <a:pt x="3851" y="1925"/>
                    </a:cubicBezTo>
                    <a:cubicBezTo>
                      <a:pt x="3851" y="858"/>
                      <a:pt x="2972" y="0"/>
                      <a:pt x="1926" y="0"/>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83" name="Google Shape;957;p31">
                <a:extLst>
                  <a:ext uri="{FF2B5EF4-FFF2-40B4-BE49-F238E27FC236}">
                    <a16:creationId xmlns:a16="http://schemas.microsoft.com/office/drawing/2014/main" id="{4F9C8026-BF44-44CE-8CC6-3665E951031A}"/>
                  </a:ext>
                </a:extLst>
              </p:cNvPr>
              <p:cNvSpPr/>
              <p:nvPr/>
            </p:nvSpPr>
            <p:spPr>
              <a:xfrm>
                <a:off x="5956695" y="3731534"/>
                <a:ext cx="127667" cy="127667"/>
              </a:xfrm>
              <a:custGeom>
                <a:avLst/>
                <a:gdLst/>
                <a:ahLst/>
                <a:cxnLst/>
                <a:rect l="l" t="t" r="r" b="b"/>
                <a:pathLst>
                  <a:path w="3830" h="3830" extrusionOk="0">
                    <a:moveTo>
                      <a:pt x="1925" y="0"/>
                    </a:moveTo>
                    <a:cubicBezTo>
                      <a:pt x="858" y="0"/>
                      <a:pt x="1" y="858"/>
                      <a:pt x="1" y="1925"/>
                    </a:cubicBezTo>
                    <a:cubicBezTo>
                      <a:pt x="1" y="2971"/>
                      <a:pt x="858" y="3829"/>
                      <a:pt x="1925" y="3829"/>
                    </a:cubicBezTo>
                    <a:cubicBezTo>
                      <a:pt x="2972" y="3829"/>
                      <a:pt x="3830" y="2971"/>
                      <a:pt x="3830" y="1925"/>
                    </a:cubicBezTo>
                    <a:cubicBezTo>
                      <a:pt x="3830" y="858"/>
                      <a:pt x="2972" y="0"/>
                      <a:pt x="1925"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84" name="Google Shape;958;p31">
                <a:extLst>
                  <a:ext uri="{FF2B5EF4-FFF2-40B4-BE49-F238E27FC236}">
                    <a16:creationId xmlns:a16="http://schemas.microsoft.com/office/drawing/2014/main" id="{A8C22424-7E9A-4645-99B8-2F0E423339A6}"/>
                  </a:ext>
                </a:extLst>
              </p:cNvPr>
              <p:cNvSpPr/>
              <p:nvPr/>
            </p:nvSpPr>
            <p:spPr>
              <a:xfrm>
                <a:off x="6073162" y="3029167"/>
                <a:ext cx="222533" cy="223233"/>
              </a:xfrm>
              <a:custGeom>
                <a:avLst/>
                <a:gdLst/>
                <a:ahLst/>
                <a:cxnLst/>
                <a:rect l="l" t="t" r="r" b="b"/>
                <a:pathLst>
                  <a:path w="6676" h="6697" extrusionOk="0">
                    <a:moveTo>
                      <a:pt x="3328" y="1"/>
                    </a:moveTo>
                    <a:cubicBezTo>
                      <a:pt x="1486" y="1"/>
                      <a:pt x="1" y="1507"/>
                      <a:pt x="1" y="3349"/>
                    </a:cubicBezTo>
                    <a:cubicBezTo>
                      <a:pt x="1" y="5190"/>
                      <a:pt x="1486" y="6697"/>
                      <a:pt x="3328" y="6697"/>
                    </a:cubicBezTo>
                    <a:cubicBezTo>
                      <a:pt x="5190" y="6697"/>
                      <a:pt x="6675" y="5190"/>
                      <a:pt x="6675" y="3349"/>
                    </a:cubicBezTo>
                    <a:cubicBezTo>
                      <a:pt x="6675" y="1507"/>
                      <a:pt x="5190" y="1"/>
                      <a:pt x="3328" y="1"/>
                    </a:cubicBezTo>
                    <a:close/>
                  </a:path>
                </a:pathLst>
              </a:custGeom>
              <a:solidFill>
                <a:schemeClr val="accent6"/>
              </a:solidFill>
              <a:ln>
                <a:noFill/>
              </a:ln>
            </p:spPr>
            <p:txBody>
              <a:bodyPr spcFirstLastPara="1" wrap="square" lIns="121900" tIns="121900" rIns="121900" bIns="121900" anchor="ctr" anchorCtr="0">
                <a:noAutofit/>
              </a:bodyPr>
              <a:lstStyle/>
              <a:p>
                <a:endParaRPr sz="2400"/>
              </a:p>
            </p:txBody>
          </p:sp>
          <p:sp>
            <p:nvSpPr>
              <p:cNvPr id="85" name="Google Shape;959;p31">
                <a:extLst>
                  <a:ext uri="{FF2B5EF4-FFF2-40B4-BE49-F238E27FC236}">
                    <a16:creationId xmlns:a16="http://schemas.microsoft.com/office/drawing/2014/main" id="{AC61F280-46C8-41B1-A529-2CA43D503FE7}"/>
                  </a:ext>
                </a:extLst>
              </p:cNvPr>
              <p:cNvSpPr/>
              <p:nvPr/>
            </p:nvSpPr>
            <p:spPr>
              <a:xfrm>
                <a:off x="6926862" y="3394634"/>
                <a:ext cx="181367" cy="181400"/>
              </a:xfrm>
              <a:custGeom>
                <a:avLst/>
                <a:gdLst/>
                <a:ahLst/>
                <a:cxnLst/>
                <a:rect l="l" t="t" r="r" b="b"/>
                <a:pathLst>
                  <a:path w="5441" h="5442" extrusionOk="0">
                    <a:moveTo>
                      <a:pt x="2720" y="1"/>
                    </a:moveTo>
                    <a:cubicBezTo>
                      <a:pt x="1214" y="1"/>
                      <a:pt x="0" y="1215"/>
                      <a:pt x="0" y="2721"/>
                    </a:cubicBezTo>
                    <a:cubicBezTo>
                      <a:pt x="0" y="4228"/>
                      <a:pt x="1214" y="5441"/>
                      <a:pt x="2720" y="5441"/>
                    </a:cubicBezTo>
                    <a:cubicBezTo>
                      <a:pt x="4227" y="5441"/>
                      <a:pt x="5440" y="4228"/>
                      <a:pt x="5440" y="2721"/>
                    </a:cubicBezTo>
                    <a:cubicBezTo>
                      <a:pt x="5440" y="1215"/>
                      <a:pt x="4227" y="1"/>
                      <a:pt x="2720"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86" name="Google Shape;960;p31">
                <a:extLst>
                  <a:ext uri="{FF2B5EF4-FFF2-40B4-BE49-F238E27FC236}">
                    <a16:creationId xmlns:a16="http://schemas.microsoft.com/office/drawing/2014/main" id="{0C97D21D-958C-453C-9321-0CB895954DAF}"/>
                  </a:ext>
                </a:extLst>
              </p:cNvPr>
              <p:cNvSpPr/>
              <p:nvPr/>
            </p:nvSpPr>
            <p:spPr>
              <a:xfrm>
                <a:off x="6748996" y="2630934"/>
                <a:ext cx="140233" cy="139533"/>
              </a:xfrm>
              <a:custGeom>
                <a:avLst/>
                <a:gdLst/>
                <a:ahLst/>
                <a:cxnLst/>
                <a:rect l="l" t="t" r="r" b="b"/>
                <a:pathLst>
                  <a:path w="4207" h="4186" extrusionOk="0">
                    <a:moveTo>
                      <a:pt x="2093" y="1"/>
                    </a:moveTo>
                    <a:cubicBezTo>
                      <a:pt x="942" y="1"/>
                      <a:pt x="1" y="942"/>
                      <a:pt x="1" y="2093"/>
                    </a:cubicBezTo>
                    <a:cubicBezTo>
                      <a:pt x="1" y="3244"/>
                      <a:pt x="942" y="4185"/>
                      <a:pt x="2093" y="4185"/>
                    </a:cubicBezTo>
                    <a:cubicBezTo>
                      <a:pt x="3265" y="4185"/>
                      <a:pt x="4206" y="3244"/>
                      <a:pt x="4206" y="2093"/>
                    </a:cubicBezTo>
                    <a:cubicBezTo>
                      <a:pt x="4206" y="942"/>
                      <a:pt x="3265" y="1"/>
                      <a:pt x="2093"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87" name="Google Shape;961;p31">
                <a:extLst>
                  <a:ext uri="{FF2B5EF4-FFF2-40B4-BE49-F238E27FC236}">
                    <a16:creationId xmlns:a16="http://schemas.microsoft.com/office/drawing/2014/main" id="{6FCE533F-8339-49A5-A2B8-9F202A221B99}"/>
                  </a:ext>
                </a:extLst>
              </p:cNvPr>
              <p:cNvSpPr/>
              <p:nvPr/>
            </p:nvSpPr>
            <p:spPr>
              <a:xfrm>
                <a:off x="6441429" y="2015101"/>
                <a:ext cx="106033" cy="106033"/>
              </a:xfrm>
              <a:custGeom>
                <a:avLst/>
                <a:gdLst/>
                <a:ahLst/>
                <a:cxnLst/>
                <a:rect l="l" t="t" r="r" b="b"/>
                <a:pathLst>
                  <a:path w="3181" h="3181" extrusionOk="0">
                    <a:moveTo>
                      <a:pt x="1591" y="0"/>
                    </a:moveTo>
                    <a:cubicBezTo>
                      <a:pt x="712" y="0"/>
                      <a:pt x="0" y="711"/>
                      <a:pt x="0" y="1590"/>
                    </a:cubicBezTo>
                    <a:cubicBezTo>
                      <a:pt x="0" y="2469"/>
                      <a:pt x="712" y="3180"/>
                      <a:pt x="1591" y="3180"/>
                    </a:cubicBezTo>
                    <a:cubicBezTo>
                      <a:pt x="2469" y="3180"/>
                      <a:pt x="3181" y="2469"/>
                      <a:pt x="3181" y="1590"/>
                    </a:cubicBezTo>
                    <a:cubicBezTo>
                      <a:pt x="3181" y="711"/>
                      <a:pt x="2469" y="0"/>
                      <a:pt x="1591"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88" name="Google Shape;962;p31">
                <a:extLst>
                  <a:ext uri="{FF2B5EF4-FFF2-40B4-BE49-F238E27FC236}">
                    <a16:creationId xmlns:a16="http://schemas.microsoft.com/office/drawing/2014/main" id="{3480F85C-7239-4E01-84F1-BE50268C1F1B}"/>
                  </a:ext>
                </a:extLst>
              </p:cNvPr>
              <p:cNvSpPr/>
              <p:nvPr/>
            </p:nvSpPr>
            <p:spPr>
              <a:xfrm>
                <a:off x="6244062" y="2332434"/>
                <a:ext cx="110900" cy="111633"/>
              </a:xfrm>
              <a:custGeom>
                <a:avLst/>
                <a:gdLst/>
                <a:ahLst/>
                <a:cxnLst/>
                <a:rect l="l" t="t" r="r" b="b"/>
                <a:pathLst>
                  <a:path w="3327" h="3349" extrusionOk="0">
                    <a:moveTo>
                      <a:pt x="1653" y="0"/>
                    </a:moveTo>
                    <a:cubicBezTo>
                      <a:pt x="732" y="0"/>
                      <a:pt x="0" y="754"/>
                      <a:pt x="0" y="1674"/>
                    </a:cubicBezTo>
                    <a:cubicBezTo>
                      <a:pt x="0" y="2595"/>
                      <a:pt x="732" y="3348"/>
                      <a:pt x="1653" y="3348"/>
                    </a:cubicBezTo>
                    <a:cubicBezTo>
                      <a:pt x="2574" y="3348"/>
                      <a:pt x="3327" y="2595"/>
                      <a:pt x="3327" y="1674"/>
                    </a:cubicBezTo>
                    <a:cubicBezTo>
                      <a:pt x="3327" y="754"/>
                      <a:pt x="2574" y="0"/>
                      <a:pt x="1653"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89" name="Google Shape;963;p31">
                <a:extLst>
                  <a:ext uri="{FF2B5EF4-FFF2-40B4-BE49-F238E27FC236}">
                    <a16:creationId xmlns:a16="http://schemas.microsoft.com/office/drawing/2014/main" id="{7163B2CA-7AFE-4740-9232-4AAF8C41C5D4}"/>
                  </a:ext>
                </a:extLst>
              </p:cNvPr>
              <p:cNvSpPr/>
              <p:nvPr/>
            </p:nvSpPr>
            <p:spPr>
              <a:xfrm>
                <a:off x="5560529" y="1970434"/>
                <a:ext cx="142333" cy="141633"/>
              </a:xfrm>
              <a:custGeom>
                <a:avLst/>
                <a:gdLst/>
                <a:ahLst/>
                <a:cxnLst/>
                <a:rect l="l" t="t" r="r" b="b"/>
                <a:pathLst>
                  <a:path w="4270" h="4249" extrusionOk="0">
                    <a:moveTo>
                      <a:pt x="2135" y="1"/>
                    </a:moveTo>
                    <a:cubicBezTo>
                      <a:pt x="963" y="1"/>
                      <a:pt x="1" y="963"/>
                      <a:pt x="1" y="2135"/>
                    </a:cubicBezTo>
                    <a:cubicBezTo>
                      <a:pt x="1" y="3307"/>
                      <a:pt x="963" y="4248"/>
                      <a:pt x="2135" y="4248"/>
                    </a:cubicBezTo>
                    <a:cubicBezTo>
                      <a:pt x="3307" y="4248"/>
                      <a:pt x="4269" y="3307"/>
                      <a:pt x="4269" y="2135"/>
                    </a:cubicBezTo>
                    <a:cubicBezTo>
                      <a:pt x="4269" y="963"/>
                      <a:pt x="3307" y="1"/>
                      <a:pt x="2135" y="1"/>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90" name="Google Shape;964;p31">
                <a:extLst>
                  <a:ext uri="{FF2B5EF4-FFF2-40B4-BE49-F238E27FC236}">
                    <a16:creationId xmlns:a16="http://schemas.microsoft.com/office/drawing/2014/main" id="{3816F6DB-D127-4027-9A14-AB8F119D82D7}"/>
                  </a:ext>
                </a:extLst>
              </p:cNvPr>
              <p:cNvSpPr/>
              <p:nvPr/>
            </p:nvSpPr>
            <p:spPr>
              <a:xfrm>
                <a:off x="5988796" y="1863034"/>
                <a:ext cx="152067" cy="152100"/>
              </a:xfrm>
              <a:custGeom>
                <a:avLst/>
                <a:gdLst/>
                <a:ahLst/>
                <a:cxnLst/>
                <a:rect l="l" t="t" r="r" b="b"/>
                <a:pathLst>
                  <a:path w="4562" h="4563" extrusionOk="0">
                    <a:moveTo>
                      <a:pt x="2281" y="1"/>
                    </a:moveTo>
                    <a:cubicBezTo>
                      <a:pt x="1025" y="1"/>
                      <a:pt x="0" y="1026"/>
                      <a:pt x="0" y="2281"/>
                    </a:cubicBezTo>
                    <a:cubicBezTo>
                      <a:pt x="0" y="3537"/>
                      <a:pt x="1025" y="4562"/>
                      <a:pt x="2281" y="4562"/>
                    </a:cubicBezTo>
                    <a:cubicBezTo>
                      <a:pt x="3536" y="4562"/>
                      <a:pt x="4561" y="3537"/>
                      <a:pt x="4561" y="2281"/>
                    </a:cubicBezTo>
                    <a:cubicBezTo>
                      <a:pt x="4561" y="1026"/>
                      <a:pt x="3536" y="1"/>
                      <a:pt x="2281"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91" name="Google Shape;965;p31">
                <a:extLst>
                  <a:ext uri="{FF2B5EF4-FFF2-40B4-BE49-F238E27FC236}">
                    <a16:creationId xmlns:a16="http://schemas.microsoft.com/office/drawing/2014/main" id="{9417BF46-88E8-4C66-9506-584B23015E36}"/>
                  </a:ext>
                </a:extLst>
              </p:cNvPr>
              <p:cNvSpPr/>
              <p:nvPr/>
            </p:nvSpPr>
            <p:spPr>
              <a:xfrm>
                <a:off x="5877195" y="2388234"/>
                <a:ext cx="143700" cy="143700"/>
              </a:xfrm>
              <a:custGeom>
                <a:avLst/>
                <a:gdLst/>
                <a:ahLst/>
                <a:cxnLst/>
                <a:rect l="l" t="t" r="r" b="b"/>
                <a:pathLst>
                  <a:path w="4311" h="4311" extrusionOk="0">
                    <a:moveTo>
                      <a:pt x="2155" y="0"/>
                    </a:moveTo>
                    <a:cubicBezTo>
                      <a:pt x="963" y="0"/>
                      <a:pt x="0" y="963"/>
                      <a:pt x="0" y="2155"/>
                    </a:cubicBezTo>
                    <a:cubicBezTo>
                      <a:pt x="0" y="3348"/>
                      <a:pt x="963" y="4310"/>
                      <a:pt x="2155" y="4310"/>
                    </a:cubicBezTo>
                    <a:cubicBezTo>
                      <a:pt x="3348" y="4310"/>
                      <a:pt x="4310" y="3348"/>
                      <a:pt x="4310" y="2155"/>
                    </a:cubicBezTo>
                    <a:cubicBezTo>
                      <a:pt x="4310" y="963"/>
                      <a:pt x="3348" y="0"/>
                      <a:pt x="2155" y="0"/>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sp>
            <p:nvSpPr>
              <p:cNvPr id="92" name="Google Shape;966;p31">
                <a:extLst>
                  <a:ext uri="{FF2B5EF4-FFF2-40B4-BE49-F238E27FC236}">
                    <a16:creationId xmlns:a16="http://schemas.microsoft.com/office/drawing/2014/main" id="{0ADFAAC3-2C04-44C9-94AE-6135FA85F17A}"/>
                  </a:ext>
                </a:extLst>
              </p:cNvPr>
              <p:cNvSpPr/>
              <p:nvPr/>
            </p:nvSpPr>
            <p:spPr>
              <a:xfrm>
                <a:off x="5453829" y="2794134"/>
                <a:ext cx="151400" cy="152100"/>
              </a:xfrm>
              <a:custGeom>
                <a:avLst/>
                <a:gdLst/>
                <a:ahLst/>
                <a:cxnLst/>
                <a:rect l="l" t="t" r="r" b="b"/>
                <a:pathLst>
                  <a:path w="4542" h="4563" extrusionOk="0">
                    <a:moveTo>
                      <a:pt x="2281" y="1"/>
                    </a:moveTo>
                    <a:cubicBezTo>
                      <a:pt x="1005" y="1"/>
                      <a:pt x="1" y="1026"/>
                      <a:pt x="1" y="2281"/>
                    </a:cubicBezTo>
                    <a:cubicBezTo>
                      <a:pt x="1" y="3537"/>
                      <a:pt x="1005" y="4562"/>
                      <a:pt x="2281" y="4562"/>
                    </a:cubicBezTo>
                    <a:cubicBezTo>
                      <a:pt x="3537" y="4562"/>
                      <a:pt x="4541" y="3537"/>
                      <a:pt x="4541" y="2281"/>
                    </a:cubicBezTo>
                    <a:cubicBezTo>
                      <a:pt x="4541" y="1026"/>
                      <a:pt x="3537" y="1"/>
                      <a:pt x="2281" y="1"/>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93" name="Google Shape;967;p31">
                <a:extLst>
                  <a:ext uri="{FF2B5EF4-FFF2-40B4-BE49-F238E27FC236}">
                    <a16:creationId xmlns:a16="http://schemas.microsoft.com/office/drawing/2014/main" id="{3D583DAE-854B-4244-BA10-52F2D953F5B8}"/>
                  </a:ext>
                </a:extLst>
              </p:cNvPr>
              <p:cNvSpPr/>
              <p:nvPr/>
            </p:nvSpPr>
            <p:spPr>
              <a:xfrm>
                <a:off x="5877195" y="2976167"/>
                <a:ext cx="104633" cy="103967"/>
              </a:xfrm>
              <a:custGeom>
                <a:avLst/>
                <a:gdLst/>
                <a:ahLst/>
                <a:cxnLst/>
                <a:rect l="l" t="t" r="r" b="b"/>
                <a:pathLst>
                  <a:path w="3139" h="3119" extrusionOk="0">
                    <a:moveTo>
                      <a:pt x="1570" y="1"/>
                    </a:moveTo>
                    <a:cubicBezTo>
                      <a:pt x="712" y="1"/>
                      <a:pt x="0" y="691"/>
                      <a:pt x="0" y="1549"/>
                    </a:cubicBezTo>
                    <a:cubicBezTo>
                      <a:pt x="0" y="2428"/>
                      <a:pt x="712" y="3118"/>
                      <a:pt x="1570" y="3118"/>
                    </a:cubicBezTo>
                    <a:cubicBezTo>
                      <a:pt x="2427" y="3118"/>
                      <a:pt x="3139" y="2428"/>
                      <a:pt x="3139" y="1549"/>
                    </a:cubicBezTo>
                    <a:cubicBezTo>
                      <a:pt x="3139" y="691"/>
                      <a:pt x="2427" y="1"/>
                      <a:pt x="1570"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94" name="Google Shape;968;p31">
                <a:extLst>
                  <a:ext uri="{FF2B5EF4-FFF2-40B4-BE49-F238E27FC236}">
                    <a16:creationId xmlns:a16="http://schemas.microsoft.com/office/drawing/2014/main" id="{0B6C7B5D-42DC-4F48-9994-13F119362390}"/>
                  </a:ext>
                </a:extLst>
              </p:cNvPr>
              <p:cNvSpPr/>
              <p:nvPr/>
            </p:nvSpPr>
            <p:spPr>
              <a:xfrm>
                <a:off x="5831162" y="3237734"/>
                <a:ext cx="98367" cy="98367"/>
              </a:xfrm>
              <a:custGeom>
                <a:avLst/>
                <a:gdLst/>
                <a:ahLst/>
                <a:cxnLst/>
                <a:rect l="l" t="t" r="r" b="b"/>
                <a:pathLst>
                  <a:path w="2951" h="2951" extrusionOk="0">
                    <a:moveTo>
                      <a:pt x="1465" y="0"/>
                    </a:moveTo>
                    <a:cubicBezTo>
                      <a:pt x="649" y="0"/>
                      <a:pt x="0" y="649"/>
                      <a:pt x="0" y="1465"/>
                    </a:cubicBezTo>
                    <a:cubicBezTo>
                      <a:pt x="0" y="2281"/>
                      <a:pt x="649" y="2950"/>
                      <a:pt x="1465" y="2950"/>
                    </a:cubicBezTo>
                    <a:cubicBezTo>
                      <a:pt x="2281" y="2950"/>
                      <a:pt x="2951" y="2281"/>
                      <a:pt x="2951" y="1465"/>
                    </a:cubicBezTo>
                    <a:cubicBezTo>
                      <a:pt x="2951" y="649"/>
                      <a:pt x="2281" y="0"/>
                      <a:pt x="1465"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95" name="Google Shape;969;p31">
                <a:extLst>
                  <a:ext uri="{FF2B5EF4-FFF2-40B4-BE49-F238E27FC236}">
                    <a16:creationId xmlns:a16="http://schemas.microsoft.com/office/drawing/2014/main" id="{B6F15382-5749-4C23-AE6D-9DB336FECC23}"/>
                  </a:ext>
                </a:extLst>
              </p:cNvPr>
              <p:cNvSpPr/>
              <p:nvPr/>
            </p:nvSpPr>
            <p:spPr>
              <a:xfrm>
                <a:off x="5727229" y="3714067"/>
                <a:ext cx="150000" cy="150000"/>
              </a:xfrm>
              <a:custGeom>
                <a:avLst/>
                <a:gdLst/>
                <a:ahLst/>
                <a:cxnLst/>
                <a:rect l="l" t="t" r="r" b="b"/>
                <a:pathLst>
                  <a:path w="4500" h="4500" extrusionOk="0">
                    <a:moveTo>
                      <a:pt x="2260" y="1"/>
                    </a:moveTo>
                    <a:cubicBezTo>
                      <a:pt x="1005" y="1"/>
                      <a:pt x="1" y="1005"/>
                      <a:pt x="1" y="2261"/>
                    </a:cubicBezTo>
                    <a:cubicBezTo>
                      <a:pt x="1" y="3495"/>
                      <a:pt x="1005" y="4500"/>
                      <a:pt x="2260" y="4500"/>
                    </a:cubicBezTo>
                    <a:cubicBezTo>
                      <a:pt x="3495" y="4500"/>
                      <a:pt x="4499" y="3495"/>
                      <a:pt x="4499" y="2261"/>
                    </a:cubicBezTo>
                    <a:cubicBezTo>
                      <a:pt x="4499" y="1005"/>
                      <a:pt x="3495" y="1"/>
                      <a:pt x="2260"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96" name="Google Shape;970;p31">
                <a:extLst>
                  <a:ext uri="{FF2B5EF4-FFF2-40B4-BE49-F238E27FC236}">
                    <a16:creationId xmlns:a16="http://schemas.microsoft.com/office/drawing/2014/main" id="{25AB769E-376A-4AC4-8C1A-05A4EC9D27FB}"/>
                  </a:ext>
                </a:extLst>
              </p:cNvPr>
              <p:cNvSpPr/>
              <p:nvPr/>
            </p:nvSpPr>
            <p:spPr>
              <a:xfrm>
                <a:off x="5116262" y="4102567"/>
                <a:ext cx="115800" cy="116500"/>
              </a:xfrm>
              <a:custGeom>
                <a:avLst/>
                <a:gdLst/>
                <a:ahLst/>
                <a:cxnLst/>
                <a:rect l="l" t="t" r="r" b="b"/>
                <a:pathLst>
                  <a:path w="3474" h="3495" extrusionOk="0">
                    <a:moveTo>
                      <a:pt x="1737" y="0"/>
                    </a:moveTo>
                    <a:cubicBezTo>
                      <a:pt x="775" y="0"/>
                      <a:pt x="1" y="796"/>
                      <a:pt x="1" y="1758"/>
                    </a:cubicBezTo>
                    <a:cubicBezTo>
                      <a:pt x="1" y="2721"/>
                      <a:pt x="775" y="3495"/>
                      <a:pt x="1737" y="3495"/>
                    </a:cubicBezTo>
                    <a:cubicBezTo>
                      <a:pt x="2700" y="3495"/>
                      <a:pt x="3474" y="2721"/>
                      <a:pt x="3474" y="1758"/>
                    </a:cubicBezTo>
                    <a:cubicBezTo>
                      <a:pt x="3474" y="796"/>
                      <a:pt x="2700" y="0"/>
                      <a:pt x="1737"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97" name="Google Shape;971;p31">
                <a:extLst>
                  <a:ext uri="{FF2B5EF4-FFF2-40B4-BE49-F238E27FC236}">
                    <a16:creationId xmlns:a16="http://schemas.microsoft.com/office/drawing/2014/main" id="{D45A31D4-71C3-4CFD-9E88-24C38F0E78A5}"/>
                  </a:ext>
                </a:extLst>
              </p:cNvPr>
              <p:cNvSpPr/>
              <p:nvPr/>
            </p:nvSpPr>
            <p:spPr>
              <a:xfrm>
                <a:off x="5001895" y="3731534"/>
                <a:ext cx="114400" cy="114400"/>
              </a:xfrm>
              <a:custGeom>
                <a:avLst/>
                <a:gdLst/>
                <a:ahLst/>
                <a:cxnLst/>
                <a:rect l="l" t="t" r="r" b="b"/>
                <a:pathLst>
                  <a:path w="3432" h="3432" extrusionOk="0">
                    <a:moveTo>
                      <a:pt x="1716" y="0"/>
                    </a:moveTo>
                    <a:cubicBezTo>
                      <a:pt x="753" y="0"/>
                      <a:pt x="0" y="774"/>
                      <a:pt x="0" y="1716"/>
                    </a:cubicBezTo>
                    <a:cubicBezTo>
                      <a:pt x="0" y="2657"/>
                      <a:pt x="753" y="3432"/>
                      <a:pt x="1716" y="3432"/>
                    </a:cubicBezTo>
                    <a:cubicBezTo>
                      <a:pt x="2657" y="3432"/>
                      <a:pt x="3432" y="2657"/>
                      <a:pt x="3432" y="1716"/>
                    </a:cubicBezTo>
                    <a:cubicBezTo>
                      <a:pt x="3432" y="774"/>
                      <a:pt x="2657" y="0"/>
                      <a:pt x="1716" y="0"/>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98" name="Google Shape;972;p31">
                <a:extLst>
                  <a:ext uri="{FF2B5EF4-FFF2-40B4-BE49-F238E27FC236}">
                    <a16:creationId xmlns:a16="http://schemas.microsoft.com/office/drawing/2014/main" id="{844EAB75-A6EB-4EB0-BFED-4C2DDD816DBF}"/>
                  </a:ext>
                </a:extLst>
              </p:cNvPr>
              <p:cNvSpPr/>
              <p:nvPr/>
            </p:nvSpPr>
            <p:spPr>
              <a:xfrm>
                <a:off x="5418262" y="3463701"/>
                <a:ext cx="110933" cy="110933"/>
              </a:xfrm>
              <a:custGeom>
                <a:avLst/>
                <a:gdLst/>
                <a:ahLst/>
                <a:cxnLst/>
                <a:rect l="l" t="t" r="r" b="b"/>
                <a:pathLst>
                  <a:path w="3328" h="3328" extrusionOk="0">
                    <a:moveTo>
                      <a:pt x="1674" y="0"/>
                    </a:moveTo>
                    <a:cubicBezTo>
                      <a:pt x="754" y="0"/>
                      <a:pt x="0" y="733"/>
                      <a:pt x="0" y="1653"/>
                    </a:cubicBezTo>
                    <a:cubicBezTo>
                      <a:pt x="0" y="2574"/>
                      <a:pt x="754" y="3327"/>
                      <a:pt x="1674" y="3327"/>
                    </a:cubicBezTo>
                    <a:cubicBezTo>
                      <a:pt x="2595" y="3327"/>
                      <a:pt x="3327" y="2574"/>
                      <a:pt x="3327" y="1653"/>
                    </a:cubicBezTo>
                    <a:cubicBezTo>
                      <a:pt x="3327" y="733"/>
                      <a:pt x="2595" y="0"/>
                      <a:pt x="1674" y="0"/>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99" name="Google Shape;973;p31">
                <a:extLst>
                  <a:ext uri="{FF2B5EF4-FFF2-40B4-BE49-F238E27FC236}">
                    <a16:creationId xmlns:a16="http://schemas.microsoft.com/office/drawing/2014/main" id="{94894543-AAE0-4752-93A2-01D6764498BF}"/>
                  </a:ext>
                </a:extLst>
              </p:cNvPr>
              <p:cNvSpPr/>
              <p:nvPr/>
            </p:nvSpPr>
            <p:spPr>
              <a:xfrm>
                <a:off x="4843562" y="3109401"/>
                <a:ext cx="172300" cy="172300"/>
              </a:xfrm>
              <a:custGeom>
                <a:avLst/>
                <a:gdLst/>
                <a:ahLst/>
                <a:cxnLst/>
                <a:rect l="l" t="t" r="r" b="b"/>
                <a:pathLst>
                  <a:path w="5169" h="5169" extrusionOk="0">
                    <a:moveTo>
                      <a:pt x="2595" y="0"/>
                    </a:moveTo>
                    <a:cubicBezTo>
                      <a:pt x="1151" y="0"/>
                      <a:pt x="0" y="1151"/>
                      <a:pt x="0" y="2595"/>
                    </a:cubicBezTo>
                    <a:cubicBezTo>
                      <a:pt x="0" y="4018"/>
                      <a:pt x="1151" y="5168"/>
                      <a:pt x="2595" y="5168"/>
                    </a:cubicBezTo>
                    <a:cubicBezTo>
                      <a:pt x="4018" y="5168"/>
                      <a:pt x="5169" y="4018"/>
                      <a:pt x="5169" y="2595"/>
                    </a:cubicBezTo>
                    <a:cubicBezTo>
                      <a:pt x="5169" y="1151"/>
                      <a:pt x="4018" y="0"/>
                      <a:pt x="2595" y="0"/>
                    </a:cubicBezTo>
                    <a:close/>
                  </a:path>
                </a:pathLst>
              </a:custGeom>
              <a:solidFill>
                <a:schemeClr val="accent4"/>
              </a:solidFill>
              <a:ln>
                <a:noFill/>
              </a:ln>
            </p:spPr>
            <p:txBody>
              <a:bodyPr spcFirstLastPara="1" wrap="square" lIns="121900" tIns="121900" rIns="121900" bIns="121900" anchor="ctr" anchorCtr="0">
                <a:noAutofit/>
              </a:bodyPr>
              <a:lstStyle/>
              <a:p>
                <a:endParaRPr sz="2400"/>
              </a:p>
            </p:txBody>
          </p:sp>
          <p:sp>
            <p:nvSpPr>
              <p:cNvPr id="100" name="Google Shape;974;p31">
                <a:extLst>
                  <a:ext uri="{FF2B5EF4-FFF2-40B4-BE49-F238E27FC236}">
                    <a16:creationId xmlns:a16="http://schemas.microsoft.com/office/drawing/2014/main" id="{7FB8CE89-CC0C-43B1-BF88-107772F9AB26}"/>
                  </a:ext>
                </a:extLst>
              </p:cNvPr>
              <p:cNvSpPr/>
              <p:nvPr/>
            </p:nvSpPr>
            <p:spPr>
              <a:xfrm>
                <a:off x="4900062" y="2548634"/>
                <a:ext cx="123467" cy="123500"/>
              </a:xfrm>
              <a:custGeom>
                <a:avLst/>
                <a:gdLst/>
                <a:ahLst/>
                <a:cxnLst/>
                <a:rect l="l" t="t" r="r" b="b"/>
                <a:pathLst>
                  <a:path w="3704" h="3705" extrusionOk="0">
                    <a:moveTo>
                      <a:pt x="1842" y="1"/>
                    </a:moveTo>
                    <a:cubicBezTo>
                      <a:pt x="816" y="1"/>
                      <a:pt x="0" y="838"/>
                      <a:pt x="0" y="1863"/>
                    </a:cubicBezTo>
                    <a:cubicBezTo>
                      <a:pt x="0" y="2888"/>
                      <a:pt x="816" y="3704"/>
                      <a:pt x="1842" y="3704"/>
                    </a:cubicBezTo>
                    <a:cubicBezTo>
                      <a:pt x="2867" y="3704"/>
                      <a:pt x="3704" y="2888"/>
                      <a:pt x="3704" y="1863"/>
                    </a:cubicBezTo>
                    <a:cubicBezTo>
                      <a:pt x="3704" y="838"/>
                      <a:pt x="2867" y="1"/>
                      <a:pt x="1842"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01" name="Google Shape;975;p31">
                <a:extLst>
                  <a:ext uri="{FF2B5EF4-FFF2-40B4-BE49-F238E27FC236}">
                    <a16:creationId xmlns:a16="http://schemas.microsoft.com/office/drawing/2014/main" id="{878F885E-EF5D-4DC3-A76E-772C754358C9}"/>
                  </a:ext>
                </a:extLst>
              </p:cNvPr>
              <p:cNvSpPr/>
              <p:nvPr/>
            </p:nvSpPr>
            <p:spPr>
              <a:xfrm>
                <a:off x="5214595" y="2281501"/>
                <a:ext cx="107467" cy="106767"/>
              </a:xfrm>
              <a:custGeom>
                <a:avLst/>
                <a:gdLst/>
                <a:ahLst/>
                <a:cxnLst/>
                <a:rect l="l" t="t" r="r" b="b"/>
                <a:pathLst>
                  <a:path w="3224" h="3203" extrusionOk="0">
                    <a:moveTo>
                      <a:pt x="1612" y="1"/>
                    </a:moveTo>
                    <a:cubicBezTo>
                      <a:pt x="712" y="1"/>
                      <a:pt x="1" y="712"/>
                      <a:pt x="1" y="1612"/>
                    </a:cubicBezTo>
                    <a:cubicBezTo>
                      <a:pt x="1" y="2491"/>
                      <a:pt x="712" y="3202"/>
                      <a:pt x="1612" y="3202"/>
                    </a:cubicBezTo>
                    <a:cubicBezTo>
                      <a:pt x="2491" y="3202"/>
                      <a:pt x="3223" y="2491"/>
                      <a:pt x="3223" y="1612"/>
                    </a:cubicBezTo>
                    <a:cubicBezTo>
                      <a:pt x="3223" y="712"/>
                      <a:pt x="2491" y="1"/>
                      <a:pt x="1612" y="1"/>
                    </a:cubicBezTo>
                    <a:close/>
                  </a:path>
                </a:pathLst>
              </a:custGeom>
              <a:solidFill>
                <a:schemeClr val="accent1"/>
              </a:solidFill>
              <a:ln>
                <a:noFill/>
              </a:ln>
            </p:spPr>
            <p:txBody>
              <a:bodyPr spcFirstLastPara="1" wrap="square" lIns="121900" tIns="121900" rIns="121900" bIns="121900" anchor="ctr" anchorCtr="0">
                <a:noAutofit/>
              </a:bodyPr>
              <a:lstStyle/>
              <a:p>
                <a:endParaRPr sz="2400"/>
              </a:p>
            </p:txBody>
          </p:sp>
          <p:sp>
            <p:nvSpPr>
              <p:cNvPr id="102" name="Google Shape;976;p31">
                <a:extLst>
                  <a:ext uri="{FF2B5EF4-FFF2-40B4-BE49-F238E27FC236}">
                    <a16:creationId xmlns:a16="http://schemas.microsoft.com/office/drawing/2014/main" id="{3CC877DA-F5EE-472C-8B67-535BB51F25C4}"/>
                  </a:ext>
                </a:extLst>
              </p:cNvPr>
              <p:cNvSpPr/>
              <p:nvPr/>
            </p:nvSpPr>
            <p:spPr>
              <a:xfrm>
                <a:off x="6960329" y="2550034"/>
                <a:ext cx="95600" cy="95600"/>
              </a:xfrm>
              <a:custGeom>
                <a:avLst/>
                <a:gdLst/>
                <a:ahLst/>
                <a:cxnLst/>
                <a:rect l="l" t="t" r="r" b="b"/>
                <a:pathLst>
                  <a:path w="2868" h="2868" extrusionOk="0">
                    <a:moveTo>
                      <a:pt x="1423" y="0"/>
                    </a:moveTo>
                    <a:cubicBezTo>
                      <a:pt x="649" y="0"/>
                      <a:pt x="1" y="649"/>
                      <a:pt x="1" y="1423"/>
                    </a:cubicBezTo>
                    <a:cubicBezTo>
                      <a:pt x="1" y="2218"/>
                      <a:pt x="649" y="2867"/>
                      <a:pt x="1423" y="2867"/>
                    </a:cubicBezTo>
                    <a:cubicBezTo>
                      <a:pt x="2219" y="2867"/>
                      <a:pt x="2867" y="2218"/>
                      <a:pt x="2867" y="1423"/>
                    </a:cubicBezTo>
                    <a:cubicBezTo>
                      <a:pt x="2867" y="649"/>
                      <a:pt x="2219" y="0"/>
                      <a:pt x="1423" y="0"/>
                    </a:cubicBez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03" name="Google Shape;977;p31">
                <a:extLst>
                  <a:ext uri="{FF2B5EF4-FFF2-40B4-BE49-F238E27FC236}">
                    <a16:creationId xmlns:a16="http://schemas.microsoft.com/office/drawing/2014/main" id="{18BC12DB-773B-46E0-A7EE-4EDB2A263242}"/>
                  </a:ext>
                </a:extLst>
              </p:cNvPr>
              <p:cNvSpPr/>
              <p:nvPr/>
            </p:nvSpPr>
            <p:spPr>
              <a:xfrm>
                <a:off x="5453829" y="4831400"/>
                <a:ext cx="87233" cy="87233"/>
              </a:xfrm>
              <a:custGeom>
                <a:avLst/>
                <a:gdLst/>
                <a:ahLst/>
                <a:cxnLst/>
                <a:rect l="l" t="t" r="r" b="b"/>
                <a:pathLst>
                  <a:path w="2617" h="2617" extrusionOk="0">
                    <a:moveTo>
                      <a:pt x="1319" y="1"/>
                    </a:moveTo>
                    <a:cubicBezTo>
                      <a:pt x="586" y="1"/>
                      <a:pt x="1" y="586"/>
                      <a:pt x="1" y="1298"/>
                    </a:cubicBezTo>
                    <a:cubicBezTo>
                      <a:pt x="1" y="2030"/>
                      <a:pt x="586" y="2616"/>
                      <a:pt x="1319" y="2616"/>
                    </a:cubicBezTo>
                    <a:cubicBezTo>
                      <a:pt x="2030" y="2616"/>
                      <a:pt x="2616" y="2030"/>
                      <a:pt x="2616" y="1298"/>
                    </a:cubicBezTo>
                    <a:cubicBezTo>
                      <a:pt x="2616" y="586"/>
                      <a:pt x="2030" y="1"/>
                      <a:pt x="1319" y="1"/>
                    </a:cubicBezTo>
                    <a:close/>
                  </a:path>
                </a:pathLst>
              </a:custGeom>
              <a:solidFill>
                <a:schemeClr val="accent2"/>
              </a:solidFill>
              <a:ln>
                <a:noFill/>
              </a:ln>
            </p:spPr>
            <p:txBody>
              <a:bodyPr spcFirstLastPara="1" wrap="square" lIns="121900" tIns="121900" rIns="121900" bIns="121900" anchor="ctr" anchorCtr="0">
                <a:noAutofit/>
              </a:bodyPr>
              <a:lstStyle/>
              <a:p>
                <a:endParaRPr sz="2400"/>
              </a:p>
            </p:txBody>
          </p:sp>
          <p:sp>
            <p:nvSpPr>
              <p:cNvPr id="104" name="Google Shape;978;p31">
                <a:extLst>
                  <a:ext uri="{FF2B5EF4-FFF2-40B4-BE49-F238E27FC236}">
                    <a16:creationId xmlns:a16="http://schemas.microsoft.com/office/drawing/2014/main" id="{9B27E61F-E81D-4B83-975C-B4414472C2EF}"/>
                  </a:ext>
                </a:extLst>
              </p:cNvPr>
              <p:cNvSpPr/>
              <p:nvPr/>
            </p:nvSpPr>
            <p:spPr>
              <a:xfrm>
                <a:off x="6409329" y="4884400"/>
                <a:ext cx="95600" cy="95600"/>
              </a:xfrm>
              <a:custGeom>
                <a:avLst/>
                <a:gdLst/>
                <a:ahLst/>
                <a:cxnLst/>
                <a:rect l="l" t="t" r="r" b="b"/>
                <a:pathLst>
                  <a:path w="2868" h="2868" extrusionOk="0">
                    <a:moveTo>
                      <a:pt x="1424" y="1"/>
                    </a:moveTo>
                    <a:cubicBezTo>
                      <a:pt x="650" y="1"/>
                      <a:pt x="1" y="649"/>
                      <a:pt x="1" y="1445"/>
                    </a:cubicBezTo>
                    <a:cubicBezTo>
                      <a:pt x="1" y="2240"/>
                      <a:pt x="650" y="2867"/>
                      <a:pt x="1424" y="2867"/>
                    </a:cubicBezTo>
                    <a:cubicBezTo>
                      <a:pt x="2219" y="2867"/>
                      <a:pt x="2867" y="2240"/>
                      <a:pt x="2867" y="1445"/>
                    </a:cubicBezTo>
                    <a:cubicBezTo>
                      <a:pt x="2867" y="649"/>
                      <a:pt x="2219" y="1"/>
                      <a:pt x="1424" y="1"/>
                    </a:cubicBezTo>
                    <a:close/>
                  </a:path>
                </a:pathLst>
              </a:custGeom>
              <a:solidFill>
                <a:schemeClr val="accent5"/>
              </a:solidFill>
              <a:ln>
                <a:noFill/>
              </a:ln>
            </p:spPr>
            <p:txBody>
              <a:bodyPr spcFirstLastPara="1" wrap="square" lIns="121900" tIns="121900" rIns="121900" bIns="121900" anchor="ctr" anchorCtr="0">
                <a:noAutofit/>
              </a:bodyPr>
              <a:lstStyle/>
              <a:p>
                <a:endParaRPr sz="2400"/>
              </a:p>
            </p:txBody>
          </p:sp>
        </p:grpSp>
        <p:grpSp>
          <p:nvGrpSpPr>
            <p:cNvPr id="17" name="Group 16">
              <a:extLst>
                <a:ext uri="{FF2B5EF4-FFF2-40B4-BE49-F238E27FC236}">
                  <a16:creationId xmlns:a16="http://schemas.microsoft.com/office/drawing/2014/main" id="{359F065D-8329-44D1-820C-9D5BBCFC36A1}"/>
                </a:ext>
              </a:extLst>
            </p:cNvPr>
            <p:cNvGrpSpPr/>
            <p:nvPr/>
          </p:nvGrpSpPr>
          <p:grpSpPr>
            <a:xfrm>
              <a:off x="1021096" y="2073899"/>
              <a:ext cx="3536687" cy="4397939"/>
              <a:chOff x="1021096" y="2185953"/>
              <a:chExt cx="3536687" cy="4397939"/>
            </a:xfrm>
          </p:grpSpPr>
          <p:grpSp>
            <p:nvGrpSpPr>
              <p:cNvPr id="38" name="Google Shape;979;p31">
                <a:extLst>
                  <a:ext uri="{FF2B5EF4-FFF2-40B4-BE49-F238E27FC236}">
                    <a16:creationId xmlns:a16="http://schemas.microsoft.com/office/drawing/2014/main" id="{A94D9459-3DCF-404E-BC43-8231D27490F5}"/>
                  </a:ext>
                </a:extLst>
              </p:cNvPr>
              <p:cNvGrpSpPr/>
              <p:nvPr/>
            </p:nvGrpSpPr>
            <p:grpSpPr>
              <a:xfrm>
                <a:off x="1021096" y="2281501"/>
                <a:ext cx="655290" cy="655290"/>
                <a:chOff x="709981" y="1620250"/>
                <a:chExt cx="603000" cy="603000"/>
              </a:xfrm>
            </p:grpSpPr>
            <p:sp>
              <p:nvSpPr>
                <p:cNvPr id="51" name="Google Shape;980;p31">
                  <a:extLst>
                    <a:ext uri="{FF2B5EF4-FFF2-40B4-BE49-F238E27FC236}">
                      <a16:creationId xmlns:a16="http://schemas.microsoft.com/office/drawing/2014/main" id="{ED1554C7-ECCD-4185-B8DA-CF706C640519}"/>
                    </a:ext>
                  </a:extLst>
                </p:cNvPr>
                <p:cNvSpPr/>
                <p:nvPr/>
              </p:nvSpPr>
              <p:spPr>
                <a:xfrm>
                  <a:off x="709981" y="1620250"/>
                  <a:ext cx="603000" cy="603000"/>
                </a:xfrm>
                <a:prstGeom prst="ellipse">
                  <a:avLst/>
                </a:prstGeom>
                <a:solidFill>
                  <a:schemeClr val="accent1"/>
                </a:solidFill>
                <a:ln>
                  <a:noFill/>
                </a:ln>
              </p:spPr>
              <p:txBody>
                <a:bodyPr spcFirstLastPara="1" wrap="square" lIns="121900" tIns="121900" rIns="121900" bIns="121900" anchor="ctr" anchorCtr="0">
                  <a:noAutofit/>
                </a:bodyPr>
                <a:lstStyle/>
                <a:p>
                  <a:endParaRPr sz="2400"/>
                </a:p>
              </p:txBody>
            </p:sp>
            <p:grpSp>
              <p:nvGrpSpPr>
                <p:cNvPr id="52" name="Google Shape;981;p31">
                  <a:extLst>
                    <a:ext uri="{FF2B5EF4-FFF2-40B4-BE49-F238E27FC236}">
                      <a16:creationId xmlns:a16="http://schemas.microsoft.com/office/drawing/2014/main" id="{E5F84BFA-FA8E-483C-B51E-A61222CE74F5}"/>
                    </a:ext>
                  </a:extLst>
                </p:cNvPr>
                <p:cNvGrpSpPr/>
                <p:nvPr/>
              </p:nvGrpSpPr>
              <p:grpSpPr>
                <a:xfrm>
                  <a:off x="880093" y="1790351"/>
                  <a:ext cx="262772" cy="262785"/>
                  <a:chOff x="1487200" y="2021475"/>
                  <a:chExt cx="483125" cy="483150"/>
                </a:xfrm>
              </p:grpSpPr>
              <p:sp>
                <p:nvSpPr>
                  <p:cNvPr id="53" name="Google Shape;982;p31">
                    <a:extLst>
                      <a:ext uri="{FF2B5EF4-FFF2-40B4-BE49-F238E27FC236}">
                        <a16:creationId xmlns:a16="http://schemas.microsoft.com/office/drawing/2014/main" id="{C8E4C6E4-7456-4BE4-9E91-19CFB4DA7060}"/>
                      </a:ext>
                    </a:extLst>
                  </p:cNvPr>
                  <p:cNvSpPr/>
                  <p:nvPr/>
                </p:nvSpPr>
                <p:spPr>
                  <a:xfrm>
                    <a:off x="1487200" y="2021475"/>
                    <a:ext cx="483125" cy="483150"/>
                  </a:xfrm>
                  <a:custGeom>
                    <a:avLst/>
                    <a:gdLst/>
                    <a:ahLst/>
                    <a:cxnLst/>
                    <a:rect l="l" t="t" r="r" b="b"/>
                    <a:pathLst>
                      <a:path w="19325" h="19326" extrusionOk="0">
                        <a:moveTo>
                          <a:pt x="17628" y="1133"/>
                        </a:moveTo>
                        <a:cubicBezTo>
                          <a:pt x="17939" y="1133"/>
                          <a:pt x="18192" y="1386"/>
                          <a:pt x="18192" y="1701"/>
                        </a:cubicBezTo>
                        <a:lnTo>
                          <a:pt x="18192" y="14796"/>
                        </a:lnTo>
                        <a:lnTo>
                          <a:pt x="1132" y="14796"/>
                        </a:lnTo>
                        <a:lnTo>
                          <a:pt x="1132" y="1701"/>
                        </a:lnTo>
                        <a:cubicBezTo>
                          <a:pt x="1132" y="1386"/>
                          <a:pt x="1386" y="1133"/>
                          <a:pt x="1700" y="1133"/>
                        </a:cubicBezTo>
                        <a:close/>
                        <a:moveTo>
                          <a:pt x="18192" y="15928"/>
                        </a:moveTo>
                        <a:lnTo>
                          <a:pt x="18192" y="17628"/>
                        </a:lnTo>
                        <a:cubicBezTo>
                          <a:pt x="18192" y="17939"/>
                          <a:pt x="17939" y="18193"/>
                          <a:pt x="17628" y="18193"/>
                        </a:cubicBezTo>
                        <a:lnTo>
                          <a:pt x="1700" y="18193"/>
                        </a:lnTo>
                        <a:cubicBezTo>
                          <a:pt x="1386" y="18193"/>
                          <a:pt x="1132" y="17939"/>
                          <a:pt x="1132" y="17628"/>
                        </a:cubicBezTo>
                        <a:lnTo>
                          <a:pt x="1132" y="15928"/>
                        </a:lnTo>
                        <a:close/>
                        <a:moveTo>
                          <a:pt x="1700" y="1"/>
                        </a:moveTo>
                        <a:cubicBezTo>
                          <a:pt x="761" y="1"/>
                          <a:pt x="0" y="761"/>
                          <a:pt x="0" y="1701"/>
                        </a:cubicBezTo>
                        <a:lnTo>
                          <a:pt x="0" y="17628"/>
                        </a:lnTo>
                        <a:cubicBezTo>
                          <a:pt x="0" y="18564"/>
                          <a:pt x="761" y="19325"/>
                          <a:pt x="1700" y="19325"/>
                        </a:cubicBezTo>
                        <a:lnTo>
                          <a:pt x="17628" y="19325"/>
                        </a:lnTo>
                        <a:cubicBezTo>
                          <a:pt x="18564" y="19325"/>
                          <a:pt x="19325" y="18564"/>
                          <a:pt x="19325" y="17628"/>
                        </a:cubicBezTo>
                        <a:lnTo>
                          <a:pt x="19325" y="1701"/>
                        </a:lnTo>
                        <a:cubicBezTo>
                          <a:pt x="19325" y="761"/>
                          <a:pt x="18564" y="1"/>
                          <a:pt x="17628" y="1"/>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sp>
                <p:nvSpPr>
                  <p:cNvPr id="54" name="Google Shape;983;p31">
                    <a:extLst>
                      <a:ext uri="{FF2B5EF4-FFF2-40B4-BE49-F238E27FC236}">
                        <a16:creationId xmlns:a16="http://schemas.microsoft.com/office/drawing/2014/main" id="{B10DA0AB-D9C9-4C8A-BC84-FBA423C20A0E}"/>
                      </a:ext>
                    </a:extLst>
                  </p:cNvPr>
                  <p:cNvSpPr/>
                  <p:nvPr/>
                </p:nvSpPr>
                <p:spPr>
                  <a:xfrm>
                    <a:off x="1573100" y="2078100"/>
                    <a:ext cx="84875" cy="284000"/>
                  </a:xfrm>
                  <a:custGeom>
                    <a:avLst/>
                    <a:gdLst/>
                    <a:ahLst/>
                    <a:cxnLst/>
                    <a:rect l="l" t="t" r="r" b="b"/>
                    <a:pathLst>
                      <a:path w="3395" h="11360" extrusionOk="0">
                        <a:moveTo>
                          <a:pt x="1697" y="6833"/>
                        </a:moveTo>
                        <a:cubicBezTo>
                          <a:pt x="2201" y="6833"/>
                          <a:pt x="2455" y="7440"/>
                          <a:pt x="2099" y="7799"/>
                        </a:cubicBezTo>
                        <a:cubicBezTo>
                          <a:pt x="1983" y="7914"/>
                          <a:pt x="1841" y="7966"/>
                          <a:pt x="1702" y="7966"/>
                        </a:cubicBezTo>
                        <a:cubicBezTo>
                          <a:pt x="1411" y="7966"/>
                          <a:pt x="1133" y="7739"/>
                          <a:pt x="1133" y="7398"/>
                        </a:cubicBezTo>
                        <a:cubicBezTo>
                          <a:pt x="1133" y="7084"/>
                          <a:pt x="1383" y="6833"/>
                          <a:pt x="1697" y="6833"/>
                        </a:cubicBezTo>
                        <a:close/>
                        <a:moveTo>
                          <a:pt x="1697" y="0"/>
                        </a:moveTo>
                        <a:cubicBezTo>
                          <a:pt x="1383" y="0"/>
                          <a:pt x="1133" y="254"/>
                          <a:pt x="1133" y="568"/>
                        </a:cubicBezTo>
                        <a:lnTo>
                          <a:pt x="1133" y="5798"/>
                        </a:lnTo>
                        <a:cubicBezTo>
                          <a:pt x="453" y="6036"/>
                          <a:pt x="0" y="6679"/>
                          <a:pt x="0" y="7398"/>
                        </a:cubicBezTo>
                        <a:cubicBezTo>
                          <a:pt x="0" y="8116"/>
                          <a:pt x="453" y="8760"/>
                          <a:pt x="1133" y="8998"/>
                        </a:cubicBezTo>
                        <a:lnTo>
                          <a:pt x="1133" y="10795"/>
                        </a:lnTo>
                        <a:cubicBezTo>
                          <a:pt x="1133" y="11109"/>
                          <a:pt x="1383" y="11359"/>
                          <a:pt x="1697" y="11359"/>
                        </a:cubicBezTo>
                        <a:cubicBezTo>
                          <a:pt x="2011" y="11359"/>
                          <a:pt x="2265" y="11109"/>
                          <a:pt x="2265" y="10795"/>
                        </a:cubicBezTo>
                        <a:lnTo>
                          <a:pt x="2265" y="8998"/>
                        </a:lnTo>
                        <a:cubicBezTo>
                          <a:pt x="2941" y="8760"/>
                          <a:pt x="3394" y="8116"/>
                          <a:pt x="3394" y="7398"/>
                        </a:cubicBezTo>
                        <a:cubicBezTo>
                          <a:pt x="3394" y="6679"/>
                          <a:pt x="2941" y="6036"/>
                          <a:pt x="2265" y="5798"/>
                        </a:cubicBezTo>
                        <a:lnTo>
                          <a:pt x="2265" y="568"/>
                        </a:lnTo>
                        <a:cubicBezTo>
                          <a:pt x="2265" y="254"/>
                          <a:pt x="2011" y="0"/>
                          <a:pt x="1697"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sp>
                <p:nvSpPr>
                  <p:cNvPr id="55" name="Google Shape;984;p31">
                    <a:extLst>
                      <a:ext uri="{FF2B5EF4-FFF2-40B4-BE49-F238E27FC236}">
                        <a16:creationId xmlns:a16="http://schemas.microsoft.com/office/drawing/2014/main" id="{94490327-2810-47D2-9D21-7980BBC64CD0}"/>
                      </a:ext>
                    </a:extLst>
                  </p:cNvPr>
                  <p:cNvSpPr/>
                  <p:nvPr/>
                </p:nvSpPr>
                <p:spPr>
                  <a:xfrm>
                    <a:off x="1686325" y="2078100"/>
                    <a:ext cx="84875" cy="284000"/>
                  </a:xfrm>
                  <a:custGeom>
                    <a:avLst/>
                    <a:gdLst/>
                    <a:ahLst/>
                    <a:cxnLst/>
                    <a:rect l="l" t="t" r="r" b="b"/>
                    <a:pathLst>
                      <a:path w="3395" h="11360" extrusionOk="0">
                        <a:moveTo>
                          <a:pt x="1697" y="3436"/>
                        </a:moveTo>
                        <a:cubicBezTo>
                          <a:pt x="2011" y="3436"/>
                          <a:pt x="2262" y="3687"/>
                          <a:pt x="2262" y="4001"/>
                        </a:cubicBezTo>
                        <a:cubicBezTo>
                          <a:pt x="2262" y="4315"/>
                          <a:pt x="2011" y="4569"/>
                          <a:pt x="1697" y="4569"/>
                        </a:cubicBezTo>
                        <a:cubicBezTo>
                          <a:pt x="1383" y="4569"/>
                          <a:pt x="1133" y="4315"/>
                          <a:pt x="1133" y="4001"/>
                        </a:cubicBezTo>
                        <a:cubicBezTo>
                          <a:pt x="1133" y="3687"/>
                          <a:pt x="1383" y="3436"/>
                          <a:pt x="1697" y="3436"/>
                        </a:cubicBezTo>
                        <a:close/>
                        <a:moveTo>
                          <a:pt x="1697" y="0"/>
                        </a:moveTo>
                        <a:cubicBezTo>
                          <a:pt x="1383" y="0"/>
                          <a:pt x="1133" y="254"/>
                          <a:pt x="1133" y="568"/>
                        </a:cubicBezTo>
                        <a:lnTo>
                          <a:pt x="1133" y="2401"/>
                        </a:lnTo>
                        <a:cubicBezTo>
                          <a:pt x="453" y="2639"/>
                          <a:pt x="0" y="3282"/>
                          <a:pt x="0" y="4001"/>
                        </a:cubicBezTo>
                        <a:cubicBezTo>
                          <a:pt x="0" y="4720"/>
                          <a:pt x="453" y="5363"/>
                          <a:pt x="1133" y="5601"/>
                        </a:cubicBezTo>
                        <a:lnTo>
                          <a:pt x="1133" y="10795"/>
                        </a:lnTo>
                        <a:cubicBezTo>
                          <a:pt x="1133" y="11109"/>
                          <a:pt x="1383" y="11359"/>
                          <a:pt x="1697" y="11359"/>
                        </a:cubicBezTo>
                        <a:cubicBezTo>
                          <a:pt x="2011" y="11359"/>
                          <a:pt x="2265" y="11109"/>
                          <a:pt x="2265" y="10795"/>
                        </a:cubicBezTo>
                        <a:lnTo>
                          <a:pt x="2265" y="5601"/>
                        </a:lnTo>
                        <a:cubicBezTo>
                          <a:pt x="2941" y="5363"/>
                          <a:pt x="3394" y="4720"/>
                          <a:pt x="3394" y="4001"/>
                        </a:cubicBezTo>
                        <a:cubicBezTo>
                          <a:pt x="3394" y="3282"/>
                          <a:pt x="2941" y="2639"/>
                          <a:pt x="2265" y="2401"/>
                        </a:cubicBezTo>
                        <a:lnTo>
                          <a:pt x="2265" y="568"/>
                        </a:lnTo>
                        <a:cubicBezTo>
                          <a:pt x="2265" y="254"/>
                          <a:pt x="2011" y="0"/>
                          <a:pt x="1697"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sp>
                <p:nvSpPr>
                  <p:cNvPr id="56" name="Google Shape;985;p31">
                    <a:extLst>
                      <a:ext uri="{FF2B5EF4-FFF2-40B4-BE49-F238E27FC236}">
                        <a16:creationId xmlns:a16="http://schemas.microsoft.com/office/drawing/2014/main" id="{7B6B9FA2-BCAC-4F34-B65F-CCED0A5B536E}"/>
                      </a:ext>
                    </a:extLst>
                  </p:cNvPr>
                  <p:cNvSpPr/>
                  <p:nvPr/>
                </p:nvSpPr>
                <p:spPr>
                  <a:xfrm>
                    <a:off x="1799550" y="2078100"/>
                    <a:ext cx="84875" cy="284000"/>
                  </a:xfrm>
                  <a:custGeom>
                    <a:avLst/>
                    <a:gdLst/>
                    <a:ahLst/>
                    <a:cxnLst/>
                    <a:rect l="l" t="t" r="r" b="b"/>
                    <a:pathLst>
                      <a:path w="3395" h="11360" extrusionOk="0">
                        <a:moveTo>
                          <a:pt x="1698" y="6833"/>
                        </a:moveTo>
                        <a:cubicBezTo>
                          <a:pt x="2202" y="6833"/>
                          <a:pt x="2455" y="7440"/>
                          <a:pt x="2099" y="7799"/>
                        </a:cubicBezTo>
                        <a:cubicBezTo>
                          <a:pt x="1983" y="7914"/>
                          <a:pt x="1841" y="7966"/>
                          <a:pt x="1703" y="7966"/>
                        </a:cubicBezTo>
                        <a:cubicBezTo>
                          <a:pt x="1411" y="7966"/>
                          <a:pt x="1133" y="7739"/>
                          <a:pt x="1133" y="7398"/>
                        </a:cubicBezTo>
                        <a:cubicBezTo>
                          <a:pt x="1133" y="7084"/>
                          <a:pt x="1384" y="6833"/>
                          <a:pt x="1698" y="6833"/>
                        </a:cubicBezTo>
                        <a:close/>
                        <a:moveTo>
                          <a:pt x="1698" y="0"/>
                        </a:moveTo>
                        <a:cubicBezTo>
                          <a:pt x="1384" y="0"/>
                          <a:pt x="1133" y="254"/>
                          <a:pt x="1133" y="568"/>
                        </a:cubicBezTo>
                        <a:lnTo>
                          <a:pt x="1133" y="5798"/>
                        </a:lnTo>
                        <a:cubicBezTo>
                          <a:pt x="454" y="6036"/>
                          <a:pt x="1" y="6679"/>
                          <a:pt x="1" y="7398"/>
                        </a:cubicBezTo>
                        <a:cubicBezTo>
                          <a:pt x="1" y="8116"/>
                          <a:pt x="454" y="8760"/>
                          <a:pt x="1133" y="8998"/>
                        </a:cubicBezTo>
                        <a:lnTo>
                          <a:pt x="1133" y="10795"/>
                        </a:lnTo>
                        <a:cubicBezTo>
                          <a:pt x="1133" y="11109"/>
                          <a:pt x="1384" y="11359"/>
                          <a:pt x="1698" y="11359"/>
                        </a:cubicBezTo>
                        <a:cubicBezTo>
                          <a:pt x="2012" y="11359"/>
                          <a:pt x="2265" y="11109"/>
                          <a:pt x="2265" y="10795"/>
                        </a:cubicBezTo>
                        <a:lnTo>
                          <a:pt x="2265" y="8998"/>
                        </a:lnTo>
                        <a:cubicBezTo>
                          <a:pt x="2942" y="8760"/>
                          <a:pt x="3394" y="8116"/>
                          <a:pt x="3394" y="7398"/>
                        </a:cubicBezTo>
                        <a:cubicBezTo>
                          <a:pt x="3394" y="6679"/>
                          <a:pt x="2942" y="6036"/>
                          <a:pt x="2265" y="5798"/>
                        </a:cubicBezTo>
                        <a:lnTo>
                          <a:pt x="2265" y="568"/>
                        </a:lnTo>
                        <a:cubicBezTo>
                          <a:pt x="2265" y="254"/>
                          <a:pt x="2012" y="0"/>
                          <a:pt x="1698"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grpSp>
          </p:grpSp>
          <p:sp>
            <p:nvSpPr>
              <p:cNvPr id="39" name="Rectangle 38">
                <a:extLst>
                  <a:ext uri="{FF2B5EF4-FFF2-40B4-BE49-F238E27FC236}">
                    <a16:creationId xmlns:a16="http://schemas.microsoft.com/office/drawing/2014/main" id="{F3552B51-FEDB-4D69-A526-4B4FAD5995DE}"/>
                  </a:ext>
                </a:extLst>
              </p:cNvPr>
              <p:cNvSpPr/>
              <p:nvPr/>
            </p:nvSpPr>
            <p:spPr>
              <a:xfrm>
                <a:off x="2064801" y="2185953"/>
                <a:ext cx="2183354" cy="1092607"/>
              </a:xfrm>
              <a:prstGeom prst="rect">
                <a:avLst/>
              </a:prstGeom>
            </p:spPr>
            <p:txBody>
              <a:bodyPr wrap="square">
                <a:spAutoFit/>
              </a:bodyPr>
              <a:lstStyle/>
              <a:p>
                <a:pPr>
                  <a:spcAft>
                    <a:spcPts val="600"/>
                  </a:spcAft>
                </a:pPr>
                <a:r>
                  <a:rPr lang="en-US" sz="1600" b="1" dirty="0">
                    <a:solidFill>
                      <a:schemeClr val="accent1"/>
                    </a:solidFill>
                  </a:rPr>
                  <a:t>Knowledge sharing across labs</a:t>
                </a:r>
              </a:p>
              <a:p>
                <a:pPr>
                  <a:spcAft>
                    <a:spcPts val="600"/>
                  </a:spcAft>
                </a:pPr>
                <a:r>
                  <a:rPr lang="en-US" sz="1400" dirty="0"/>
                  <a:t>Facilitate continuous exchange of expertise</a:t>
                </a:r>
                <a:endParaRPr lang="en-IN" sz="1400" dirty="0"/>
              </a:p>
            </p:txBody>
          </p:sp>
          <p:grpSp>
            <p:nvGrpSpPr>
              <p:cNvPr id="40" name="Google Shape;986;p31">
                <a:extLst>
                  <a:ext uri="{FF2B5EF4-FFF2-40B4-BE49-F238E27FC236}">
                    <a16:creationId xmlns:a16="http://schemas.microsoft.com/office/drawing/2014/main" id="{D4A6D95D-DA70-4512-B1D6-0FB4B9B92848}"/>
                  </a:ext>
                </a:extLst>
              </p:cNvPr>
              <p:cNvGrpSpPr/>
              <p:nvPr/>
            </p:nvGrpSpPr>
            <p:grpSpPr>
              <a:xfrm>
                <a:off x="1021096" y="3934167"/>
                <a:ext cx="655290" cy="655290"/>
                <a:chOff x="709981" y="2534650"/>
                <a:chExt cx="603000" cy="603000"/>
              </a:xfrm>
            </p:grpSpPr>
            <p:sp>
              <p:nvSpPr>
                <p:cNvPr id="46" name="Google Shape;987;p31">
                  <a:extLst>
                    <a:ext uri="{FF2B5EF4-FFF2-40B4-BE49-F238E27FC236}">
                      <a16:creationId xmlns:a16="http://schemas.microsoft.com/office/drawing/2014/main" id="{CA2FBCAB-96B4-410A-B730-832A8937539B}"/>
                    </a:ext>
                  </a:extLst>
                </p:cNvPr>
                <p:cNvSpPr/>
                <p:nvPr/>
              </p:nvSpPr>
              <p:spPr>
                <a:xfrm>
                  <a:off x="709981" y="2534650"/>
                  <a:ext cx="603000" cy="603000"/>
                </a:xfrm>
                <a:prstGeom prst="ellipse">
                  <a:avLst/>
                </a:prstGeom>
                <a:solidFill>
                  <a:schemeClr val="accent2"/>
                </a:solidFill>
                <a:ln>
                  <a:noFill/>
                </a:ln>
              </p:spPr>
              <p:txBody>
                <a:bodyPr spcFirstLastPara="1" wrap="square" lIns="121900" tIns="121900" rIns="121900" bIns="121900" anchor="ctr" anchorCtr="0">
                  <a:noAutofit/>
                </a:bodyPr>
                <a:lstStyle/>
                <a:p>
                  <a:endParaRPr sz="2400"/>
                </a:p>
              </p:txBody>
            </p:sp>
            <p:grpSp>
              <p:nvGrpSpPr>
                <p:cNvPr id="47" name="Google Shape;988;p31">
                  <a:extLst>
                    <a:ext uri="{FF2B5EF4-FFF2-40B4-BE49-F238E27FC236}">
                      <a16:creationId xmlns:a16="http://schemas.microsoft.com/office/drawing/2014/main" id="{F16D9DBC-7D24-44C0-A846-608FD4536CE4}"/>
                    </a:ext>
                  </a:extLst>
                </p:cNvPr>
                <p:cNvGrpSpPr/>
                <p:nvPr/>
              </p:nvGrpSpPr>
              <p:grpSpPr>
                <a:xfrm>
                  <a:off x="878797" y="2704744"/>
                  <a:ext cx="265369" cy="262812"/>
                  <a:chOff x="3860250" y="1427025"/>
                  <a:chExt cx="487900" cy="483200"/>
                </a:xfrm>
              </p:grpSpPr>
              <p:sp>
                <p:nvSpPr>
                  <p:cNvPr id="48" name="Google Shape;989;p31">
                    <a:extLst>
                      <a:ext uri="{FF2B5EF4-FFF2-40B4-BE49-F238E27FC236}">
                        <a16:creationId xmlns:a16="http://schemas.microsoft.com/office/drawing/2014/main" id="{D9496FDD-BA36-47A4-BA89-50377168B939}"/>
                      </a:ext>
                    </a:extLst>
                  </p:cNvPr>
                  <p:cNvSpPr/>
                  <p:nvPr/>
                </p:nvSpPr>
                <p:spPr>
                  <a:xfrm>
                    <a:off x="3875800" y="1427025"/>
                    <a:ext cx="472350" cy="468650"/>
                  </a:xfrm>
                  <a:custGeom>
                    <a:avLst/>
                    <a:gdLst/>
                    <a:ahLst/>
                    <a:cxnLst/>
                    <a:rect l="l" t="t" r="r" b="b"/>
                    <a:pathLst>
                      <a:path w="18894" h="18746" extrusionOk="0">
                        <a:moveTo>
                          <a:pt x="15874" y="1821"/>
                        </a:moveTo>
                        <a:lnTo>
                          <a:pt x="6498" y="9403"/>
                        </a:lnTo>
                        <a:lnTo>
                          <a:pt x="1918" y="5629"/>
                        </a:lnTo>
                        <a:lnTo>
                          <a:pt x="15874" y="1821"/>
                        </a:lnTo>
                        <a:close/>
                        <a:moveTo>
                          <a:pt x="14524" y="4370"/>
                        </a:moveTo>
                        <a:lnTo>
                          <a:pt x="8425" y="11912"/>
                        </a:lnTo>
                        <a:lnTo>
                          <a:pt x="6257" y="12634"/>
                        </a:lnTo>
                        <a:lnTo>
                          <a:pt x="6981" y="10469"/>
                        </a:lnTo>
                        <a:lnTo>
                          <a:pt x="14524" y="4370"/>
                        </a:lnTo>
                        <a:close/>
                        <a:moveTo>
                          <a:pt x="17072" y="3020"/>
                        </a:moveTo>
                        <a:lnTo>
                          <a:pt x="13265" y="16976"/>
                        </a:lnTo>
                        <a:lnTo>
                          <a:pt x="9491" y="12392"/>
                        </a:lnTo>
                        <a:lnTo>
                          <a:pt x="17072" y="3020"/>
                        </a:lnTo>
                        <a:close/>
                        <a:moveTo>
                          <a:pt x="18298" y="0"/>
                        </a:moveTo>
                        <a:cubicBezTo>
                          <a:pt x="18286" y="0"/>
                          <a:pt x="18274" y="0"/>
                          <a:pt x="18262" y="3"/>
                        </a:cubicBezTo>
                        <a:lnTo>
                          <a:pt x="18253" y="3"/>
                        </a:lnTo>
                        <a:cubicBezTo>
                          <a:pt x="18238" y="6"/>
                          <a:pt x="18223" y="6"/>
                          <a:pt x="18211" y="12"/>
                        </a:cubicBezTo>
                        <a:lnTo>
                          <a:pt x="18193" y="15"/>
                        </a:lnTo>
                        <a:lnTo>
                          <a:pt x="18178" y="18"/>
                        </a:lnTo>
                        <a:lnTo>
                          <a:pt x="562" y="4822"/>
                        </a:lnTo>
                        <a:cubicBezTo>
                          <a:pt x="121" y="4943"/>
                          <a:pt x="0" y="5511"/>
                          <a:pt x="351" y="5804"/>
                        </a:cubicBezTo>
                        <a:lnTo>
                          <a:pt x="5834" y="10321"/>
                        </a:lnTo>
                        <a:lnTo>
                          <a:pt x="4826" y="13349"/>
                        </a:lnTo>
                        <a:cubicBezTo>
                          <a:pt x="4696" y="13732"/>
                          <a:pt x="4991" y="14098"/>
                          <a:pt x="5359" y="14098"/>
                        </a:cubicBezTo>
                        <a:cubicBezTo>
                          <a:pt x="5418" y="14098"/>
                          <a:pt x="5479" y="14089"/>
                          <a:pt x="5541" y="14068"/>
                        </a:cubicBezTo>
                        <a:lnTo>
                          <a:pt x="8570" y="13060"/>
                        </a:lnTo>
                        <a:lnTo>
                          <a:pt x="13087" y="18540"/>
                        </a:lnTo>
                        <a:cubicBezTo>
                          <a:pt x="13195" y="18670"/>
                          <a:pt x="13355" y="18745"/>
                          <a:pt x="13525" y="18745"/>
                        </a:cubicBezTo>
                        <a:cubicBezTo>
                          <a:pt x="13564" y="18745"/>
                          <a:pt x="13603" y="18742"/>
                          <a:pt x="13642" y="18733"/>
                        </a:cubicBezTo>
                        <a:cubicBezTo>
                          <a:pt x="13848" y="18691"/>
                          <a:pt x="14014" y="18534"/>
                          <a:pt x="14071" y="18328"/>
                        </a:cubicBezTo>
                        <a:lnTo>
                          <a:pt x="18875" y="716"/>
                        </a:lnTo>
                        <a:cubicBezTo>
                          <a:pt x="18875" y="710"/>
                          <a:pt x="18875" y="704"/>
                          <a:pt x="18878" y="698"/>
                        </a:cubicBezTo>
                        <a:lnTo>
                          <a:pt x="18881" y="683"/>
                        </a:lnTo>
                        <a:cubicBezTo>
                          <a:pt x="18884" y="668"/>
                          <a:pt x="18887" y="653"/>
                          <a:pt x="18890" y="637"/>
                        </a:cubicBezTo>
                        <a:cubicBezTo>
                          <a:pt x="18890" y="637"/>
                          <a:pt x="18890" y="634"/>
                          <a:pt x="18890" y="631"/>
                        </a:cubicBezTo>
                        <a:cubicBezTo>
                          <a:pt x="18890" y="619"/>
                          <a:pt x="18890" y="604"/>
                          <a:pt x="18893" y="592"/>
                        </a:cubicBezTo>
                        <a:lnTo>
                          <a:pt x="18893" y="580"/>
                        </a:lnTo>
                        <a:cubicBezTo>
                          <a:pt x="18893" y="568"/>
                          <a:pt x="18893" y="553"/>
                          <a:pt x="18893" y="541"/>
                        </a:cubicBezTo>
                        <a:cubicBezTo>
                          <a:pt x="18893" y="538"/>
                          <a:pt x="18893" y="535"/>
                          <a:pt x="18893" y="532"/>
                        </a:cubicBezTo>
                        <a:cubicBezTo>
                          <a:pt x="18893" y="517"/>
                          <a:pt x="18890" y="502"/>
                          <a:pt x="18890" y="487"/>
                        </a:cubicBezTo>
                        <a:cubicBezTo>
                          <a:pt x="18890" y="483"/>
                          <a:pt x="18890" y="480"/>
                          <a:pt x="18887" y="477"/>
                        </a:cubicBezTo>
                        <a:cubicBezTo>
                          <a:pt x="18887" y="465"/>
                          <a:pt x="18884" y="453"/>
                          <a:pt x="18881" y="441"/>
                        </a:cubicBezTo>
                        <a:lnTo>
                          <a:pt x="18878" y="429"/>
                        </a:lnTo>
                        <a:cubicBezTo>
                          <a:pt x="18875" y="417"/>
                          <a:pt x="18872" y="402"/>
                          <a:pt x="18866" y="390"/>
                        </a:cubicBezTo>
                        <a:cubicBezTo>
                          <a:pt x="18866" y="387"/>
                          <a:pt x="18866" y="384"/>
                          <a:pt x="18863" y="381"/>
                        </a:cubicBezTo>
                        <a:cubicBezTo>
                          <a:pt x="18860" y="369"/>
                          <a:pt x="18854" y="354"/>
                          <a:pt x="18848" y="345"/>
                        </a:cubicBezTo>
                        <a:cubicBezTo>
                          <a:pt x="18848" y="339"/>
                          <a:pt x="18845" y="333"/>
                          <a:pt x="18842" y="329"/>
                        </a:cubicBezTo>
                        <a:cubicBezTo>
                          <a:pt x="18839" y="323"/>
                          <a:pt x="18833" y="308"/>
                          <a:pt x="18830" y="299"/>
                        </a:cubicBezTo>
                        <a:cubicBezTo>
                          <a:pt x="18824" y="290"/>
                          <a:pt x="18824" y="290"/>
                          <a:pt x="18821" y="287"/>
                        </a:cubicBezTo>
                        <a:cubicBezTo>
                          <a:pt x="18815" y="275"/>
                          <a:pt x="18806" y="263"/>
                          <a:pt x="18797" y="248"/>
                        </a:cubicBezTo>
                        <a:lnTo>
                          <a:pt x="18790" y="239"/>
                        </a:lnTo>
                        <a:cubicBezTo>
                          <a:pt x="18784" y="230"/>
                          <a:pt x="18775" y="221"/>
                          <a:pt x="18769" y="212"/>
                        </a:cubicBezTo>
                        <a:cubicBezTo>
                          <a:pt x="18760" y="203"/>
                          <a:pt x="18763" y="203"/>
                          <a:pt x="18760" y="200"/>
                        </a:cubicBezTo>
                        <a:cubicBezTo>
                          <a:pt x="18751" y="188"/>
                          <a:pt x="18739" y="176"/>
                          <a:pt x="18727" y="163"/>
                        </a:cubicBezTo>
                        <a:cubicBezTo>
                          <a:pt x="18718" y="154"/>
                          <a:pt x="18706" y="142"/>
                          <a:pt x="18694" y="133"/>
                        </a:cubicBezTo>
                        <a:lnTo>
                          <a:pt x="18682" y="124"/>
                        </a:lnTo>
                        <a:cubicBezTo>
                          <a:pt x="18673" y="115"/>
                          <a:pt x="18664" y="109"/>
                          <a:pt x="18655" y="103"/>
                        </a:cubicBezTo>
                        <a:lnTo>
                          <a:pt x="18643" y="94"/>
                        </a:lnTo>
                        <a:cubicBezTo>
                          <a:pt x="18630" y="88"/>
                          <a:pt x="18618" y="79"/>
                          <a:pt x="18606" y="73"/>
                        </a:cubicBezTo>
                        <a:lnTo>
                          <a:pt x="18591" y="64"/>
                        </a:lnTo>
                        <a:lnTo>
                          <a:pt x="18564" y="52"/>
                        </a:lnTo>
                        <a:lnTo>
                          <a:pt x="18549" y="43"/>
                        </a:lnTo>
                        <a:cubicBezTo>
                          <a:pt x="18537" y="40"/>
                          <a:pt x="18522" y="34"/>
                          <a:pt x="18510" y="28"/>
                        </a:cubicBezTo>
                        <a:lnTo>
                          <a:pt x="18501" y="28"/>
                        </a:lnTo>
                        <a:cubicBezTo>
                          <a:pt x="18489" y="22"/>
                          <a:pt x="18476" y="18"/>
                          <a:pt x="18464" y="15"/>
                        </a:cubicBezTo>
                        <a:lnTo>
                          <a:pt x="18449" y="12"/>
                        </a:lnTo>
                        <a:lnTo>
                          <a:pt x="18416" y="6"/>
                        </a:lnTo>
                        <a:lnTo>
                          <a:pt x="18404" y="3"/>
                        </a:lnTo>
                        <a:cubicBezTo>
                          <a:pt x="18389" y="3"/>
                          <a:pt x="18374" y="0"/>
                          <a:pt x="18359"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sp>
                <p:nvSpPr>
                  <p:cNvPr id="49" name="Google Shape;990;p31">
                    <a:extLst>
                      <a:ext uri="{FF2B5EF4-FFF2-40B4-BE49-F238E27FC236}">
                        <a16:creationId xmlns:a16="http://schemas.microsoft.com/office/drawing/2014/main" id="{6E0563AA-1A6A-484A-BE3C-0452CAB77384}"/>
                      </a:ext>
                    </a:extLst>
                  </p:cNvPr>
                  <p:cNvSpPr/>
                  <p:nvPr/>
                </p:nvSpPr>
                <p:spPr>
                  <a:xfrm>
                    <a:off x="3860250" y="1861675"/>
                    <a:ext cx="54675" cy="48550"/>
                  </a:xfrm>
                  <a:custGeom>
                    <a:avLst/>
                    <a:gdLst/>
                    <a:ahLst/>
                    <a:cxnLst/>
                    <a:rect l="l" t="t" r="r" b="b"/>
                    <a:pathLst>
                      <a:path w="2187" h="1942" extrusionOk="0">
                        <a:moveTo>
                          <a:pt x="1563" y="1"/>
                        </a:moveTo>
                        <a:cubicBezTo>
                          <a:pt x="1416" y="1"/>
                          <a:pt x="1268" y="58"/>
                          <a:pt x="1157" y="172"/>
                        </a:cubicBezTo>
                        <a:lnTo>
                          <a:pt x="357" y="976"/>
                        </a:lnTo>
                        <a:cubicBezTo>
                          <a:pt x="0" y="1332"/>
                          <a:pt x="254" y="1942"/>
                          <a:pt x="758" y="1942"/>
                        </a:cubicBezTo>
                        <a:cubicBezTo>
                          <a:pt x="906" y="1942"/>
                          <a:pt x="1051" y="1882"/>
                          <a:pt x="1157" y="1776"/>
                        </a:cubicBezTo>
                        <a:lnTo>
                          <a:pt x="1957" y="973"/>
                        </a:lnTo>
                        <a:cubicBezTo>
                          <a:pt x="2184" y="755"/>
                          <a:pt x="2187" y="390"/>
                          <a:pt x="1963" y="166"/>
                        </a:cubicBezTo>
                        <a:cubicBezTo>
                          <a:pt x="1853" y="56"/>
                          <a:pt x="1708" y="1"/>
                          <a:pt x="1563" y="1"/>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sp>
                <p:nvSpPr>
                  <p:cNvPr id="50" name="Google Shape;991;p31">
                    <a:extLst>
                      <a:ext uri="{FF2B5EF4-FFF2-40B4-BE49-F238E27FC236}">
                        <a16:creationId xmlns:a16="http://schemas.microsoft.com/office/drawing/2014/main" id="{7724481C-D46A-4CD3-A390-3E9263F80ECD}"/>
                      </a:ext>
                    </a:extLst>
                  </p:cNvPr>
                  <p:cNvSpPr/>
                  <p:nvPr/>
                </p:nvSpPr>
                <p:spPr>
                  <a:xfrm>
                    <a:off x="3923425" y="1801775"/>
                    <a:ext cx="51350" cy="48550"/>
                  </a:xfrm>
                  <a:custGeom>
                    <a:avLst/>
                    <a:gdLst/>
                    <a:ahLst/>
                    <a:cxnLst/>
                    <a:rect l="l" t="t" r="r" b="b"/>
                    <a:pathLst>
                      <a:path w="2054" h="1942" extrusionOk="0">
                        <a:moveTo>
                          <a:pt x="1430" y="0"/>
                        </a:moveTo>
                        <a:cubicBezTo>
                          <a:pt x="1286" y="0"/>
                          <a:pt x="1141" y="56"/>
                          <a:pt x="1030" y="168"/>
                        </a:cubicBezTo>
                        <a:lnTo>
                          <a:pt x="230" y="968"/>
                        </a:lnTo>
                        <a:cubicBezTo>
                          <a:pt x="4" y="1189"/>
                          <a:pt x="1" y="1551"/>
                          <a:pt x="224" y="1774"/>
                        </a:cubicBezTo>
                        <a:cubicBezTo>
                          <a:pt x="334" y="1886"/>
                          <a:pt x="478" y="1941"/>
                          <a:pt x="623" y="1941"/>
                        </a:cubicBezTo>
                        <a:cubicBezTo>
                          <a:pt x="771" y="1941"/>
                          <a:pt x="919" y="1883"/>
                          <a:pt x="1030" y="1768"/>
                        </a:cubicBezTo>
                        <a:lnTo>
                          <a:pt x="1831" y="968"/>
                        </a:lnTo>
                        <a:cubicBezTo>
                          <a:pt x="2054" y="745"/>
                          <a:pt x="2051" y="388"/>
                          <a:pt x="1831" y="168"/>
                        </a:cubicBezTo>
                        <a:cubicBezTo>
                          <a:pt x="1720" y="56"/>
                          <a:pt x="1575" y="0"/>
                          <a:pt x="1430"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grpSp>
          </p:grpSp>
          <p:sp>
            <p:nvSpPr>
              <p:cNvPr id="41" name="Rectangle 40">
                <a:extLst>
                  <a:ext uri="{FF2B5EF4-FFF2-40B4-BE49-F238E27FC236}">
                    <a16:creationId xmlns:a16="http://schemas.microsoft.com/office/drawing/2014/main" id="{3AC5E57C-2416-46E8-93BA-BF0277F9073B}"/>
                  </a:ext>
                </a:extLst>
              </p:cNvPr>
              <p:cNvSpPr/>
              <p:nvPr/>
            </p:nvSpPr>
            <p:spPr>
              <a:xfrm>
                <a:off x="2064800" y="3838619"/>
                <a:ext cx="2492983" cy="1092607"/>
              </a:xfrm>
              <a:prstGeom prst="rect">
                <a:avLst/>
              </a:prstGeom>
            </p:spPr>
            <p:txBody>
              <a:bodyPr wrap="square">
                <a:spAutoFit/>
              </a:bodyPr>
              <a:lstStyle/>
              <a:p>
                <a:pPr>
                  <a:spcAft>
                    <a:spcPts val="600"/>
                  </a:spcAft>
                </a:pPr>
                <a:r>
                  <a:rPr lang="en-US" sz="1600" b="1" dirty="0">
                    <a:solidFill>
                      <a:schemeClr val="accent2"/>
                    </a:solidFill>
                  </a:rPr>
                  <a:t>Cross-country collaborative projects</a:t>
                </a:r>
              </a:p>
              <a:p>
                <a:pPr>
                  <a:spcAft>
                    <a:spcPts val="600"/>
                  </a:spcAft>
                </a:pPr>
                <a:r>
                  <a:rPr lang="fr-FR" sz="1400" dirty="0"/>
                  <a:t>Encourage joint initiatives </a:t>
                </a:r>
                <a:r>
                  <a:rPr lang="fr-FR" sz="1400" dirty="0" err="1"/>
                  <a:t>between</a:t>
                </a:r>
                <a:r>
                  <a:rPr lang="fr-FR" sz="1400" dirty="0"/>
                  <a:t> </a:t>
                </a:r>
                <a:r>
                  <a:rPr lang="fr-FR" sz="1400" dirty="0" err="1"/>
                  <a:t>DILs</a:t>
                </a:r>
                <a:endParaRPr lang="en-IN" sz="1400" dirty="0"/>
              </a:p>
            </p:txBody>
          </p:sp>
          <p:grpSp>
            <p:nvGrpSpPr>
              <p:cNvPr id="42" name="Google Shape;992;p31">
                <a:extLst>
                  <a:ext uri="{FF2B5EF4-FFF2-40B4-BE49-F238E27FC236}">
                    <a16:creationId xmlns:a16="http://schemas.microsoft.com/office/drawing/2014/main" id="{9895EF10-5932-4F30-9878-E69483FA23ED}"/>
                  </a:ext>
                </a:extLst>
              </p:cNvPr>
              <p:cNvGrpSpPr/>
              <p:nvPr/>
            </p:nvGrpSpPr>
            <p:grpSpPr>
              <a:xfrm>
                <a:off x="1021096" y="5586833"/>
                <a:ext cx="655290" cy="655290"/>
                <a:chOff x="710275" y="3449050"/>
                <a:chExt cx="603000" cy="603000"/>
              </a:xfrm>
            </p:grpSpPr>
            <p:sp>
              <p:nvSpPr>
                <p:cNvPr id="44" name="Google Shape;993;p31">
                  <a:extLst>
                    <a:ext uri="{FF2B5EF4-FFF2-40B4-BE49-F238E27FC236}">
                      <a16:creationId xmlns:a16="http://schemas.microsoft.com/office/drawing/2014/main" id="{5C3F7B35-0BB8-4770-8626-9EFFE5A3F718}"/>
                    </a:ext>
                  </a:extLst>
                </p:cNvPr>
                <p:cNvSpPr/>
                <p:nvPr/>
              </p:nvSpPr>
              <p:spPr>
                <a:xfrm>
                  <a:off x="710275" y="3449050"/>
                  <a:ext cx="603000" cy="603000"/>
                </a:xfrm>
                <a:prstGeom prst="ellipse">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45" name="Google Shape;994;p31">
                  <a:extLst>
                    <a:ext uri="{FF2B5EF4-FFF2-40B4-BE49-F238E27FC236}">
                      <a16:creationId xmlns:a16="http://schemas.microsoft.com/office/drawing/2014/main" id="{9C4E8ADB-8638-4343-80A8-09DCED8490D5}"/>
                    </a:ext>
                  </a:extLst>
                </p:cNvPr>
                <p:cNvSpPr/>
                <p:nvPr/>
              </p:nvSpPr>
              <p:spPr>
                <a:xfrm>
                  <a:off x="895802" y="3619158"/>
                  <a:ext cx="231946" cy="262785"/>
                </a:xfrm>
                <a:custGeom>
                  <a:avLst/>
                  <a:gdLst/>
                  <a:ahLst/>
                  <a:cxnLst/>
                  <a:rect l="l" t="t" r="r" b="b"/>
                  <a:pathLst>
                    <a:path w="17058" h="19326" extrusionOk="0">
                      <a:moveTo>
                        <a:pt x="15013" y="2021"/>
                      </a:moveTo>
                      <a:lnTo>
                        <a:pt x="11577" y="5741"/>
                      </a:lnTo>
                      <a:cubicBezTo>
                        <a:pt x="11378" y="5958"/>
                        <a:pt x="11378" y="6290"/>
                        <a:pt x="11577" y="6507"/>
                      </a:cubicBezTo>
                      <a:lnTo>
                        <a:pt x="15013" y="10230"/>
                      </a:lnTo>
                      <a:lnTo>
                        <a:pt x="3195" y="10230"/>
                      </a:lnTo>
                      <a:lnTo>
                        <a:pt x="3195" y="2021"/>
                      </a:lnTo>
                      <a:close/>
                      <a:moveTo>
                        <a:pt x="1716" y="1133"/>
                      </a:moveTo>
                      <a:cubicBezTo>
                        <a:pt x="1906" y="1136"/>
                        <a:pt x="2060" y="1290"/>
                        <a:pt x="2063" y="1480"/>
                      </a:cubicBezTo>
                      <a:lnTo>
                        <a:pt x="2063" y="17846"/>
                      </a:lnTo>
                      <a:cubicBezTo>
                        <a:pt x="2060" y="18036"/>
                        <a:pt x="1906" y="18190"/>
                        <a:pt x="1716" y="18193"/>
                      </a:cubicBezTo>
                      <a:lnTo>
                        <a:pt x="1483" y="18193"/>
                      </a:lnTo>
                      <a:cubicBezTo>
                        <a:pt x="1290" y="18190"/>
                        <a:pt x="1136" y="18036"/>
                        <a:pt x="1133" y="17846"/>
                      </a:cubicBezTo>
                      <a:lnTo>
                        <a:pt x="1133" y="1480"/>
                      </a:lnTo>
                      <a:cubicBezTo>
                        <a:pt x="1136" y="1290"/>
                        <a:pt x="1290" y="1136"/>
                        <a:pt x="1483" y="1133"/>
                      </a:cubicBezTo>
                      <a:close/>
                      <a:moveTo>
                        <a:pt x="1483" y="1"/>
                      </a:moveTo>
                      <a:cubicBezTo>
                        <a:pt x="665" y="1"/>
                        <a:pt x="4" y="665"/>
                        <a:pt x="1" y="1480"/>
                      </a:cubicBezTo>
                      <a:lnTo>
                        <a:pt x="1" y="17846"/>
                      </a:lnTo>
                      <a:cubicBezTo>
                        <a:pt x="4" y="18661"/>
                        <a:pt x="665" y="19325"/>
                        <a:pt x="1483" y="19325"/>
                      </a:cubicBezTo>
                      <a:lnTo>
                        <a:pt x="1716" y="19325"/>
                      </a:lnTo>
                      <a:cubicBezTo>
                        <a:pt x="2531" y="19325"/>
                        <a:pt x="3195" y="18661"/>
                        <a:pt x="3195" y="17846"/>
                      </a:cubicBezTo>
                      <a:lnTo>
                        <a:pt x="3195" y="11363"/>
                      </a:lnTo>
                      <a:lnTo>
                        <a:pt x="16306" y="11363"/>
                      </a:lnTo>
                      <a:cubicBezTo>
                        <a:pt x="16801" y="11360"/>
                        <a:pt x="17058" y="10774"/>
                        <a:pt x="16722" y="10412"/>
                      </a:cubicBezTo>
                      <a:lnTo>
                        <a:pt x="12764" y="6124"/>
                      </a:lnTo>
                      <a:lnTo>
                        <a:pt x="16722" y="1836"/>
                      </a:lnTo>
                      <a:cubicBezTo>
                        <a:pt x="16873" y="1673"/>
                        <a:pt x="16916" y="1432"/>
                        <a:pt x="16825" y="1226"/>
                      </a:cubicBezTo>
                      <a:cubicBezTo>
                        <a:pt x="16734" y="1021"/>
                        <a:pt x="16532" y="885"/>
                        <a:pt x="16306" y="885"/>
                      </a:cubicBezTo>
                      <a:lnTo>
                        <a:pt x="3071" y="885"/>
                      </a:lnTo>
                      <a:cubicBezTo>
                        <a:pt x="2833" y="348"/>
                        <a:pt x="2302" y="1"/>
                        <a:pt x="1716" y="1"/>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grpSp>
          <p:sp>
            <p:nvSpPr>
              <p:cNvPr id="43" name="Rectangle 42">
                <a:extLst>
                  <a:ext uri="{FF2B5EF4-FFF2-40B4-BE49-F238E27FC236}">
                    <a16:creationId xmlns:a16="http://schemas.microsoft.com/office/drawing/2014/main" id="{7AAC368F-26BF-41F2-9326-0BF96162DB85}"/>
                  </a:ext>
                </a:extLst>
              </p:cNvPr>
              <p:cNvSpPr/>
              <p:nvPr/>
            </p:nvSpPr>
            <p:spPr>
              <a:xfrm>
                <a:off x="2064801" y="5491285"/>
                <a:ext cx="2457984" cy="1092607"/>
              </a:xfrm>
              <a:prstGeom prst="rect">
                <a:avLst/>
              </a:prstGeom>
            </p:spPr>
            <p:txBody>
              <a:bodyPr wrap="square">
                <a:spAutoFit/>
              </a:bodyPr>
              <a:lstStyle/>
              <a:p>
                <a:pPr>
                  <a:spcAft>
                    <a:spcPts val="600"/>
                  </a:spcAft>
                </a:pPr>
                <a:r>
                  <a:rPr lang="en-US" sz="1600" b="1" dirty="0">
                    <a:solidFill>
                      <a:schemeClr val="accent3"/>
                    </a:solidFill>
                  </a:rPr>
                  <a:t>Standardized data governance practices</a:t>
                </a:r>
              </a:p>
              <a:p>
                <a:pPr>
                  <a:spcAft>
                    <a:spcPts val="600"/>
                  </a:spcAft>
                </a:pPr>
                <a:r>
                  <a:rPr lang="en-US" sz="1400" dirty="0"/>
                  <a:t>Develop and promote harmonized frameworks</a:t>
                </a:r>
                <a:endParaRPr lang="en-IN" sz="1400" dirty="0"/>
              </a:p>
            </p:txBody>
          </p:sp>
        </p:grpSp>
        <p:grpSp>
          <p:nvGrpSpPr>
            <p:cNvPr id="18" name="Group 17">
              <a:extLst>
                <a:ext uri="{FF2B5EF4-FFF2-40B4-BE49-F238E27FC236}">
                  <a16:creationId xmlns:a16="http://schemas.microsoft.com/office/drawing/2014/main" id="{2858F81B-A2B5-4469-907E-36771BD91080}"/>
                </a:ext>
              </a:extLst>
            </p:cNvPr>
            <p:cNvGrpSpPr/>
            <p:nvPr/>
          </p:nvGrpSpPr>
          <p:grpSpPr>
            <a:xfrm>
              <a:off x="7434930" y="2073899"/>
              <a:ext cx="3735974" cy="4397939"/>
              <a:chOff x="7434930" y="2185953"/>
              <a:chExt cx="3735974" cy="4397939"/>
            </a:xfrm>
          </p:grpSpPr>
          <p:grpSp>
            <p:nvGrpSpPr>
              <p:cNvPr id="19" name="Google Shape;1003;p31">
                <a:extLst>
                  <a:ext uri="{FF2B5EF4-FFF2-40B4-BE49-F238E27FC236}">
                    <a16:creationId xmlns:a16="http://schemas.microsoft.com/office/drawing/2014/main" id="{13B1A54C-1FEB-4686-82AA-C755729E755A}"/>
                  </a:ext>
                </a:extLst>
              </p:cNvPr>
              <p:cNvGrpSpPr/>
              <p:nvPr/>
            </p:nvGrpSpPr>
            <p:grpSpPr>
              <a:xfrm>
                <a:off x="10515614" y="2281501"/>
                <a:ext cx="655290" cy="655290"/>
                <a:chOff x="7830869" y="1620250"/>
                <a:chExt cx="603000" cy="603000"/>
              </a:xfrm>
            </p:grpSpPr>
            <p:sp>
              <p:nvSpPr>
                <p:cNvPr id="33" name="Google Shape;1004;p31">
                  <a:extLst>
                    <a:ext uri="{FF2B5EF4-FFF2-40B4-BE49-F238E27FC236}">
                      <a16:creationId xmlns:a16="http://schemas.microsoft.com/office/drawing/2014/main" id="{116783BA-094F-411C-97ED-E139084B9CAD}"/>
                    </a:ext>
                  </a:extLst>
                </p:cNvPr>
                <p:cNvSpPr/>
                <p:nvPr/>
              </p:nvSpPr>
              <p:spPr>
                <a:xfrm flipH="1">
                  <a:off x="7830869" y="1620250"/>
                  <a:ext cx="603000" cy="603000"/>
                </a:xfrm>
                <a:prstGeom prst="ellipse">
                  <a:avLst/>
                </a:prstGeom>
                <a:solidFill>
                  <a:schemeClr val="accent4"/>
                </a:solidFill>
                <a:ln>
                  <a:noFill/>
                </a:ln>
              </p:spPr>
              <p:txBody>
                <a:bodyPr spcFirstLastPara="1" wrap="square" lIns="121900" tIns="121900" rIns="121900" bIns="121900" anchor="ctr" anchorCtr="0">
                  <a:noAutofit/>
                </a:bodyPr>
                <a:lstStyle/>
                <a:p>
                  <a:endParaRPr sz="2400"/>
                </a:p>
              </p:txBody>
            </p:sp>
            <p:grpSp>
              <p:nvGrpSpPr>
                <p:cNvPr id="34" name="Google Shape;1005;p31">
                  <a:extLst>
                    <a:ext uri="{FF2B5EF4-FFF2-40B4-BE49-F238E27FC236}">
                      <a16:creationId xmlns:a16="http://schemas.microsoft.com/office/drawing/2014/main" id="{77535EC2-C47A-4D24-89AD-75D082B7AC50}"/>
                    </a:ext>
                  </a:extLst>
                </p:cNvPr>
                <p:cNvGrpSpPr/>
                <p:nvPr/>
              </p:nvGrpSpPr>
              <p:grpSpPr>
                <a:xfrm>
                  <a:off x="7988199" y="1782272"/>
                  <a:ext cx="288339" cy="278956"/>
                  <a:chOff x="3270550" y="832575"/>
                  <a:chExt cx="499375" cy="483125"/>
                </a:xfrm>
              </p:grpSpPr>
              <p:sp>
                <p:nvSpPr>
                  <p:cNvPr id="35" name="Google Shape;1006;p31">
                    <a:extLst>
                      <a:ext uri="{FF2B5EF4-FFF2-40B4-BE49-F238E27FC236}">
                        <a16:creationId xmlns:a16="http://schemas.microsoft.com/office/drawing/2014/main" id="{D5307396-8FF5-488A-95E2-EA0DAF0663FD}"/>
                      </a:ext>
                    </a:extLst>
                  </p:cNvPr>
                  <p:cNvSpPr/>
                  <p:nvPr/>
                </p:nvSpPr>
                <p:spPr>
                  <a:xfrm>
                    <a:off x="3270550" y="865975"/>
                    <a:ext cx="463725" cy="449725"/>
                  </a:xfrm>
                  <a:custGeom>
                    <a:avLst/>
                    <a:gdLst/>
                    <a:ahLst/>
                    <a:cxnLst/>
                    <a:rect l="l" t="t" r="r" b="b"/>
                    <a:pathLst>
                      <a:path w="18549" h="17989" extrusionOk="0">
                        <a:moveTo>
                          <a:pt x="4823" y="1361"/>
                        </a:moveTo>
                        <a:lnTo>
                          <a:pt x="9177" y="8619"/>
                        </a:lnTo>
                        <a:cubicBezTo>
                          <a:pt x="9237" y="8716"/>
                          <a:pt x="9325" y="8794"/>
                          <a:pt x="9427" y="8843"/>
                        </a:cubicBezTo>
                        <a:lnTo>
                          <a:pt x="17136" y="12345"/>
                        </a:lnTo>
                        <a:cubicBezTo>
                          <a:pt x="15653" y="15102"/>
                          <a:pt x="12779" y="16856"/>
                          <a:pt x="9663" y="16856"/>
                        </a:cubicBezTo>
                        <a:cubicBezTo>
                          <a:pt x="4958" y="16856"/>
                          <a:pt x="1133" y="13031"/>
                          <a:pt x="1133" y="8326"/>
                        </a:cubicBezTo>
                        <a:cubicBezTo>
                          <a:pt x="1133" y="5573"/>
                          <a:pt x="2534" y="2952"/>
                          <a:pt x="4823" y="1361"/>
                        </a:cubicBezTo>
                        <a:close/>
                        <a:moveTo>
                          <a:pt x="5005" y="0"/>
                        </a:moveTo>
                        <a:cubicBezTo>
                          <a:pt x="4907" y="0"/>
                          <a:pt x="4807" y="26"/>
                          <a:pt x="4717" y="80"/>
                        </a:cubicBezTo>
                        <a:cubicBezTo>
                          <a:pt x="3313" y="926"/>
                          <a:pt x="2141" y="2106"/>
                          <a:pt x="1311" y="3516"/>
                        </a:cubicBezTo>
                        <a:cubicBezTo>
                          <a:pt x="453" y="4975"/>
                          <a:pt x="1" y="6636"/>
                          <a:pt x="1" y="8326"/>
                        </a:cubicBezTo>
                        <a:cubicBezTo>
                          <a:pt x="1" y="10896"/>
                          <a:pt x="1009" y="13321"/>
                          <a:pt x="2839" y="15150"/>
                        </a:cubicBezTo>
                        <a:cubicBezTo>
                          <a:pt x="4669" y="16980"/>
                          <a:pt x="7093" y="17989"/>
                          <a:pt x="9663" y="17989"/>
                        </a:cubicBezTo>
                        <a:cubicBezTo>
                          <a:pt x="13410" y="17989"/>
                          <a:pt x="16846" y="15757"/>
                          <a:pt x="18419" y="12306"/>
                        </a:cubicBezTo>
                        <a:cubicBezTo>
                          <a:pt x="18549" y="12022"/>
                          <a:pt x="18422" y="11687"/>
                          <a:pt x="18138" y="11557"/>
                        </a:cubicBezTo>
                        <a:lnTo>
                          <a:pt x="10058" y="7886"/>
                        </a:lnTo>
                        <a:lnTo>
                          <a:pt x="5493" y="277"/>
                        </a:lnTo>
                        <a:cubicBezTo>
                          <a:pt x="5387" y="99"/>
                          <a:pt x="5198" y="0"/>
                          <a:pt x="5005"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sp>
                <p:nvSpPr>
                  <p:cNvPr id="36" name="Google Shape;1007;p31">
                    <a:extLst>
                      <a:ext uri="{FF2B5EF4-FFF2-40B4-BE49-F238E27FC236}">
                        <a16:creationId xmlns:a16="http://schemas.microsoft.com/office/drawing/2014/main" id="{F2540DAA-27F0-4E99-9488-BDEB770E0F1F}"/>
                      </a:ext>
                    </a:extLst>
                  </p:cNvPr>
                  <p:cNvSpPr/>
                  <p:nvPr/>
                </p:nvSpPr>
                <p:spPr>
                  <a:xfrm>
                    <a:off x="3562600" y="876075"/>
                    <a:ext cx="207325" cy="241775"/>
                  </a:xfrm>
                  <a:custGeom>
                    <a:avLst/>
                    <a:gdLst/>
                    <a:ahLst/>
                    <a:cxnLst/>
                    <a:rect l="l" t="t" r="r" b="b"/>
                    <a:pathLst>
                      <a:path w="8293" h="9671" extrusionOk="0">
                        <a:moveTo>
                          <a:pt x="4204" y="1437"/>
                        </a:moveTo>
                        <a:cubicBezTo>
                          <a:pt x="5680" y="2826"/>
                          <a:pt x="6517" y="4764"/>
                          <a:pt x="6511" y="6790"/>
                        </a:cubicBezTo>
                        <a:cubicBezTo>
                          <a:pt x="6511" y="7300"/>
                          <a:pt x="6459" y="7811"/>
                          <a:pt x="6354" y="8309"/>
                        </a:cubicBezTo>
                        <a:lnTo>
                          <a:pt x="1468" y="6090"/>
                        </a:lnTo>
                        <a:lnTo>
                          <a:pt x="4204" y="1437"/>
                        </a:lnTo>
                        <a:close/>
                        <a:moveTo>
                          <a:pt x="4060" y="1"/>
                        </a:moveTo>
                        <a:cubicBezTo>
                          <a:pt x="3867" y="1"/>
                          <a:pt x="3677" y="99"/>
                          <a:pt x="3570" y="280"/>
                        </a:cubicBezTo>
                        <a:lnTo>
                          <a:pt x="173" y="6056"/>
                        </a:lnTo>
                        <a:cubicBezTo>
                          <a:pt x="1" y="6346"/>
                          <a:pt x="119" y="6721"/>
                          <a:pt x="427" y="6860"/>
                        </a:cubicBezTo>
                        <a:lnTo>
                          <a:pt x="6499" y="9622"/>
                        </a:lnTo>
                        <a:cubicBezTo>
                          <a:pt x="6574" y="9656"/>
                          <a:pt x="6653" y="9671"/>
                          <a:pt x="6734" y="9671"/>
                        </a:cubicBezTo>
                        <a:cubicBezTo>
                          <a:pt x="6982" y="9671"/>
                          <a:pt x="7202" y="9508"/>
                          <a:pt x="7275" y="9269"/>
                        </a:cubicBezTo>
                        <a:cubicBezTo>
                          <a:pt x="8292" y="5921"/>
                          <a:pt x="7157" y="2291"/>
                          <a:pt x="4409" y="123"/>
                        </a:cubicBezTo>
                        <a:cubicBezTo>
                          <a:pt x="4305" y="40"/>
                          <a:pt x="4182" y="1"/>
                          <a:pt x="4060" y="1"/>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sp>
                <p:nvSpPr>
                  <p:cNvPr id="37" name="Google Shape;1008;p31">
                    <a:extLst>
                      <a:ext uri="{FF2B5EF4-FFF2-40B4-BE49-F238E27FC236}">
                        <a16:creationId xmlns:a16="http://schemas.microsoft.com/office/drawing/2014/main" id="{4F95086E-AF36-45B4-925D-8C80B2D48B02}"/>
                      </a:ext>
                    </a:extLst>
                  </p:cNvPr>
                  <p:cNvSpPr/>
                  <p:nvPr/>
                </p:nvSpPr>
                <p:spPr>
                  <a:xfrm>
                    <a:off x="3443500" y="832575"/>
                    <a:ext cx="187300" cy="173625"/>
                  </a:xfrm>
                  <a:custGeom>
                    <a:avLst/>
                    <a:gdLst/>
                    <a:ahLst/>
                    <a:cxnLst/>
                    <a:rect l="l" t="t" r="r" b="b"/>
                    <a:pathLst>
                      <a:path w="7492" h="6945" extrusionOk="0">
                        <a:moveTo>
                          <a:pt x="3877" y="1133"/>
                        </a:moveTo>
                        <a:cubicBezTo>
                          <a:pt x="4588" y="1133"/>
                          <a:pt x="5300" y="1235"/>
                          <a:pt x="5991" y="1440"/>
                        </a:cubicBezTo>
                        <a:lnTo>
                          <a:pt x="3735" y="5269"/>
                        </a:lnTo>
                        <a:lnTo>
                          <a:pt x="1492" y="1528"/>
                        </a:lnTo>
                        <a:cubicBezTo>
                          <a:pt x="2264" y="1265"/>
                          <a:pt x="3070" y="1133"/>
                          <a:pt x="3877" y="1133"/>
                        </a:cubicBezTo>
                        <a:close/>
                        <a:moveTo>
                          <a:pt x="3877" y="0"/>
                        </a:moveTo>
                        <a:cubicBezTo>
                          <a:pt x="2702" y="0"/>
                          <a:pt x="1528" y="243"/>
                          <a:pt x="432" y="728"/>
                        </a:cubicBezTo>
                        <a:cubicBezTo>
                          <a:pt x="121" y="867"/>
                          <a:pt x="0" y="1244"/>
                          <a:pt x="175" y="1537"/>
                        </a:cubicBezTo>
                        <a:lnTo>
                          <a:pt x="3255" y="6670"/>
                        </a:lnTo>
                        <a:cubicBezTo>
                          <a:pt x="3358" y="6839"/>
                          <a:pt x="3542" y="6945"/>
                          <a:pt x="3741" y="6945"/>
                        </a:cubicBezTo>
                        <a:lnTo>
                          <a:pt x="3744" y="6945"/>
                        </a:lnTo>
                        <a:cubicBezTo>
                          <a:pt x="3943" y="6945"/>
                          <a:pt x="4128" y="6839"/>
                          <a:pt x="4230" y="6667"/>
                        </a:cubicBezTo>
                        <a:lnTo>
                          <a:pt x="7313" y="1419"/>
                        </a:lnTo>
                        <a:cubicBezTo>
                          <a:pt x="7491" y="1120"/>
                          <a:pt x="7358" y="737"/>
                          <a:pt x="7038" y="607"/>
                        </a:cubicBezTo>
                        <a:cubicBezTo>
                          <a:pt x="6023" y="202"/>
                          <a:pt x="4950" y="0"/>
                          <a:pt x="3877"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grpSp>
          </p:grpSp>
          <p:sp>
            <p:nvSpPr>
              <p:cNvPr id="20" name="Rectangle 19">
                <a:extLst>
                  <a:ext uri="{FF2B5EF4-FFF2-40B4-BE49-F238E27FC236}">
                    <a16:creationId xmlns:a16="http://schemas.microsoft.com/office/drawing/2014/main" id="{B456CF46-143E-4329-9B62-64471C7905F7}"/>
                  </a:ext>
                </a:extLst>
              </p:cNvPr>
              <p:cNvSpPr/>
              <p:nvPr/>
            </p:nvSpPr>
            <p:spPr>
              <a:xfrm>
                <a:off x="7660635" y="2185953"/>
                <a:ext cx="2415037" cy="1308050"/>
              </a:xfrm>
              <a:prstGeom prst="rect">
                <a:avLst/>
              </a:prstGeom>
            </p:spPr>
            <p:txBody>
              <a:bodyPr wrap="square">
                <a:spAutoFit/>
              </a:bodyPr>
              <a:lstStyle/>
              <a:p>
                <a:pPr algn="r">
                  <a:spcAft>
                    <a:spcPts val="600"/>
                  </a:spcAft>
                </a:pPr>
                <a:r>
                  <a:rPr lang="en-US" sz="1600" b="1" dirty="0">
                    <a:solidFill>
                      <a:schemeClr val="accent4"/>
                    </a:solidFill>
                  </a:rPr>
                  <a:t>Capacity building and training programs</a:t>
                </a:r>
              </a:p>
              <a:p>
                <a:pPr algn="r">
                  <a:spcAft>
                    <a:spcPts val="600"/>
                  </a:spcAft>
                </a:pPr>
                <a:r>
                  <a:rPr lang="en-US" sz="1400" dirty="0"/>
                  <a:t>Organize workshops, certifications, and mentorship programs</a:t>
                </a:r>
                <a:endParaRPr lang="en-IN" sz="1400" dirty="0"/>
              </a:p>
            </p:txBody>
          </p:sp>
          <p:grpSp>
            <p:nvGrpSpPr>
              <p:cNvPr id="21" name="Google Shape;1000;p31">
                <a:extLst>
                  <a:ext uri="{FF2B5EF4-FFF2-40B4-BE49-F238E27FC236}">
                    <a16:creationId xmlns:a16="http://schemas.microsoft.com/office/drawing/2014/main" id="{6E2995C3-EBED-483A-A6DE-196A4537A685}"/>
                  </a:ext>
                </a:extLst>
              </p:cNvPr>
              <p:cNvGrpSpPr/>
              <p:nvPr/>
            </p:nvGrpSpPr>
            <p:grpSpPr>
              <a:xfrm>
                <a:off x="10515614" y="3934167"/>
                <a:ext cx="655290" cy="655290"/>
                <a:chOff x="7830869" y="2534650"/>
                <a:chExt cx="603000" cy="603000"/>
              </a:xfrm>
            </p:grpSpPr>
            <p:sp>
              <p:nvSpPr>
                <p:cNvPr id="31" name="Google Shape;1001;p31">
                  <a:extLst>
                    <a:ext uri="{FF2B5EF4-FFF2-40B4-BE49-F238E27FC236}">
                      <a16:creationId xmlns:a16="http://schemas.microsoft.com/office/drawing/2014/main" id="{4BCA2409-6C18-431B-8EC7-8BB5A491B700}"/>
                    </a:ext>
                  </a:extLst>
                </p:cNvPr>
                <p:cNvSpPr/>
                <p:nvPr/>
              </p:nvSpPr>
              <p:spPr>
                <a:xfrm flipH="1">
                  <a:off x="7830869" y="2534650"/>
                  <a:ext cx="603000" cy="603000"/>
                </a:xfrm>
                <a:prstGeom prst="ellipse">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2" name="Google Shape;1002;p31">
                  <a:extLst>
                    <a:ext uri="{FF2B5EF4-FFF2-40B4-BE49-F238E27FC236}">
                      <a16:creationId xmlns:a16="http://schemas.microsoft.com/office/drawing/2014/main" id="{1D74EA0C-55F6-4C3D-89F5-D80AA05E1112}"/>
                    </a:ext>
                  </a:extLst>
                </p:cNvPr>
                <p:cNvSpPr/>
                <p:nvPr/>
              </p:nvSpPr>
              <p:spPr>
                <a:xfrm>
                  <a:off x="8000956" y="2704764"/>
                  <a:ext cx="262826" cy="262772"/>
                </a:xfrm>
                <a:custGeom>
                  <a:avLst/>
                  <a:gdLst/>
                  <a:ahLst/>
                  <a:cxnLst/>
                  <a:rect l="l" t="t" r="r" b="b"/>
                  <a:pathLst>
                    <a:path w="19329" h="19325" extrusionOk="0">
                      <a:moveTo>
                        <a:pt x="9062" y="1229"/>
                      </a:moveTo>
                      <a:lnTo>
                        <a:pt x="9062" y="4539"/>
                      </a:lnTo>
                      <a:cubicBezTo>
                        <a:pt x="8470" y="4557"/>
                        <a:pt x="7885" y="4602"/>
                        <a:pt x="7311" y="4674"/>
                      </a:cubicBezTo>
                      <a:cubicBezTo>
                        <a:pt x="7223" y="4339"/>
                        <a:pt x="7036" y="4037"/>
                        <a:pt x="6773" y="3811"/>
                      </a:cubicBezTo>
                      <a:cubicBezTo>
                        <a:pt x="7392" y="2428"/>
                        <a:pt x="8211" y="1513"/>
                        <a:pt x="9062" y="1229"/>
                      </a:cubicBezTo>
                      <a:close/>
                      <a:moveTo>
                        <a:pt x="10194" y="1226"/>
                      </a:moveTo>
                      <a:cubicBezTo>
                        <a:pt x="11278" y="1586"/>
                        <a:pt x="12272" y="2944"/>
                        <a:pt x="12912" y="4835"/>
                      </a:cubicBezTo>
                      <a:cubicBezTo>
                        <a:pt x="12015" y="4662"/>
                        <a:pt x="11106" y="4566"/>
                        <a:pt x="10194" y="4539"/>
                      </a:cubicBezTo>
                      <a:lnTo>
                        <a:pt x="10194" y="1226"/>
                      </a:lnTo>
                      <a:close/>
                      <a:moveTo>
                        <a:pt x="5665" y="4530"/>
                      </a:moveTo>
                      <a:cubicBezTo>
                        <a:pt x="6170" y="4530"/>
                        <a:pt x="6423" y="5139"/>
                        <a:pt x="6067" y="5496"/>
                      </a:cubicBezTo>
                      <a:cubicBezTo>
                        <a:pt x="5950" y="5611"/>
                        <a:pt x="5808" y="5663"/>
                        <a:pt x="5669" y="5663"/>
                      </a:cubicBezTo>
                      <a:cubicBezTo>
                        <a:pt x="5378" y="5663"/>
                        <a:pt x="5101" y="5438"/>
                        <a:pt x="5101" y="5097"/>
                      </a:cubicBezTo>
                      <a:cubicBezTo>
                        <a:pt x="5101" y="4783"/>
                        <a:pt x="5351" y="4530"/>
                        <a:pt x="5665" y="4530"/>
                      </a:cubicBezTo>
                      <a:close/>
                      <a:moveTo>
                        <a:pt x="6743" y="1643"/>
                      </a:moveTo>
                      <a:cubicBezTo>
                        <a:pt x="6363" y="2129"/>
                        <a:pt x="6019" y="2718"/>
                        <a:pt x="5717" y="3397"/>
                      </a:cubicBezTo>
                      <a:lnTo>
                        <a:pt x="5665" y="3397"/>
                      </a:lnTo>
                      <a:cubicBezTo>
                        <a:pt x="4578" y="3397"/>
                        <a:pt x="3769" y="4406"/>
                        <a:pt x="4008" y="5469"/>
                      </a:cubicBezTo>
                      <a:cubicBezTo>
                        <a:pt x="3075" y="5822"/>
                        <a:pt x="2277" y="6266"/>
                        <a:pt x="1646" y="6773"/>
                      </a:cubicBezTo>
                      <a:cubicBezTo>
                        <a:pt x="2507" y="4394"/>
                        <a:pt x="4373" y="2516"/>
                        <a:pt x="6743" y="1643"/>
                      </a:cubicBezTo>
                      <a:close/>
                      <a:moveTo>
                        <a:pt x="12510" y="1631"/>
                      </a:moveTo>
                      <a:lnTo>
                        <a:pt x="12510" y="1631"/>
                      </a:lnTo>
                      <a:cubicBezTo>
                        <a:pt x="14926" y="2500"/>
                        <a:pt x="16828" y="4403"/>
                        <a:pt x="17698" y="6818"/>
                      </a:cubicBezTo>
                      <a:cubicBezTo>
                        <a:pt x="17269" y="6483"/>
                        <a:pt x="16810" y="6196"/>
                        <a:pt x="16327" y="5955"/>
                      </a:cubicBezTo>
                      <a:cubicBezTo>
                        <a:pt x="15645" y="5614"/>
                        <a:pt x="14932" y="5342"/>
                        <a:pt x="14195" y="5136"/>
                      </a:cubicBezTo>
                      <a:cubicBezTo>
                        <a:pt x="13933" y="4203"/>
                        <a:pt x="13585" y="3349"/>
                        <a:pt x="13169" y="2612"/>
                      </a:cubicBezTo>
                      <a:cubicBezTo>
                        <a:pt x="12975" y="2268"/>
                        <a:pt x="12755" y="1942"/>
                        <a:pt x="12510" y="1631"/>
                      </a:cubicBezTo>
                      <a:close/>
                      <a:moveTo>
                        <a:pt x="4636" y="6444"/>
                      </a:moveTo>
                      <a:cubicBezTo>
                        <a:pt x="4684" y="6483"/>
                        <a:pt x="4738" y="6519"/>
                        <a:pt x="4793" y="6553"/>
                      </a:cubicBezTo>
                      <a:cubicBezTo>
                        <a:pt x="4651" y="7407"/>
                        <a:pt x="4566" y="8268"/>
                        <a:pt x="4542" y="9134"/>
                      </a:cubicBezTo>
                      <a:lnTo>
                        <a:pt x="1230" y="9134"/>
                      </a:lnTo>
                      <a:cubicBezTo>
                        <a:pt x="1568" y="8083"/>
                        <a:pt x="2821" y="7081"/>
                        <a:pt x="4636" y="6444"/>
                      </a:cubicBezTo>
                      <a:close/>
                      <a:moveTo>
                        <a:pt x="9062" y="5674"/>
                      </a:moveTo>
                      <a:lnTo>
                        <a:pt x="9062" y="9134"/>
                      </a:lnTo>
                      <a:lnTo>
                        <a:pt x="5674" y="9134"/>
                      </a:lnTo>
                      <a:cubicBezTo>
                        <a:pt x="5698" y="8343"/>
                        <a:pt x="5774" y="7558"/>
                        <a:pt x="5904" y="6776"/>
                      </a:cubicBezTo>
                      <a:lnTo>
                        <a:pt x="5904" y="6779"/>
                      </a:lnTo>
                      <a:cubicBezTo>
                        <a:pt x="6462" y="6698"/>
                        <a:pt x="6949" y="6344"/>
                        <a:pt x="7196" y="5834"/>
                      </a:cubicBezTo>
                      <a:cubicBezTo>
                        <a:pt x="7815" y="5746"/>
                        <a:pt x="8437" y="5692"/>
                        <a:pt x="9062" y="5674"/>
                      </a:cubicBezTo>
                      <a:close/>
                      <a:moveTo>
                        <a:pt x="10194" y="5671"/>
                      </a:moveTo>
                      <a:cubicBezTo>
                        <a:pt x="11227" y="5701"/>
                        <a:pt x="12257" y="5834"/>
                        <a:pt x="13265" y="6063"/>
                      </a:cubicBezTo>
                      <a:cubicBezTo>
                        <a:pt x="13422" y="6743"/>
                        <a:pt x="13534" y="7431"/>
                        <a:pt x="13597" y="8126"/>
                      </a:cubicBezTo>
                      <a:cubicBezTo>
                        <a:pt x="13144" y="8310"/>
                        <a:pt x="12794" y="8675"/>
                        <a:pt x="12631" y="9134"/>
                      </a:cubicBezTo>
                      <a:lnTo>
                        <a:pt x="10194" y="9134"/>
                      </a:lnTo>
                      <a:lnTo>
                        <a:pt x="10194" y="5671"/>
                      </a:lnTo>
                      <a:close/>
                      <a:moveTo>
                        <a:pt x="14497" y="6417"/>
                      </a:moveTo>
                      <a:cubicBezTo>
                        <a:pt x="14950" y="6571"/>
                        <a:pt x="15391" y="6752"/>
                        <a:pt x="15817" y="6966"/>
                      </a:cubicBezTo>
                      <a:cubicBezTo>
                        <a:pt x="17037" y="7585"/>
                        <a:pt x="17837" y="8352"/>
                        <a:pt x="18099" y="9137"/>
                      </a:cubicBezTo>
                      <a:lnTo>
                        <a:pt x="15835" y="9134"/>
                      </a:lnTo>
                      <a:cubicBezTo>
                        <a:pt x="15654" y="8627"/>
                        <a:pt x="15243" y="8234"/>
                        <a:pt x="14730" y="8077"/>
                      </a:cubicBezTo>
                      <a:cubicBezTo>
                        <a:pt x="14678" y="7519"/>
                        <a:pt x="14603" y="6966"/>
                        <a:pt x="14497" y="6417"/>
                      </a:cubicBezTo>
                      <a:close/>
                      <a:moveTo>
                        <a:pt x="14241" y="9137"/>
                      </a:moveTo>
                      <a:cubicBezTo>
                        <a:pt x="14555" y="9137"/>
                        <a:pt x="14808" y="9391"/>
                        <a:pt x="14808" y="9702"/>
                      </a:cubicBezTo>
                      <a:cubicBezTo>
                        <a:pt x="14808" y="10016"/>
                        <a:pt x="14555" y="10270"/>
                        <a:pt x="14241" y="10270"/>
                      </a:cubicBezTo>
                      <a:lnTo>
                        <a:pt x="14241" y="10267"/>
                      </a:lnTo>
                      <a:lnTo>
                        <a:pt x="14204" y="10267"/>
                      </a:lnTo>
                      <a:cubicBezTo>
                        <a:pt x="13902" y="10251"/>
                        <a:pt x="13667" y="10004"/>
                        <a:pt x="13667" y="9702"/>
                      </a:cubicBezTo>
                      <a:cubicBezTo>
                        <a:pt x="13667" y="9403"/>
                        <a:pt x="13899" y="9155"/>
                        <a:pt x="14195" y="9137"/>
                      </a:cubicBezTo>
                      <a:close/>
                      <a:moveTo>
                        <a:pt x="18099" y="10270"/>
                      </a:moveTo>
                      <a:cubicBezTo>
                        <a:pt x="17861" y="10967"/>
                        <a:pt x="17194" y="11643"/>
                        <a:pt x="16161" y="12217"/>
                      </a:cubicBezTo>
                      <a:cubicBezTo>
                        <a:pt x="15632" y="12504"/>
                        <a:pt x="15080" y="12742"/>
                        <a:pt x="14506" y="12930"/>
                      </a:cubicBezTo>
                      <a:cubicBezTo>
                        <a:pt x="14606" y="12407"/>
                        <a:pt x="14678" y="11873"/>
                        <a:pt x="14730" y="11323"/>
                      </a:cubicBezTo>
                      <a:lnTo>
                        <a:pt x="14730" y="11326"/>
                      </a:lnTo>
                      <a:cubicBezTo>
                        <a:pt x="15243" y="11166"/>
                        <a:pt x="15654" y="10774"/>
                        <a:pt x="15835" y="10270"/>
                      </a:cubicBezTo>
                      <a:close/>
                      <a:moveTo>
                        <a:pt x="4542" y="10267"/>
                      </a:moveTo>
                      <a:cubicBezTo>
                        <a:pt x="4566" y="11163"/>
                        <a:pt x="4660" y="12060"/>
                        <a:pt x="4820" y="12945"/>
                      </a:cubicBezTo>
                      <a:cubicBezTo>
                        <a:pt x="2927" y="12320"/>
                        <a:pt x="1583" y="11351"/>
                        <a:pt x="1230" y="10267"/>
                      </a:cubicBezTo>
                      <a:close/>
                      <a:moveTo>
                        <a:pt x="9062" y="10267"/>
                      </a:moveTo>
                      <a:lnTo>
                        <a:pt x="9062" y="12628"/>
                      </a:lnTo>
                      <a:cubicBezTo>
                        <a:pt x="8603" y="12791"/>
                        <a:pt x="8238" y="13141"/>
                        <a:pt x="8054" y="13594"/>
                      </a:cubicBezTo>
                      <a:cubicBezTo>
                        <a:pt x="7377" y="13534"/>
                        <a:pt x="6707" y="13428"/>
                        <a:pt x="6046" y="13280"/>
                      </a:cubicBezTo>
                      <a:cubicBezTo>
                        <a:pt x="5828" y="12290"/>
                        <a:pt x="5702" y="11281"/>
                        <a:pt x="5674" y="10267"/>
                      </a:cubicBezTo>
                      <a:close/>
                      <a:moveTo>
                        <a:pt x="12631" y="10267"/>
                      </a:moveTo>
                      <a:cubicBezTo>
                        <a:pt x="12794" y="10725"/>
                        <a:pt x="13144" y="11091"/>
                        <a:pt x="13597" y="11275"/>
                      </a:cubicBezTo>
                      <a:cubicBezTo>
                        <a:pt x="13534" y="11945"/>
                        <a:pt x="13431" y="12613"/>
                        <a:pt x="13280" y="13268"/>
                      </a:cubicBezTo>
                      <a:cubicBezTo>
                        <a:pt x="12595" y="13422"/>
                        <a:pt x="11900" y="13531"/>
                        <a:pt x="11203" y="13594"/>
                      </a:cubicBezTo>
                      <a:cubicBezTo>
                        <a:pt x="11019" y="13141"/>
                        <a:pt x="10653" y="12791"/>
                        <a:pt x="10194" y="12628"/>
                      </a:cubicBezTo>
                      <a:lnTo>
                        <a:pt x="10194" y="10267"/>
                      </a:lnTo>
                      <a:close/>
                      <a:moveTo>
                        <a:pt x="9627" y="13678"/>
                      </a:moveTo>
                      <a:cubicBezTo>
                        <a:pt x="9923" y="13678"/>
                        <a:pt x="10170" y="13905"/>
                        <a:pt x="10191" y="14201"/>
                      </a:cubicBezTo>
                      <a:lnTo>
                        <a:pt x="10191" y="14231"/>
                      </a:lnTo>
                      <a:cubicBezTo>
                        <a:pt x="10191" y="14231"/>
                        <a:pt x="10191" y="14234"/>
                        <a:pt x="10191" y="14237"/>
                      </a:cubicBezTo>
                      <a:cubicBezTo>
                        <a:pt x="10188" y="14545"/>
                        <a:pt x="9938" y="14793"/>
                        <a:pt x="9630" y="14796"/>
                      </a:cubicBezTo>
                      <a:cubicBezTo>
                        <a:pt x="9319" y="14796"/>
                        <a:pt x="9065" y="14545"/>
                        <a:pt x="9062" y="14237"/>
                      </a:cubicBezTo>
                      <a:lnTo>
                        <a:pt x="9062" y="14231"/>
                      </a:lnTo>
                      <a:lnTo>
                        <a:pt x="9062" y="14201"/>
                      </a:lnTo>
                      <a:cubicBezTo>
                        <a:pt x="9083" y="13905"/>
                        <a:pt x="9331" y="13678"/>
                        <a:pt x="9627" y="13678"/>
                      </a:cubicBezTo>
                      <a:close/>
                      <a:moveTo>
                        <a:pt x="1640" y="12579"/>
                      </a:moveTo>
                      <a:lnTo>
                        <a:pt x="1640" y="12579"/>
                      </a:lnTo>
                      <a:cubicBezTo>
                        <a:pt x="1936" y="12812"/>
                        <a:pt x="2250" y="13020"/>
                        <a:pt x="2579" y="13204"/>
                      </a:cubicBezTo>
                      <a:cubicBezTo>
                        <a:pt x="3313" y="13615"/>
                        <a:pt x="4168" y="13953"/>
                        <a:pt x="5110" y="14213"/>
                      </a:cubicBezTo>
                      <a:cubicBezTo>
                        <a:pt x="5496" y="15620"/>
                        <a:pt x="6061" y="16813"/>
                        <a:pt x="6752" y="17691"/>
                      </a:cubicBezTo>
                      <a:cubicBezTo>
                        <a:pt x="4373" y="16828"/>
                        <a:pt x="2501" y="14956"/>
                        <a:pt x="1640" y="12579"/>
                      </a:cubicBezTo>
                      <a:close/>
                      <a:moveTo>
                        <a:pt x="17698" y="12555"/>
                      </a:moveTo>
                      <a:cubicBezTo>
                        <a:pt x="16837" y="14938"/>
                        <a:pt x="14932" y="16831"/>
                        <a:pt x="12535" y="17691"/>
                      </a:cubicBezTo>
                      <a:cubicBezTo>
                        <a:pt x="12770" y="17395"/>
                        <a:pt x="12981" y="17081"/>
                        <a:pt x="13169" y="16752"/>
                      </a:cubicBezTo>
                      <a:cubicBezTo>
                        <a:pt x="13594" y="16013"/>
                        <a:pt x="13945" y="15149"/>
                        <a:pt x="14213" y="14201"/>
                      </a:cubicBezTo>
                      <a:cubicBezTo>
                        <a:pt x="15140" y="13944"/>
                        <a:pt x="15986" y="13609"/>
                        <a:pt x="16713" y="13204"/>
                      </a:cubicBezTo>
                      <a:cubicBezTo>
                        <a:pt x="17058" y="13014"/>
                        <a:pt x="17387" y="12797"/>
                        <a:pt x="17698" y="12555"/>
                      </a:cubicBezTo>
                      <a:close/>
                      <a:moveTo>
                        <a:pt x="6381" y="14503"/>
                      </a:moveTo>
                      <a:cubicBezTo>
                        <a:pt x="6906" y="14602"/>
                        <a:pt x="7450" y="14678"/>
                        <a:pt x="8005" y="14726"/>
                      </a:cubicBezTo>
                      <a:cubicBezTo>
                        <a:pt x="8162" y="15240"/>
                        <a:pt x="8555" y="15650"/>
                        <a:pt x="9062" y="15831"/>
                      </a:cubicBezTo>
                      <a:lnTo>
                        <a:pt x="9062" y="18096"/>
                      </a:lnTo>
                      <a:cubicBezTo>
                        <a:pt x="8286" y="17833"/>
                        <a:pt x="7531" y="17048"/>
                        <a:pt x="6933" y="15853"/>
                      </a:cubicBezTo>
                      <a:cubicBezTo>
                        <a:pt x="6716" y="15415"/>
                        <a:pt x="6532" y="14965"/>
                        <a:pt x="6381" y="14503"/>
                      </a:cubicBezTo>
                      <a:close/>
                      <a:moveTo>
                        <a:pt x="12933" y="14497"/>
                      </a:moveTo>
                      <a:cubicBezTo>
                        <a:pt x="12740" y="15083"/>
                        <a:pt x="12486" y="15650"/>
                        <a:pt x="12184" y="16188"/>
                      </a:cubicBezTo>
                      <a:cubicBezTo>
                        <a:pt x="11595" y="17211"/>
                        <a:pt x="10904" y="17869"/>
                        <a:pt x="10194" y="18099"/>
                      </a:cubicBezTo>
                      <a:lnTo>
                        <a:pt x="10194" y="15831"/>
                      </a:lnTo>
                      <a:cubicBezTo>
                        <a:pt x="10702" y="15650"/>
                        <a:pt x="11094" y="15240"/>
                        <a:pt x="11251" y="14726"/>
                      </a:cubicBezTo>
                      <a:cubicBezTo>
                        <a:pt x="11828" y="14675"/>
                        <a:pt x="12390" y="14596"/>
                        <a:pt x="12933" y="14497"/>
                      </a:cubicBezTo>
                      <a:close/>
                      <a:moveTo>
                        <a:pt x="9630" y="0"/>
                      </a:moveTo>
                      <a:cubicBezTo>
                        <a:pt x="7063" y="0"/>
                        <a:pt x="4645" y="1015"/>
                        <a:pt x="2821" y="2860"/>
                      </a:cubicBezTo>
                      <a:cubicBezTo>
                        <a:pt x="1012" y="4678"/>
                        <a:pt x="1" y="7138"/>
                        <a:pt x="4" y="9702"/>
                      </a:cubicBezTo>
                      <a:cubicBezTo>
                        <a:pt x="4" y="15016"/>
                        <a:pt x="4313" y="19325"/>
                        <a:pt x="9630" y="19325"/>
                      </a:cubicBezTo>
                      <a:cubicBezTo>
                        <a:pt x="9634" y="19325"/>
                        <a:pt x="9637" y="19325"/>
                        <a:pt x="9641" y="19325"/>
                      </a:cubicBezTo>
                      <a:cubicBezTo>
                        <a:pt x="12198" y="19325"/>
                        <a:pt x="14654" y="18314"/>
                        <a:pt x="16469" y="16508"/>
                      </a:cubicBezTo>
                      <a:cubicBezTo>
                        <a:pt x="18314" y="14687"/>
                        <a:pt x="19328" y="12268"/>
                        <a:pt x="19328" y="9702"/>
                      </a:cubicBezTo>
                      <a:cubicBezTo>
                        <a:pt x="19328" y="8407"/>
                        <a:pt x="19069" y="7129"/>
                        <a:pt x="18558" y="5940"/>
                      </a:cubicBezTo>
                      <a:cubicBezTo>
                        <a:pt x="18066" y="4789"/>
                        <a:pt x="17360" y="3741"/>
                        <a:pt x="16472" y="2857"/>
                      </a:cubicBezTo>
                      <a:cubicBezTo>
                        <a:pt x="15587" y="1969"/>
                        <a:pt x="14539" y="1263"/>
                        <a:pt x="13389" y="770"/>
                      </a:cubicBezTo>
                      <a:cubicBezTo>
                        <a:pt x="12199" y="260"/>
                        <a:pt x="10922" y="0"/>
                        <a:pt x="9630"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grpSp>
          <p:sp>
            <p:nvSpPr>
              <p:cNvPr id="22" name="Rectangle 21">
                <a:extLst>
                  <a:ext uri="{FF2B5EF4-FFF2-40B4-BE49-F238E27FC236}">
                    <a16:creationId xmlns:a16="http://schemas.microsoft.com/office/drawing/2014/main" id="{8D9784B9-13C0-4B9E-A3F1-E76FFB7B7285}"/>
                  </a:ext>
                </a:extLst>
              </p:cNvPr>
              <p:cNvSpPr/>
              <p:nvPr/>
            </p:nvSpPr>
            <p:spPr>
              <a:xfrm>
                <a:off x="7892318" y="3838619"/>
                <a:ext cx="2183354" cy="1092607"/>
              </a:xfrm>
              <a:prstGeom prst="rect">
                <a:avLst/>
              </a:prstGeom>
            </p:spPr>
            <p:txBody>
              <a:bodyPr wrap="square">
                <a:spAutoFit/>
              </a:bodyPr>
              <a:lstStyle/>
              <a:p>
                <a:pPr algn="r">
                  <a:spcAft>
                    <a:spcPts val="600"/>
                  </a:spcAft>
                </a:pPr>
                <a:r>
                  <a:rPr lang="en-US" sz="1600" b="1" dirty="0">
                    <a:solidFill>
                      <a:schemeClr val="accent5"/>
                    </a:solidFill>
                  </a:rPr>
                  <a:t>Open innovation platform</a:t>
                </a:r>
              </a:p>
              <a:p>
                <a:pPr algn="r">
                  <a:spcAft>
                    <a:spcPts val="600"/>
                  </a:spcAft>
                </a:pPr>
                <a:r>
                  <a:rPr lang="en-US" sz="1400" dirty="0"/>
                  <a:t>Create a shared digital platform</a:t>
                </a:r>
                <a:endParaRPr lang="en-IN" sz="1400" dirty="0"/>
              </a:p>
            </p:txBody>
          </p:sp>
          <p:grpSp>
            <p:nvGrpSpPr>
              <p:cNvPr id="23" name="Google Shape;995;p31">
                <a:extLst>
                  <a:ext uri="{FF2B5EF4-FFF2-40B4-BE49-F238E27FC236}">
                    <a16:creationId xmlns:a16="http://schemas.microsoft.com/office/drawing/2014/main" id="{7060DD42-0AD6-4A99-BD8A-F747EACFB128}"/>
                  </a:ext>
                </a:extLst>
              </p:cNvPr>
              <p:cNvGrpSpPr/>
              <p:nvPr/>
            </p:nvGrpSpPr>
            <p:grpSpPr>
              <a:xfrm>
                <a:off x="10515414" y="5586833"/>
                <a:ext cx="655290" cy="655290"/>
                <a:chOff x="7830719" y="3449050"/>
                <a:chExt cx="603000" cy="603000"/>
              </a:xfrm>
            </p:grpSpPr>
            <p:sp>
              <p:nvSpPr>
                <p:cNvPr id="25" name="Google Shape;996;p31">
                  <a:extLst>
                    <a:ext uri="{FF2B5EF4-FFF2-40B4-BE49-F238E27FC236}">
                      <a16:creationId xmlns:a16="http://schemas.microsoft.com/office/drawing/2014/main" id="{637E23F8-8673-4617-9BC7-AEA93C3A7DFB}"/>
                    </a:ext>
                  </a:extLst>
                </p:cNvPr>
                <p:cNvSpPr/>
                <p:nvPr/>
              </p:nvSpPr>
              <p:spPr>
                <a:xfrm flipH="1">
                  <a:off x="7830719" y="3449050"/>
                  <a:ext cx="603000" cy="603000"/>
                </a:xfrm>
                <a:prstGeom prst="ellipse">
                  <a:avLst/>
                </a:prstGeom>
                <a:solidFill>
                  <a:schemeClr val="accent6"/>
                </a:solidFill>
                <a:ln>
                  <a:noFill/>
                </a:ln>
              </p:spPr>
              <p:txBody>
                <a:bodyPr spcFirstLastPara="1" wrap="square" lIns="121900" tIns="121900" rIns="121900" bIns="121900" anchor="ctr" anchorCtr="0">
                  <a:noAutofit/>
                </a:bodyPr>
                <a:lstStyle/>
                <a:p>
                  <a:endParaRPr sz="2400"/>
                </a:p>
              </p:txBody>
            </p:sp>
            <p:grpSp>
              <p:nvGrpSpPr>
                <p:cNvPr id="28" name="Google Shape;997;p31">
                  <a:extLst>
                    <a:ext uri="{FF2B5EF4-FFF2-40B4-BE49-F238E27FC236}">
                      <a16:creationId xmlns:a16="http://schemas.microsoft.com/office/drawing/2014/main" id="{6877943B-6F69-46D0-87FB-027C344CBED2}"/>
                    </a:ext>
                  </a:extLst>
                </p:cNvPr>
                <p:cNvGrpSpPr/>
                <p:nvPr/>
              </p:nvGrpSpPr>
              <p:grpSpPr>
                <a:xfrm>
                  <a:off x="8000813" y="3619164"/>
                  <a:ext cx="262812" cy="262772"/>
                  <a:chOff x="5648375" y="1427025"/>
                  <a:chExt cx="483200" cy="483125"/>
                </a:xfrm>
              </p:grpSpPr>
              <p:sp>
                <p:nvSpPr>
                  <p:cNvPr id="29" name="Google Shape;998;p31">
                    <a:extLst>
                      <a:ext uri="{FF2B5EF4-FFF2-40B4-BE49-F238E27FC236}">
                        <a16:creationId xmlns:a16="http://schemas.microsoft.com/office/drawing/2014/main" id="{CB575FF4-B208-43F2-BECA-362A5E0A47AF}"/>
                      </a:ext>
                    </a:extLst>
                  </p:cNvPr>
                  <p:cNvSpPr/>
                  <p:nvPr/>
                </p:nvSpPr>
                <p:spPr>
                  <a:xfrm>
                    <a:off x="5801075" y="1484625"/>
                    <a:ext cx="177725" cy="162475"/>
                  </a:xfrm>
                  <a:custGeom>
                    <a:avLst/>
                    <a:gdLst/>
                    <a:ahLst/>
                    <a:cxnLst/>
                    <a:rect l="l" t="t" r="r" b="b"/>
                    <a:pathLst>
                      <a:path w="7109" h="6499" extrusionOk="0">
                        <a:moveTo>
                          <a:pt x="3554" y="1845"/>
                        </a:moveTo>
                        <a:lnTo>
                          <a:pt x="3920" y="2582"/>
                        </a:lnTo>
                        <a:cubicBezTo>
                          <a:pt x="4001" y="2751"/>
                          <a:pt x="4161" y="2866"/>
                          <a:pt x="4345" y="2893"/>
                        </a:cubicBezTo>
                        <a:lnTo>
                          <a:pt x="5158" y="3011"/>
                        </a:lnTo>
                        <a:lnTo>
                          <a:pt x="4569" y="3584"/>
                        </a:lnTo>
                        <a:cubicBezTo>
                          <a:pt x="4436" y="3714"/>
                          <a:pt x="4376" y="3901"/>
                          <a:pt x="4406" y="4086"/>
                        </a:cubicBezTo>
                        <a:lnTo>
                          <a:pt x="4545" y="4898"/>
                        </a:lnTo>
                        <a:lnTo>
                          <a:pt x="3820" y="4514"/>
                        </a:lnTo>
                        <a:cubicBezTo>
                          <a:pt x="3737" y="4469"/>
                          <a:pt x="3646" y="4446"/>
                          <a:pt x="3555" y="4446"/>
                        </a:cubicBezTo>
                        <a:cubicBezTo>
                          <a:pt x="3464" y="4446"/>
                          <a:pt x="3373" y="4469"/>
                          <a:pt x="3292" y="4514"/>
                        </a:cubicBezTo>
                        <a:lnTo>
                          <a:pt x="2561" y="4895"/>
                        </a:lnTo>
                        <a:lnTo>
                          <a:pt x="2703" y="4086"/>
                        </a:lnTo>
                        <a:cubicBezTo>
                          <a:pt x="2733" y="3901"/>
                          <a:pt x="2673" y="3714"/>
                          <a:pt x="2540" y="3584"/>
                        </a:cubicBezTo>
                        <a:lnTo>
                          <a:pt x="1951" y="3011"/>
                        </a:lnTo>
                        <a:lnTo>
                          <a:pt x="2763" y="2893"/>
                        </a:lnTo>
                        <a:cubicBezTo>
                          <a:pt x="2947" y="2866"/>
                          <a:pt x="3107" y="2751"/>
                          <a:pt x="3192" y="2582"/>
                        </a:cubicBezTo>
                        <a:lnTo>
                          <a:pt x="3554" y="1845"/>
                        </a:lnTo>
                        <a:close/>
                        <a:moveTo>
                          <a:pt x="3554" y="0"/>
                        </a:moveTo>
                        <a:cubicBezTo>
                          <a:pt x="3353" y="0"/>
                          <a:pt x="3151" y="106"/>
                          <a:pt x="3047" y="317"/>
                        </a:cubicBezTo>
                        <a:lnTo>
                          <a:pt x="2307" y="1815"/>
                        </a:lnTo>
                        <a:lnTo>
                          <a:pt x="653" y="2056"/>
                        </a:lnTo>
                        <a:cubicBezTo>
                          <a:pt x="188" y="2123"/>
                          <a:pt x="0" y="2694"/>
                          <a:pt x="339" y="3023"/>
                        </a:cubicBezTo>
                        <a:lnTo>
                          <a:pt x="1537" y="4188"/>
                        </a:lnTo>
                        <a:lnTo>
                          <a:pt x="1253" y="5837"/>
                        </a:lnTo>
                        <a:cubicBezTo>
                          <a:pt x="1191" y="6202"/>
                          <a:pt x="1480" y="6499"/>
                          <a:pt x="1809" y="6499"/>
                        </a:cubicBezTo>
                        <a:cubicBezTo>
                          <a:pt x="1897" y="6499"/>
                          <a:pt x="1987" y="6478"/>
                          <a:pt x="2075" y="6432"/>
                        </a:cubicBezTo>
                        <a:lnTo>
                          <a:pt x="3554" y="5656"/>
                        </a:lnTo>
                        <a:lnTo>
                          <a:pt x="5034" y="6432"/>
                        </a:lnTo>
                        <a:cubicBezTo>
                          <a:pt x="5121" y="6478"/>
                          <a:pt x="5212" y="6499"/>
                          <a:pt x="5299" y="6499"/>
                        </a:cubicBezTo>
                        <a:cubicBezTo>
                          <a:pt x="5629" y="6499"/>
                          <a:pt x="5917" y="6202"/>
                          <a:pt x="5855" y="5837"/>
                        </a:cubicBezTo>
                        <a:lnTo>
                          <a:pt x="5574" y="4188"/>
                        </a:lnTo>
                        <a:lnTo>
                          <a:pt x="6770" y="3023"/>
                        </a:lnTo>
                        <a:cubicBezTo>
                          <a:pt x="7108" y="2694"/>
                          <a:pt x="6921" y="2123"/>
                          <a:pt x="6456" y="2056"/>
                        </a:cubicBezTo>
                        <a:lnTo>
                          <a:pt x="4801" y="1815"/>
                        </a:lnTo>
                        <a:lnTo>
                          <a:pt x="4062" y="317"/>
                        </a:lnTo>
                        <a:cubicBezTo>
                          <a:pt x="3957" y="106"/>
                          <a:pt x="3756" y="0"/>
                          <a:pt x="3554"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sp>
                <p:nvSpPr>
                  <p:cNvPr id="30" name="Google Shape;999;p31">
                    <a:extLst>
                      <a:ext uri="{FF2B5EF4-FFF2-40B4-BE49-F238E27FC236}">
                        <a16:creationId xmlns:a16="http://schemas.microsoft.com/office/drawing/2014/main" id="{79806C47-1191-4C06-A143-D19322905359}"/>
                      </a:ext>
                    </a:extLst>
                  </p:cNvPr>
                  <p:cNvSpPr/>
                  <p:nvPr/>
                </p:nvSpPr>
                <p:spPr>
                  <a:xfrm>
                    <a:off x="5648375" y="1427025"/>
                    <a:ext cx="483200" cy="483125"/>
                  </a:xfrm>
                  <a:custGeom>
                    <a:avLst/>
                    <a:gdLst/>
                    <a:ahLst/>
                    <a:cxnLst/>
                    <a:rect l="l" t="t" r="r" b="b"/>
                    <a:pathLst>
                      <a:path w="19328" h="19325" extrusionOk="0">
                        <a:moveTo>
                          <a:pt x="2265" y="2304"/>
                        </a:moveTo>
                        <a:cubicBezTo>
                          <a:pt x="2890" y="2304"/>
                          <a:pt x="3397" y="2808"/>
                          <a:pt x="3397" y="3437"/>
                        </a:cubicBezTo>
                        <a:lnTo>
                          <a:pt x="3397" y="7398"/>
                        </a:lnTo>
                        <a:lnTo>
                          <a:pt x="3397" y="7474"/>
                        </a:lnTo>
                        <a:lnTo>
                          <a:pt x="1637" y="6299"/>
                        </a:lnTo>
                        <a:cubicBezTo>
                          <a:pt x="1320" y="6088"/>
                          <a:pt x="1129" y="5734"/>
                          <a:pt x="1132" y="5357"/>
                        </a:cubicBezTo>
                        <a:lnTo>
                          <a:pt x="1132" y="3437"/>
                        </a:lnTo>
                        <a:cubicBezTo>
                          <a:pt x="1132" y="2808"/>
                          <a:pt x="1640" y="2304"/>
                          <a:pt x="2265" y="2304"/>
                        </a:cubicBezTo>
                        <a:close/>
                        <a:moveTo>
                          <a:pt x="17060" y="2304"/>
                        </a:moveTo>
                        <a:cubicBezTo>
                          <a:pt x="17685" y="2304"/>
                          <a:pt x="18192" y="2808"/>
                          <a:pt x="18192" y="3437"/>
                        </a:cubicBezTo>
                        <a:lnTo>
                          <a:pt x="18192" y="5357"/>
                        </a:lnTo>
                        <a:cubicBezTo>
                          <a:pt x="18192" y="5737"/>
                          <a:pt x="18005" y="6091"/>
                          <a:pt x="17688" y="6302"/>
                        </a:cubicBezTo>
                        <a:lnTo>
                          <a:pt x="15928" y="7474"/>
                        </a:lnTo>
                        <a:lnTo>
                          <a:pt x="15928" y="7398"/>
                        </a:lnTo>
                        <a:lnTo>
                          <a:pt x="15928" y="3437"/>
                        </a:lnTo>
                        <a:cubicBezTo>
                          <a:pt x="15928" y="2808"/>
                          <a:pt x="16435" y="2304"/>
                          <a:pt x="17060" y="2304"/>
                        </a:cubicBezTo>
                        <a:close/>
                        <a:moveTo>
                          <a:pt x="14795" y="1133"/>
                        </a:moveTo>
                        <a:lnTo>
                          <a:pt x="14795" y="7398"/>
                        </a:lnTo>
                        <a:cubicBezTo>
                          <a:pt x="14795" y="8763"/>
                          <a:pt x="14095" y="9641"/>
                          <a:pt x="12120" y="10759"/>
                        </a:cubicBezTo>
                        <a:cubicBezTo>
                          <a:pt x="11069" y="11354"/>
                          <a:pt x="10372" y="12422"/>
                          <a:pt x="10248" y="13627"/>
                        </a:cubicBezTo>
                        <a:lnTo>
                          <a:pt x="9058" y="13627"/>
                        </a:lnTo>
                        <a:cubicBezTo>
                          <a:pt x="8877" y="12368"/>
                          <a:pt x="8041" y="11269"/>
                          <a:pt x="6791" y="10686"/>
                        </a:cubicBezTo>
                        <a:cubicBezTo>
                          <a:pt x="5332" y="10007"/>
                          <a:pt x="4529" y="8835"/>
                          <a:pt x="4529" y="7398"/>
                        </a:cubicBezTo>
                        <a:lnTo>
                          <a:pt x="4529" y="1133"/>
                        </a:lnTo>
                        <a:close/>
                        <a:moveTo>
                          <a:pt x="11927" y="14759"/>
                        </a:moveTo>
                        <a:cubicBezTo>
                          <a:pt x="12241" y="14759"/>
                          <a:pt x="12495" y="15010"/>
                          <a:pt x="12495" y="15324"/>
                        </a:cubicBezTo>
                        <a:lnTo>
                          <a:pt x="12495" y="15892"/>
                        </a:lnTo>
                        <a:lnTo>
                          <a:pt x="10795" y="15892"/>
                        </a:lnTo>
                        <a:cubicBezTo>
                          <a:pt x="10481" y="15892"/>
                          <a:pt x="10230" y="16142"/>
                          <a:pt x="10230" y="16456"/>
                        </a:cubicBezTo>
                        <a:cubicBezTo>
                          <a:pt x="10230" y="16770"/>
                          <a:pt x="10481" y="17024"/>
                          <a:pt x="10795" y="17024"/>
                        </a:cubicBezTo>
                        <a:lnTo>
                          <a:pt x="13059" y="17024"/>
                        </a:lnTo>
                        <a:cubicBezTo>
                          <a:pt x="13373" y="17024"/>
                          <a:pt x="13627" y="17275"/>
                          <a:pt x="13627" y="17589"/>
                        </a:cubicBezTo>
                        <a:lnTo>
                          <a:pt x="13627" y="18193"/>
                        </a:lnTo>
                        <a:lnTo>
                          <a:pt x="5701" y="18193"/>
                        </a:lnTo>
                        <a:lnTo>
                          <a:pt x="5701" y="17589"/>
                        </a:lnTo>
                        <a:cubicBezTo>
                          <a:pt x="5701" y="17275"/>
                          <a:pt x="5951" y="17024"/>
                          <a:pt x="6265" y="17024"/>
                        </a:cubicBezTo>
                        <a:lnTo>
                          <a:pt x="8530" y="17024"/>
                        </a:lnTo>
                        <a:cubicBezTo>
                          <a:pt x="8844" y="17024"/>
                          <a:pt x="9095" y="16770"/>
                          <a:pt x="9095" y="16456"/>
                        </a:cubicBezTo>
                        <a:cubicBezTo>
                          <a:pt x="9095" y="16142"/>
                          <a:pt x="8844" y="15892"/>
                          <a:pt x="8530" y="15892"/>
                        </a:cubicBezTo>
                        <a:lnTo>
                          <a:pt x="6833" y="15892"/>
                        </a:lnTo>
                        <a:lnTo>
                          <a:pt x="6833" y="15324"/>
                        </a:lnTo>
                        <a:cubicBezTo>
                          <a:pt x="6833" y="15010"/>
                          <a:pt x="7084" y="14759"/>
                          <a:pt x="7398" y="14759"/>
                        </a:cubicBezTo>
                        <a:close/>
                        <a:moveTo>
                          <a:pt x="3965" y="0"/>
                        </a:moveTo>
                        <a:cubicBezTo>
                          <a:pt x="3651" y="0"/>
                          <a:pt x="3397" y="254"/>
                          <a:pt x="3397" y="568"/>
                        </a:cubicBezTo>
                        <a:lnTo>
                          <a:pt x="3397" y="1474"/>
                        </a:lnTo>
                        <a:cubicBezTo>
                          <a:pt x="3032" y="1264"/>
                          <a:pt x="2645" y="1168"/>
                          <a:pt x="2269" y="1168"/>
                        </a:cubicBezTo>
                        <a:cubicBezTo>
                          <a:pt x="1086" y="1168"/>
                          <a:pt x="0" y="2113"/>
                          <a:pt x="0" y="3437"/>
                        </a:cubicBezTo>
                        <a:lnTo>
                          <a:pt x="0" y="5357"/>
                        </a:lnTo>
                        <a:cubicBezTo>
                          <a:pt x="0" y="6115"/>
                          <a:pt x="378" y="6821"/>
                          <a:pt x="1009" y="7241"/>
                        </a:cubicBezTo>
                        <a:lnTo>
                          <a:pt x="3651" y="9001"/>
                        </a:lnTo>
                        <a:cubicBezTo>
                          <a:pt x="3663" y="9010"/>
                          <a:pt x="3678" y="9019"/>
                          <a:pt x="3690" y="9026"/>
                        </a:cubicBezTo>
                        <a:cubicBezTo>
                          <a:pt x="4125" y="10170"/>
                          <a:pt x="5027" y="11112"/>
                          <a:pt x="6314" y="11710"/>
                        </a:cubicBezTo>
                        <a:cubicBezTo>
                          <a:pt x="7156" y="12105"/>
                          <a:pt x="7736" y="12812"/>
                          <a:pt x="7911" y="13627"/>
                        </a:cubicBezTo>
                        <a:lnTo>
                          <a:pt x="7398" y="13627"/>
                        </a:lnTo>
                        <a:cubicBezTo>
                          <a:pt x="6459" y="13627"/>
                          <a:pt x="5701" y="14385"/>
                          <a:pt x="5701" y="15324"/>
                        </a:cubicBezTo>
                        <a:lnTo>
                          <a:pt x="5701" y="15988"/>
                        </a:lnTo>
                        <a:cubicBezTo>
                          <a:pt x="5021" y="16227"/>
                          <a:pt x="4569" y="16870"/>
                          <a:pt x="4569" y="17589"/>
                        </a:cubicBezTo>
                        <a:lnTo>
                          <a:pt x="4569" y="18760"/>
                        </a:lnTo>
                        <a:cubicBezTo>
                          <a:pt x="4569" y="19071"/>
                          <a:pt x="4819" y="19325"/>
                          <a:pt x="5133" y="19325"/>
                        </a:cubicBezTo>
                        <a:lnTo>
                          <a:pt x="14191" y="19325"/>
                        </a:lnTo>
                        <a:cubicBezTo>
                          <a:pt x="14506" y="19325"/>
                          <a:pt x="14759" y="19071"/>
                          <a:pt x="14759" y="18760"/>
                        </a:cubicBezTo>
                        <a:lnTo>
                          <a:pt x="14759" y="17589"/>
                        </a:lnTo>
                        <a:cubicBezTo>
                          <a:pt x="14756" y="16870"/>
                          <a:pt x="14303" y="16227"/>
                          <a:pt x="13627" y="15988"/>
                        </a:cubicBezTo>
                        <a:lnTo>
                          <a:pt x="13627" y="15324"/>
                        </a:lnTo>
                        <a:cubicBezTo>
                          <a:pt x="13624" y="14385"/>
                          <a:pt x="12866" y="13627"/>
                          <a:pt x="11927" y="13627"/>
                        </a:cubicBezTo>
                        <a:lnTo>
                          <a:pt x="11389" y="13627"/>
                        </a:lnTo>
                        <a:cubicBezTo>
                          <a:pt x="11507" y="12833"/>
                          <a:pt x="11981" y="12139"/>
                          <a:pt x="12679" y="11743"/>
                        </a:cubicBezTo>
                        <a:cubicBezTo>
                          <a:pt x="14044" y="10973"/>
                          <a:pt x="15088" y="10170"/>
                          <a:pt x="15593" y="9047"/>
                        </a:cubicBezTo>
                        <a:cubicBezTo>
                          <a:pt x="15623" y="9035"/>
                          <a:pt x="15650" y="9019"/>
                          <a:pt x="15677" y="9001"/>
                        </a:cubicBezTo>
                        <a:lnTo>
                          <a:pt x="18319" y="7241"/>
                        </a:lnTo>
                        <a:cubicBezTo>
                          <a:pt x="18947" y="6821"/>
                          <a:pt x="19328" y="6115"/>
                          <a:pt x="19328" y="5357"/>
                        </a:cubicBezTo>
                        <a:lnTo>
                          <a:pt x="19328" y="3437"/>
                        </a:lnTo>
                        <a:cubicBezTo>
                          <a:pt x="19325" y="2113"/>
                          <a:pt x="18239" y="1168"/>
                          <a:pt x="17057" y="1168"/>
                        </a:cubicBezTo>
                        <a:cubicBezTo>
                          <a:pt x="16681" y="1168"/>
                          <a:pt x="16295" y="1264"/>
                          <a:pt x="15931" y="1474"/>
                        </a:cubicBezTo>
                        <a:lnTo>
                          <a:pt x="15931" y="568"/>
                        </a:lnTo>
                        <a:cubicBezTo>
                          <a:pt x="15931" y="254"/>
                          <a:pt x="15677" y="0"/>
                          <a:pt x="15363" y="0"/>
                        </a:cubicBezTo>
                        <a:close/>
                      </a:path>
                    </a:pathLst>
                  </a:custGeom>
                  <a:solidFill>
                    <a:schemeClr val="lt1"/>
                  </a:solidFill>
                  <a:ln>
                    <a:noFill/>
                  </a:ln>
                </p:spPr>
                <p:txBody>
                  <a:bodyPr spcFirstLastPara="1" wrap="square" lIns="121900" tIns="121900" rIns="121900" bIns="121900" anchor="ctr" anchorCtr="0">
                    <a:noAutofit/>
                  </a:bodyPr>
                  <a:lstStyle/>
                  <a:p>
                    <a:endParaRPr sz="2400">
                      <a:solidFill>
                        <a:srgbClr val="00704A"/>
                      </a:solidFill>
                    </a:endParaRPr>
                  </a:p>
                </p:txBody>
              </p:sp>
            </p:grpSp>
          </p:grpSp>
          <p:sp>
            <p:nvSpPr>
              <p:cNvPr id="24" name="Rectangle 23">
                <a:extLst>
                  <a:ext uri="{FF2B5EF4-FFF2-40B4-BE49-F238E27FC236}">
                    <a16:creationId xmlns:a16="http://schemas.microsoft.com/office/drawing/2014/main" id="{3EE40DB4-4A71-44BC-B279-706BB4EF2A44}"/>
                  </a:ext>
                </a:extLst>
              </p:cNvPr>
              <p:cNvSpPr/>
              <p:nvPr/>
            </p:nvSpPr>
            <p:spPr>
              <a:xfrm>
                <a:off x="7434930" y="5491285"/>
                <a:ext cx="2640742" cy="1092607"/>
              </a:xfrm>
              <a:prstGeom prst="rect">
                <a:avLst/>
              </a:prstGeom>
            </p:spPr>
            <p:txBody>
              <a:bodyPr wrap="square">
                <a:spAutoFit/>
              </a:bodyPr>
              <a:lstStyle/>
              <a:p>
                <a:pPr algn="r">
                  <a:spcAft>
                    <a:spcPts val="600"/>
                  </a:spcAft>
                </a:pPr>
                <a:r>
                  <a:rPr lang="en-US" sz="1600" b="1" dirty="0">
                    <a:solidFill>
                      <a:schemeClr val="accent6"/>
                    </a:solidFill>
                  </a:rPr>
                  <a:t> Innovation challenges and hackathons</a:t>
                </a:r>
              </a:p>
              <a:p>
                <a:pPr algn="r">
                  <a:spcAft>
                    <a:spcPts val="600"/>
                  </a:spcAft>
                </a:pPr>
                <a:r>
                  <a:rPr lang="en-US" sz="1400" dirty="0"/>
                  <a:t>Host regular innovation challenges and hackathons</a:t>
                </a:r>
                <a:endParaRPr lang="en-IN" sz="1400" dirty="0"/>
              </a:p>
            </p:txBody>
          </p:sp>
        </p:grpSp>
      </p:grpSp>
      <p:sp>
        <p:nvSpPr>
          <p:cNvPr id="2" name="Titre 1">
            <a:extLst>
              <a:ext uri="{FF2B5EF4-FFF2-40B4-BE49-F238E27FC236}">
                <a16:creationId xmlns:a16="http://schemas.microsoft.com/office/drawing/2014/main" id="{BA0EA41F-88F0-A502-E325-59FAD99E287A}"/>
              </a:ext>
            </a:extLst>
          </p:cNvPr>
          <p:cNvSpPr txBox="1">
            <a:spLocks/>
          </p:cNvSpPr>
          <p:nvPr/>
        </p:nvSpPr>
        <p:spPr>
          <a:xfrm>
            <a:off x="5014115" y="5754470"/>
            <a:ext cx="3591337" cy="3569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fr-FR" sz="3000" b="1" dirty="0">
                <a:solidFill>
                  <a:schemeClr val="accent2"/>
                </a:solidFill>
              </a:rPr>
              <a:t>DIL Network</a:t>
            </a:r>
            <a:endParaRPr lang="en-US" sz="3000" b="1" dirty="0">
              <a:solidFill>
                <a:schemeClr val="accent2"/>
              </a:solidFill>
            </a:endParaRPr>
          </a:p>
        </p:txBody>
      </p:sp>
      <p:sp>
        <p:nvSpPr>
          <p:cNvPr id="3" name="Rectangle 2">
            <a:extLst>
              <a:ext uri="{FF2B5EF4-FFF2-40B4-BE49-F238E27FC236}">
                <a16:creationId xmlns:a16="http://schemas.microsoft.com/office/drawing/2014/main" id="{6527DCCA-D8C2-480A-A0AE-4FD12E6263FD}"/>
              </a:ext>
            </a:extLst>
          </p:cNvPr>
          <p:cNvSpPr/>
          <p:nvPr/>
        </p:nvSpPr>
        <p:spPr>
          <a:xfrm>
            <a:off x="4632960" y="667512"/>
            <a:ext cx="3032760" cy="49002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08" name="Picture 107">
            <a:extLst>
              <a:ext uri="{FF2B5EF4-FFF2-40B4-BE49-F238E27FC236}">
                <a16:creationId xmlns:a16="http://schemas.microsoft.com/office/drawing/2014/main" id="{ACF5115F-6900-4670-AFBE-8818F15A02BB}"/>
              </a:ext>
            </a:extLst>
          </p:cNvPr>
          <p:cNvPicPr>
            <a:picLocks noChangeAspect="1"/>
          </p:cNvPicPr>
          <p:nvPr/>
        </p:nvPicPr>
        <p:blipFill rotWithShape="1">
          <a:blip r:embed="rId3">
            <a:extLst>
              <a:ext uri="{28A0092B-C50C-407E-A947-70E740481C1C}">
                <a14:useLocalDpi xmlns:a14="http://schemas.microsoft.com/office/drawing/2010/main" val="0"/>
              </a:ext>
            </a:extLst>
          </a:blip>
          <a:srcRect b="23348"/>
          <a:stretch/>
        </p:blipFill>
        <p:spPr>
          <a:xfrm>
            <a:off x="3878253" y="510089"/>
            <a:ext cx="4572000" cy="5256759"/>
          </a:xfrm>
          <a:prstGeom prst="rect">
            <a:avLst/>
          </a:prstGeom>
        </p:spPr>
      </p:pic>
      <p:sp>
        <p:nvSpPr>
          <p:cNvPr id="109" name="TextBox 108"/>
          <p:cNvSpPr txBox="1"/>
          <p:nvPr/>
        </p:nvSpPr>
        <p:spPr>
          <a:xfrm>
            <a:off x="548640" y="365760"/>
            <a:ext cx="11064240" cy="274320"/>
          </a:xfrm>
          <a:prstGeom prst="rect">
            <a:avLst/>
          </a:prstGeom>
          <a:noFill/>
        </p:spPr>
        <p:txBody>
          <a:bodyPr wrap="square" lIns="0" tIns="0" rIns="0" bIns="0" anchor="t">
            <a:spAutoFit/>
          </a:bodyPr>
          <a:lstStyle/>
          <a:p>
            <a:pPr algn="l"/>
            <a:r>
              <a:rPr sz="1050" b="1" i="0" spc="300">
                <a:solidFill>
                  <a:srgbClr val="00704A"/>
                </a:solidFill>
                <a:latin typeface="Calibri"/>
              </a:rPr>
              <a:t>02 · INSTITUTIONALISE  ·  THE DIL NETWORK</a:t>
            </a:r>
          </a:p>
        </p:txBody>
      </p:sp>
      <p:sp>
        <p:nvSpPr>
          <p:cNvPr id="110" name="TextBox 109"/>
          <p:cNvSpPr txBox="1"/>
          <p:nvPr/>
        </p:nvSpPr>
        <p:spPr>
          <a:xfrm>
            <a:off x="548640" y="658368"/>
            <a:ext cx="11064240" cy="658368"/>
          </a:xfrm>
          <a:prstGeom prst="rect">
            <a:avLst/>
          </a:prstGeom>
          <a:noFill/>
        </p:spPr>
        <p:txBody>
          <a:bodyPr wrap="square" lIns="0" tIns="0" rIns="0" bIns="0" anchor="t">
            <a:spAutoFit/>
          </a:bodyPr>
          <a:lstStyle/>
          <a:p>
            <a:pPr algn="l"/>
            <a:r>
              <a:rPr sz="2800" b="1" i="0">
                <a:solidFill>
                  <a:srgbClr val="231F20"/>
                </a:solidFill>
                <a:latin typeface="Calibri"/>
              </a:rPr>
              <a:t>The DIL Network</a:t>
            </a:r>
          </a:p>
        </p:txBody>
      </p:sp>
      <p:sp>
        <p:nvSpPr>
          <p:cNvPr id="111" name="TextBox 110"/>
          <p:cNvSpPr txBox="1"/>
          <p:nvPr/>
        </p:nvSpPr>
        <p:spPr>
          <a:xfrm>
            <a:off x="548640" y="6419088"/>
            <a:ext cx="5486400" cy="274320"/>
          </a:xfrm>
          <a:prstGeom prst="rect">
            <a:avLst/>
          </a:prstGeom>
          <a:noFill/>
        </p:spPr>
        <p:txBody>
          <a:bodyPr wrap="square" lIns="0" tIns="0" rIns="0" bIns="0" anchor="t">
            <a:spAutoFit/>
          </a:bodyPr>
          <a:lstStyle/>
          <a:p>
            <a:pPr algn="l"/>
            <a:r>
              <a:rPr sz="850" b="0" i="0">
                <a:solidFill>
                  <a:srgbClr val="8A9590"/>
                </a:solidFill>
                <a:latin typeface="Calibri"/>
              </a:rPr>
              <a:t>Data Innovation for Africa  ·  AfDB Statistics Department (ECST)</a:t>
            </a:r>
          </a:p>
        </p:txBody>
      </p:sp>
      <p:sp>
        <p:nvSpPr>
          <p:cNvPr id="112" name="TextBox 111"/>
          <p:cNvSpPr txBox="1"/>
          <p:nvPr/>
        </p:nvSpPr>
        <p:spPr>
          <a:xfrm>
            <a:off x="6153912" y="6419088"/>
            <a:ext cx="5486400" cy="274320"/>
          </a:xfrm>
          <a:prstGeom prst="rect">
            <a:avLst/>
          </a:prstGeom>
          <a:noFill/>
        </p:spPr>
        <p:txBody>
          <a:bodyPr wrap="square" lIns="0" tIns="0" rIns="0" bIns="0" anchor="t">
            <a:spAutoFit/>
          </a:bodyPr>
          <a:lstStyle/>
          <a:p>
            <a:pPr algn="r"/>
            <a:r>
              <a:rPr sz="850" b="0" i="0">
                <a:solidFill>
                  <a:srgbClr val="8A9590"/>
                </a:solidFill>
                <a:latin typeface="Calibri"/>
              </a:rPr>
              <a:t>8</a:t>
            </a:r>
          </a:p>
        </p:txBody>
      </p:sp>
      <p:sp>
        <p:nvSpPr>
          <p:cNvPr id="115" name="Rectangle 114"/>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6" name="Rectangle 115"/>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7" name="Oval 116"/>
          <p:cNvSpPr/>
          <p:nvPr/>
        </p:nvSpPr>
        <p:spPr>
          <a:xfrm>
            <a:off x="106070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8" name="Oval 117"/>
          <p:cNvSpPr/>
          <p:nvPr/>
        </p:nvSpPr>
        <p:spPr>
          <a:xfrm>
            <a:off x="10835640" y="448056"/>
            <a:ext cx="118872" cy="118872"/>
          </a:xfrm>
          <a:prstGeom prst="ellipse">
            <a:avLst/>
          </a:prstGeom>
          <a:solidFill>
            <a:srgbClr val="007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9" name="Oval 118"/>
          <p:cNvSpPr/>
          <p:nvPr/>
        </p:nvSpPr>
        <p:spPr>
          <a:xfrm>
            <a:off x="110642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0" name="Oval 119"/>
          <p:cNvSpPr/>
          <p:nvPr/>
        </p:nvSpPr>
        <p:spPr>
          <a:xfrm>
            <a:off x="112928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Oval 120"/>
          <p:cNvSpPr/>
          <p:nvPr/>
        </p:nvSpPr>
        <p:spPr>
          <a:xfrm>
            <a:off x="115214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18937372"/>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Oval 35"/>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 0"/>
          <p:cNvSpPr/>
          <p:nvPr/>
        </p:nvSpPr>
        <p:spPr>
          <a:xfrm>
            <a:off x="548640" y="365760"/>
            <a:ext cx="10058400" cy="274320"/>
          </a:xfrm>
          <a:prstGeom prst="rect">
            <a:avLst/>
          </a:prstGeom>
          <a:noFill/>
          <a:ln/>
        </p:spPr>
        <p:txBody>
          <a:bodyPr wrap="square" lIns="0" tIns="0" rIns="0" bIns="0" rtlCol="0" anchor="ctr"/>
          <a:lstStyle/>
          <a:p>
            <a:pPr marL="0" indent="0" algn="l">
              <a:buNone/>
            </a:pPr>
            <a:r>
              <a:rPr lang="en-US" sz="1050" b="1" kern="0" spc="300" dirty="0">
                <a:solidFill>
                  <a:srgbClr val="00704A"/>
                </a:solidFill>
                <a:latin typeface="Calibri" pitchFamily="34" charset="0"/>
                <a:ea typeface="Calibri" pitchFamily="34" charset="-122"/>
                <a:cs typeface="Calibri" pitchFamily="34" charset="-120"/>
              </a:rPr>
              <a:t>03 · PROVE  ·  DATA INNOVATION IN ACTION</a:t>
            </a:r>
            <a:endParaRPr lang="en-US" sz="1400" dirty="0"/>
          </a:p>
        </p:txBody>
      </p:sp>
      <p:sp>
        <p:nvSpPr>
          <p:cNvPr id="3" name="Text 1"/>
          <p:cNvSpPr/>
          <p:nvPr/>
        </p:nvSpPr>
        <p:spPr>
          <a:xfrm>
            <a:off x="548640" y="676656"/>
            <a:ext cx="10972800" cy="777240"/>
          </a:xfrm>
          <a:prstGeom prst="rect">
            <a:avLst/>
          </a:prstGeom>
          <a:noFill/>
          <a:ln/>
        </p:spPr>
        <p:txBody>
          <a:bodyPr wrap="square" lIns="0" tIns="0" rIns="0" bIns="0" rtlCol="0" anchor="t"/>
          <a:lstStyle/>
          <a:p>
            <a:r>
              <a:rPr lang="en-US" sz="2800" b="1" dirty="0">
                <a:solidFill>
                  <a:srgbClr val="231F20"/>
                </a:solidFill>
                <a:latin typeface="Calibri" pitchFamily="34" charset="0"/>
                <a:ea typeface="Calibri" pitchFamily="34" charset="-122"/>
                <a:cs typeface="Calibri" pitchFamily="34" charset="-120"/>
              </a:rPr>
              <a:t>Data Innovation Lab: from non-traditional data to development insight</a:t>
            </a:r>
            <a:endParaRPr lang="en-US" sz="3000" dirty="0"/>
          </a:p>
        </p:txBody>
      </p:sp>
      <p:sp>
        <p:nvSpPr>
          <p:cNvPr id="9" name="Shape 6"/>
          <p:cNvSpPr/>
          <p:nvPr/>
        </p:nvSpPr>
        <p:spPr>
          <a:xfrm>
            <a:off x="3362706" y="1783080"/>
            <a:ext cx="2649474" cy="3063240"/>
          </a:xfrm>
          <a:prstGeom prst="roundRect">
            <a:avLst>
              <a:gd name="adj" fmla="val 2761"/>
            </a:avLst>
          </a:prstGeom>
          <a:solidFill>
            <a:srgbClr val="F4F7F5"/>
          </a:solidFill>
          <a:ln w="12700">
            <a:solidFill>
              <a:srgbClr val="D5DED9"/>
            </a:solidFill>
            <a:prstDash val="solid"/>
          </a:ln>
          <a:effectLst>
            <a:outerShdw blurRad="76200" dist="25400" dir="5400000" algn="bl" rotWithShape="0">
              <a:srgbClr val="00704A">
                <a:alpha val="10000"/>
              </a:srgbClr>
            </a:outerShdw>
          </a:effectLst>
        </p:spPr>
        <p:txBody>
          <a:bodyPr/>
          <a:lstStyle/>
          <a:p>
            <a:endParaRPr lang="en-US"/>
          </a:p>
        </p:txBody>
      </p:sp>
      <p:sp>
        <p:nvSpPr>
          <p:cNvPr id="10" name="Shape 7"/>
          <p:cNvSpPr/>
          <p:nvPr/>
        </p:nvSpPr>
        <p:spPr>
          <a:xfrm>
            <a:off x="4294251" y="2057400"/>
            <a:ext cx="786384" cy="786384"/>
          </a:xfrm>
          <a:prstGeom prst="ellipse">
            <a:avLst/>
          </a:prstGeom>
          <a:solidFill>
            <a:srgbClr val="00A86A">
              <a:alpha val="18000"/>
            </a:srgbClr>
          </a:solidFill>
          <a:ln>
            <a:noFill/>
          </a:ln>
          <a:effectLst>
            <a:outerShdw blurRad="76200" dist="25400" dir="5400000" algn="bl" rotWithShape="0">
              <a:srgbClr val="00704A">
                <a:alpha val="10000"/>
              </a:srgbClr>
            </a:outerShdw>
          </a:effectLst>
        </p:spPr>
        <p:txBody>
          <a:bodyPr/>
          <a:lstStyle/>
          <a:p>
            <a:endParaRPr lang="en-US"/>
          </a:p>
        </p:txBody>
      </p:sp>
      <p:pic>
        <p:nvPicPr>
          <p:cNvPr id="11" name="Image 1" descr="preencoded.png"/>
          <p:cNvPicPr>
            <a:picLocks noChangeAspect="1"/>
          </p:cNvPicPr>
          <p:nvPr/>
        </p:nvPicPr>
        <p:blipFill>
          <a:blip r:embed="rId3"/>
          <a:stretch>
            <a:fillRect/>
          </a:stretch>
        </p:blipFill>
        <p:spPr>
          <a:xfrm>
            <a:off x="4486275" y="2249424"/>
            <a:ext cx="402336" cy="4023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Text 8"/>
          <p:cNvSpPr/>
          <p:nvPr/>
        </p:nvSpPr>
        <p:spPr>
          <a:xfrm>
            <a:off x="3454146" y="2971800"/>
            <a:ext cx="2466594" cy="502920"/>
          </a:xfrm>
          <a:prstGeom prst="rect">
            <a:avLst/>
          </a:prstGeom>
          <a:noFill/>
          <a:ln/>
        </p:spPr>
        <p:txBody>
          <a:bodyPr wrap="square" lIns="0" tIns="0" rIns="0" bIns="0" rtlCol="0" anchor="t"/>
          <a:lstStyle/>
          <a:p>
            <a:pPr marL="0" indent="0" algn="ctr">
              <a:buNone/>
            </a:pPr>
            <a:r>
              <a:rPr lang="en-US" sz="1500" b="1" dirty="0">
                <a:solidFill>
                  <a:srgbClr val="231F20"/>
                </a:solidFill>
                <a:latin typeface="Calibri" pitchFamily="34" charset="0"/>
                <a:ea typeface="Calibri" pitchFamily="34" charset="-122"/>
                <a:cs typeface="Calibri" pitchFamily="34" charset="-120"/>
              </a:rPr>
              <a:t>Nighttime Lights</a:t>
            </a:r>
            <a:endParaRPr lang="en-US" sz="1500" dirty="0"/>
          </a:p>
        </p:txBody>
      </p:sp>
      <p:sp>
        <p:nvSpPr>
          <p:cNvPr id="13" name="Text 9"/>
          <p:cNvSpPr/>
          <p:nvPr/>
        </p:nvSpPr>
        <p:spPr>
          <a:xfrm>
            <a:off x="3527298" y="3474720"/>
            <a:ext cx="2320290" cy="1280160"/>
          </a:xfrm>
          <a:prstGeom prst="rect">
            <a:avLst/>
          </a:prstGeom>
          <a:noFill/>
          <a:ln/>
        </p:spPr>
        <p:txBody>
          <a:bodyPr wrap="square" lIns="0" tIns="0" rIns="0" bIns="0" rtlCol="0" anchor="t"/>
          <a:lstStyle/>
          <a:p>
            <a:pPr algn="ctr">
              <a:lnSpc>
                <a:spcPct val="103000"/>
              </a:lnSpc>
            </a:pPr>
            <a:r>
              <a:rPr lang="en-US" sz="1200" dirty="0">
                <a:solidFill>
                  <a:srgbClr val="5E6964"/>
                </a:solidFill>
                <a:latin typeface="Calibri"/>
              </a:rPr>
              <a:t>NASA satellite radiance </a:t>
            </a:r>
            <a:r>
              <a:rPr lang="en-US" sz="1200" dirty="0" err="1">
                <a:solidFill>
                  <a:srgbClr val="5E6964"/>
                </a:solidFill>
                <a:latin typeface="Calibri"/>
              </a:rPr>
              <a:t>analysed</a:t>
            </a:r>
            <a:r>
              <a:rPr lang="en-US" sz="1200" dirty="0">
                <a:solidFill>
                  <a:srgbClr val="5E6964"/>
                </a:solidFill>
                <a:latin typeface="Calibri"/>
              </a:rPr>
              <a:t> across Africa to track economic activity and resilience where official statistics are thin — feeding development planning.</a:t>
            </a:r>
          </a:p>
        </p:txBody>
      </p:sp>
      <p:sp>
        <p:nvSpPr>
          <p:cNvPr id="14" name="Shape 10"/>
          <p:cNvSpPr/>
          <p:nvPr/>
        </p:nvSpPr>
        <p:spPr>
          <a:xfrm>
            <a:off x="6176772" y="1783080"/>
            <a:ext cx="2649474" cy="3063240"/>
          </a:xfrm>
          <a:prstGeom prst="roundRect">
            <a:avLst>
              <a:gd name="adj" fmla="val 2761"/>
            </a:avLst>
          </a:prstGeom>
          <a:solidFill>
            <a:srgbClr val="F4F7F5"/>
          </a:solidFill>
          <a:ln w="12700">
            <a:solidFill>
              <a:srgbClr val="D5DED9"/>
            </a:solidFill>
            <a:prstDash val="solid"/>
          </a:ln>
          <a:effectLst>
            <a:outerShdw blurRad="76200" dist="25400" dir="5400000" algn="bl" rotWithShape="0">
              <a:srgbClr val="00704A">
                <a:alpha val="10000"/>
              </a:srgbClr>
            </a:outerShdw>
          </a:effectLst>
        </p:spPr>
        <p:txBody>
          <a:bodyPr/>
          <a:lstStyle/>
          <a:p>
            <a:endParaRPr lang="en-US"/>
          </a:p>
        </p:txBody>
      </p:sp>
      <p:sp>
        <p:nvSpPr>
          <p:cNvPr id="15" name="Shape 11"/>
          <p:cNvSpPr/>
          <p:nvPr/>
        </p:nvSpPr>
        <p:spPr>
          <a:xfrm>
            <a:off x="7108317" y="2057400"/>
            <a:ext cx="786384" cy="786384"/>
          </a:xfrm>
          <a:prstGeom prst="ellipse">
            <a:avLst/>
          </a:prstGeom>
          <a:solidFill>
            <a:srgbClr val="00A86A">
              <a:alpha val="18000"/>
            </a:srgbClr>
          </a:solidFill>
          <a:ln>
            <a:noFill/>
          </a:ln>
          <a:effectLst>
            <a:outerShdw blurRad="76200" dist="25400" dir="5400000" algn="bl" rotWithShape="0">
              <a:srgbClr val="00704A">
                <a:alpha val="10000"/>
              </a:srgbClr>
            </a:outerShdw>
          </a:effectLst>
        </p:spPr>
        <p:txBody>
          <a:bodyPr/>
          <a:lstStyle/>
          <a:p>
            <a:endParaRPr lang="en-US"/>
          </a:p>
        </p:txBody>
      </p:sp>
      <p:pic>
        <p:nvPicPr>
          <p:cNvPr id="16" name="Image 2" descr="preencoded.png"/>
          <p:cNvPicPr>
            <a:picLocks noChangeAspect="1"/>
          </p:cNvPicPr>
          <p:nvPr/>
        </p:nvPicPr>
        <p:blipFill>
          <a:blip r:embed="rId4"/>
          <a:stretch>
            <a:fillRect/>
          </a:stretch>
        </p:blipFill>
        <p:spPr>
          <a:xfrm>
            <a:off x="7300341" y="2249424"/>
            <a:ext cx="402336" cy="4023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7" name="Text 12"/>
          <p:cNvSpPr/>
          <p:nvPr/>
        </p:nvSpPr>
        <p:spPr>
          <a:xfrm>
            <a:off x="6268212" y="2971800"/>
            <a:ext cx="2466594" cy="502920"/>
          </a:xfrm>
          <a:prstGeom prst="rect">
            <a:avLst/>
          </a:prstGeom>
          <a:noFill/>
          <a:ln/>
        </p:spPr>
        <p:txBody>
          <a:bodyPr wrap="square" lIns="0" tIns="0" rIns="0" bIns="0" rtlCol="0" anchor="t"/>
          <a:lstStyle/>
          <a:p>
            <a:pPr marL="0" indent="0" algn="ctr">
              <a:buNone/>
            </a:pPr>
            <a:r>
              <a:rPr lang="en-US" sz="1500" b="1" dirty="0">
                <a:solidFill>
                  <a:srgbClr val="231F20"/>
                </a:solidFill>
                <a:latin typeface="Calibri" pitchFamily="34" charset="0"/>
                <a:ea typeface="Calibri" pitchFamily="34" charset="-122"/>
                <a:cs typeface="Calibri" pitchFamily="34" charset="-120"/>
              </a:rPr>
              <a:t>Displacement Mapping</a:t>
            </a:r>
            <a:endParaRPr lang="en-US" sz="1500" dirty="0"/>
          </a:p>
        </p:txBody>
      </p:sp>
      <p:sp>
        <p:nvSpPr>
          <p:cNvPr id="18" name="Text 13"/>
          <p:cNvSpPr/>
          <p:nvPr/>
        </p:nvSpPr>
        <p:spPr>
          <a:xfrm>
            <a:off x="6341364" y="3474720"/>
            <a:ext cx="2320290" cy="1280160"/>
          </a:xfrm>
          <a:prstGeom prst="rect">
            <a:avLst/>
          </a:prstGeom>
          <a:noFill/>
          <a:ln/>
        </p:spPr>
        <p:txBody>
          <a:bodyPr wrap="square" lIns="0" tIns="0" rIns="0" bIns="0" rtlCol="0" anchor="t"/>
          <a:lstStyle/>
          <a:p>
            <a:pPr marL="0" indent="0" algn="ctr">
              <a:lnSpc>
                <a:spcPct val="103000"/>
              </a:lnSpc>
              <a:buNone/>
            </a:pPr>
            <a:r>
              <a:rPr lang="en-US" sz="1200" dirty="0">
                <a:solidFill>
                  <a:srgbClr val="5E6964"/>
                </a:solidFill>
                <a:latin typeface="Calibri" pitchFamily="34" charset="0"/>
                <a:ea typeface="Calibri" pitchFamily="34" charset="-122"/>
                <a:cs typeface="Calibri" pitchFamily="34" charset="-120"/>
              </a:rPr>
              <a:t>Satellite lights × Meta settlement data to track forced displacement across conflict-affected countries.</a:t>
            </a:r>
            <a:endParaRPr lang="en-US" sz="1200" dirty="0"/>
          </a:p>
        </p:txBody>
      </p:sp>
      <p:sp>
        <p:nvSpPr>
          <p:cNvPr id="19" name="Shape 14"/>
          <p:cNvSpPr/>
          <p:nvPr/>
        </p:nvSpPr>
        <p:spPr>
          <a:xfrm>
            <a:off x="8990838" y="1783080"/>
            <a:ext cx="2649474" cy="3063240"/>
          </a:xfrm>
          <a:prstGeom prst="roundRect">
            <a:avLst>
              <a:gd name="adj" fmla="val 2761"/>
            </a:avLst>
          </a:prstGeom>
          <a:solidFill>
            <a:srgbClr val="F4F7F5"/>
          </a:solidFill>
          <a:ln w="12700">
            <a:solidFill>
              <a:srgbClr val="D5DED9"/>
            </a:solidFill>
            <a:prstDash val="solid"/>
          </a:ln>
          <a:effectLst>
            <a:outerShdw blurRad="76200" dist="25400" dir="5400000" algn="bl" rotWithShape="0">
              <a:srgbClr val="00704A">
                <a:alpha val="10000"/>
              </a:srgbClr>
            </a:outerShdw>
          </a:effectLst>
        </p:spPr>
        <p:txBody>
          <a:bodyPr/>
          <a:lstStyle/>
          <a:p>
            <a:endParaRPr lang="en-US"/>
          </a:p>
        </p:txBody>
      </p:sp>
      <p:sp>
        <p:nvSpPr>
          <p:cNvPr id="20" name="Shape 15"/>
          <p:cNvSpPr/>
          <p:nvPr/>
        </p:nvSpPr>
        <p:spPr>
          <a:xfrm>
            <a:off x="9922383" y="2057400"/>
            <a:ext cx="786384" cy="786384"/>
          </a:xfrm>
          <a:prstGeom prst="ellipse">
            <a:avLst/>
          </a:prstGeom>
          <a:solidFill>
            <a:srgbClr val="00A86A">
              <a:alpha val="18000"/>
            </a:srgbClr>
          </a:solidFill>
          <a:ln>
            <a:noFill/>
          </a:ln>
          <a:effectLst>
            <a:outerShdw blurRad="76200" dist="25400" dir="5400000" algn="bl" rotWithShape="0">
              <a:srgbClr val="00704A">
                <a:alpha val="10000"/>
              </a:srgbClr>
            </a:outerShdw>
          </a:effectLst>
        </p:spPr>
        <p:txBody>
          <a:bodyPr/>
          <a:lstStyle/>
          <a:p>
            <a:endParaRPr lang="en-US"/>
          </a:p>
        </p:txBody>
      </p:sp>
      <p:pic>
        <p:nvPicPr>
          <p:cNvPr id="21" name="Image 3" descr="preencoded.png"/>
          <p:cNvPicPr>
            <a:picLocks noChangeAspect="1"/>
          </p:cNvPicPr>
          <p:nvPr/>
        </p:nvPicPr>
        <p:blipFill>
          <a:blip r:embed="rId5"/>
          <a:stretch>
            <a:fillRect/>
          </a:stretch>
        </p:blipFill>
        <p:spPr>
          <a:xfrm>
            <a:off x="10114407" y="2249424"/>
            <a:ext cx="402336" cy="4023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2" name="Text 16"/>
          <p:cNvSpPr/>
          <p:nvPr/>
        </p:nvSpPr>
        <p:spPr>
          <a:xfrm>
            <a:off x="9082278" y="2971800"/>
            <a:ext cx="2466594" cy="502920"/>
          </a:xfrm>
          <a:prstGeom prst="rect">
            <a:avLst/>
          </a:prstGeom>
          <a:noFill/>
          <a:ln/>
        </p:spPr>
        <p:txBody>
          <a:bodyPr wrap="square" lIns="0" tIns="0" rIns="0" bIns="0" rtlCol="0" anchor="t"/>
          <a:lstStyle/>
          <a:p>
            <a:pPr marL="0" indent="0" algn="ctr">
              <a:buNone/>
            </a:pPr>
            <a:r>
              <a:rPr lang="en-US" sz="1500" b="1" dirty="0">
                <a:solidFill>
                  <a:srgbClr val="231F20"/>
                </a:solidFill>
                <a:latin typeface="Calibri" pitchFamily="34" charset="0"/>
                <a:ea typeface="Calibri" pitchFamily="34" charset="-122"/>
                <a:cs typeface="Calibri" pitchFamily="34" charset="-120"/>
              </a:rPr>
              <a:t>Connectivity Gaps</a:t>
            </a:r>
            <a:endParaRPr lang="en-US" sz="1500" dirty="0"/>
          </a:p>
        </p:txBody>
      </p:sp>
      <p:sp>
        <p:nvSpPr>
          <p:cNvPr id="23" name="Text 17"/>
          <p:cNvSpPr/>
          <p:nvPr/>
        </p:nvSpPr>
        <p:spPr>
          <a:xfrm>
            <a:off x="9155430" y="3474720"/>
            <a:ext cx="2320290" cy="1280160"/>
          </a:xfrm>
          <a:prstGeom prst="rect">
            <a:avLst/>
          </a:prstGeom>
          <a:noFill/>
          <a:ln/>
        </p:spPr>
        <p:txBody>
          <a:bodyPr wrap="square" lIns="0" tIns="0" rIns="0" bIns="0" rtlCol="0" anchor="t"/>
          <a:lstStyle/>
          <a:p>
            <a:pPr marL="0" indent="0" algn="ctr">
              <a:lnSpc>
                <a:spcPct val="103000"/>
              </a:lnSpc>
              <a:buNone/>
            </a:pPr>
            <a:r>
              <a:rPr lang="en-US" sz="1200" dirty="0">
                <a:solidFill>
                  <a:srgbClr val="5E6964"/>
                </a:solidFill>
                <a:latin typeface="Calibri" pitchFamily="34" charset="0"/>
                <a:ea typeface="Calibri" pitchFamily="34" charset="-122"/>
                <a:cs typeface="Calibri" pitchFamily="34" charset="-120"/>
              </a:rPr>
              <a:t>Ookla × Meta data maps under-served populations across 11 East African countries to target investment.</a:t>
            </a:r>
            <a:endParaRPr lang="en-US" sz="1200" dirty="0"/>
          </a:p>
        </p:txBody>
      </p:sp>
      <p:sp>
        <p:nvSpPr>
          <p:cNvPr id="24" name="Shape 18"/>
          <p:cNvSpPr/>
          <p:nvPr/>
        </p:nvSpPr>
        <p:spPr>
          <a:xfrm>
            <a:off x="548640" y="5074920"/>
            <a:ext cx="11091672" cy="1078992"/>
          </a:xfrm>
          <a:prstGeom prst="roundRect">
            <a:avLst>
              <a:gd name="adj" fmla="val 5932"/>
            </a:avLst>
          </a:prstGeom>
          <a:solidFill>
            <a:srgbClr val="00553A"/>
          </a:solidFill>
          <a:ln/>
        </p:spPr>
        <p:txBody>
          <a:bodyPr/>
          <a:lstStyle/>
          <a:p>
            <a:endParaRPr lang="en-US"/>
          </a:p>
        </p:txBody>
      </p:sp>
      <p:sp>
        <p:nvSpPr>
          <p:cNvPr id="25" name="Shape 19"/>
          <p:cNvSpPr/>
          <p:nvPr/>
        </p:nvSpPr>
        <p:spPr>
          <a:xfrm>
            <a:off x="548640" y="5074920"/>
            <a:ext cx="73152" cy="1078992"/>
          </a:xfrm>
          <a:prstGeom prst="rect">
            <a:avLst/>
          </a:prstGeom>
          <a:solidFill>
            <a:srgbClr val="F5C242"/>
          </a:solidFill>
          <a:ln/>
        </p:spPr>
        <p:txBody>
          <a:bodyPr/>
          <a:lstStyle/>
          <a:p>
            <a:endParaRPr lang="en-US"/>
          </a:p>
        </p:txBody>
      </p:sp>
      <p:sp>
        <p:nvSpPr>
          <p:cNvPr id="26" name="Shape 20"/>
          <p:cNvSpPr/>
          <p:nvPr/>
        </p:nvSpPr>
        <p:spPr>
          <a:xfrm>
            <a:off x="868680" y="5285232"/>
            <a:ext cx="640080" cy="640080"/>
          </a:xfrm>
          <a:prstGeom prst="ellipse">
            <a:avLst/>
          </a:prstGeom>
          <a:solidFill>
            <a:srgbClr val="00A86A"/>
          </a:solidFill>
          <a:ln/>
          <a:effectLst>
            <a:outerShdw blurRad="76200" dist="25400" dir="5400000" algn="bl" rotWithShape="0">
              <a:srgbClr val="00704A">
                <a:alpha val="10000"/>
              </a:srgbClr>
            </a:outerShdw>
          </a:effectLst>
        </p:spPr>
        <p:txBody>
          <a:bodyPr/>
          <a:lstStyle/>
          <a:p>
            <a:endParaRPr lang="en-US"/>
          </a:p>
        </p:txBody>
      </p:sp>
      <p:pic>
        <p:nvPicPr>
          <p:cNvPr id="27" name="Image 4" descr="preencoded.png"/>
          <p:cNvPicPr>
            <a:picLocks noChangeAspect="1"/>
          </p:cNvPicPr>
          <p:nvPr/>
        </p:nvPicPr>
        <p:blipFill>
          <a:blip r:embed="rId6"/>
          <a:stretch>
            <a:fillRect/>
          </a:stretch>
        </p:blipFill>
        <p:spPr>
          <a:xfrm>
            <a:off x="1024128" y="5440680"/>
            <a:ext cx="329184" cy="329184"/>
          </a:xfrm>
          <a:prstGeom prst="rect">
            <a:avLst/>
          </a:prstGeom>
        </p:spPr>
      </p:pic>
      <p:sp>
        <p:nvSpPr>
          <p:cNvPr id="28" name="Text 21"/>
          <p:cNvSpPr/>
          <p:nvPr/>
        </p:nvSpPr>
        <p:spPr>
          <a:xfrm>
            <a:off x="1691640" y="5074920"/>
            <a:ext cx="9784080" cy="1078992"/>
          </a:xfrm>
          <a:prstGeom prst="rect">
            <a:avLst/>
          </a:prstGeom>
          <a:noFill/>
          <a:ln/>
        </p:spPr>
        <p:txBody>
          <a:bodyPr wrap="square" lIns="0" tIns="0" rIns="0" bIns="0" rtlCol="0" anchor="ctr"/>
          <a:lstStyle/>
          <a:p>
            <a:pPr marL="0" indent="0" algn="l">
              <a:lnSpc>
                <a:spcPct val="103000"/>
              </a:lnSpc>
              <a:buNone/>
            </a:pPr>
            <a:r>
              <a:rPr lang="en-US" sz="1350" b="1" dirty="0">
                <a:solidFill>
                  <a:srgbClr val="F5C242"/>
                </a:solidFill>
                <a:latin typeface="Calibri" pitchFamily="34" charset="0"/>
                <a:ea typeface="Calibri" pitchFamily="34" charset="-122"/>
                <a:cs typeface="Calibri" pitchFamily="34" charset="-120"/>
              </a:rPr>
              <a:t>The engine: the Data Innovation Lab (DIL).  </a:t>
            </a:r>
            <a:r>
              <a:rPr lang="en-US" sz="1250" dirty="0">
                <a:solidFill>
                  <a:srgbClr val="FFFFFF"/>
                </a:solidFill>
                <a:latin typeface="Calibri" pitchFamily="34" charset="0"/>
                <a:ea typeface="Calibri" pitchFamily="34" charset="-122"/>
                <a:cs typeface="Calibri" pitchFamily="34" charset="-120"/>
              </a:rPr>
              <a:t>Each product runs on governed, licensed data — turning legal access into analytical capability, and analytics into development outcomes in health, energy, education and digital inclusion.</a:t>
            </a:r>
            <a:endParaRPr lang="en-US" sz="1350" dirty="0"/>
          </a:p>
        </p:txBody>
      </p:sp>
      <p:sp>
        <p:nvSpPr>
          <p:cNvPr id="29" name="Text 22"/>
          <p:cNvSpPr/>
          <p:nvPr/>
        </p:nvSpPr>
        <p:spPr>
          <a:xfrm>
            <a:off x="502920" y="6437376"/>
            <a:ext cx="6400800" cy="274320"/>
          </a:xfrm>
          <a:prstGeom prst="rect">
            <a:avLst/>
          </a:prstGeom>
          <a:noFill/>
          <a:ln/>
        </p:spPr>
        <p:txBody>
          <a:bodyPr wrap="square" lIns="0" tIns="0" rIns="0" bIns="0" rtlCol="0" anchor="ctr"/>
          <a:lstStyle/>
          <a:p>
            <a:pPr marL="0" indent="0" algn="l">
              <a:buNone/>
            </a:pPr>
            <a:r>
              <a:rPr lang="en-US" sz="850" b="0" i="0" dirty="0">
                <a:solidFill>
                  <a:srgbClr val="8A9590"/>
                </a:solidFill>
                <a:latin typeface="Calibri" pitchFamily="34" charset="0"/>
                <a:ea typeface="Calibri" pitchFamily="34" charset="-122"/>
                <a:cs typeface="Calibri" pitchFamily="34" charset="-120"/>
              </a:rPr>
              <a:t>Data Innovation for Africa  ·  AfDB Statistics Department (ECST)</a:t>
            </a:r>
            <a:endParaRPr lang="en-US" sz="900" dirty="0"/>
          </a:p>
        </p:txBody>
      </p:sp>
      <p:sp>
        <p:nvSpPr>
          <p:cNvPr id="30" name="Text 23"/>
          <p:cNvSpPr/>
          <p:nvPr/>
        </p:nvSpPr>
        <p:spPr>
          <a:xfrm>
            <a:off x="5486400" y="6437376"/>
            <a:ext cx="6199632" cy="274320"/>
          </a:xfrm>
          <a:prstGeom prst="rect">
            <a:avLst/>
          </a:prstGeom>
          <a:noFill/>
          <a:ln/>
        </p:spPr>
        <p:txBody>
          <a:bodyPr wrap="square" lIns="0" tIns="0" rIns="0" bIns="0" rtlCol="0" anchor="ctr"/>
          <a:lstStyle/>
          <a:p>
            <a:pPr marL="0" indent="0" algn="r">
              <a:buNone/>
            </a:pPr>
            <a:r>
              <a:rPr lang="en-US" sz="850" b="0" i="0" dirty="0">
                <a:solidFill>
                  <a:srgbClr val="8A9590"/>
                </a:solidFill>
                <a:latin typeface="Calibri" pitchFamily="34" charset="0"/>
                <a:ea typeface="Calibri" pitchFamily="34" charset="-122"/>
                <a:cs typeface="Calibri" pitchFamily="34" charset="-120"/>
              </a:rPr>
              <a:t>9</a:t>
            </a:r>
            <a:endParaRPr lang="en-US" sz="900" dirty="0"/>
          </a:p>
        </p:txBody>
      </p:sp>
      <p:sp>
        <p:nvSpPr>
          <p:cNvPr id="31" name="Shape 2">
            <a:extLst>
              <a:ext uri="{FF2B5EF4-FFF2-40B4-BE49-F238E27FC236}">
                <a16:creationId xmlns:a16="http://schemas.microsoft.com/office/drawing/2014/main" id="{325B6C87-7A0E-434B-B101-9D9B514EF164}"/>
              </a:ext>
            </a:extLst>
          </p:cNvPr>
          <p:cNvSpPr/>
          <p:nvPr/>
        </p:nvSpPr>
        <p:spPr>
          <a:xfrm>
            <a:off x="548640" y="1783080"/>
            <a:ext cx="2649474" cy="3063240"/>
          </a:xfrm>
          <a:prstGeom prst="roundRect">
            <a:avLst>
              <a:gd name="adj" fmla="val 2761"/>
            </a:avLst>
          </a:prstGeom>
          <a:solidFill>
            <a:srgbClr val="F4F7F5"/>
          </a:solidFill>
          <a:ln w="12700">
            <a:solidFill>
              <a:srgbClr val="D5DED9"/>
            </a:solidFill>
            <a:prstDash val="solid"/>
          </a:ln>
          <a:effectLst>
            <a:outerShdw blurRad="76200" dist="25400" dir="5400000" algn="bl" rotWithShape="0">
              <a:srgbClr val="00704A">
                <a:alpha val="10000"/>
              </a:srgbClr>
            </a:outerShdw>
          </a:effectLst>
        </p:spPr>
        <p:txBody>
          <a:bodyPr/>
          <a:lstStyle/>
          <a:p>
            <a:endParaRPr lang="en-US"/>
          </a:p>
        </p:txBody>
      </p:sp>
      <p:sp>
        <p:nvSpPr>
          <p:cNvPr id="32" name="Shape 3">
            <a:extLst>
              <a:ext uri="{FF2B5EF4-FFF2-40B4-BE49-F238E27FC236}">
                <a16:creationId xmlns:a16="http://schemas.microsoft.com/office/drawing/2014/main" id="{E3687CFA-9A7E-46F8-8870-6C8EE8125D1E}"/>
              </a:ext>
            </a:extLst>
          </p:cNvPr>
          <p:cNvSpPr/>
          <p:nvPr/>
        </p:nvSpPr>
        <p:spPr>
          <a:xfrm>
            <a:off x="1480185" y="2057400"/>
            <a:ext cx="786384" cy="786384"/>
          </a:xfrm>
          <a:prstGeom prst="ellipse">
            <a:avLst/>
          </a:prstGeom>
          <a:solidFill>
            <a:srgbClr val="00A86A">
              <a:alpha val="18000"/>
            </a:srgbClr>
          </a:solidFill>
          <a:ln>
            <a:noFill/>
          </a:ln>
          <a:effectLst>
            <a:outerShdw blurRad="76200" dist="25400" dir="5400000" algn="bl" rotWithShape="0">
              <a:srgbClr val="00704A">
                <a:alpha val="10000"/>
              </a:srgbClr>
            </a:outerShdw>
          </a:effectLst>
        </p:spPr>
        <p:txBody>
          <a:bodyPr/>
          <a:lstStyle/>
          <a:p>
            <a:endParaRPr lang="en-US"/>
          </a:p>
        </p:txBody>
      </p:sp>
      <p:pic>
        <p:nvPicPr>
          <p:cNvPr id="33" name="Image 0" descr="preencoded.png">
            <a:extLst>
              <a:ext uri="{FF2B5EF4-FFF2-40B4-BE49-F238E27FC236}">
                <a16:creationId xmlns:a16="http://schemas.microsoft.com/office/drawing/2014/main" id="{999F4E21-1C82-4F41-850F-C7E8927D1A25}"/>
              </a:ext>
            </a:extLst>
          </p:cNvPr>
          <p:cNvPicPr>
            <a:picLocks noChangeAspect="1"/>
          </p:cNvPicPr>
          <p:nvPr/>
        </p:nvPicPr>
        <p:blipFill>
          <a:blip r:embed="rId7"/>
          <a:stretch>
            <a:fillRect/>
          </a:stretch>
        </p:blipFill>
        <p:spPr>
          <a:xfrm>
            <a:off x="1672209" y="2249424"/>
            <a:ext cx="402336" cy="4023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4" name="Text 4">
            <a:extLst>
              <a:ext uri="{FF2B5EF4-FFF2-40B4-BE49-F238E27FC236}">
                <a16:creationId xmlns:a16="http://schemas.microsoft.com/office/drawing/2014/main" id="{82822AED-4AB2-4D82-915B-66DC429E4DBF}"/>
              </a:ext>
            </a:extLst>
          </p:cNvPr>
          <p:cNvSpPr/>
          <p:nvPr/>
        </p:nvSpPr>
        <p:spPr>
          <a:xfrm>
            <a:off x="640080" y="2971800"/>
            <a:ext cx="2466594" cy="502920"/>
          </a:xfrm>
          <a:prstGeom prst="rect">
            <a:avLst/>
          </a:prstGeom>
          <a:noFill/>
          <a:ln/>
        </p:spPr>
        <p:txBody>
          <a:bodyPr wrap="square" lIns="0" tIns="0" rIns="0" bIns="0" rtlCol="0" anchor="t"/>
          <a:lstStyle/>
          <a:p>
            <a:pPr marL="0" indent="0" algn="ctr">
              <a:buNone/>
            </a:pPr>
            <a:r>
              <a:rPr lang="en-US" sz="1500" b="1" dirty="0">
                <a:solidFill>
                  <a:srgbClr val="231F20"/>
                </a:solidFill>
                <a:latin typeface="Calibri" pitchFamily="34" charset="0"/>
                <a:ea typeface="Calibri" pitchFamily="34" charset="-122"/>
                <a:cs typeface="Calibri" pitchFamily="34" charset="-120"/>
              </a:rPr>
              <a:t>Accessibility Indicator</a:t>
            </a:r>
            <a:endParaRPr lang="en-US" sz="1500" dirty="0"/>
          </a:p>
        </p:txBody>
      </p:sp>
      <p:sp>
        <p:nvSpPr>
          <p:cNvPr id="35" name="Text 5">
            <a:extLst>
              <a:ext uri="{FF2B5EF4-FFF2-40B4-BE49-F238E27FC236}">
                <a16:creationId xmlns:a16="http://schemas.microsoft.com/office/drawing/2014/main" id="{9101D494-1672-4751-A0F2-5DCD85BE4ACA}"/>
              </a:ext>
            </a:extLst>
          </p:cNvPr>
          <p:cNvSpPr/>
          <p:nvPr/>
        </p:nvSpPr>
        <p:spPr>
          <a:xfrm>
            <a:off x="713232" y="3474720"/>
            <a:ext cx="2320290" cy="1280160"/>
          </a:xfrm>
          <a:prstGeom prst="rect">
            <a:avLst/>
          </a:prstGeom>
          <a:noFill/>
          <a:ln/>
        </p:spPr>
        <p:txBody>
          <a:bodyPr wrap="square" lIns="0" tIns="0" rIns="0" bIns="0" rtlCol="0" anchor="t"/>
          <a:lstStyle/>
          <a:p>
            <a:pPr marL="0" indent="0" algn="ctr">
              <a:lnSpc>
                <a:spcPct val="103000"/>
              </a:lnSpc>
              <a:buNone/>
            </a:pPr>
            <a:r>
              <a:rPr lang="en-US" sz="1200" dirty="0">
                <a:solidFill>
                  <a:srgbClr val="5E6964"/>
                </a:solidFill>
                <a:latin typeface="Calibri" pitchFamily="34" charset="0"/>
                <a:ea typeface="Calibri" pitchFamily="34" charset="-122"/>
                <a:cs typeface="Calibri" pitchFamily="34" charset="-120"/>
              </a:rPr>
              <a:t>Geospatial distance-and-time analysis measuring people’s real access to schools, health facilities &amp; education — piloted in Rwanda’s Nyagatare District.</a:t>
            </a:r>
            <a:endParaRPr lang="en-US" sz="1200" dirty="0"/>
          </a:p>
        </p:txBody>
      </p:sp>
      <p:sp>
        <p:nvSpPr>
          <p:cNvPr id="38" name="Rectangle 37"/>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ectangle 38"/>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106070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08356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11064240" y="448056"/>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112928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115214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7" name="Oval 36"/>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Box 1"/>
          <p:cNvSpPr txBox="1"/>
          <p:nvPr/>
        </p:nvSpPr>
        <p:spPr>
          <a:xfrm>
            <a:off x="548640" y="365760"/>
            <a:ext cx="11064240" cy="274320"/>
          </a:xfrm>
          <a:prstGeom prst="rect">
            <a:avLst/>
          </a:prstGeom>
          <a:noFill/>
        </p:spPr>
        <p:txBody>
          <a:bodyPr wrap="square" lIns="0" tIns="0" rIns="0" bIns="0" anchor="t">
            <a:spAutoFit/>
          </a:bodyPr>
          <a:lstStyle/>
          <a:p>
            <a:pPr algn="l"/>
            <a:r>
              <a:rPr sz="1050" b="1" i="0" spc="300">
                <a:solidFill>
                  <a:srgbClr val="00704A"/>
                </a:solidFill>
                <a:latin typeface="Calibri"/>
              </a:rPr>
              <a:t>04 · BUILD CAPACITY</a:t>
            </a:r>
          </a:p>
        </p:txBody>
      </p:sp>
      <p:sp>
        <p:nvSpPr>
          <p:cNvPr id="3" name="TextBox 2"/>
          <p:cNvSpPr txBox="1"/>
          <p:nvPr/>
        </p:nvSpPr>
        <p:spPr>
          <a:xfrm>
            <a:off x="548640" y="658368"/>
            <a:ext cx="11064240" cy="658368"/>
          </a:xfrm>
          <a:prstGeom prst="rect">
            <a:avLst/>
          </a:prstGeom>
          <a:noFill/>
        </p:spPr>
        <p:txBody>
          <a:bodyPr wrap="square" lIns="0" tIns="0" rIns="0" bIns="0" anchor="t">
            <a:spAutoFit/>
          </a:bodyPr>
          <a:lstStyle/>
          <a:p>
            <a:pPr algn="l"/>
            <a:r>
              <a:rPr sz="2800" b="1" i="0">
                <a:solidFill>
                  <a:srgbClr val="231F20"/>
                </a:solidFill>
                <a:latin typeface="Calibri"/>
              </a:rPr>
              <a:t>From standards to practice</a:t>
            </a:r>
          </a:p>
        </p:txBody>
      </p:sp>
      <p:sp>
        <p:nvSpPr>
          <p:cNvPr id="4" name="Oval 3"/>
          <p:cNvSpPr/>
          <p:nvPr/>
        </p:nvSpPr>
        <p:spPr>
          <a:xfrm>
            <a:off x="548640" y="1682496"/>
            <a:ext cx="329184" cy="329184"/>
          </a:xfrm>
          <a:prstGeom prst="ellipse">
            <a:avLst/>
          </a:prstGeom>
          <a:solidFill>
            <a:srgbClr val="00A86A"/>
          </a:solidFill>
          <a:ln>
            <a:noFill/>
          </a:ln>
        </p:spPr>
        <p:txBody>
          <a:bodyPr rtlCol="0" anchor="ctr"/>
          <a:lstStyle/>
          <a:p>
            <a:endParaRPr/>
          </a:p>
        </p:txBody>
      </p:sp>
      <p:pic>
        <p:nvPicPr>
          <p:cNvPr id="5" name="Picture 4" descr="check_w.png"/>
          <p:cNvPicPr>
            <a:picLocks noChangeAspect="1"/>
          </p:cNvPicPr>
          <p:nvPr/>
        </p:nvPicPr>
        <p:blipFill>
          <a:blip r:embed="rId3"/>
          <a:stretch>
            <a:fillRect/>
          </a:stretch>
        </p:blipFill>
        <p:spPr>
          <a:xfrm>
            <a:off x="637519" y="1771375"/>
            <a:ext cx="151424" cy="151424"/>
          </a:xfrm>
          <a:prstGeom prst="rect">
            <a:avLst/>
          </a:prstGeom>
        </p:spPr>
      </p:pic>
      <p:sp>
        <p:nvSpPr>
          <p:cNvPr id="6" name="TextBox 5"/>
          <p:cNvSpPr txBox="1"/>
          <p:nvPr/>
        </p:nvSpPr>
        <p:spPr>
          <a:xfrm>
            <a:off x="1024128" y="1645920"/>
            <a:ext cx="3840480" cy="566928"/>
          </a:xfrm>
          <a:prstGeom prst="rect">
            <a:avLst/>
          </a:prstGeom>
          <a:noFill/>
        </p:spPr>
        <p:txBody>
          <a:bodyPr wrap="square" lIns="0" tIns="0" rIns="0" bIns="0" anchor="t">
            <a:spAutoFit/>
          </a:bodyPr>
          <a:lstStyle/>
          <a:p>
            <a:pPr algn="l">
              <a:lnSpc>
                <a:spcPct val="100000"/>
              </a:lnSpc>
            </a:pPr>
            <a:r>
              <a:rPr sz="1400" b="1" i="0">
                <a:solidFill>
                  <a:srgbClr val="231F20"/>
                </a:solidFill>
                <a:latin typeface="Calibri"/>
              </a:rPr>
              <a:t>Applied problem-solving</a:t>
            </a:r>
            <a:r>
              <a:rPr sz="1400" b="0" i="0">
                <a:solidFill>
                  <a:srgbClr val="5E6964"/>
                </a:solidFill>
                <a:latin typeface="Calibri"/>
              </a:rPr>
              <a:t> through real use cases</a:t>
            </a:r>
          </a:p>
        </p:txBody>
      </p:sp>
      <p:sp>
        <p:nvSpPr>
          <p:cNvPr id="7" name="Oval 6"/>
          <p:cNvSpPr/>
          <p:nvPr/>
        </p:nvSpPr>
        <p:spPr>
          <a:xfrm>
            <a:off x="548640" y="2313432"/>
            <a:ext cx="329184" cy="329184"/>
          </a:xfrm>
          <a:prstGeom prst="ellipse">
            <a:avLst/>
          </a:prstGeom>
          <a:solidFill>
            <a:srgbClr val="00A86A"/>
          </a:solidFill>
          <a:ln>
            <a:noFill/>
          </a:ln>
        </p:spPr>
        <p:txBody>
          <a:bodyPr rtlCol="0" anchor="ctr"/>
          <a:lstStyle/>
          <a:p>
            <a:endParaRPr/>
          </a:p>
        </p:txBody>
      </p:sp>
      <p:pic>
        <p:nvPicPr>
          <p:cNvPr id="8" name="Picture 7" descr="check_w.png"/>
          <p:cNvPicPr>
            <a:picLocks noChangeAspect="1"/>
          </p:cNvPicPr>
          <p:nvPr/>
        </p:nvPicPr>
        <p:blipFill>
          <a:blip r:embed="rId3"/>
          <a:stretch>
            <a:fillRect/>
          </a:stretch>
        </p:blipFill>
        <p:spPr>
          <a:xfrm>
            <a:off x="637519" y="2402311"/>
            <a:ext cx="151424" cy="151424"/>
          </a:xfrm>
          <a:prstGeom prst="rect">
            <a:avLst/>
          </a:prstGeom>
        </p:spPr>
      </p:pic>
      <p:sp>
        <p:nvSpPr>
          <p:cNvPr id="9" name="TextBox 8"/>
          <p:cNvSpPr txBox="1"/>
          <p:nvPr/>
        </p:nvSpPr>
        <p:spPr>
          <a:xfrm>
            <a:off x="1024128" y="2276856"/>
            <a:ext cx="3840480" cy="566928"/>
          </a:xfrm>
          <a:prstGeom prst="rect">
            <a:avLst/>
          </a:prstGeom>
          <a:noFill/>
        </p:spPr>
        <p:txBody>
          <a:bodyPr wrap="square" lIns="0" tIns="0" rIns="0" bIns="0" anchor="t">
            <a:spAutoFit/>
          </a:bodyPr>
          <a:lstStyle/>
          <a:p>
            <a:pPr algn="l">
              <a:lnSpc>
                <a:spcPct val="100000"/>
              </a:lnSpc>
            </a:pPr>
            <a:r>
              <a:rPr sz="1400" b="1" i="0">
                <a:solidFill>
                  <a:srgbClr val="231F20"/>
                </a:solidFill>
                <a:latin typeface="Calibri"/>
              </a:rPr>
              <a:t>Project-based learning</a:t>
            </a:r>
            <a:r>
              <a:rPr sz="1400" b="0" i="0">
                <a:solidFill>
                  <a:srgbClr val="5E6964"/>
                </a:solidFill>
                <a:latin typeface="Calibri"/>
              </a:rPr>
              <a:t> for national priorities</a:t>
            </a:r>
          </a:p>
        </p:txBody>
      </p:sp>
      <p:sp>
        <p:nvSpPr>
          <p:cNvPr id="10" name="Oval 9"/>
          <p:cNvSpPr/>
          <p:nvPr/>
        </p:nvSpPr>
        <p:spPr>
          <a:xfrm>
            <a:off x="548640" y="2944368"/>
            <a:ext cx="329184" cy="329184"/>
          </a:xfrm>
          <a:prstGeom prst="ellipse">
            <a:avLst/>
          </a:prstGeom>
          <a:solidFill>
            <a:srgbClr val="00A86A"/>
          </a:solidFill>
          <a:ln>
            <a:noFill/>
          </a:ln>
        </p:spPr>
        <p:txBody>
          <a:bodyPr rtlCol="0" anchor="ctr"/>
          <a:lstStyle/>
          <a:p>
            <a:endParaRPr/>
          </a:p>
        </p:txBody>
      </p:sp>
      <p:pic>
        <p:nvPicPr>
          <p:cNvPr id="11" name="Picture 10" descr="check_w.png"/>
          <p:cNvPicPr>
            <a:picLocks noChangeAspect="1"/>
          </p:cNvPicPr>
          <p:nvPr/>
        </p:nvPicPr>
        <p:blipFill>
          <a:blip r:embed="rId3"/>
          <a:stretch>
            <a:fillRect/>
          </a:stretch>
        </p:blipFill>
        <p:spPr>
          <a:xfrm>
            <a:off x="637519" y="3033247"/>
            <a:ext cx="151424" cy="151424"/>
          </a:xfrm>
          <a:prstGeom prst="rect">
            <a:avLst/>
          </a:prstGeom>
        </p:spPr>
      </p:pic>
      <p:sp>
        <p:nvSpPr>
          <p:cNvPr id="12" name="TextBox 11"/>
          <p:cNvSpPr txBox="1"/>
          <p:nvPr/>
        </p:nvSpPr>
        <p:spPr>
          <a:xfrm>
            <a:off x="1024128" y="2907791"/>
            <a:ext cx="3840480" cy="566928"/>
          </a:xfrm>
          <a:prstGeom prst="rect">
            <a:avLst/>
          </a:prstGeom>
          <a:noFill/>
        </p:spPr>
        <p:txBody>
          <a:bodyPr wrap="square" lIns="0" tIns="0" rIns="0" bIns="0" anchor="t">
            <a:spAutoFit/>
          </a:bodyPr>
          <a:lstStyle/>
          <a:p>
            <a:pPr algn="l">
              <a:lnSpc>
                <a:spcPct val="100000"/>
              </a:lnSpc>
            </a:pPr>
            <a:r>
              <a:rPr sz="1400" b="1" i="0">
                <a:solidFill>
                  <a:srgbClr val="231F20"/>
                </a:solidFill>
                <a:latin typeface="Calibri"/>
              </a:rPr>
              <a:t>Data collection &amp; integration</a:t>
            </a:r>
            <a:r>
              <a:rPr sz="1400" b="0" i="0">
                <a:solidFill>
                  <a:srgbClr val="5E6964"/>
                </a:solidFill>
                <a:latin typeface="Calibri"/>
              </a:rPr>
              <a:t> aligned with standards</a:t>
            </a:r>
          </a:p>
        </p:txBody>
      </p:sp>
      <p:sp>
        <p:nvSpPr>
          <p:cNvPr id="13" name="Oval 12"/>
          <p:cNvSpPr/>
          <p:nvPr/>
        </p:nvSpPr>
        <p:spPr>
          <a:xfrm>
            <a:off x="548640" y="3575304"/>
            <a:ext cx="329184" cy="329184"/>
          </a:xfrm>
          <a:prstGeom prst="ellipse">
            <a:avLst/>
          </a:prstGeom>
          <a:solidFill>
            <a:srgbClr val="00A86A"/>
          </a:solidFill>
          <a:ln>
            <a:noFill/>
          </a:ln>
        </p:spPr>
        <p:txBody>
          <a:bodyPr rtlCol="0" anchor="ctr"/>
          <a:lstStyle/>
          <a:p>
            <a:endParaRPr/>
          </a:p>
        </p:txBody>
      </p:sp>
      <p:pic>
        <p:nvPicPr>
          <p:cNvPr id="14" name="Picture 13" descr="check_w.png"/>
          <p:cNvPicPr>
            <a:picLocks noChangeAspect="1"/>
          </p:cNvPicPr>
          <p:nvPr/>
        </p:nvPicPr>
        <p:blipFill>
          <a:blip r:embed="rId3"/>
          <a:stretch>
            <a:fillRect/>
          </a:stretch>
        </p:blipFill>
        <p:spPr>
          <a:xfrm>
            <a:off x="637519" y="3664183"/>
            <a:ext cx="151424" cy="151424"/>
          </a:xfrm>
          <a:prstGeom prst="rect">
            <a:avLst/>
          </a:prstGeom>
        </p:spPr>
      </p:pic>
      <p:sp>
        <p:nvSpPr>
          <p:cNvPr id="15" name="TextBox 14"/>
          <p:cNvSpPr txBox="1"/>
          <p:nvPr/>
        </p:nvSpPr>
        <p:spPr>
          <a:xfrm>
            <a:off x="1024128" y="3538728"/>
            <a:ext cx="3840480" cy="566928"/>
          </a:xfrm>
          <a:prstGeom prst="rect">
            <a:avLst/>
          </a:prstGeom>
          <a:noFill/>
        </p:spPr>
        <p:txBody>
          <a:bodyPr wrap="square" lIns="0" tIns="0" rIns="0" bIns="0" anchor="t">
            <a:spAutoFit/>
          </a:bodyPr>
          <a:lstStyle/>
          <a:p>
            <a:pPr algn="l">
              <a:lnSpc>
                <a:spcPct val="100000"/>
              </a:lnSpc>
            </a:pPr>
            <a:r>
              <a:rPr sz="1400" b="1" i="0">
                <a:solidFill>
                  <a:srgbClr val="231F20"/>
                </a:solidFill>
                <a:latin typeface="Calibri"/>
              </a:rPr>
              <a:t>Big Data technologies</a:t>
            </a:r>
            <a:r>
              <a:rPr sz="1400" b="0" i="0">
                <a:solidFill>
                  <a:srgbClr val="5E6964"/>
                </a:solidFill>
                <a:latin typeface="Calibri"/>
              </a:rPr>
              <a:t> for official statistics</a:t>
            </a:r>
          </a:p>
        </p:txBody>
      </p:sp>
      <p:sp>
        <p:nvSpPr>
          <p:cNvPr id="16" name="Oval 15"/>
          <p:cNvSpPr/>
          <p:nvPr/>
        </p:nvSpPr>
        <p:spPr>
          <a:xfrm>
            <a:off x="548640" y="4206240"/>
            <a:ext cx="329184" cy="329184"/>
          </a:xfrm>
          <a:prstGeom prst="ellipse">
            <a:avLst/>
          </a:prstGeom>
          <a:solidFill>
            <a:srgbClr val="00A86A"/>
          </a:solidFill>
          <a:ln>
            <a:noFill/>
          </a:ln>
        </p:spPr>
        <p:txBody>
          <a:bodyPr rtlCol="0" anchor="ctr"/>
          <a:lstStyle/>
          <a:p>
            <a:endParaRPr/>
          </a:p>
        </p:txBody>
      </p:sp>
      <p:pic>
        <p:nvPicPr>
          <p:cNvPr id="17" name="Picture 16" descr="check_w.png"/>
          <p:cNvPicPr>
            <a:picLocks noChangeAspect="1"/>
          </p:cNvPicPr>
          <p:nvPr/>
        </p:nvPicPr>
        <p:blipFill>
          <a:blip r:embed="rId3"/>
          <a:stretch>
            <a:fillRect/>
          </a:stretch>
        </p:blipFill>
        <p:spPr>
          <a:xfrm>
            <a:off x="637519" y="4295119"/>
            <a:ext cx="151424" cy="151424"/>
          </a:xfrm>
          <a:prstGeom prst="rect">
            <a:avLst/>
          </a:prstGeom>
        </p:spPr>
      </p:pic>
      <p:sp>
        <p:nvSpPr>
          <p:cNvPr id="18" name="TextBox 17"/>
          <p:cNvSpPr txBox="1"/>
          <p:nvPr/>
        </p:nvSpPr>
        <p:spPr>
          <a:xfrm>
            <a:off x="1024128" y="4169663"/>
            <a:ext cx="3840480" cy="566928"/>
          </a:xfrm>
          <a:prstGeom prst="rect">
            <a:avLst/>
          </a:prstGeom>
          <a:noFill/>
        </p:spPr>
        <p:txBody>
          <a:bodyPr wrap="square" lIns="0" tIns="0" rIns="0" bIns="0" anchor="t">
            <a:spAutoFit/>
          </a:bodyPr>
          <a:lstStyle/>
          <a:p>
            <a:pPr algn="l">
              <a:lnSpc>
                <a:spcPct val="100000"/>
              </a:lnSpc>
            </a:pPr>
            <a:r>
              <a:rPr sz="1400" b="1" i="0">
                <a:solidFill>
                  <a:srgbClr val="231F20"/>
                </a:solidFill>
                <a:latin typeface="Calibri"/>
              </a:rPr>
              <a:t>End-to-end data pipelines</a:t>
            </a:r>
            <a:r>
              <a:rPr sz="1400" b="0" i="0">
                <a:solidFill>
                  <a:srgbClr val="5E6964"/>
                </a:solidFill>
                <a:latin typeface="Calibri"/>
              </a:rPr>
              <a:t> ensuring quality &amp; traceability</a:t>
            </a:r>
          </a:p>
        </p:txBody>
      </p:sp>
      <p:sp>
        <p:nvSpPr>
          <p:cNvPr id="19" name="Oval 18"/>
          <p:cNvSpPr/>
          <p:nvPr/>
        </p:nvSpPr>
        <p:spPr>
          <a:xfrm>
            <a:off x="548640" y="4837176"/>
            <a:ext cx="329184" cy="329184"/>
          </a:xfrm>
          <a:prstGeom prst="ellipse">
            <a:avLst/>
          </a:prstGeom>
          <a:solidFill>
            <a:srgbClr val="00A86A"/>
          </a:solidFill>
          <a:ln>
            <a:noFill/>
          </a:ln>
        </p:spPr>
        <p:txBody>
          <a:bodyPr rtlCol="0" anchor="ctr"/>
          <a:lstStyle/>
          <a:p>
            <a:endParaRPr/>
          </a:p>
        </p:txBody>
      </p:sp>
      <p:pic>
        <p:nvPicPr>
          <p:cNvPr id="20" name="Picture 19" descr="check_w.png"/>
          <p:cNvPicPr>
            <a:picLocks noChangeAspect="1"/>
          </p:cNvPicPr>
          <p:nvPr/>
        </p:nvPicPr>
        <p:blipFill>
          <a:blip r:embed="rId3"/>
          <a:stretch>
            <a:fillRect/>
          </a:stretch>
        </p:blipFill>
        <p:spPr>
          <a:xfrm>
            <a:off x="637519" y="4926055"/>
            <a:ext cx="151424" cy="151424"/>
          </a:xfrm>
          <a:prstGeom prst="rect">
            <a:avLst/>
          </a:prstGeom>
        </p:spPr>
      </p:pic>
      <p:sp>
        <p:nvSpPr>
          <p:cNvPr id="21" name="TextBox 20"/>
          <p:cNvSpPr txBox="1"/>
          <p:nvPr/>
        </p:nvSpPr>
        <p:spPr>
          <a:xfrm>
            <a:off x="1024128" y="4800600"/>
            <a:ext cx="3840480" cy="566928"/>
          </a:xfrm>
          <a:prstGeom prst="rect">
            <a:avLst/>
          </a:prstGeom>
          <a:noFill/>
        </p:spPr>
        <p:txBody>
          <a:bodyPr wrap="square" lIns="0" tIns="0" rIns="0" bIns="0" anchor="t">
            <a:spAutoFit/>
          </a:bodyPr>
          <a:lstStyle/>
          <a:p>
            <a:pPr algn="l">
              <a:lnSpc>
                <a:spcPct val="100000"/>
              </a:lnSpc>
            </a:pPr>
            <a:r>
              <a:rPr sz="1400" b="1" i="0">
                <a:solidFill>
                  <a:srgbClr val="231F20"/>
                </a:solidFill>
                <a:latin typeface="Calibri"/>
              </a:rPr>
              <a:t>Infrastructure as Code</a:t>
            </a:r>
            <a:r>
              <a:rPr sz="1400" b="0" i="0">
                <a:solidFill>
                  <a:srgbClr val="5E6964"/>
                </a:solidFill>
                <a:latin typeface="Calibri"/>
              </a:rPr>
              <a:t> for scalable deployments</a:t>
            </a:r>
          </a:p>
        </p:txBody>
      </p:sp>
      <p:sp>
        <p:nvSpPr>
          <p:cNvPr id="22" name="Oval 21"/>
          <p:cNvSpPr/>
          <p:nvPr/>
        </p:nvSpPr>
        <p:spPr>
          <a:xfrm>
            <a:off x="548640" y="5468112"/>
            <a:ext cx="329184" cy="329184"/>
          </a:xfrm>
          <a:prstGeom prst="ellipse">
            <a:avLst/>
          </a:prstGeom>
          <a:solidFill>
            <a:srgbClr val="00A86A"/>
          </a:solidFill>
          <a:ln>
            <a:noFill/>
          </a:ln>
        </p:spPr>
        <p:txBody>
          <a:bodyPr rtlCol="0" anchor="ctr"/>
          <a:lstStyle/>
          <a:p>
            <a:endParaRPr/>
          </a:p>
        </p:txBody>
      </p:sp>
      <p:pic>
        <p:nvPicPr>
          <p:cNvPr id="23" name="Picture 22" descr="check_w.png"/>
          <p:cNvPicPr>
            <a:picLocks noChangeAspect="1"/>
          </p:cNvPicPr>
          <p:nvPr/>
        </p:nvPicPr>
        <p:blipFill>
          <a:blip r:embed="rId3"/>
          <a:stretch>
            <a:fillRect/>
          </a:stretch>
        </p:blipFill>
        <p:spPr>
          <a:xfrm>
            <a:off x="637519" y="5556991"/>
            <a:ext cx="151424" cy="151424"/>
          </a:xfrm>
          <a:prstGeom prst="rect">
            <a:avLst/>
          </a:prstGeom>
        </p:spPr>
      </p:pic>
      <p:sp>
        <p:nvSpPr>
          <p:cNvPr id="24" name="TextBox 23"/>
          <p:cNvSpPr txBox="1"/>
          <p:nvPr/>
        </p:nvSpPr>
        <p:spPr>
          <a:xfrm>
            <a:off x="1024128" y="5431536"/>
            <a:ext cx="3840480" cy="566928"/>
          </a:xfrm>
          <a:prstGeom prst="rect">
            <a:avLst/>
          </a:prstGeom>
          <a:noFill/>
        </p:spPr>
        <p:txBody>
          <a:bodyPr wrap="square" lIns="0" tIns="0" rIns="0" bIns="0" anchor="t">
            <a:spAutoFit/>
          </a:bodyPr>
          <a:lstStyle/>
          <a:p>
            <a:pPr algn="l">
              <a:lnSpc>
                <a:spcPct val="100000"/>
              </a:lnSpc>
            </a:pPr>
            <a:r>
              <a:rPr sz="1400" b="1" i="0">
                <a:solidFill>
                  <a:srgbClr val="231F20"/>
                </a:solidFill>
                <a:latin typeface="Calibri"/>
              </a:rPr>
              <a:t>AI-ready data infrastructures</a:t>
            </a:r>
            <a:r>
              <a:rPr sz="1400" b="0" i="0">
                <a:solidFill>
                  <a:srgbClr val="5E6964"/>
                </a:solidFill>
                <a:latin typeface="Calibri"/>
              </a:rPr>
              <a:t> supporting innovation</a:t>
            </a:r>
          </a:p>
        </p:txBody>
      </p:sp>
      <p:pic>
        <p:nvPicPr>
          <p:cNvPr id="25" name="Picture 24" descr="image.jpeg"/>
          <p:cNvPicPr>
            <a:picLocks noChangeAspect="1"/>
          </p:cNvPicPr>
          <p:nvPr/>
        </p:nvPicPr>
        <p:blipFill>
          <a:blip r:embed="rId4"/>
          <a:srcRect l="19759" r="19759"/>
          <a:stretch>
            <a:fillRect/>
          </a:stretch>
        </p:blipFill>
        <p:spPr>
          <a:xfrm>
            <a:off x="5257800" y="1645920"/>
            <a:ext cx="2011679" cy="1874519"/>
          </a:xfrm>
          <a:prstGeom prst="roundRect">
            <a:avLst>
              <a:gd name="adj" fmla="val 6000"/>
            </a:avLst>
          </a:prstGeom>
          <a:effectLst>
            <a:outerShdw blurRad="177800" dist="38100" dir="5400000" algn="t" rotWithShape="0">
              <a:srgbClr val="000000">
                <a:alpha val="18000"/>
              </a:srgbClr>
            </a:outerShdw>
          </a:effectLst>
        </p:spPr>
      </p:pic>
      <p:sp>
        <p:nvSpPr>
          <p:cNvPr id="26" name="Rounded Rectangle 25"/>
          <p:cNvSpPr/>
          <p:nvPr/>
        </p:nvSpPr>
        <p:spPr>
          <a:xfrm>
            <a:off x="5349240" y="3118103"/>
            <a:ext cx="1828799" cy="310896"/>
          </a:xfrm>
          <a:prstGeom prst="roundRect">
            <a:avLst>
              <a:gd name="adj" fmla="val 25000"/>
            </a:avLst>
          </a:prstGeom>
          <a:solidFill>
            <a:srgbClr val="FFFFFF">
              <a:alpha val="94000"/>
            </a:srgbClr>
          </a:solidFill>
          <a:ln>
            <a:noFill/>
          </a:ln>
        </p:spPr>
        <p:txBody>
          <a:bodyPr wrap="square" lIns="0" tIns="0" rIns="0" bIns="0" rtlCol="0" anchor="ctr"/>
          <a:lstStyle/>
          <a:p>
            <a:pPr algn="ctr"/>
            <a:r>
              <a:rPr sz="950" b="1" i="0">
                <a:solidFill>
                  <a:srgbClr val="231F20"/>
                </a:solidFill>
                <a:latin typeface="Calibri"/>
              </a:rPr>
              <a:t>Kigali  ·  15–19 May 2023</a:t>
            </a:r>
          </a:p>
        </p:txBody>
      </p:sp>
      <p:pic>
        <p:nvPicPr>
          <p:cNvPr id="27" name="Picture 26" descr="image.jpeg"/>
          <p:cNvPicPr>
            <a:picLocks noChangeAspect="1"/>
          </p:cNvPicPr>
          <p:nvPr/>
        </p:nvPicPr>
        <p:blipFill>
          <a:blip r:embed="rId5"/>
          <a:srcRect l="20838" r="20838"/>
          <a:stretch>
            <a:fillRect/>
          </a:stretch>
        </p:blipFill>
        <p:spPr>
          <a:xfrm>
            <a:off x="7452359" y="1645920"/>
            <a:ext cx="2011679" cy="1874519"/>
          </a:xfrm>
          <a:prstGeom prst="roundRect">
            <a:avLst>
              <a:gd name="adj" fmla="val 6000"/>
            </a:avLst>
          </a:prstGeom>
          <a:effectLst>
            <a:outerShdw blurRad="177800" dist="38100" dir="5400000" algn="t" rotWithShape="0">
              <a:srgbClr val="000000">
                <a:alpha val="18000"/>
              </a:srgbClr>
            </a:outerShdw>
          </a:effectLst>
        </p:spPr>
      </p:pic>
      <p:sp>
        <p:nvSpPr>
          <p:cNvPr id="28" name="Rounded Rectangle 27"/>
          <p:cNvSpPr/>
          <p:nvPr/>
        </p:nvSpPr>
        <p:spPr>
          <a:xfrm>
            <a:off x="7543799" y="3118103"/>
            <a:ext cx="1828799" cy="310896"/>
          </a:xfrm>
          <a:prstGeom prst="roundRect">
            <a:avLst>
              <a:gd name="adj" fmla="val 25000"/>
            </a:avLst>
          </a:prstGeom>
          <a:solidFill>
            <a:srgbClr val="FFFFFF">
              <a:alpha val="94000"/>
            </a:srgbClr>
          </a:solidFill>
          <a:ln>
            <a:noFill/>
          </a:ln>
        </p:spPr>
        <p:txBody>
          <a:bodyPr wrap="square" lIns="0" tIns="0" rIns="0" bIns="0" rtlCol="0" anchor="ctr"/>
          <a:lstStyle/>
          <a:p>
            <a:pPr algn="ctr"/>
            <a:r>
              <a:rPr sz="950" b="1" i="0">
                <a:solidFill>
                  <a:srgbClr val="231F20"/>
                </a:solidFill>
                <a:latin typeface="Calibri"/>
              </a:rPr>
              <a:t>Kigali  ·  28 Aug – 1 Sep 2023</a:t>
            </a:r>
          </a:p>
        </p:txBody>
      </p:sp>
      <p:pic>
        <p:nvPicPr>
          <p:cNvPr id="29" name="Picture 28" descr="image.jpeg"/>
          <p:cNvPicPr>
            <a:picLocks noChangeAspect="1"/>
          </p:cNvPicPr>
          <p:nvPr/>
        </p:nvPicPr>
        <p:blipFill>
          <a:blip r:embed="rId6"/>
          <a:srcRect l="23540" r="23540"/>
          <a:stretch>
            <a:fillRect/>
          </a:stretch>
        </p:blipFill>
        <p:spPr>
          <a:xfrm>
            <a:off x="9646920" y="1645920"/>
            <a:ext cx="2011679" cy="1874519"/>
          </a:xfrm>
          <a:prstGeom prst="roundRect">
            <a:avLst>
              <a:gd name="adj" fmla="val 6000"/>
            </a:avLst>
          </a:prstGeom>
          <a:effectLst>
            <a:outerShdw blurRad="177800" dist="38100" dir="5400000" algn="t" rotWithShape="0">
              <a:srgbClr val="000000">
                <a:alpha val="18000"/>
              </a:srgbClr>
            </a:outerShdw>
          </a:effectLst>
        </p:spPr>
      </p:pic>
      <p:sp>
        <p:nvSpPr>
          <p:cNvPr id="30" name="Rounded Rectangle 29"/>
          <p:cNvSpPr/>
          <p:nvPr/>
        </p:nvSpPr>
        <p:spPr>
          <a:xfrm>
            <a:off x="9738360" y="2953511"/>
            <a:ext cx="1828799" cy="475488"/>
          </a:xfrm>
          <a:prstGeom prst="roundRect">
            <a:avLst>
              <a:gd name="adj" fmla="val 25000"/>
            </a:avLst>
          </a:prstGeom>
          <a:solidFill>
            <a:srgbClr val="FFFFFF">
              <a:alpha val="94000"/>
            </a:srgbClr>
          </a:solidFill>
          <a:ln>
            <a:noFill/>
          </a:ln>
        </p:spPr>
        <p:txBody>
          <a:bodyPr wrap="square" lIns="0" tIns="0" rIns="0" bIns="0" rtlCol="0" anchor="ctr"/>
          <a:lstStyle/>
          <a:p>
            <a:pPr algn="ctr"/>
            <a:r>
              <a:rPr sz="950" b="1" i="0">
                <a:solidFill>
                  <a:srgbClr val="231F20"/>
                </a:solidFill>
                <a:latin typeface="Calibri"/>
              </a:rPr>
              <a:t>Tunis  ·  27–31 May 2024</a:t>
            </a:r>
          </a:p>
          <a:p>
            <a:pPr algn="ctr"/>
            <a:r>
              <a:rPr sz="850" b="1" i="0">
                <a:solidFill>
                  <a:srgbClr val="00A86A"/>
                </a:solidFill>
                <a:latin typeface="Calibri"/>
              </a:rPr>
              <a:t>AfDB &amp; World Bank joint workshop</a:t>
            </a:r>
          </a:p>
        </p:txBody>
      </p:sp>
      <p:pic>
        <p:nvPicPr>
          <p:cNvPr id="31" name="Picture 30" descr="image.jpeg"/>
          <p:cNvPicPr>
            <a:picLocks noChangeAspect="1"/>
          </p:cNvPicPr>
          <p:nvPr/>
        </p:nvPicPr>
        <p:blipFill>
          <a:blip r:embed="rId7"/>
          <a:srcRect l="31478" r="31478"/>
          <a:stretch>
            <a:fillRect/>
          </a:stretch>
        </p:blipFill>
        <p:spPr>
          <a:xfrm>
            <a:off x="5257800" y="3749039"/>
            <a:ext cx="2011679" cy="2331720"/>
          </a:xfrm>
          <a:prstGeom prst="roundRect">
            <a:avLst>
              <a:gd name="adj" fmla="val 6000"/>
            </a:avLst>
          </a:prstGeom>
          <a:effectLst>
            <a:outerShdw blurRad="177800" dist="38100" dir="5400000" algn="t" rotWithShape="0">
              <a:srgbClr val="000000">
                <a:alpha val="18000"/>
              </a:srgbClr>
            </a:outerShdw>
          </a:effectLst>
        </p:spPr>
      </p:pic>
      <p:sp>
        <p:nvSpPr>
          <p:cNvPr id="32" name="Rounded Rectangle 31"/>
          <p:cNvSpPr/>
          <p:nvPr/>
        </p:nvSpPr>
        <p:spPr>
          <a:xfrm>
            <a:off x="5349240" y="5513831"/>
            <a:ext cx="1828799" cy="475488"/>
          </a:xfrm>
          <a:prstGeom prst="roundRect">
            <a:avLst>
              <a:gd name="adj" fmla="val 25000"/>
            </a:avLst>
          </a:prstGeom>
          <a:solidFill>
            <a:srgbClr val="FFFFFF">
              <a:alpha val="94000"/>
            </a:srgbClr>
          </a:solidFill>
          <a:ln>
            <a:noFill/>
          </a:ln>
        </p:spPr>
        <p:txBody>
          <a:bodyPr wrap="square" lIns="0" tIns="0" rIns="0" bIns="0" rtlCol="0" anchor="ctr"/>
          <a:lstStyle/>
          <a:p>
            <a:pPr algn="ctr"/>
            <a:r>
              <a:rPr sz="950" b="1" i="0">
                <a:solidFill>
                  <a:srgbClr val="231F20"/>
                </a:solidFill>
                <a:latin typeface="Calibri"/>
              </a:rPr>
              <a:t>Kigali  ·  23–27 Sep 2024</a:t>
            </a:r>
          </a:p>
          <a:p>
            <a:pPr algn="ctr"/>
            <a:r>
              <a:rPr sz="850" b="1" i="0">
                <a:solidFill>
                  <a:srgbClr val="00A86A"/>
                </a:solidFill>
                <a:latin typeface="Calibri"/>
              </a:rPr>
              <a:t>AfDB &amp; IMF joint workshop</a:t>
            </a:r>
          </a:p>
        </p:txBody>
      </p:sp>
      <p:pic>
        <p:nvPicPr>
          <p:cNvPr id="33" name="Picture 32" descr="mauritius.jpg"/>
          <p:cNvPicPr>
            <a:picLocks noChangeAspect="1"/>
          </p:cNvPicPr>
          <p:nvPr/>
        </p:nvPicPr>
        <p:blipFill>
          <a:blip r:embed="rId8"/>
          <a:srcRect t="2206" b="2206"/>
          <a:stretch>
            <a:fillRect/>
          </a:stretch>
        </p:blipFill>
        <p:spPr>
          <a:xfrm>
            <a:off x="7452359" y="3749039"/>
            <a:ext cx="4206240" cy="2331720"/>
          </a:xfrm>
          <a:prstGeom prst="roundRect">
            <a:avLst>
              <a:gd name="adj" fmla="val 6000"/>
            </a:avLst>
          </a:prstGeom>
          <a:effectLst>
            <a:outerShdw blurRad="177800" dist="38100" dir="5400000" algn="t" rotWithShape="0">
              <a:srgbClr val="000000">
                <a:alpha val="18000"/>
              </a:srgbClr>
            </a:outerShdw>
          </a:effectLst>
        </p:spPr>
      </p:pic>
      <p:sp>
        <p:nvSpPr>
          <p:cNvPr id="34" name="Rounded Rectangle 33"/>
          <p:cNvSpPr/>
          <p:nvPr/>
        </p:nvSpPr>
        <p:spPr>
          <a:xfrm>
            <a:off x="7543799" y="5513831"/>
            <a:ext cx="4023360" cy="475488"/>
          </a:xfrm>
          <a:prstGeom prst="roundRect">
            <a:avLst>
              <a:gd name="adj" fmla="val 25000"/>
            </a:avLst>
          </a:prstGeom>
          <a:solidFill>
            <a:srgbClr val="FFFFFF">
              <a:alpha val="94000"/>
            </a:srgbClr>
          </a:solidFill>
          <a:ln>
            <a:noFill/>
          </a:ln>
        </p:spPr>
        <p:txBody>
          <a:bodyPr wrap="square" lIns="0" tIns="0" rIns="0" bIns="0" rtlCol="0" anchor="ctr"/>
          <a:lstStyle/>
          <a:p>
            <a:pPr algn="ctr"/>
            <a:r>
              <a:rPr sz="950" b="1" i="0">
                <a:solidFill>
                  <a:srgbClr val="231F20"/>
                </a:solidFill>
                <a:latin typeface="Calibri"/>
              </a:rPr>
              <a:t>Mauritius  ·  19–23 May 2025</a:t>
            </a:r>
          </a:p>
          <a:p>
            <a:pPr algn="ctr"/>
            <a:r>
              <a:rPr sz="850" b="1" i="0">
                <a:solidFill>
                  <a:srgbClr val="00A86A"/>
                </a:solidFill>
                <a:latin typeface="Calibri"/>
              </a:rPr>
              <a:t>AfDB &amp; IMF joint workshop</a:t>
            </a:r>
          </a:p>
        </p:txBody>
      </p:sp>
      <p:sp>
        <p:nvSpPr>
          <p:cNvPr id="35" name="TextBox 34"/>
          <p:cNvSpPr txBox="1"/>
          <p:nvPr/>
        </p:nvSpPr>
        <p:spPr>
          <a:xfrm>
            <a:off x="548640" y="6419088"/>
            <a:ext cx="5486400" cy="274320"/>
          </a:xfrm>
          <a:prstGeom prst="rect">
            <a:avLst/>
          </a:prstGeom>
          <a:noFill/>
        </p:spPr>
        <p:txBody>
          <a:bodyPr wrap="square" lIns="0" tIns="0" rIns="0" bIns="0" anchor="t">
            <a:spAutoFit/>
          </a:bodyPr>
          <a:lstStyle/>
          <a:p>
            <a:pPr algn="l"/>
            <a:r>
              <a:rPr sz="850" b="0" i="0">
                <a:solidFill>
                  <a:srgbClr val="8A9590"/>
                </a:solidFill>
                <a:latin typeface="Calibri"/>
              </a:rPr>
              <a:t>Data Innovation for Africa  ·  AfDB Statistics Department (ECST)</a:t>
            </a:r>
          </a:p>
        </p:txBody>
      </p:sp>
      <p:sp>
        <p:nvSpPr>
          <p:cNvPr id="36" name="TextBox 35"/>
          <p:cNvSpPr txBox="1"/>
          <p:nvPr/>
        </p:nvSpPr>
        <p:spPr>
          <a:xfrm>
            <a:off x="6153912" y="6419088"/>
            <a:ext cx="5486400" cy="274320"/>
          </a:xfrm>
          <a:prstGeom prst="rect">
            <a:avLst/>
          </a:prstGeom>
          <a:noFill/>
        </p:spPr>
        <p:txBody>
          <a:bodyPr wrap="square" lIns="0" tIns="0" rIns="0" bIns="0" anchor="t">
            <a:spAutoFit/>
          </a:bodyPr>
          <a:lstStyle/>
          <a:p>
            <a:pPr algn="r"/>
            <a:r>
              <a:rPr sz="850" b="0" i="0">
                <a:solidFill>
                  <a:srgbClr val="8A9590"/>
                </a:solidFill>
                <a:latin typeface="Calibri"/>
              </a:rPr>
              <a:t>10</a:t>
            </a:r>
          </a:p>
        </p:txBody>
      </p:sp>
      <p:sp>
        <p:nvSpPr>
          <p:cNvPr id="39" name="Rectangle 38"/>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ectangle 39"/>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06070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108356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110642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11292840" y="448056"/>
            <a:ext cx="118872" cy="118872"/>
          </a:xfrm>
          <a:prstGeom prst="ellipse">
            <a:avLst/>
          </a:prstGeom>
          <a:solidFill>
            <a:srgbClr val="D4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115214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829858333"/>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 name="Oval 65"/>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Oval 66"/>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Box 1"/>
          <p:cNvSpPr txBox="1"/>
          <p:nvPr/>
        </p:nvSpPr>
        <p:spPr>
          <a:xfrm>
            <a:off x="548640" y="365760"/>
            <a:ext cx="9875520" cy="274320"/>
          </a:xfrm>
          <a:prstGeom prst="rect">
            <a:avLst/>
          </a:prstGeom>
          <a:noFill/>
        </p:spPr>
        <p:txBody>
          <a:bodyPr wrap="square" lIns="0" tIns="0" rIns="0" bIns="0" anchor="t">
            <a:spAutoFit/>
          </a:bodyPr>
          <a:lstStyle/>
          <a:p>
            <a:pPr algn="l"/>
            <a:r>
              <a:rPr sz="1050" b="1" i="0" spc="300">
                <a:solidFill>
                  <a:srgbClr val="00704A"/>
                </a:solidFill>
                <a:latin typeface="Calibri"/>
              </a:rPr>
              <a:t>05 · STG17 WORKSHOP  ·  KIGALI 2026</a:t>
            </a:r>
          </a:p>
        </p:txBody>
      </p:sp>
      <p:sp>
        <p:nvSpPr>
          <p:cNvPr id="3" name="TextBox 2"/>
          <p:cNvSpPr txBox="1"/>
          <p:nvPr/>
        </p:nvSpPr>
        <p:spPr>
          <a:xfrm>
            <a:off x="548640" y="658368"/>
            <a:ext cx="10058400" cy="566928"/>
          </a:xfrm>
          <a:prstGeom prst="rect">
            <a:avLst/>
          </a:prstGeom>
          <a:noFill/>
        </p:spPr>
        <p:txBody>
          <a:bodyPr wrap="square" lIns="0" tIns="0" rIns="0" bIns="0" anchor="t">
            <a:spAutoFit/>
          </a:bodyPr>
          <a:lstStyle/>
          <a:p>
            <a:pPr algn="l"/>
            <a:r>
              <a:rPr sz="2800" b="1" i="0">
                <a:solidFill>
                  <a:srgbClr val="231F20"/>
                </a:solidFill>
                <a:latin typeface="Calibri"/>
              </a:rPr>
              <a:t>Emerging Issues, Emerging Practice</a:t>
            </a:r>
          </a:p>
        </p:txBody>
      </p:sp>
      <p:sp>
        <p:nvSpPr>
          <p:cNvPr id="4" name="TextBox 3"/>
          <p:cNvSpPr txBox="1"/>
          <p:nvPr/>
        </p:nvSpPr>
        <p:spPr>
          <a:xfrm>
            <a:off x="548640" y="1371600"/>
            <a:ext cx="7269480" cy="731520"/>
          </a:xfrm>
          <a:prstGeom prst="rect">
            <a:avLst/>
          </a:prstGeom>
          <a:noFill/>
        </p:spPr>
        <p:txBody>
          <a:bodyPr wrap="square" lIns="0" tIns="0" rIns="0" bIns="0" anchor="t">
            <a:spAutoFit/>
          </a:bodyPr>
          <a:lstStyle/>
          <a:p>
            <a:pPr algn="l"/>
            <a:r>
              <a:rPr sz="1300" b="0" i="0">
                <a:solidFill>
                  <a:srgbClr val="5E6964"/>
                </a:solidFill>
                <a:latin typeface="Calibri"/>
              </a:rPr>
              <a:t>A capacity-building workshop delivered by the </a:t>
            </a:r>
            <a:r>
              <a:rPr sz="1300" b="1" i="0">
                <a:solidFill>
                  <a:srgbClr val="00704A"/>
                </a:solidFill>
                <a:latin typeface="Calibri"/>
              </a:rPr>
              <a:t>African Development Bank</a:t>
            </a:r>
            <a:r>
              <a:rPr sz="1300" b="0" i="0">
                <a:solidFill>
                  <a:srgbClr val="5E6964"/>
                </a:solidFill>
                <a:latin typeface="Calibri"/>
              </a:rPr>
              <a:t> with </a:t>
            </a:r>
            <a:r>
              <a:rPr sz="1300" b="1" i="0">
                <a:solidFill>
                  <a:srgbClr val="00704A"/>
                </a:solidFill>
                <a:latin typeface="Calibri"/>
              </a:rPr>
              <a:t>AU STATAFRIC</a:t>
            </a:r>
            <a:r>
              <a:rPr sz="1300" b="0" i="0">
                <a:solidFill>
                  <a:srgbClr val="5E6964"/>
                </a:solidFill>
                <a:latin typeface="Calibri"/>
              </a:rPr>
              <a:t>, under Specialized Technical Group 17 of SHaSA II — AI, large language models and big data for official statistics.</a:t>
            </a:r>
          </a:p>
        </p:txBody>
      </p:sp>
      <p:sp>
        <p:nvSpPr>
          <p:cNvPr id="5" name="Rounded Rectangle 4"/>
          <p:cNvSpPr/>
          <p:nvPr/>
        </p:nvSpPr>
        <p:spPr>
          <a:xfrm>
            <a:off x="8092440" y="1371600"/>
            <a:ext cx="3547872" cy="329184"/>
          </a:xfrm>
          <a:prstGeom prst="roundRect">
            <a:avLst>
              <a:gd name="adj" fmla="val 50000"/>
            </a:avLst>
          </a:prstGeom>
          <a:solidFill>
            <a:srgbClr val="E8F5EF"/>
          </a:solidFill>
          <a:ln w="9525">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ic_calendar.png"/>
          <p:cNvPicPr>
            <a:picLocks noChangeAspect="1"/>
          </p:cNvPicPr>
          <p:nvPr/>
        </p:nvPicPr>
        <p:blipFill>
          <a:blip r:embed="rId3"/>
          <a:stretch>
            <a:fillRect/>
          </a:stretch>
        </p:blipFill>
        <p:spPr>
          <a:xfrm>
            <a:off x="8247888" y="1435608"/>
            <a:ext cx="201168" cy="201168"/>
          </a:xfrm>
          <a:prstGeom prst="rect">
            <a:avLst/>
          </a:prstGeom>
        </p:spPr>
      </p:pic>
      <p:sp>
        <p:nvSpPr>
          <p:cNvPr id="7" name="TextBox 6"/>
          <p:cNvSpPr txBox="1"/>
          <p:nvPr/>
        </p:nvSpPr>
        <p:spPr>
          <a:xfrm>
            <a:off x="8558784" y="1371600"/>
            <a:ext cx="3017520" cy="329184"/>
          </a:xfrm>
          <a:prstGeom prst="rect">
            <a:avLst/>
          </a:prstGeom>
          <a:noFill/>
        </p:spPr>
        <p:txBody>
          <a:bodyPr wrap="square" lIns="0" tIns="0" rIns="0" bIns="0" anchor="ctr">
            <a:spAutoFit/>
          </a:bodyPr>
          <a:lstStyle/>
          <a:p>
            <a:pPr algn="l"/>
            <a:r>
              <a:rPr sz="1200" b="1" i="0">
                <a:solidFill>
                  <a:srgbClr val="00704A"/>
                </a:solidFill>
                <a:latin typeface="Calibri"/>
              </a:rPr>
              <a:t>28 September – 2 October 2026</a:t>
            </a:r>
          </a:p>
        </p:txBody>
      </p:sp>
      <p:sp>
        <p:nvSpPr>
          <p:cNvPr id="8" name="Rounded Rectangle 7"/>
          <p:cNvSpPr/>
          <p:nvPr/>
        </p:nvSpPr>
        <p:spPr>
          <a:xfrm>
            <a:off x="8092440" y="1792224"/>
            <a:ext cx="3547872" cy="329184"/>
          </a:xfrm>
          <a:prstGeom prst="roundRect">
            <a:avLst>
              <a:gd name="adj" fmla="val 50000"/>
            </a:avLst>
          </a:prstGeom>
          <a:solidFill>
            <a:srgbClr val="E8F5EF"/>
          </a:solidFill>
          <a:ln w="9525">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ic_pin.png"/>
          <p:cNvPicPr>
            <a:picLocks noChangeAspect="1"/>
          </p:cNvPicPr>
          <p:nvPr/>
        </p:nvPicPr>
        <p:blipFill>
          <a:blip r:embed="rId4"/>
          <a:stretch>
            <a:fillRect/>
          </a:stretch>
        </p:blipFill>
        <p:spPr>
          <a:xfrm>
            <a:off x="8247888" y="1856231"/>
            <a:ext cx="201168" cy="201168"/>
          </a:xfrm>
          <a:prstGeom prst="rect">
            <a:avLst/>
          </a:prstGeom>
        </p:spPr>
      </p:pic>
      <p:sp>
        <p:nvSpPr>
          <p:cNvPr id="10" name="TextBox 9"/>
          <p:cNvSpPr txBox="1"/>
          <p:nvPr/>
        </p:nvSpPr>
        <p:spPr>
          <a:xfrm>
            <a:off x="8558784" y="1792224"/>
            <a:ext cx="3017520" cy="329184"/>
          </a:xfrm>
          <a:prstGeom prst="rect">
            <a:avLst/>
          </a:prstGeom>
          <a:noFill/>
        </p:spPr>
        <p:txBody>
          <a:bodyPr wrap="square" lIns="0" tIns="0" rIns="0" bIns="0" anchor="ctr">
            <a:spAutoFit/>
          </a:bodyPr>
          <a:lstStyle/>
          <a:p>
            <a:pPr algn="l"/>
            <a:r>
              <a:rPr sz="1200" b="1" i="0">
                <a:solidFill>
                  <a:srgbClr val="00704A"/>
                </a:solidFill>
                <a:latin typeface="Calibri"/>
              </a:rPr>
              <a:t>Kigali, Rwanda  ·  English &amp; French</a:t>
            </a:r>
          </a:p>
        </p:txBody>
      </p:sp>
      <p:sp>
        <p:nvSpPr>
          <p:cNvPr id="11" name="Rounded Rectangle 10"/>
          <p:cNvSpPr/>
          <p:nvPr/>
        </p:nvSpPr>
        <p:spPr>
          <a:xfrm>
            <a:off x="548640" y="2304288"/>
            <a:ext cx="2628900" cy="1243584"/>
          </a:xfrm>
          <a:prstGeom prst="roundRect">
            <a:avLst>
              <a:gd name="adj" fmla="val 8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749808" y="2596896"/>
            <a:ext cx="658368" cy="658368"/>
          </a:xfrm>
          <a:prstGeom prst="ellipse">
            <a:avLst/>
          </a:prstGeom>
          <a:solidFill>
            <a:srgbClr val="00A86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ic_days.png"/>
          <p:cNvPicPr>
            <a:picLocks noChangeAspect="1"/>
          </p:cNvPicPr>
          <p:nvPr/>
        </p:nvPicPr>
        <p:blipFill>
          <a:blip r:embed="rId5"/>
          <a:stretch>
            <a:fillRect/>
          </a:stretch>
        </p:blipFill>
        <p:spPr>
          <a:xfrm>
            <a:off x="897940" y="2745028"/>
            <a:ext cx="362102" cy="362102"/>
          </a:xfrm>
          <a:prstGeom prst="rect">
            <a:avLst/>
          </a:prstGeom>
        </p:spPr>
      </p:pic>
      <p:sp>
        <p:nvSpPr>
          <p:cNvPr id="14" name="TextBox 13"/>
          <p:cNvSpPr txBox="1"/>
          <p:nvPr/>
        </p:nvSpPr>
        <p:spPr>
          <a:xfrm>
            <a:off x="1554480" y="2432304"/>
            <a:ext cx="1554480" cy="566928"/>
          </a:xfrm>
          <a:prstGeom prst="rect">
            <a:avLst/>
          </a:prstGeom>
          <a:noFill/>
        </p:spPr>
        <p:txBody>
          <a:bodyPr wrap="square" lIns="0" tIns="0" rIns="0" bIns="0" anchor="ctr">
            <a:spAutoFit/>
          </a:bodyPr>
          <a:lstStyle/>
          <a:p>
            <a:pPr algn="l"/>
            <a:r>
              <a:rPr sz="3800" b="1" i="0">
                <a:solidFill>
                  <a:srgbClr val="00A86A"/>
                </a:solidFill>
                <a:latin typeface="Calibri"/>
              </a:rPr>
              <a:t>5</a:t>
            </a:r>
          </a:p>
        </p:txBody>
      </p:sp>
      <p:sp>
        <p:nvSpPr>
          <p:cNvPr id="15" name="TextBox 14"/>
          <p:cNvSpPr txBox="1"/>
          <p:nvPr/>
        </p:nvSpPr>
        <p:spPr>
          <a:xfrm>
            <a:off x="1554480" y="3017520"/>
            <a:ext cx="1572768" cy="438912"/>
          </a:xfrm>
          <a:prstGeom prst="rect">
            <a:avLst/>
          </a:prstGeom>
          <a:noFill/>
        </p:spPr>
        <p:txBody>
          <a:bodyPr wrap="square" lIns="0" tIns="0" rIns="0" bIns="0" anchor="t">
            <a:spAutoFit/>
          </a:bodyPr>
          <a:lstStyle/>
          <a:p>
            <a:pPr algn="l"/>
            <a:r>
              <a:rPr sz="1050" b="0" i="0">
                <a:solidFill>
                  <a:srgbClr val="5E6964"/>
                </a:solidFill>
                <a:latin typeface="Calibri"/>
              </a:rPr>
              <a:t>days of intensive,</a:t>
            </a:r>
          </a:p>
          <a:p>
            <a:pPr algn="l"/>
            <a:r>
              <a:rPr sz="1050" b="0" i="0">
                <a:solidFill>
                  <a:srgbClr val="5E6964"/>
                </a:solidFill>
                <a:latin typeface="Calibri"/>
              </a:rPr>
              <a:t>hands-on training</a:t>
            </a:r>
          </a:p>
        </p:txBody>
      </p:sp>
      <p:sp>
        <p:nvSpPr>
          <p:cNvPr id="16" name="Rounded Rectangle 15"/>
          <p:cNvSpPr/>
          <p:nvPr/>
        </p:nvSpPr>
        <p:spPr>
          <a:xfrm>
            <a:off x="3360420" y="2304288"/>
            <a:ext cx="2628900" cy="1243584"/>
          </a:xfrm>
          <a:prstGeom prst="roundRect">
            <a:avLst>
              <a:gd name="adj" fmla="val 8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3561588" y="2596896"/>
            <a:ext cx="658368" cy="658368"/>
          </a:xfrm>
          <a:prstGeom prst="ellipse">
            <a:avLst/>
          </a:prstGeom>
          <a:solidFill>
            <a:srgbClr val="00704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ic_clock.png"/>
          <p:cNvPicPr>
            <a:picLocks noChangeAspect="1"/>
          </p:cNvPicPr>
          <p:nvPr/>
        </p:nvPicPr>
        <p:blipFill>
          <a:blip r:embed="rId6"/>
          <a:stretch>
            <a:fillRect/>
          </a:stretch>
        </p:blipFill>
        <p:spPr>
          <a:xfrm>
            <a:off x="3709720" y="2745028"/>
            <a:ext cx="362102" cy="362102"/>
          </a:xfrm>
          <a:prstGeom prst="rect">
            <a:avLst/>
          </a:prstGeom>
        </p:spPr>
      </p:pic>
      <p:sp>
        <p:nvSpPr>
          <p:cNvPr id="19" name="TextBox 18"/>
          <p:cNvSpPr txBox="1"/>
          <p:nvPr/>
        </p:nvSpPr>
        <p:spPr>
          <a:xfrm>
            <a:off x="4366260" y="2432304"/>
            <a:ext cx="1554480" cy="566928"/>
          </a:xfrm>
          <a:prstGeom prst="rect">
            <a:avLst/>
          </a:prstGeom>
          <a:noFill/>
        </p:spPr>
        <p:txBody>
          <a:bodyPr wrap="square" lIns="0" tIns="0" rIns="0" bIns="0" anchor="ctr">
            <a:spAutoFit/>
          </a:bodyPr>
          <a:lstStyle/>
          <a:p>
            <a:pPr algn="l"/>
            <a:r>
              <a:rPr sz="3800" b="1" i="0">
                <a:solidFill>
                  <a:srgbClr val="00704A"/>
                </a:solidFill>
                <a:latin typeface="Calibri"/>
              </a:rPr>
              <a:t>27</a:t>
            </a:r>
          </a:p>
        </p:txBody>
      </p:sp>
      <p:sp>
        <p:nvSpPr>
          <p:cNvPr id="20" name="TextBox 19"/>
          <p:cNvSpPr txBox="1"/>
          <p:nvPr/>
        </p:nvSpPr>
        <p:spPr>
          <a:xfrm>
            <a:off x="4366260" y="3017520"/>
            <a:ext cx="1572768" cy="438912"/>
          </a:xfrm>
          <a:prstGeom prst="rect">
            <a:avLst/>
          </a:prstGeom>
          <a:noFill/>
        </p:spPr>
        <p:txBody>
          <a:bodyPr wrap="square" lIns="0" tIns="0" rIns="0" bIns="0" anchor="t">
            <a:spAutoFit/>
          </a:bodyPr>
          <a:lstStyle/>
          <a:p>
            <a:pPr algn="l"/>
            <a:r>
              <a:rPr sz="1050" b="0" i="0">
                <a:solidFill>
                  <a:srgbClr val="5E6964"/>
                </a:solidFill>
                <a:latin typeface="Calibri"/>
              </a:rPr>
              <a:t>contact hours with</a:t>
            </a:r>
          </a:p>
          <a:p>
            <a:pPr algn="l"/>
            <a:r>
              <a:rPr sz="1050" b="0" i="0">
                <a:solidFill>
                  <a:srgbClr val="5E6964"/>
                </a:solidFill>
                <a:latin typeface="Calibri"/>
              </a:rPr>
              <a:t>expert facilitators</a:t>
            </a:r>
          </a:p>
        </p:txBody>
      </p:sp>
      <p:sp>
        <p:nvSpPr>
          <p:cNvPr id="21" name="Rounded Rectangle 20"/>
          <p:cNvSpPr/>
          <p:nvPr/>
        </p:nvSpPr>
        <p:spPr>
          <a:xfrm>
            <a:off x="6172200" y="2304288"/>
            <a:ext cx="2628900" cy="1243584"/>
          </a:xfrm>
          <a:prstGeom prst="roundRect">
            <a:avLst>
              <a:gd name="adj" fmla="val 8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373368" y="2596896"/>
            <a:ext cx="658368" cy="658368"/>
          </a:xfrm>
          <a:prstGeom prst="ellipse">
            <a:avLst/>
          </a:prstGeom>
          <a:solidFill>
            <a:srgbClr val="0E7C86">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ic_flask.png"/>
          <p:cNvPicPr>
            <a:picLocks noChangeAspect="1"/>
          </p:cNvPicPr>
          <p:nvPr/>
        </p:nvPicPr>
        <p:blipFill>
          <a:blip r:embed="rId7"/>
          <a:stretch>
            <a:fillRect/>
          </a:stretch>
        </p:blipFill>
        <p:spPr>
          <a:xfrm>
            <a:off x="6521500" y="2745028"/>
            <a:ext cx="362102" cy="362102"/>
          </a:xfrm>
          <a:prstGeom prst="rect">
            <a:avLst/>
          </a:prstGeom>
        </p:spPr>
      </p:pic>
      <p:sp>
        <p:nvSpPr>
          <p:cNvPr id="24" name="TextBox 23"/>
          <p:cNvSpPr txBox="1"/>
          <p:nvPr/>
        </p:nvSpPr>
        <p:spPr>
          <a:xfrm>
            <a:off x="7178040" y="2432304"/>
            <a:ext cx="1554480" cy="566928"/>
          </a:xfrm>
          <a:prstGeom prst="rect">
            <a:avLst/>
          </a:prstGeom>
          <a:noFill/>
        </p:spPr>
        <p:txBody>
          <a:bodyPr wrap="square" lIns="0" tIns="0" rIns="0" bIns="0" anchor="ctr">
            <a:spAutoFit/>
          </a:bodyPr>
          <a:lstStyle/>
          <a:p>
            <a:pPr algn="l"/>
            <a:r>
              <a:rPr sz="3800" b="1" i="0">
                <a:solidFill>
                  <a:srgbClr val="0E7C86"/>
                </a:solidFill>
                <a:latin typeface="Calibri"/>
              </a:rPr>
              <a:t>12</a:t>
            </a:r>
          </a:p>
        </p:txBody>
      </p:sp>
      <p:sp>
        <p:nvSpPr>
          <p:cNvPr id="25" name="TextBox 24"/>
          <p:cNvSpPr txBox="1"/>
          <p:nvPr/>
        </p:nvSpPr>
        <p:spPr>
          <a:xfrm>
            <a:off x="7178040" y="3017520"/>
            <a:ext cx="1572768" cy="438912"/>
          </a:xfrm>
          <a:prstGeom prst="rect">
            <a:avLst/>
          </a:prstGeom>
          <a:noFill/>
        </p:spPr>
        <p:txBody>
          <a:bodyPr wrap="square" lIns="0" tIns="0" rIns="0" bIns="0" anchor="t">
            <a:spAutoFit/>
          </a:bodyPr>
          <a:lstStyle/>
          <a:p>
            <a:pPr algn="l"/>
            <a:r>
              <a:rPr sz="1050" b="0" i="0">
                <a:solidFill>
                  <a:srgbClr val="5E6964"/>
                </a:solidFill>
                <a:latin typeface="Calibri"/>
              </a:rPr>
              <a:t>hands-on laboratories,</a:t>
            </a:r>
          </a:p>
          <a:p>
            <a:pPr algn="l"/>
            <a:r>
              <a:rPr sz="1050" b="0" i="0">
                <a:solidFill>
                  <a:srgbClr val="5E6964"/>
                </a:solidFill>
                <a:latin typeface="Calibri"/>
              </a:rPr>
              <a:t>each with a fallback</a:t>
            </a:r>
          </a:p>
        </p:txBody>
      </p:sp>
      <p:sp>
        <p:nvSpPr>
          <p:cNvPr id="26" name="Rounded Rectangle 25"/>
          <p:cNvSpPr/>
          <p:nvPr/>
        </p:nvSpPr>
        <p:spPr>
          <a:xfrm>
            <a:off x="8983980" y="2304288"/>
            <a:ext cx="2628900" cy="1243584"/>
          </a:xfrm>
          <a:prstGeom prst="roundRect">
            <a:avLst>
              <a:gd name="adj" fmla="val 8000"/>
            </a:avLst>
          </a:prstGeom>
          <a:solidFill>
            <a:srgbClr val="F4F7F5"/>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185148" y="2596896"/>
            <a:ext cx="658368" cy="658368"/>
          </a:xfrm>
          <a:prstGeom prst="ellipse">
            <a:avLst/>
          </a:prstGeom>
          <a:solidFill>
            <a:srgbClr val="D49A00">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ic_lang.png"/>
          <p:cNvPicPr>
            <a:picLocks noChangeAspect="1"/>
          </p:cNvPicPr>
          <p:nvPr/>
        </p:nvPicPr>
        <p:blipFill>
          <a:blip r:embed="rId8"/>
          <a:stretch>
            <a:fillRect/>
          </a:stretch>
        </p:blipFill>
        <p:spPr>
          <a:xfrm>
            <a:off x="9333280" y="2745028"/>
            <a:ext cx="362102" cy="362102"/>
          </a:xfrm>
          <a:prstGeom prst="rect">
            <a:avLst/>
          </a:prstGeom>
        </p:spPr>
      </p:pic>
      <p:sp>
        <p:nvSpPr>
          <p:cNvPr id="29" name="TextBox 28"/>
          <p:cNvSpPr txBox="1"/>
          <p:nvPr/>
        </p:nvSpPr>
        <p:spPr>
          <a:xfrm>
            <a:off x="9989820" y="2432304"/>
            <a:ext cx="1554480" cy="566928"/>
          </a:xfrm>
          <a:prstGeom prst="rect">
            <a:avLst/>
          </a:prstGeom>
          <a:noFill/>
        </p:spPr>
        <p:txBody>
          <a:bodyPr wrap="square" lIns="0" tIns="0" rIns="0" bIns="0" anchor="ctr">
            <a:spAutoFit/>
          </a:bodyPr>
          <a:lstStyle/>
          <a:p>
            <a:pPr algn="l"/>
            <a:r>
              <a:rPr sz="3800" b="1" i="0">
                <a:solidFill>
                  <a:srgbClr val="D49A00"/>
                </a:solidFill>
                <a:latin typeface="Calibri"/>
              </a:rPr>
              <a:t>2</a:t>
            </a:r>
          </a:p>
        </p:txBody>
      </p:sp>
      <p:sp>
        <p:nvSpPr>
          <p:cNvPr id="30" name="TextBox 29"/>
          <p:cNvSpPr txBox="1"/>
          <p:nvPr/>
        </p:nvSpPr>
        <p:spPr>
          <a:xfrm>
            <a:off x="9989820" y="3017520"/>
            <a:ext cx="1572768" cy="438912"/>
          </a:xfrm>
          <a:prstGeom prst="rect">
            <a:avLst/>
          </a:prstGeom>
          <a:noFill/>
        </p:spPr>
        <p:txBody>
          <a:bodyPr wrap="square" lIns="0" tIns="0" rIns="0" bIns="0" anchor="t">
            <a:spAutoFit/>
          </a:bodyPr>
          <a:lstStyle/>
          <a:p>
            <a:pPr algn="l"/>
            <a:r>
              <a:rPr sz="1050" b="0" i="0">
                <a:solidFill>
                  <a:srgbClr val="5E6964"/>
                </a:solidFill>
                <a:latin typeface="Calibri"/>
              </a:rPr>
              <a:t>languages — every</a:t>
            </a:r>
          </a:p>
          <a:p>
            <a:pPr algn="l"/>
            <a:r>
              <a:rPr sz="1050" b="0" i="0">
                <a:solidFill>
                  <a:srgbClr val="5E6964"/>
                </a:solidFill>
                <a:latin typeface="Calibri"/>
              </a:rPr>
              <a:t>notebook in EN &amp; FR</a:t>
            </a:r>
          </a:p>
        </p:txBody>
      </p:sp>
      <p:sp>
        <p:nvSpPr>
          <p:cNvPr id="31" name="TextBox 30"/>
          <p:cNvSpPr txBox="1"/>
          <p:nvPr/>
        </p:nvSpPr>
        <p:spPr>
          <a:xfrm>
            <a:off x="548640" y="3822191"/>
            <a:ext cx="7315200" cy="274320"/>
          </a:xfrm>
          <a:prstGeom prst="rect">
            <a:avLst/>
          </a:prstGeom>
          <a:noFill/>
        </p:spPr>
        <p:txBody>
          <a:bodyPr wrap="square" lIns="0" tIns="0" rIns="0" bIns="0" anchor="t">
            <a:spAutoFit/>
          </a:bodyPr>
          <a:lstStyle/>
          <a:p>
            <a:pPr algn="l"/>
            <a:r>
              <a:rPr sz="1050" b="1" i="0" spc="300">
                <a:solidFill>
                  <a:srgbClr val="00704A"/>
                </a:solidFill>
                <a:latin typeface="Calibri"/>
              </a:rPr>
              <a:t>THE WEEK  ·  ONE PIPELINE, FIVE DAYS</a:t>
            </a:r>
          </a:p>
        </p:txBody>
      </p:sp>
      <p:sp>
        <p:nvSpPr>
          <p:cNvPr id="32" name="Rectangle 31"/>
          <p:cNvSpPr/>
          <p:nvPr/>
        </p:nvSpPr>
        <p:spPr>
          <a:xfrm>
            <a:off x="1657807" y="4507992"/>
            <a:ext cx="8873337" cy="27432"/>
          </a:xfrm>
          <a:prstGeom prst="rect">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1346911" y="4210812"/>
            <a:ext cx="621792" cy="6217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1346911" y="4210812"/>
            <a:ext cx="621792" cy="621792"/>
          </a:xfrm>
          <a:prstGeom prst="ellipse">
            <a:avLst/>
          </a:prstGeom>
          <a:solidFill>
            <a:srgbClr val="00A86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ic_brain.png"/>
          <p:cNvPicPr>
            <a:picLocks noChangeAspect="1"/>
          </p:cNvPicPr>
          <p:nvPr/>
        </p:nvPicPr>
        <p:blipFill>
          <a:blip r:embed="rId9"/>
          <a:stretch>
            <a:fillRect/>
          </a:stretch>
        </p:blipFill>
        <p:spPr>
          <a:xfrm>
            <a:off x="1486814" y="4350715"/>
            <a:ext cx="341985" cy="341985"/>
          </a:xfrm>
          <a:prstGeom prst="rect">
            <a:avLst/>
          </a:prstGeom>
        </p:spPr>
      </p:pic>
      <p:sp>
        <p:nvSpPr>
          <p:cNvPr id="36" name="TextBox 35"/>
          <p:cNvSpPr txBox="1"/>
          <p:nvPr/>
        </p:nvSpPr>
        <p:spPr>
          <a:xfrm>
            <a:off x="606247" y="4919472"/>
            <a:ext cx="2103120" cy="219456"/>
          </a:xfrm>
          <a:prstGeom prst="rect">
            <a:avLst/>
          </a:prstGeom>
          <a:noFill/>
        </p:spPr>
        <p:txBody>
          <a:bodyPr wrap="square" lIns="0" tIns="0" rIns="0" bIns="0" anchor="t">
            <a:spAutoFit/>
          </a:bodyPr>
          <a:lstStyle/>
          <a:p>
            <a:pPr algn="ctr"/>
            <a:r>
              <a:rPr sz="1050" b="1" i="0" spc="200">
                <a:solidFill>
                  <a:srgbClr val="00A86A"/>
                </a:solidFill>
                <a:latin typeface="Calibri"/>
              </a:rPr>
              <a:t>DAY 1</a:t>
            </a:r>
          </a:p>
        </p:txBody>
      </p:sp>
      <p:sp>
        <p:nvSpPr>
          <p:cNvPr id="37" name="TextBox 36"/>
          <p:cNvSpPr txBox="1"/>
          <p:nvPr/>
        </p:nvSpPr>
        <p:spPr>
          <a:xfrm>
            <a:off x="606247" y="5138928"/>
            <a:ext cx="2103120" cy="274320"/>
          </a:xfrm>
          <a:prstGeom prst="rect">
            <a:avLst/>
          </a:prstGeom>
          <a:noFill/>
        </p:spPr>
        <p:txBody>
          <a:bodyPr wrap="square" lIns="0" tIns="0" rIns="0" bIns="0" anchor="t">
            <a:spAutoFit/>
          </a:bodyPr>
          <a:lstStyle/>
          <a:p>
            <a:pPr algn="ctr"/>
            <a:r>
              <a:rPr sz="1350" b="1" i="0">
                <a:solidFill>
                  <a:srgbClr val="231F20"/>
                </a:solidFill>
                <a:latin typeface="Calibri"/>
              </a:rPr>
              <a:t>AI Concepts</a:t>
            </a:r>
          </a:p>
        </p:txBody>
      </p:sp>
      <p:sp>
        <p:nvSpPr>
          <p:cNvPr id="38" name="TextBox 37"/>
          <p:cNvSpPr txBox="1"/>
          <p:nvPr/>
        </p:nvSpPr>
        <p:spPr>
          <a:xfrm>
            <a:off x="651967" y="5440680"/>
            <a:ext cx="2011680" cy="502920"/>
          </a:xfrm>
          <a:prstGeom prst="rect">
            <a:avLst/>
          </a:prstGeom>
          <a:noFill/>
        </p:spPr>
        <p:txBody>
          <a:bodyPr wrap="square" lIns="0" tIns="0" rIns="0" bIns="0" anchor="t">
            <a:spAutoFit/>
          </a:bodyPr>
          <a:lstStyle/>
          <a:p>
            <a:pPr algn="ctr"/>
            <a:r>
              <a:rPr sz="1050" b="0" i="0">
                <a:solidFill>
                  <a:srgbClr val="5E6964"/>
                </a:solidFill>
                <a:latin typeface="Calibri"/>
              </a:rPr>
              <a:t>AI, LLMs, RAG, agents &amp; MCP; NSO infrastructure and sovereignty</a:t>
            </a:r>
          </a:p>
        </p:txBody>
      </p:sp>
      <p:sp>
        <p:nvSpPr>
          <p:cNvPr id="39" name="Oval 38"/>
          <p:cNvSpPr/>
          <p:nvPr/>
        </p:nvSpPr>
        <p:spPr>
          <a:xfrm>
            <a:off x="3565245" y="4210812"/>
            <a:ext cx="621792" cy="6217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3565245" y="4210812"/>
            <a:ext cx="621792" cy="621792"/>
          </a:xfrm>
          <a:prstGeom prst="ellipse">
            <a:avLst/>
          </a:prstGeom>
          <a:solidFill>
            <a:srgbClr val="00704A">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1" name="Picture 40" descr="ic_keyboard.png"/>
          <p:cNvPicPr>
            <a:picLocks noChangeAspect="1"/>
          </p:cNvPicPr>
          <p:nvPr/>
        </p:nvPicPr>
        <p:blipFill>
          <a:blip r:embed="rId10"/>
          <a:stretch>
            <a:fillRect/>
          </a:stretch>
        </p:blipFill>
        <p:spPr>
          <a:xfrm>
            <a:off x="3705148" y="4350715"/>
            <a:ext cx="341985" cy="341985"/>
          </a:xfrm>
          <a:prstGeom prst="rect">
            <a:avLst/>
          </a:prstGeom>
        </p:spPr>
      </p:pic>
      <p:sp>
        <p:nvSpPr>
          <p:cNvPr id="42" name="TextBox 41"/>
          <p:cNvSpPr txBox="1"/>
          <p:nvPr/>
        </p:nvSpPr>
        <p:spPr>
          <a:xfrm>
            <a:off x="2824581" y="4919472"/>
            <a:ext cx="2103120" cy="219456"/>
          </a:xfrm>
          <a:prstGeom prst="rect">
            <a:avLst/>
          </a:prstGeom>
          <a:noFill/>
        </p:spPr>
        <p:txBody>
          <a:bodyPr wrap="square" lIns="0" tIns="0" rIns="0" bIns="0" anchor="t">
            <a:spAutoFit/>
          </a:bodyPr>
          <a:lstStyle/>
          <a:p>
            <a:pPr algn="ctr"/>
            <a:r>
              <a:rPr sz="1050" b="1" i="0" spc="200">
                <a:solidFill>
                  <a:srgbClr val="00704A"/>
                </a:solidFill>
                <a:latin typeface="Calibri"/>
              </a:rPr>
              <a:t>DAY 2</a:t>
            </a:r>
          </a:p>
        </p:txBody>
      </p:sp>
      <p:sp>
        <p:nvSpPr>
          <p:cNvPr id="43" name="TextBox 42"/>
          <p:cNvSpPr txBox="1"/>
          <p:nvPr/>
        </p:nvSpPr>
        <p:spPr>
          <a:xfrm>
            <a:off x="2824581" y="5138928"/>
            <a:ext cx="2103120" cy="274320"/>
          </a:xfrm>
          <a:prstGeom prst="rect">
            <a:avLst/>
          </a:prstGeom>
          <a:noFill/>
        </p:spPr>
        <p:txBody>
          <a:bodyPr wrap="square" lIns="0" tIns="0" rIns="0" bIns="0" anchor="t">
            <a:spAutoFit/>
          </a:bodyPr>
          <a:lstStyle/>
          <a:p>
            <a:pPr algn="ctr"/>
            <a:r>
              <a:rPr sz="1350" b="1" i="0">
                <a:solidFill>
                  <a:srgbClr val="231F20"/>
                </a:solidFill>
                <a:latin typeface="Calibri"/>
              </a:rPr>
              <a:t>Prompt Engineering</a:t>
            </a:r>
          </a:p>
        </p:txBody>
      </p:sp>
      <p:sp>
        <p:nvSpPr>
          <p:cNvPr id="44" name="TextBox 43"/>
          <p:cNvSpPr txBox="1"/>
          <p:nvPr/>
        </p:nvSpPr>
        <p:spPr>
          <a:xfrm>
            <a:off x="2870301" y="5440680"/>
            <a:ext cx="2011680" cy="502920"/>
          </a:xfrm>
          <a:prstGeom prst="rect">
            <a:avLst/>
          </a:prstGeom>
          <a:noFill/>
        </p:spPr>
        <p:txBody>
          <a:bodyPr wrap="square" lIns="0" tIns="0" rIns="0" bIns="0" anchor="t">
            <a:spAutoFit/>
          </a:bodyPr>
          <a:lstStyle/>
          <a:p>
            <a:pPr algn="ctr"/>
            <a:r>
              <a:rPr sz="1050" b="0" i="0">
                <a:solidFill>
                  <a:srgbClr val="5E6964"/>
                </a:solidFill>
                <a:latin typeface="Calibri"/>
              </a:rPr>
              <a:t>Designing prompts; choosing models and inference providers</a:t>
            </a:r>
          </a:p>
        </p:txBody>
      </p:sp>
      <p:sp>
        <p:nvSpPr>
          <p:cNvPr id="45" name="Oval 44"/>
          <p:cNvSpPr/>
          <p:nvPr/>
        </p:nvSpPr>
        <p:spPr>
          <a:xfrm>
            <a:off x="5783580" y="4210812"/>
            <a:ext cx="621792" cy="6217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5783580" y="4210812"/>
            <a:ext cx="621792" cy="621792"/>
          </a:xfrm>
          <a:prstGeom prst="ellipse">
            <a:avLst/>
          </a:prstGeom>
          <a:solidFill>
            <a:srgbClr val="0E7C86">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7" name="Picture 46" descr="ic_satellite.png"/>
          <p:cNvPicPr>
            <a:picLocks noChangeAspect="1"/>
          </p:cNvPicPr>
          <p:nvPr/>
        </p:nvPicPr>
        <p:blipFill>
          <a:blip r:embed="rId11"/>
          <a:stretch>
            <a:fillRect/>
          </a:stretch>
        </p:blipFill>
        <p:spPr>
          <a:xfrm>
            <a:off x="5923483" y="4350715"/>
            <a:ext cx="341985" cy="341985"/>
          </a:xfrm>
          <a:prstGeom prst="rect">
            <a:avLst/>
          </a:prstGeom>
        </p:spPr>
      </p:pic>
      <p:sp>
        <p:nvSpPr>
          <p:cNvPr id="48" name="TextBox 47"/>
          <p:cNvSpPr txBox="1"/>
          <p:nvPr/>
        </p:nvSpPr>
        <p:spPr>
          <a:xfrm>
            <a:off x="5042916" y="4919472"/>
            <a:ext cx="2103120" cy="219456"/>
          </a:xfrm>
          <a:prstGeom prst="rect">
            <a:avLst/>
          </a:prstGeom>
          <a:noFill/>
        </p:spPr>
        <p:txBody>
          <a:bodyPr wrap="square" lIns="0" tIns="0" rIns="0" bIns="0" anchor="t">
            <a:spAutoFit/>
          </a:bodyPr>
          <a:lstStyle/>
          <a:p>
            <a:pPr algn="ctr"/>
            <a:r>
              <a:rPr sz="1050" b="1" i="0" spc="200">
                <a:solidFill>
                  <a:srgbClr val="0E7C86"/>
                </a:solidFill>
                <a:latin typeface="Calibri"/>
              </a:rPr>
              <a:t>DAY 3</a:t>
            </a:r>
          </a:p>
        </p:txBody>
      </p:sp>
      <p:sp>
        <p:nvSpPr>
          <p:cNvPr id="49" name="TextBox 48"/>
          <p:cNvSpPr txBox="1"/>
          <p:nvPr/>
        </p:nvSpPr>
        <p:spPr>
          <a:xfrm>
            <a:off x="5042916" y="5138928"/>
            <a:ext cx="2103120" cy="274320"/>
          </a:xfrm>
          <a:prstGeom prst="rect">
            <a:avLst/>
          </a:prstGeom>
          <a:noFill/>
        </p:spPr>
        <p:txBody>
          <a:bodyPr wrap="square" lIns="0" tIns="0" rIns="0" bIns="0" anchor="t">
            <a:spAutoFit/>
          </a:bodyPr>
          <a:lstStyle/>
          <a:p>
            <a:pPr algn="ctr"/>
            <a:r>
              <a:rPr sz="1350" b="1" i="0">
                <a:solidFill>
                  <a:srgbClr val="231F20"/>
                </a:solidFill>
                <a:latin typeface="Calibri"/>
              </a:rPr>
              <a:t>Non-Traditional Data</a:t>
            </a:r>
          </a:p>
        </p:txBody>
      </p:sp>
      <p:sp>
        <p:nvSpPr>
          <p:cNvPr id="50" name="TextBox 49"/>
          <p:cNvSpPr txBox="1"/>
          <p:nvPr/>
        </p:nvSpPr>
        <p:spPr>
          <a:xfrm>
            <a:off x="5088636" y="5440680"/>
            <a:ext cx="2011680" cy="502920"/>
          </a:xfrm>
          <a:prstGeom prst="rect">
            <a:avLst/>
          </a:prstGeom>
          <a:noFill/>
        </p:spPr>
        <p:txBody>
          <a:bodyPr wrap="square" lIns="0" tIns="0" rIns="0" bIns="0" anchor="t">
            <a:spAutoFit/>
          </a:bodyPr>
          <a:lstStyle/>
          <a:p>
            <a:pPr algn="ctr"/>
            <a:r>
              <a:rPr sz="1050" b="0" i="0">
                <a:solidFill>
                  <a:srgbClr val="5E6964"/>
                </a:solidFill>
                <a:latin typeface="Calibri"/>
              </a:rPr>
              <a:t>Ookla Speedtest &amp; WorldPop; bias, access and big-data tools</a:t>
            </a:r>
          </a:p>
        </p:txBody>
      </p:sp>
      <p:sp>
        <p:nvSpPr>
          <p:cNvPr id="51" name="Oval 50"/>
          <p:cNvSpPr/>
          <p:nvPr/>
        </p:nvSpPr>
        <p:spPr>
          <a:xfrm>
            <a:off x="8001914" y="4210812"/>
            <a:ext cx="621792" cy="6217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Oval 51"/>
          <p:cNvSpPr/>
          <p:nvPr/>
        </p:nvSpPr>
        <p:spPr>
          <a:xfrm>
            <a:off x="8001914" y="4210812"/>
            <a:ext cx="621792" cy="621792"/>
          </a:xfrm>
          <a:prstGeom prst="ellipse">
            <a:avLst/>
          </a:prstGeom>
          <a:solidFill>
            <a:srgbClr val="D49A00">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3" name="Picture 52" descr="ic_moon.png"/>
          <p:cNvPicPr>
            <a:picLocks noChangeAspect="1"/>
          </p:cNvPicPr>
          <p:nvPr/>
        </p:nvPicPr>
        <p:blipFill>
          <a:blip r:embed="rId12"/>
          <a:stretch>
            <a:fillRect/>
          </a:stretch>
        </p:blipFill>
        <p:spPr>
          <a:xfrm>
            <a:off x="8141817" y="4350715"/>
            <a:ext cx="341985" cy="341985"/>
          </a:xfrm>
          <a:prstGeom prst="rect">
            <a:avLst/>
          </a:prstGeom>
        </p:spPr>
      </p:pic>
      <p:sp>
        <p:nvSpPr>
          <p:cNvPr id="54" name="TextBox 53"/>
          <p:cNvSpPr txBox="1"/>
          <p:nvPr/>
        </p:nvSpPr>
        <p:spPr>
          <a:xfrm>
            <a:off x="7261250" y="4919472"/>
            <a:ext cx="2103120" cy="219456"/>
          </a:xfrm>
          <a:prstGeom prst="rect">
            <a:avLst/>
          </a:prstGeom>
          <a:noFill/>
        </p:spPr>
        <p:txBody>
          <a:bodyPr wrap="square" lIns="0" tIns="0" rIns="0" bIns="0" anchor="t">
            <a:spAutoFit/>
          </a:bodyPr>
          <a:lstStyle/>
          <a:p>
            <a:pPr algn="ctr"/>
            <a:r>
              <a:rPr sz="1050" b="1" i="0" spc="200">
                <a:solidFill>
                  <a:srgbClr val="D49A00"/>
                </a:solidFill>
                <a:latin typeface="Calibri"/>
              </a:rPr>
              <a:t>DAY 4</a:t>
            </a:r>
          </a:p>
        </p:txBody>
      </p:sp>
      <p:sp>
        <p:nvSpPr>
          <p:cNvPr id="55" name="TextBox 54"/>
          <p:cNvSpPr txBox="1"/>
          <p:nvPr/>
        </p:nvSpPr>
        <p:spPr>
          <a:xfrm>
            <a:off x="7261250" y="5138928"/>
            <a:ext cx="2103120" cy="274320"/>
          </a:xfrm>
          <a:prstGeom prst="rect">
            <a:avLst/>
          </a:prstGeom>
          <a:noFill/>
        </p:spPr>
        <p:txBody>
          <a:bodyPr wrap="square" lIns="0" tIns="0" rIns="0" bIns="0" anchor="t">
            <a:spAutoFit/>
          </a:bodyPr>
          <a:lstStyle/>
          <a:p>
            <a:pPr algn="ctr"/>
            <a:r>
              <a:rPr sz="1350" b="1" i="0">
                <a:solidFill>
                  <a:srgbClr val="231F20"/>
                </a:solidFill>
                <a:latin typeface="Calibri"/>
              </a:rPr>
              <a:t>Night-Time Lights</a:t>
            </a:r>
          </a:p>
        </p:txBody>
      </p:sp>
      <p:sp>
        <p:nvSpPr>
          <p:cNvPr id="56" name="TextBox 55"/>
          <p:cNvSpPr txBox="1"/>
          <p:nvPr/>
        </p:nvSpPr>
        <p:spPr>
          <a:xfrm>
            <a:off x="7306970" y="5440680"/>
            <a:ext cx="2011680" cy="502920"/>
          </a:xfrm>
          <a:prstGeom prst="rect">
            <a:avLst/>
          </a:prstGeom>
          <a:noFill/>
        </p:spPr>
        <p:txBody>
          <a:bodyPr wrap="square" lIns="0" tIns="0" rIns="0" bIns="0" anchor="t">
            <a:spAutoFit/>
          </a:bodyPr>
          <a:lstStyle/>
          <a:p>
            <a:pPr algn="ctr"/>
            <a:r>
              <a:rPr sz="1050" b="0" i="0">
                <a:solidFill>
                  <a:srgbClr val="5E6964"/>
                </a:solidFill>
                <a:latin typeface="Calibri"/>
              </a:rPr>
              <a:t>A proxy indicator validated against official subnational figures</a:t>
            </a:r>
          </a:p>
        </p:txBody>
      </p:sp>
      <p:sp>
        <p:nvSpPr>
          <p:cNvPr id="57" name="Oval 56"/>
          <p:cNvSpPr/>
          <p:nvPr/>
        </p:nvSpPr>
        <p:spPr>
          <a:xfrm>
            <a:off x="10220248" y="4210812"/>
            <a:ext cx="621792" cy="6217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Oval 57"/>
          <p:cNvSpPr/>
          <p:nvPr/>
        </p:nvSpPr>
        <p:spPr>
          <a:xfrm>
            <a:off x="10220248" y="4210812"/>
            <a:ext cx="621792" cy="621792"/>
          </a:xfrm>
          <a:prstGeom prst="ellipse">
            <a:avLst/>
          </a:prstGeom>
          <a:solidFill>
            <a:srgbClr val="C4621D">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9" name="Picture 58" descr="ic_github.png"/>
          <p:cNvPicPr>
            <a:picLocks noChangeAspect="1"/>
          </p:cNvPicPr>
          <p:nvPr/>
        </p:nvPicPr>
        <p:blipFill>
          <a:blip r:embed="rId13"/>
          <a:stretch>
            <a:fillRect/>
          </a:stretch>
        </p:blipFill>
        <p:spPr>
          <a:xfrm>
            <a:off x="10360152" y="4350715"/>
            <a:ext cx="341985" cy="341985"/>
          </a:xfrm>
          <a:prstGeom prst="rect">
            <a:avLst/>
          </a:prstGeom>
        </p:spPr>
      </p:pic>
      <p:sp>
        <p:nvSpPr>
          <p:cNvPr id="60" name="TextBox 59"/>
          <p:cNvSpPr txBox="1"/>
          <p:nvPr/>
        </p:nvSpPr>
        <p:spPr>
          <a:xfrm>
            <a:off x="9479584" y="4919472"/>
            <a:ext cx="2103120" cy="219456"/>
          </a:xfrm>
          <a:prstGeom prst="rect">
            <a:avLst/>
          </a:prstGeom>
          <a:noFill/>
        </p:spPr>
        <p:txBody>
          <a:bodyPr wrap="square" lIns="0" tIns="0" rIns="0" bIns="0" anchor="t">
            <a:spAutoFit/>
          </a:bodyPr>
          <a:lstStyle/>
          <a:p>
            <a:pPr algn="ctr"/>
            <a:r>
              <a:rPr sz="1050" b="1" i="0" spc="200">
                <a:solidFill>
                  <a:srgbClr val="C4621D"/>
                </a:solidFill>
                <a:latin typeface="Calibri"/>
              </a:rPr>
              <a:t>DAY 5</a:t>
            </a:r>
          </a:p>
        </p:txBody>
      </p:sp>
      <p:sp>
        <p:nvSpPr>
          <p:cNvPr id="61" name="TextBox 60"/>
          <p:cNvSpPr txBox="1"/>
          <p:nvPr/>
        </p:nvSpPr>
        <p:spPr>
          <a:xfrm>
            <a:off x="9479584" y="5138928"/>
            <a:ext cx="2103120" cy="274320"/>
          </a:xfrm>
          <a:prstGeom prst="rect">
            <a:avLst/>
          </a:prstGeom>
          <a:noFill/>
        </p:spPr>
        <p:txBody>
          <a:bodyPr wrap="square" lIns="0" tIns="0" rIns="0" bIns="0" anchor="t">
            <a:spAutoFit/>
          </a:bodyPr>
          <a:lstStyle/>
          <a:p>
            <a:pPr algn="ctr"/>
            <a:r>
              <a:rPr sz="1350" b="1" i="0">
                <a:solidFill>
                  <a:srgbClr val="231F20"/>
                </a:solidFill>
                <a:latin typeface="Calibri"/>
              </a:rPr>
              <a:t>Publishing &amp; Results</a:t>
            </a:r>
          </a:p>
        </p:txBody>
      </p:sp>
      <p:sp>
        <p:nvSpPr>
          <p:cNvPr id="62" name="TextBox 61"/>
          <p:cNvSpPr txBox="1"/>
          <p:nvPr/>
        </p:nvSpPr>
        <p:spPr>
          <a:xfrm>
            <a:off x="9525304" y="5440680"/>
            <a:ext cx="2011680" cy="502920"/>
          </a:xfrm>
          <a:prstGeom prst="rect">
            <a:avLst/>
          </a:prstGeom>
          <a:noFill/>
        </p:spPr>
        <p:txBody>
          <a:bodyPr wrap="square" lIns="0" tIns="0" rIns="0" bIns="0" anchor="t">
            <a:spAutoFit/>
          </a:bodyPr>
          <a:lstStyle/>
          <a:p>
            <a:pPr algn="ctr"/>
            <a:r>
              <a:rPr sz="1050" b="0" i="0">
                <a:solidFill>
                  <a:srgbClr val="5E6964"/>
                </a:solidFill>
                <a:latin typeface="Calibri"/>
              </a:rPr>
              <a:t>Reproducible products on GitHub; country presentations</a:t>
            </a:r>
          </a:p>
        </p:txBody>
      </p:sp>
      <p:sp>
        <p:nvSpPr>
          <p:cNvPr id="63" name="TextBox 62"/>
          <p:cNvSpPr txBox="1"/>
          <p:nvPr/>
        </p:nvSpPr>
        <p:spPr>
          <a:xfrm>
            <a:off x="548640" y="6108192"/>
            <a:ext cx="10515600" cy="228600"/>
          </a:xfrm>
          <a:prstGeom prst="rect">
            <a:avLst/>
          </a:prstGeom>
          <a:noFill/>
        </p:spPr>
        <p:txBody>
          <a:bodyPr wrap="square" lIns="0" tIns="0" rIns="0" bIns="0" anchor="t">
            <a:spAutoFit/>
          </a:bodyPr>
          <a:lstStyle/>
          <a:p>
            <a:pPr algn="l"/>
            <a:r>
              <a:rPr sz="900" b="0" i="1">
                <a:solidFill>
                  <a:srgbClr val="5E6964"/>
                </a:solidFill>
                <a:latin typeface="Calibri"/>
              </a:rPr>
              <a:t>Source: STG17 workshop website — datainnov4africa-web.github.io/stg17-workshop (accessed September 2026).</a:t>
            </a:r>
          </a:p>
        </p:txBody>
      </p:sp>
      <p:sp>
        <p:nvSpPr>
          <p:cNvPr id="64" name="TextBox 63"/>
          <p:cNvSpPr txBox="1"/>
          <p:nvPr/>
        </p:nvSpPr>
        <p:spPr>
          <a:xfrm>
            <a:off x="548640" y="6419088"/>
            <a:ext cx="6400800" cy="274320"/>
          </a:xfrm>
          <a:prstGeom prst="rect">
            <a:avLst/>
          </a:prstGeom>
          <a:noFill/>
        </p:spPr>
        <p:txBody>
          <a:bodyPr wrap="square" lIns="0" tIns="0" rIns="0" bIns="0" anchor="t">
            <a:spAutoFit/>
          </a:bodyPr>
          <a:lstStyle/>
          <a:p>
            <a:pPr algn="l"/>
            <a:r>
              <a:rPr sz="850" b="0" i="0">
                <a:solidFill>
                  <a:srgbClr val="8A9590"/>
                </a:solidFill>
                <a:latin typeface="Calibri"/>
              </a:rPr>
              <a:t>Data Innovation for Africa  ·  AfDB Statistics Department (ECST)</a:t>
            </a:r>
          </a:p>
        </p:txBody>
      </p:sp>
      <p:sp>
        <p:nvSpPr>
          <p:cNvPr id="65" name="TextBox 64"/>
          <p:cNvSpPr txBox="1"/>
          <p:nvPr/>
        </p:nvSpPr>
        <p:spPr>
          <a:xfrm>
            <a:off x="9811512" y="6419088"/>
            <a:ext cx="1828800" cy="274320"/>
          </a:xfrm>
          <a:prstGeom prst="rect">
            <a:avLst/>
          </a:prstGeom>
          <a:noFill/>
        </p:spPr>
        <p:txBody>
          <a:bodyPr wrap="square" lIns="0" tIns="0" rIns="0" bIns="0" anchor="t">
            <a:spAutoFit/>
          </a:bodyPr>
          <a:lstStyle/>
          <a:p>
            <a:pPr algn="r"/>
            <a:r>
              <a:rPr sz="850" b="0" i="0">
                <a:solidFill>
                  <a:srgbClr val="8A9590"/>
                </a:solidFill>
                <a:latin typeface="Calibri"/>
              </a:rPr>
              <a:t>11</a:t>
            </a:r>
          </a:p>
        </p:txBody>
      </p:sp>
      <p:sp>
        <p:nvSpPr>
          <p:cNvPr id="68" name="Rectangle 67"/>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Rectangle 68"/>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p:cNvSpPr/>
          <p:nvPr/>
        </p:nvSpPr>
        <p:spPr>
          <a:xfrm>
            <a:off x="106070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p:cNvSpPr/>
          <p:nvPr/>
        </p:nvSpPr>
        <p:spPr>
          <a:xfrm>
            <a:off x="108356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p:cNvSpPr/>
          <p:nvPr/>
        </p:nvSpPr>
        <p:spPr>
          <a:xfrm>
            <a:off x="110642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p:cNvSpPr/>
          <p:nvPr/>
        </p:nvSpPr>
        <p:spPr>
          <a:xfrm>
            <a:off x="112928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p:cNvSpPr/>
          <p:nvPr/>
        </p:nvSpPr>
        <p:spPr>
          <a:xfrm>
            <a:off x="11521440" y="448056"/>
            <a:ext cx="118872" cy="118872"/>
          </a:xfrm>
          <a:prstGeom prst="ellipse">
            <a:avLst/>
          </a:prstGeom>
          <a:solidFill>
            <a:srgbClr val="C46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 name="Oval 40"/>
          <p:cNvSpPr/>
          <p:nvPr/>
        </p:nvSpPr>
        <p:spPr>
          <a:xfrm>
            <a:off x="10104120" y="4892040"/>
            <a:ext cx="2926080" cy="292608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10744200" y="5532120"/>
            <a:ext cx="1645920" cy="1645920"/>
          </a:xfrm>
          <a:prstGeom prst="ellipse">
            <a:avLst/>
          </a:prstGeom>
          <a:solidFill>
            <a:srgbClr val="00A86A">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extBox 1"/>
          <p:cNvSpPr txBox="1"/>
          <p:nvPr/>
        </p:nvSpPr>
        <p:spPr>
          <a:xfrm>
            <a:off x="548640" y="365760"/>
            <a:ext cx="9875520" cy="274320"/>
          </a:xfrm>
          <a:prstGeom prst="rect">
            <a:avLst/>
          </a:prstGeom>
          <a:noFill/>
        </p:spPr>
        <p:txBody>
          <a:bodyPr wrap="square" lIns="0" tIns="0" rIns="0" bIns="0" anchor="t">
            <a:spAutoFit/>
          </a:bodyPr>
          <a:lstStyle/>
          <a:p>
            <a:pPr algn="l"/>
            <a:r>
              <a:rPr sz="1050" b="1" i="0" spc="300">
                <a:solidFill>
                  <a:srgbClr val="00704A"/>
                </a:solidFill>
                <a:latin typeface="Calibri"/>
              </a:rPr>
              <a:t>05 · STG17 WORKSHOP  ·  WHAT MAKES IT DIFFERENT</a:t>
            </a:r>
          </a:p>
        </p:txBody>
      </p:sp>
      <p:sp>
        <p:nvSpPr>
          <p:cNvPr id="3" name="TextBox 2"/>
          <p:cNvSpPr txBox="1"/>
          <p:nvPr/>
        </p:nvSpPr>
        <p:spPr>
          <a:xfrm>
            <a:off x="548640" y="658368"/>
            <a:ext cx="10058400" cy="566928"/>
          </a:xfrm>
          <a:prstGeom prst="rect">
            <a:avLst/>
          </a:prstGeom>
          <a:noFill/>
        </p:spPr>
        <p:txBody>
          <a:bodyPr wrap="square" lIns="0" tIns="0" rIns="0" bIns="0" anchor="t">
            <a:spAutoFit/>
          </a:bodyPr>
          <a:lstStyle/>
          <a:p>
            <a:pPr algn="l"/>
            <a:r>
              <a:rPr sz="2800" b="1" i="0">
                <a:solidFill>
                  <a:srgbClr val="231F20"/>
                </a:solidFill>
                <a:latin typeface="Calibri"/>
              </a:rPr>
              <a:t>From Kigali’s obstacles to working pipelines</a:t>
            </a:r>
          </a:p>
        </p:txBody>
      </p:sp>
      <p:sp>
        <p:nvSpPr>
          <p:cNvPr id="32" name="Rounded Rectangle 31"/>
          <p:cNvSpPr/>
          <p:nvPr/>
        </p:nvSpPr>
        <p:spPr>
          <a:xfrm>
            <a:off x="4186265" y="1536019"/>
            <a:ext cx="3547872" cy="4474168"/>
          </a:xfrm>
          <a:prstGeom prst="roundRect">
            <a:avLst>
              <a:gd name="adj" fmla="val 5000"/>
            </a:avLst>
          </a:prstGeom>
          <a:solidFill>
            <a:srgbClr val="E8F5EF"/>
          </a:solidFill>
          <a:ln w="19050">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4186265" y="1737187"/>
            <a:ext cx="3547872" cy="256032"/>
          </a:xfrm>
          <a:prstGeom prst="rect">
            <a:avLst/>
          </a:prstGeom>
          <a:noFill/>
        </p:spPr>
        <p:txBody>
          <a:bodyPr wrap="square" lIns="0" tIns="0" rIns="0" bIns="0" anchor="t">
            <a:spAutoFit/>
          </a:bodyPr>
          <a:lstStyle/>
          <a:p>
            <a:pPr algn="ctr"/>
            <a:r>
              <a:rPr sz="1050" b="1" i="0" spc="200">
                <a:solidFill>
                  <a:srgbClr val="00704A"/>
                </a:solidFill>
                <a:latin typeface="Calibri"/>
              </a:rPr>
              <a:t>SCAN TO ACCESS THE WORKSHOP</a:t>
            </a:r>
          </a:p>
        </p:txBody>
      </p:sp>
      <p:sp>
        <p:nvSpPr>
          <p:cNvPr id="34" name="Rounded Rectangle 33"/>
          <p:cNvSpPr/>
          <p:nvPr/>
        </p:nvSpPr>
        <p:spPr>
          <a:xfrm>
            <a:off x="4680041" y="2102947"/>
            <a:ext cx="2560320" cy="2560320"/>
          </a:xfrm>
          <a:prstGeom prst="roundRect">
            <a:avLst>
              <a:gd name="adj" fmla="val 6000"/>
            </a:avLst>
          </a:prstGeom>
          <a:solidFill>
            <a:srgbClr val="FFFFFF"/>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qr.png">
            <a:hlinkClick r:id="rId3"/>
          </p:cNvPr>
          <p:cNvPicPr>
            <a:picLocks noChangeAspect="1"/>
          </p:cNvPicPr>
          <p:nvPr/>
        </p:nvPicPr>
        <p:blipFill>
          <a:blip r:embed="rId4"/>
          <a:stretch>
            <a:fillRect/>
          </a:stretch>
        </p:blipFill>
        <p:spPr>
          <a:xfrm>
            <a:off x="4817201" y="2240107"/>
            <a:ext cx="2286000" cy="2286000"/>
          </a:xfrm>
          <a:prstGeom prst="rect">
            <a:avLst/>
          </a:prstGeom>
        </p:spPr>
      </p:pic>
      <p:sp>
        <p:nvSpPr>
          <p:cNvPr id="36" name="TextBox 35"/>
          <p:cNvSpPr txBox="1"/>
          <p:nvPr/>
        </p:nvSpPr>
        <p:spPr>
          <a:xfrm>
            <a:off x="4277704" y="4809571"/>
            <a:ext cx="3364992" cy="292608"/>
          </a:xfrm>
          <a:prstGeom prst="rect">
            <a:avLst/>
          </a:prstGeom>
          <a:noFill/>
        </p:spPr>
        <p:txBody>
          <a:bodyPr wrap="square" lIns="0" tIns="0" rIns="0" bIns="0" anchor="t">
            <a:spAutoFit/>
          </a:bodyPr>
          <a:lstStyle/>
          <a:p>
            <a:pPr algn="ctr"/>
            <a:r>
              <a:rPr sz="1500" b="1" i="0">
                <a:solidFill>
                  <a:srgbClr val="231F20"/>
                </a:solidFill>
                <a:latin typeface="Calibri"/>
              </a:rPr>
              <a:t>Workshop website</a:t>
            </a:r>
          </a:p>
        </p:txBody>
      </p:sp>
      <p:sp>
        <p:nvSpPr>
          <p:cNvPr id="37" name="TextBox 36"/>
          <p:cNvSpPr txBox="1"/>
          <p:nvPr/>
        </p:nvSpPr>
        <p:spPr>
          <a:xfrm>
            <a:off x="4277704" y="5102179"/>
            <a:ext cx="3364992" cy="237744"/>
          </a:xfrm>
          <a:prstGeom prst="rect">
            <a:avLst/>
          </a:prstGeom>
          <a:noFill/>
        </p:spPr>
        <p:txBody>
          <a:bodyPr wrap="square" lIns="0" tIns="0" rIns="0" bIns="0" anchor="t">
            <a:spAutoFit/>
          </a:bodyPr>
          <a:lstStyle/>
          <a:p>
            <a:pPr algn="ctr"/>
            <a:r>
              <a:rPr sz="1000" b="1" i="0">
                <a:solidFill>
                  <a:srgbClr val="00704A"/>
                </a:solidFill>
                <a:latin typeface="Calibri"/>
                <a:hlinkClick r:id="rId3"/>
              </a:rPr>
              <a:t>datainnov4africa-web.github.io/stg17-workshop</a:t>
            </a:r>
          </a:p>
        </p:txBody>
      </p:sp>
      <p:sp>
        <p:nvSpPr>
          <p:cNvPr id="38" name="TextBox 37"/>
          <p:cNvSpPr txBox="1"/>
          <p:nvPr/>
        </p:nvSpPr>
        <p:spPr>
          <a:xfrm>
            <a:off x="4414865" y="5413075"/>
            <a:ext cx="3090672" cy="685800"/>
          </a:xfrm>
          <a:prstGeom prst="rect">
            <a:avLst/>
          </a:prstGeom>
          <a:noFill/>
        </p:spPr>
        <p:txBody>
          <a:bodyPr wrap="square" lIns="0" tIns="0" rIns="0" bIns="0" anchor="t">
            <a:spAutoFit/>
          </a:bodyPr>
          <a:lstStyle/>
          <a:p>
            <a:pPr algn="ctr"/>
            <a:r>
              <a:rPr sz="1050" b="0" i="0">
                <a:solidFill>
                  <a:srgbClr val="5E6964"/>
                </a:solidFill>
                <a:latin typeface="Calibri"/>
              </a:rPr>
              <a:t>Agenda, labs, notebooks and slides in English &amp; French. Create your free accounts before you arrive.</a:t>
            </a:r>
          </a:p>
        </p:txBody>
      </p:sp>
      <p:sp>
        <p:nvSpPr>
          <p:cNvPr id="39" name="TextBox 38"/>
          <p:cNvSpPr txBox="1"/>
          <p:nvPr/>
        </p:nvSpPr>
        <p:spPr>
          <a:xfrm>
            <a:off x="548640" y="6419088"/>
            <a:ext cx="6400800" cy="274320"/>
          </a:xfrm>
          <a:prstGeom prst="rect">
            <a:avLst/>
          </a:prstGeom>
          <a:noFill/>
        </p:spPr>
        <p:txBody>
          <a:bodyPr wrap="square" lIns="0" tIns="0" rIns="0" bIns="0" anchor="t">
            <a:spAutoFit/>
          </a:bodyPr>
          <a:lstStyle/>
          <a:p>
            <a:pPr algn="l"/>
            <a:r>
              <a:rPr sz="850" b="0" i="0">
                <a:solidFill>
                  <a:srgbClr val="8A9590"/>
                </a:solidFill>
                <a:latin typeface="Calibri"/>
              </a:rPr>
              <a:t>Data Innovation for Africa  ·  AfDB Statistics Department (ECST)</a:t>
            </a:r>
          </a:p>
        </p:txBody>
      </p:sp>
      <p:sp>
        <p:nvSpPr>
          <p:cNvPr id="40" name="TextBox 39"/>
          <p:cNvSpPr txBox="1"/>
          <p:nvPr/>
        </p:nvSpPr>
        <p:spPr>
          <a:xfrm>
            <a:off x="9811512" y="6419088"/>
            <a:ext cx="1828800" cy="274320"/>
          </a:xfrm>
          <a:prstGeom prst="rect">
            <a:avLst/>
          </a:prstGeom>
          <a:noFill/>
        </p:spPr>
        <p:txBody>
          <a:bodyPr wrap="square" lIns="0" tIns="0" rIns="0" bIns="0" anchor="t">
            <a:spAutoFit/>
          </a:bodyPr>
          <a:lstStyle/>
          <a:p>
            <a:pPr algn="r"/>
            <a:r>
              <a:rPr sz="850" b="0" i="0">
                <a:solidFill>
                  <a:srgbClr val="8A9590"/>
                </a:solidFill>
                <a:latin typeface="Calibri"/>
              </a:rPr>
              <a:t>12</a:t>
            </a:r>
          </a:p>
        </p:txBody>
      </p:sp>
      <p:sp>
        <p:nvSpPr>
          <p:cNvPr id="43" name="Rectangle 42"/>
          <p:cNvSpPr/>
          <p:nvPr/>
        </p:nvSpPr>
        <p:spPr>
          <a:xfrm>
            <a:off x="0" y="0"/>
            <a:ext cx="12191695" cy="54864"/>
          </a:xfrm>
          <a:prstGeom prst="rect">
            <a:avLst/>
          </a:prstGeom>
          <a:solidFill>
            <a:srgbClr val="00A8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0" y="0"/>
            <a:ext cx="1234440" cy="54864"/>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106070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Oval 45"/>
          <p:cNvSpPr/>
          <p:nvPr/>
        </p:nvSpPr>
        <p:spPr>
          <a:xfrm>
            <a:off x="108356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Oval 46"/>
          <p:cNvSpPr/>
          <p:nvPr/>
        </p:nvSpPr>
        <p:spPr>
          <a:xfrm>
            <a:off x="110642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Oval 47"/>
          <p:cNvSpPr/>
          <p:nvPr/>
        </p:nvSpPr>
        <p:spPr>
          <a:xfrm>
            <a:off x="11292840" y="448056"/>
            <a:ext cx="118872" cy="118872"/>
          </a:xfrm>
          <a:prstGeom prst="ellipse">
            <a:avLst/>
          </a:prstGeom>
          <a:solidFill>
            <a:srgbClr val="D5D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11521440" y="448056"/>
            <a:ext cx="118872" cy="118872"/>
          </a:xfrm>
          <a:prstGeom prst="ellipse">
            <a:avLst/>
          </a:prstGeom>
          <a:solidFill>
            <a:srgbClr val="C46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0A2E1E"/>
        </a:solidFill>
        <a:effectLst/>
      </p:bgPr>
    </p:bg>
    <p:spTree>
      <p:nvGrpSpPr>
        <p:cNvPr id="1" name=""/>
        <p:cNvGrpSpPr/>
        <p:nvPr/>
      </p:nvGrpSpPr>
      <p:grpSpPr>
        <a:xfrm>
          <a:off x="0" y="0"/>
          <a:ext cx="0" cy="0"/>
          <a:chOff x="0" y="0"/>
          <a:chExt cx="0" cy="0"/>
        </a:xfrm>
      </p:grpSpPr>
      <p:pic>
        <p:nvPicPr>
          <p:cNvPr id="11" name="Picture 10" descr="hero_full.jpg"/>
          <p:cNvPicPr>
            <a:picLocks noChangeAspect="1"/>
          </p:cNvPicPr>
          <p:nvPr/>
        </p:nvPicPr>
        <p:blipFill>
          <a:blip r:embed="rId3"/>
          <a:stretch>
            <a:fillRect/>
          </a:stretch>
        </p:blipFill>
        <p:spPr>
          <a:xfrm>
            <a:off x="0" y="0"/>
            <a:ext cx="12191695" cy="6858000"/>
          </a:xfrm>
          <a:prstGeom prst="rect">
            <a:avLst/>
          </a:prstGeom>
        </p:spPr>
      </p:pic>
      <p:sp>
        <p:nvSpPr>
          <p:cNvPr id="12" name="Oval 11"/>
          <p:cNvSpPr/>
          <p:nvPr/>
        </p:nvSpPr>
        <p:spPr>
          <a:xfrm>
            <a:off x="6446520" y="457200"/>
            <a:ext cx="5760720" cy="5760720"/>
          </a:xfrm>
          <a:prstGeom prst="ellipse">
            <a:avLst/>
          </a:prstGeom>
          <a:noFill/>
          <a:ln w="9525">
            <a:solidFill>
              <a:srgbClr val="FFFFFF">
                <a:alpha val="1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Oval 1"/>
          <p:cNvSpPr/>
          <p:nvPr/>
        </p:nvSpPr>
        <p:spPr>
          <a:xfrm>
            <a:off x="6903720" y="914400"/>
            <a:ext cx="4846320" cy="4846320"/>
          </a:xfrm>
          <a:prstGeom prst="ellipse">
            <a:avLst/>
          </a:prstGeom>
          <a:noFill/>
          <a:ln w="19050">
            <a:solidFill>
              <a:srgbClr val="FFFFFF">
                <a:alpha val="45000"/>
              </a:srgbClr>
            </a:solidFill>
          </a:ln>
        </p:spPr>
        <p:txBody>
          <a:bodyPr rtlCol="0" anchor="ctr"/>
          <a:lstStyle/>
          <a:p>
            <a:endParaRPr/>
          </a:p>
        </p:txBody>
      </p:sp>
      <p:sp>
        <p:nvSpPr>
          <p:cNvPr id="3" name="Oval 2"/>
          <p:cNvSpPr/>
          <p:nvPr/>
        </p:nvSpPr>
        <p:spPr>
          <a:xfrm>
            <a:off x="6675120" y="685800"/>
            <a:ext cx="5303520" cy="5303520"/>
          </a:xfrm>
          <a:prstGeom prst="ellipse">
            <a:avLst/>
          </a:prstGeom>
          <a:noFill/>
          <a:ln w="9525">
            <a:solidFill>
              <a:srgbClr val="FFFFFF">
                <a:alpha val="25000"/>
              </a:srgbClr>
            </a:solidFill>
          </a:ln>
        </p:spPr>
        <p:txBody>
          <a:bodyPr rtlCol="0" anchor="ctr"/>
          <a:lstStyle/>
          <a:p>
            <a:endParaRPr/>
          </a:p>
        </p:txBody>
      </p:sp>
      <p:pic>
        <p:nvPicPr>
          <p:cNvPr id="4" name="Picture 3" descr="robot_circle.png"/>
          <p:cNvPicPr>
            <a:picLocks noChangeAspect="1"/>
          </p:cNvPicPr>
          <p:nvPr/>
        </p:nvPicPr>
        <p:blipFill>
          <a:blip r:embed="rId4"/>
          <a:stretch>
            <a:fillRect/>
          </a:stretch>
        </p:blipFill>
        <p:spPr>
          <a:xfrm>
            <a:off x="7132320" y="1143000"/>
            <a:ext cx="4389120" cy="4389120"/>
          </a:xfrm>
          <a:prstGeom prst="rect">
            <a:avLst/>
          </a:prstGeom>
        </p:spPr>
      </p:pic>
      <p:sp>
        <p:nvSpPr>
          <p:cNvPr id="5" name="TextBox 4"/>
          <p:cNvSpPr txBox="1"/>
          <p:nvPr/>
        </p:nvSpPr>
        <p:spPr>
          <a:xfrm>
            <a:off x="731520" y="1417320"/>
            <a:ext cx="5760720" cy="274320"/>
          </a:xfrm>
          <a:prstGeom prst="rect">
            <a:avLst/>
          </a:prstGeom>
          <a:noFill/>
        </p:spPr>
        <p:txBody>
          <a:bodyPr wrap="square" lIns="0" tIns="0" rIns="0" bIns="0" anchor="t">
            <a:spAutoFit/>
          </a:bodyPr>
          <a:lstStyle/>
          <a:p>
            <a:pPr algn="l"/>
            <a:r>
              <a:rPr sz="1050" b="1" i="0" spc="300">
                <a:solidFill>
                  <a:srgbClr val="F5C242"/>
                </a:solidFill>
                <a:latin typeface="Calibri"/>
              </a:rPr>
              <a:t>THANK YOU  ·  MERCI</a:t>
            </a:r>
          </a:p>
        </p:txBody>
      </p:sp>
      <p:sp>
        <p:nvSpPr>
          <p:cNvPr id="6" name="TextBox 5"/>
          <p:cNvSpPr txBox="1"/>
          <p:nvPr/>
        </p:nvSpPr>
        <p:spPr>
          <a:xfrm>
            <a:off x="731520" y="1783080"/>
            <a:ext cx="5852160" cy="1737360"/>
          </a:xfrm>
          <a:prstGeom prst="rect">
            <a:avLst/>
          </a:prstGeom>
          <a:noFill/>
        </p:spPr>
        <p:txBody>
          <a:bodyPr wrap="square" lIns="0" tIns="0" rIns="0" bIns="0" anchor="t">
            <a:spAutoFit/>
          </a:bodyPr>
          <a:lstStyle/>
          <a:p>
            <a:pPr algn="l">
              <a:lnSpc>
                <a:spcPct val="100000"/>
              </a:lnSpc>
            </a:pPr>
            <a:r>
              <a:rPr sz="4600" b="1" i="0">
                <a:solidFill>
                  <a:srgbClr val="FFFFFF"/>
                </a:solidFill>
                <a:latin typeface="Calibri"/>
              </a:rPr>
              <a:t>Reveal the Power</a:t>
            </a:r>
          </a:p>
          <a:p>
            <a:pPr algn="l">
              <a:lnSpc>
                <a:spcPct val="100000"/>
              </a:lnSpc>
            </a:pPr>
            <a:r>
              <a:rPr sz="4600" b="1" i="0">
                <a:solidFill>
                  <a:srgbClr val="FFFFFF"/>
                </a:solidFill>
                <a:latin typeface="Calibri"/>
              </a:rPr>
              <a:t>of </a:t>
            </a:r>
            <a:r>
              <a:rPr sz="4600" b="1" i="0">
                <a:solidFill>
                  <a:srgbClr val="F5C242"/>
                </a:solidFill>
                <a:latin typeface="Calibri"/>
              </a:rPr>
              <a:t>Data in Africa</a:t>
            </a:r>
          </a:p>
        </p:txBody>
      </p:sp>
      <p:sp>
        <p:nvSpPr>
          <p:cNvPr id="7" name="TextBox 6"/>
          <p:cNvSpPr txBox="1"/>
          <p:nvPr/>
        </p:nvSpPr>
        <p:spPr>
          <a:xfrm>
            <a:off x="731520" y="3703320"/>
            <a:ext cx="5486400" cy="731520"/>
          </a:xfrm>
          <a:prstGeom prst="rect">
            <a:avLst/>
          </a:prstGeom>
          <a:noFill/>
        </p:spPr>
        <p:txBody>
          <a:bodyPr wrap="square" lIns="0" tIns="0" rIns="0" bIns="0" anchor="t">
            <a:spAutoFit/>
          </a:bodyPr>
          <a:lstStyle/>
          <a:p>
            <a:pPr algn="l"/>
            <a:r>
              <a:rPr sz="1600" b="0" i="1">
                <a:solidFill>
                  <a:srgbClr val="E6F6EE"/>
                </a:solidFill>
                <a:latin typeface="Calibri"/>
              </a:rPr>
              <a:t>Data Innovation for Africa (DI4A)  ·  Statistics Department (ECST)</a:t>
            </a:r>
          </a:p>
        </p:txBody>
      </p:sp>
      <p:sp>
        <p:nvSpPr>
          <p:cNvPr id="8" name="Rounded Rectangle 7"/>
          <p:cNvSpPr/>
          <p:nvPr/>
        </p:nvSpPr>
        <p:spPr>
          <a:xfrm>
            <a:off x="731520" y="5074920"/>
            <a:ext cx="4206240" cy="868680"/>
          </a:xfrm>
          <a:prstGeom prst="roundRect">
            <a:avLst>
              <a:gd name="adj" fmla="val 50000"/>
            </a:avLst>
          </a:prstGeom>
          <a:solidFill>
            <a:srgbClr val="FFFFFF"/>
          </a:solidFill>
          <a:ln>
            <a:noFill/>
          </a:ln>
        </p:spPr>
        <p:txBody>
          <a:bodyPr rtlCol="0" anchor="ctr"/>
          <a:lstStyle/>
          <a:p>
            <a:endParaRPr/>
          </a:p>
        </p:txBody>
      </p:sp>
      <p:pic>
        <p:nvPicPr>
          <p:cNvPr id="9" name="Picture 8" descr="image.png"/>
          <p:cNvPicPr>
            <a:picLocks noChangeAspect="1"/>
          </p:cNvPicPr>
          <p:nvPr/>
        </p:nvPicPr>
        <p:blipFill>
          <a:blip r:embed="rId5"/>
          <a:stretch>
            <a:fillRect/>
          </a:stretch>
        </p:blipFill>
        <p:spPr>
          <a:xfrm>
            <a:off x="1005840" y="5266944"/>
            <a:ext cx="2051724" cy="493776"/>
          </a:xfrm>
          <a:prstGeom prst="rect">
            <a:avLst/>
          </a:prstGeom>
        </p:spPr>
      </p:pic>
      <p:pic>
        <p:nvPicPr>
          <p:cNvPr id="10" name="Picture 9" descr="image.png"/>
          <p:cNvPicPr>
            <a:picLocks noChangeAspect="1"/>
          </p:cNvPicPr>
          <p:nvPr/>
        </p:nvPicPr>
        <p:blipFill>
          <a:blip r:embed="rId6"/>
          <a:stretch>
            <a:fillRect/>
          </a:stretch>
        </p:blipFill>
        <p:spPr>
          <a:xfrm>
            <a:off x="3977639" y="5157216"/>
            <a:ext cx="713232" cy="713232"/>
          </a:xfrm>
          <a:prstGeom prst="rect">
            <a:avLst/>
          </a:prstGeom>
        </p:spPr>
      </p:pic>
      <p:sp>
        <p:nvSpPr>
          <p:cNvPr id="13" name="Rectangle 12"/>
          <p:cNvSpPr/>
          <p:nvPr/>
        </p:nvSpPr>
        <p:spPr>
          <a:xfrm>
            <a:off x="0" y="6748272"/>
            <a:ext cx="12191695" cy="109728"/>
          </a:xfrm>
          <a:prstGeom prst="rect">
            <a:avLst/>
          </a:prstGeom>
          <a:solidFill>
            <a:srgbClr val="F5C2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2490601994"/>
      </p:ext>
    </p:extLst>
  </p:cSld>
  <p:clrMapOvr>
    <a:masterClrMapping/>
  </p:clrMapOvr>
  <p:transition spd="med">
    <p:fade/>
  </p:transition>
</p:sld>
</file>

<file path=ppt/theme/theme1.xml><?xml version="1.0" encoding="utf-8"?>
<a:theme xmlns:a="http://schemas.openxmlformats.org/drawingml/2006/main" name="1_Office Theme">
  <a:themeElements>
    <a:clrScheme name="Green">
      <a:dk1>
        <a:sysClr val="windowText" lastClr="000000"/>
      </a:dk1>
      <a:lt1>
        <a:sysClr val="window" lastClr="FFFFFF"/>
      </a:lt1>
      <a:dk2>
        <a:srgbClr val="00553A"/>
      </a:dk2>
      <a:lt2>
        <a:srgbClr val="F4F7F5"/>
      </a:lt2>
      <a:accent1>
        <a:srgbClr val="00A86A"/>
      </a:accent1>
      <a:accent2>
        <a:srgbClr val="00704A"/>
      </a:accent2>
      <a:accent3>
        <a:srgbClr val="0E7C86"/>
      </a:accent3>
      <a:accent4>
        <a:srgbClr val="D49A00"/>
      </a:accent4>
      <a:accent5>
        <a:srgbClr val="C4621D"/>
      </a:accent5>
      <a:accent6>
        <a:srgbClr val="00553A"/>
      </a:accent6>
      <a:hlink>
        <a:srgbClr val="00704A"/>
      </a:hlink>
      <a:folHlink>
        <a:srgbClr val="5E6964"/>
      </a:folHlink>
    </a:clrScheme>
    <a:fontScheme name="Arial">
      <a:majorFont>
        <a:latin typeface="Calibri"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553A"/>
      </a:dk2>
      <a:lt2>
        <a:srgbClr val="F4F7F5"/>
      </a:lt2>
      <a:accent1>
        <a:srgbClr val="00A86A"/>
      </a:accent1>
      <a:accent2>
        <a:srgbClr val="00704A"/>
      </a:accent2>
      <a:accent3>
        <a:srgbClr val="0E7C86"/>
      </a:accent3>
      <a:accent4>
        <a:srgbClr val="D49A00"/>
      </a:accent4>
      <a:accent5>
        <a:srgbClr val="C4621D"/>
      </a:accent5>
      <a:accent6>
        <a:srgbClr val="00553A"/>
      </a:accent6>
      <a:hlink>
        <a:srgbClr val="00704A"/>
      </a:hlink>
      <a:folHlink>
        <a:srgbClr val="5E6964"/>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553A"/>
      </a:dk2>
      <a:lt2>
        <a:srgbClr val="F4F7F5"/>
      </a:lt2>
      <a:accent1>
        <a:srgbClr val="00A86A"/>
      </a:accent1>
      <a:accent2>
        <a:srgbClr val="00704A"/>
      </a:accent2>
      <a:accent3>
        <a:srgbClr val="0E7C86"/>
      </a:accent3>
      <a:accent4>
        <a:srgbClr val="D49A00"/>
      </a:accent4>
      <a:accent5>
        <a:srgbClr val="C4621D"/>
      </a:accent5>
      <a:accent6>
        <a:srgbClr val="00553A"/>
      </a:accent6>
      <a:hlink>
        <a:srgbClr val="00704A"/>
      </a:hlink>
      <a:folHlink>
        <a:srgbClr val="5E6964"/>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8cb39bc-51f7-4bfb-8c98-c2fade96a56d">
      <Terms xmlns="http://schemas.microsoft.com/office/infopath/2007/PartnerControls"/>
    </lcf76f155ced4ddcb4097134ff3c332f>
    <Test xmlns="b8cb39bc-51f7-4bfb-8c98-c2fade96a56d" xsi:nil="true"/>
    <TaxCatchAll xmlns="84485d89-41cd-4413-a19d-e0c362ad1c83" xsi:nil="true"/>
    <Test2 xmlns="b8cb39bc-51f7-4bfb-8c98-c2fade96a56d" xsi:nil="true"/>
    <Assignement xmlns="b8cb39bc-51f7-4bfb-8c98-c2fade96a56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E9AB429B53B5F4F883F3D3292452FBB" ma:contentTypeVersion="21" ma:contentTypeDescription="Create a new document." ma:contentTypeScope="" ma:versionID="0fc92fa8b2b2f261e273f1ada6c16105">
  <xsd:schema xmlns:xsd="http://www.w3.org/2001/XMLSchema" xmlns:xs="http://www.w3.org/2001/XMLSchema" xmlns:p="http://schemas.microsoft.com/office/2006/metadata/properties" xmlns:ns2="b8cb39bc-51f7-4bfb-8c98-c2fade96a56d" xmlns:ns3="84485d89-41cd-4413-a19d-e0c362ad1c83" targetNamespace="http://schemas.microsoft.com/office/2006/metadata/properties" ma:root="true" ma:fieldsID="3e2368851ab8c96943cf76ef88f85996" ns2:_="" ns3:_="">
    <xsd:import namespace="b8cb39bc-51f7-4bfb-8c98-c2fade96a56d"/>
    <xsd:import namespace="84485d89-41cd-4413-a19d-e0c362ad1c8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Test" minOccurs="0"/>
                <xsd:element ref="ns2:Assignement" minOccurs="0"/>
                <xsd:element ref="ns2:Test2"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cb39bc-51f7-4bfb-8c98-c2fade96a5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64151ea7-9a58-40e1-aaa3-427790a22f1d"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Test" ma:index="26" nillable="true" ma:displayName="Test" ma:format="Dropdown" ma:internalName="Test">
      <xsd:simpleType>
        <xsd:restriction base="dms:Choice">
          <xsd:enumeration value="Kamel"/>
          <xsd:enumeration value="Rajesh"/>
          <xsd:enumeration value="Choix 3"/>
        </xsd:restriction>
      </xsd:simpleType>
    </xsd:element>
    <xsd:element name="Assignement" ma:index="27" nillable="true" ma:displayName="Assignement" ma:format="RadioButtons" ma:internalName="Assignement">
      <xsd:simpleType>
        <xsd:restriction base="dms:Choice">
          <xsd:enumeration value="Rajesh"/>
          <xsd:enumeration value="Kamel"/>
        </xsd:restriction>
      </xsd:simpleType>
    </xsd:element>
    <xsd:element name="Test2" ma:index="28" nillable="true" ma:displayName="Test2" ma:format="Dropdown" ma:internalName="Test2">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4485d89-41cd-4413-a19d-e0c362ad1c8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c16a452-aae6-4b2f-a480-1ec6008bb2a1}" ma:internalName="TaxCatchAll" ma:showField="CatchAllData" ma:web="84485d89-41cd-4413-a19d-e0c362ad1c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F5648F2-5906-40A8-93E3-F917DF877BAC}">
  <ds:schemaRefs>
    <ds:schemaRef ds:uri="http://purl.org/dc/terms/"/>
    <ds:schemaRef ds:uri="http://schemas.microsoft.com/office/2006/metadata/properties"/>
    <ds:schemaRef ds:uri="b8cb39bc-51f7-4bfb-8c98-c2fade96a56d"/>
    <ds:schemaRef ds:uri="http://www.w3.org/XML/1998/namespace"/>
    <ds:schemaRef ds:uri="84485d89-41cd-4413-a19d-e0c362ad1c83"/>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E298887C-8DBD-479C-AF0C-6338822BEC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cb39bc-51f7-4bfb-8c98-c2fade96a56d"/>
    <ds:schemaRef ds:uri="84485d89-41cd-4413-a19d-e0c362ad1c8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1729DC-BE61-4AEB-97EF-83F2B74912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14209</TotalTime>
  <Words>1573</Words>
  <Application>Microsoft Office PowerPoint</Application>
  <PresentationFormat>Widescreen</PresentationFormat>
  <Paragraphs>258</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HAJ TAIEB mohamed ali</dc:creator>
  <cp:lastModifiedBy>HADJ TAIEB, MOHAMED ALI</cp:lastModifiedBy>
  <cp:revision>1757</cp:revision>
  <dcterms:created xsi:type="dcterms:W3CDTF">2023-01-20T21:52:18Z</dcterms:created>
  <dcterms:modified xsi:type="dcterms:W3CDTF">2026-09-24T14:13:23Z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0x0101000E9AB429B53B5F4F883F3D3292452FBB</vt:lpwstr>
  </property>
  <property fmtid="{D5CDD505-2E9C-101B-9397-08002B2CF9AE}" pid="3" name="MediaServiceImageTags">
    <vt:lpwstr/>
  </property>
</Properties>
</file>