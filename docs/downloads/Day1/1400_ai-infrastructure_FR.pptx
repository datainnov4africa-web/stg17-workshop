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2.xml" ContentType="application/vnd.openxmlformats-officedocument.drawingml.chart+xml"/>
  <Override PartName="/ppt/notesSlides/notesSlide49.xml" ContentType="application/vnd.openxmlformats-officedocument.presentationml.notesSlide+xml"/>
  <Override PartName="/ppt/charts/chart3.xml" ContentType="application/vnd.openxmlformats-officedocument.drawingml.chart+xml"/>
  <Override PartName="/ppt/notesSlides/notesSlide50.xml" ContentType="application/vnd.openxmlformats-officedocument.presentationml.notesSlide+xml"/>
  <Override PartName="/ppt/charts/chart4.xml" ContentType="application/vnd.openxmlformats-officedocument.drawingml.char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9" r:id="rId6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sz="1050" b="0" i="0" u="none" strike="noStrike">
                <a:solidFill>
                  <a:srgbClr val="231F20"/>
                </a:solidFill>
                <a:latin typeface="Calibri"/>
              </a:rPr>
              <a:t>Mémoire nécessaire pour exécuter un modèle (Go, ~20 % inclus)</a:t>
            </a:r>
          </a:p>
        </c:rich>
      </c:tx>
      <c:overlay val="0"/>
    </c:title>
    <c:autoTitleDeleted val="0"/>
    <c:plotArea>
      <c:layout/>
      <c:barChart>
        <c:barDir val="col"/>
        <c:grouping val="clustered"/>
        <c:varyColors val="0"/>
        <c:ser>
          <c:idx val="0"/>
          <c:order val="0"/>
          <c:tx>
            <c:strRef>
              <c:f>Sheet1!$B$1</c:f>
              <c:strCache>
                <c:ptCount val="1"/>
                <c:pt idx="0">
                  <c:v>16 bits</c:v>
                </c:pt>
              </c:strCache>
            </c:strRef>
          </c:tx>
          <c:spPr>
            <a:solidFill>
              <a:srgbClr val="00553A"/>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 Md</c:v>
                </c:pt>
                <c:pt idx="1">
                  <c:v>14 Md</c:v>
                </c:pt>
                <c:pt idx="2">
                  <c:v>32 Md</c:v>
                </c:pt>
                <c:pt idx="3">
                  <c:v>70 Md</c:v>
                </c:pt>
              </c:strCache>
            </c:strRef>
          </c:cat>
          <c:val>
            <c:numRef>
              <c:f>Sheet1!$B$2:$B$5</c:f>
              <c:numCache>
                <c:formatCode>General</c:formatCode>
                <c:ptCount val="4"/>
                <c:pt idx="0">
                  <c:v>17</c:v>
                </c:pt>
                <c:pt idx="1">
                  <c:v>34</c:v>
                </c:pt>
                <c:pt idx="2">
                  <c:v>77</c:v>
                </c:pt>
                <c:pt idx="3">
                  <c:v>168</c:v>
                </c:pt>
              </c:numCache>
            </c:numRef>
          </c:val>
          <c:extLst>
            <c:ext xmlns:c16="http://schemas.microsoft.com/office/drawing/2014/chart" uri="{C3380CC4-5D6E-409C-BE32-E72D297353CC}">
              <c16:uniqueId val="{00000000-0BAA-4CDF-9B4D-C4CC2A52FAEF}"/>
            </c:ext>
          </c:extLst>
        </c:ser>
        <c:ser>
          <c:idx val="1"/>
          <c:order val="1"/>
          <c:tx>
            <c:strRef>
              <c:f>Sheet1!$C$1</c:f>
              <c:strCache>
                <c:ptCount val="1"/>
                <c:pt idx="0">
                  <c:v>8 bits</c:v>
                </c:pt>
              </c:strCache>
            </c:strRef>
          </c:tx>
          <c:spPr>
            <a:solidFill>
              <a:srgbClr val="008A5B"/>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 Md</c:v>
                </c:pt>
                <c:pt idx="1">
                  <c:v>14 Md</c:v>
                </c:pt>
                <c:pt idx="2">
                  <c:v>32 Md</c:v>
                </c:pt>
                <c:pt idx="3">
                  <c:v>70 Md</c:v>
                </c:pt>
              </c:strCache>
            </c:strRef>
          </c:cat>
          <c:val>
            <c:numRef>
              <c:f>Sheet1!$C$2:$C$5</c:f>
              <c:numCache>
                <c:formatCode>General</c:formatCode>
                <c:ptCount val="4"/>
                <c:pt idx="0">
                  <c:v>8</c:v>
                </c:pt>
                <c:pt idx="1">
                  <c:v>17</c:v>
                </c:pt>
                <c:pt idx="2">
                  <c:v>38</c:v>
                </c:pt>
                <c:pt idx="3">
                  <c:v>84</c:v>
                </c:pt>
              </c:numCache>
            </c:numRef>
          </c:val>
          <c:extLst>
            <c:ext xmlns:c16="http://schemas.microsoft.com/office/drawing/2014/chart" uri="{C3380CC4-5D6E-409C-BE32-E72D297353CC}">
              <c16:uniqueId val="{00000001-0BAA-4CDF-9B4D-C4CC2A52FAEF}"/>
            </c:ext>
          </c:extLst>
        </c:ser>
        <c:ser>
          <c:idx val="2"/>
          <c:order val="2"/>
          <c:tx>
            <c:strRef>
              <c:f>Sheet1!$D$1</c:f>
              <c:strCache>
                <c:ptCount val="1"/>
                <c:pt idx="0">
                  <c:v>4 bits</c:v>
                </c:pt>
              </c:strCache>
            </c:strRef>
          </c:tx>
          <c:spPr>
            <a:solidFill>
              <a:srgbClr val="57BD92"/>
            </a:solidFill>
            <a:effectLst/>
          </c:spPr>
          <c:invertIfNegative val="0"/>
          <c:dLbls>
            <c:numFmt formatCode="0" sourceLinked="0"/>
            <c:spPr>
              <a:noFill/>
              <a:ln>
                <a:noFill/>
              </a:ln>
              <a:effectLst/>
            </c:spPr>
            <c:txPr>
              <a:bodyPr/>
              <a:lstStyle/>
              <a:p>
                <a:pPr>
                  <a:defRPr sz="8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7 Md</c:v>
                </c:pt>
                <c:pt idx="1">
                  <c:v>14 Md</c:v>
                </c:pt>
                <c:pt idx="2">
                  <c:v>32 Md</c:v>
                </c:pt>
                <c:pt idx="3">
                  <c:v>70 Md</c:v>
                </c:pt>
              </c:strCache>
            </c:strRef>
          </c:cat>
          <c:val>
            <c:numRef>
              <c:f>Sheet1!$D$2:$D$5</c:f>
              <c:numCache>
                <c:formatCode>General</c:formatCode>
                <c:ptCount val="4"/>
                <c:pt idx="0">
                  <c:v>4</c:v>
                </c:pt>
                <c:pt idx="1">
                  <c:v>8</c:v>
                </c:pt>
                <c:pt idx="2">
                  <c:v>19</c:v>
                </c:pt>
                <c:pt idx="3">
                  <c:v>42</c:v>
                </c:pt>
              </c:numCache>
            </c:numRef>
          </c:val>
          <c:extLst>
            <c:ext xmlns:c16="http://schemas.microsoft.com/office/drawing/2014/chart" uri="{C3380CC4-5D6E-409C-BE32-E72D297353CC}">
              <c16:uniqueId val="{00000002-0BAA-4CDF-9B4D-C4CC2A52FAE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9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Part</c:v>
                </c:pt>
              </c:strCache>
            </c:strRef>
          </c:tx>
          <c:spPr>
            <a:solidFill>
              <a:srgbClr val="00664A"/>
            </a:solidFill>
            <a:effectLst/>
          </c:spPr>
          <c:invertIfNegative val="0"/>
          <c:dPt>
            <c:idx val="0"/>
            <c:invertIfNegative val="0"/>
            <c:bubble3D val="0"/>
            <c:extLst>
              <c:ext xmlns:c16="http://schemas.microsoft.com/office/drawing/2014/chart" uri="{C3380CC4-5D6E-409C-BE32-E72D297353CC}">
                <c16:uniqueId val="{00000001-13E4-4F72-9DC5-6A814EACF020}"/>
              </c:ext>
            </c:extLst>
          </c:dPt>
          <c:dPt>
            <c:idx val="1"/>
            <c:invertIfNegative val="0"/>
            <c:bubble3D val="0"/>
            <c:spPr>
              <a:solidFill>
                <a:srgbClr val="008A5B"/>
              </a:solidFill>
              <a:effectLst/>
            </c:spPr>
            <c:extLst>
              <c:ext xmlns:c16="http://schemas.microsoft.com/office/drawing/2014/chart" uri="{C3380CC4-5D6E-409C-BE32-E72D297353CC}">
                <c16:uniqueId val="{00000003-13E4-4F72-9DC5-6A814EACF020}"/>
              </c:ext>
            </c:extLst>
          </c:dPt>
          <c:dPt>
            <c:idx val="2"/>
            <c:invertIfNegative val="0"/>
            <c:bubble3D val="0"/>
            <c:spPr>
              <a:solidFill>
                <a:srgbClr val="10A06A"/>
              </a:solidFill>
              <a:effectLst/>
            </c:spPr>
            <c:extLst>
              <c:ext xmlns:c16="http://schemas.microsoft.com/office/drawing/2014/chart" uri="{C3380CC4-5D6E-409C-BE32-E72D297353CC}">
                <c16:uniqueId val="{00000005-13E4-4F72-9DC5-6A814EACF020}"/>
              </c:ext>
            </c:extLst>
          </c:dPt>
          <c:dPt>
            <c:idx val="3"/>
            <c:invertIfNegative val="0"/>
            <c:bubble3D val="0"/>
            <c:spPr>
              <a:solidFill>
                <a:srgbClr val="33AF7C"/>
              </a:solidFill>
              <a:effectLst/>
            </c:spPr>
            <c:extLst>
              <c:ext xmlns:c16="http://schemas.microsoft.com/office/drawing/2014/chart" uri="{C3380CC4-5D6E-409C-BE32-E72D297353CC}">
                <c16:uniqueId val="{00000007-13E4-4F72-9DC5-6A814EACF020}"/>
              </c:ext>
            </c:extLst>
          </c:dPt>
          <c:dPt>
            <c:idx val="4"/>
            <c:invertIfNegative val="0"/>
            <c:bubble3D val="0"/>
            <c:spPr>
              <a:solidFill>
                <a:srgbClr val="57BD92"/>
              </a:solidFill>
              <a:effectLst/>
            </c:spPr>
            <c:extLst>
              <c:ext xmlns:c16="http://schemas.microsoft.com/office/drawing/2014/chart" uri="{C3380CC4-5D6E-409C-BE32-E72D297353CC}">
                <c16:uniqueId val="{00000009-13E4-4F72-9DC5-6A814EACF020}"/>
              </c:ext>
            </c:extLst>
          </c:dPt>
          <c:dPt>
            <c:idx val="5"/>
            <c:invertIfNegative val="0"/>
            <c:bubble3D val="0"/>
            <c:spPr>
              <a:solidFill>
                <a:srgbClr val="7BCBA9"/>
              </a:solidFill>
              <a:effectLst/>
            </c:spPr>
            <c:extLst>
              <c:ext xmlns:c16="http://schemas.microsoft.com/office/drawing/2014/chart" uri="{C3380CC4-5D6E-409C-BE32-E72D297353CC}">
                <c16:uniqueId val="{0000000B-13E4-4F72-9DC5-6A814EACF020}"/>
              </c:ext>
            </c:extLst>
          </c:dPt>
          <c:dLbls>
            <c:numFmt formatCode="0&quot; %&quot;" sourceLinked="0"/>
            <c:spPr>
              <a:noFill/>
              <a:ln>
                <a:noFill/>
              </a:ln>
              <a:effectLst/>
            </c:spPr>
            <c:txPr>
              <a:bodyPr/>
              <a:lstStyle/>
              <a:p>
                <a:pPr>
                  <a:defRPr sz="10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Personnel</c:v>
                </c:pt>
                <c:pt idx="1">
                  <c:v>Calcul et stockage</c:v>
                </c:pt>
                <c:pt idx="2">
                  <c:v>Données et annotation</c:v>
                </c:pt>
                <c:pt idx="3">
                  <c:v>Logiciels et licences</c:v>
                </c:pt>
                <c:pt idx="4">
                  <c:v>Gouvernance et assurance</c:v>
                </c:pt>
                <c:pt idx="5">
                  <c:v>Locaux techniques</c:v>
                </c:pt>
              </c:strCache>
            </c:strRef>
          </c:cat>
          <c:val>
            <c:numRef>
              <c:f>Sheet1!$B$2:$B$7</c:f>
              <c:numCache>
                <c:formatCode>General</c:formatCode>
                <c:ptCount val="6"/>
                <c:pt idx="0">
                  <c:v>45</c:v>
                </c:pt>
                <c:pt idx="1">
                  <c:v>18</c:v>
                </c:pt>
                <c:pt idx="2">
                  <c:v>12</c:v>
                </c:pt>
                <c:pt idx="3">
                  <c:v>10</c:v>
                </c:pt>
                <c:pt idx="4">
                  <c:v>10</c:v>
                </c:pt>
                <c:pt idx="5">
                  <c:v>5</c:v>
                </c:pt>
              </c:numCache>
            </c:numRef>
          </c:val>
          <c:extLst>
            <c:ext xmlns:c16="http://schemas.microsoft.com/office/drawing/2014/chart" uri="{C3380CC4-5D6E-409C-BE32-E72D297353CC}">
              <c16:uniqueId val="{0000000C-13E4-4F72-9DC5-6A814EACF020}"/>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Coût total sur cinq ans par poste</a:t>
            </a:r>
          </a:p>
        </c:rich>
      </c:tx>
      <c:overlay val="0"/>
    </c:title>
    <c:autoTitleDeleted val="0"/>
    <c:plotArea>
      <c:layout/>
      <c:barChart>
        <c:barDir val="col"/>
        <c:grouping val="stacked"/>
        <c:varyColors val="0"/>
        <c:ser>
          <c:idx val="0"/>
          <c:order val="0"/>
          <c:tx>
            <c:strRef>
              <c:f>Sheet1!$B$1</c:f>
              <c:strCache>
                <c:ptCount val="1"/>
                <c:pt idx="0">
                  <c:v>Personnel</c:v>
                </c:pt>
              </c:strCache>
            </c:strRef>
          </c:tx>
          <c:spPr>
            <a:solidFill>
              <a:srgbClr val="00664A"/>
            </a:solidFill>
            <a:effectLst/>
          </c:spPr>
          <c:invertIfNegative val="0"/>
          <c:cat>
            <c:strRef>
              <c:f>Sheet1!$A$2:$A$4</c:f>
              <c:strCache>
                <c:ptCount val="3"/>
                <c:pt idx="0">
                  <c:v>A · API d'abord</c:v>
                </c:pt>
                <c:pt idx="1">
                  <c:v>B · Hybride</c:v>
                </c:pt>
                <c:pt idx="2">
                  <c:v>C · Sur site</c:v>
                </c:pt>
              </c:strCache>
            </c:strRef>
          </c:cat>
          <c:val>
            <c:numRef>
              <c:f>Sheet1!$B$2:$B$4</c:f>
              <c:numCache>
                <c:formatCode>General</c:formatCode>
                <c:ptCount val="3"/>
                <c:pt idx="0">
                  <c:v>2700</c:v>
                </c:pt>
                <c:pt idx="1">
                  <c:v>3150</c:v>
                </c:pt>
                <c:pt idx="2">
                  <c:v>3600</c:v>
                </c:pt>
              </c:numCache>
            </c:numRef>
          </c:val>
          <c:extLst>
            <c:ext xmlns:c16="http://schemas.microsoft.com/office/drawing/2014/chart" uri="{C3380CC4-5D6E-409C-BE32-E72D297353CC}">
              <c16:uniqueId val="{00000000-C1E1-4BD0-8B09-CEEF5EF55042}"/>
            </c:ext>
          </c:extLst>
        </c:ser>
        <c:ser>
          <c:idx val="1"/>
          <c:order val="1"/>
          <c:tx>
            <c:strRef>
              <c:f>Sheet1!$C$1</c:f>
              <c:strCache>
                <c:ptCount val="1"/>
                <c:pt idx="0">
                  <c:v>Cloud et API</c:v>
                </c:pt>
              </c:strCache>
            </c:strRef>
          </c:tx>
          <c:spPr>
            <a:solidFill>
              <a:srgbClr val="0E7C86"/>
            </a:solidFill>
            <a:effectLst/>
          </c:spPr>
          <c:invertIfNegative val="0"/>
          <c:cat>
            <c:strRef>
              <c:f>Sheet1!$A$2:$A$4</c:f>
              <c:strCache>
                <c:ptCount val="3"/>
                <c:pt idx="0">
                  <c:v>A · API d'abord</c:v>
                </c:pt>
                <c:pt idx="1">
                  <c:v>B · Hybride</c:v>
                </c:pt>
                <c:pt idx="2">
                  <c:v>C · Sur site</c:v>
                </c:pt>
              </c:strCache>
            </c:strRef>
          </c:cat>
          <c:val>
            <c:numRef>
              <c:f>Sheet1!$C$2:$C$4</c:f>
              <c:numCache>
                <c:formatCode>General</c:formatCode>
                <c:ptCount val="3"/>
                <c:pt idx="0">
                  <c:v>450</c:v>
                </c:pt>
                <c:pt idx="1">
                  <c:v>250</c:v>
                </c:pt>
                <c:pt idx="2">
                  <c:v>50</c:v>
                </c:pt>
              </c:numCache>
            </c:numRef>
          </c:val>
          <c:extLst>
            <c:ext xmlns:c16="http://schemas.microsoft.com/office/drawing/2014/chart" uri="{C3380CC4-5D6E-409C-BE32-E72D297353CC}">
              <c16:uniqueId val="{00000001-C1E1-4BD0-8B09-CEEF5EF55042}"/>
            </c:ext>
          </c:extLst>
        </c:ser>
        <c:ser>
          <c:idx val="2"/>
          <c:order val="2"/>
          <c:tx>
            <c:strRef>
              <c:f>Sheet1!$D$1</c:f>
              <c:strCache>
                <c:ptCount val="1"/>
                <c:pt idx="0">
                  <c:v>Matériel</c:v>
                </c:pt>
              </c:strCache>
            </c:strRef>
          </c:tx>
          <c:spPr>
            <a:solidFill>
              <a:srgbClr val="33AF7C"/>
            </a:solidFill>
            <a:effectLst/>
          </c:spPr>
          <c:invertIfNegative val="0"/>
          <c:cat>
            <c:strRef>
              <c:f>Sheet1!$A$2:$A$4</c:f>
              <c:strCache>
                <c:ptCount val="3"/>
                <c:pt idx="0">
                  <c:v>A · API d'abord</c:v>
                </c:pt>
                <c:pt idx="1">
                  <c:v>B · Hybride</c:v>
                </c:pt>
                <c:pt idx="2">
                  <c:v>C · Sur site</c:v>
                </c:pt>
              </c:strCache>
            </c:strRef>
          </c:cat>
          <c:val>
            <c:numRef>
              <c:f>Sheet1!$D$2:$D$4</c:f>
              <c:numCache>
                <c:formatCode>General</c:formatCode>
                <c:ptCount val="3"/>
                <c:pt idx="0">
                  <c:v>0</c:v>
                </c:pt>
                <c:pt idx="1">
                  <c:v>300</c:v>
                </c:pt>
                <c:pt idx="2">
                  <c:v>900</c:v>
                </c:pt>
              </c:numCache>
            </c:numRef>
          </c:val>
          <c:extLst>
            <c:ext xmlns:c16="http://schemas.microsoft.com/office/drawing/2014/chart" uri="{C3380CC4-5D6E-409C-BE32-E72D297353CC}">
              <c16:uniqueId val="{00000002-C1E1-4BD0-8B09-CEEF5EF55042}"/>
            </c:ext>
          </c:extLst>
        </c:ser>
        <c:ser>
          <c:idx val="3"/>
          <c:order val="3"/>
          <c:tx>
            <c:strRef>
              <c:f>Sheet1!$E$1</c:f>
              <c:strCache>
                <c:ptCount val="1"/>
                <c:pt idx="0">
                  <c:v>Logiciels</c:v>
                </c:pt>
              </c:strCache>
            </c:strRef>
          </c:tx>
          <c:spPr>
            <a:solidFill>
              <a:srgbClr val="9ED9C0"/>
            </a:solidFill>
            <a:effectLst/>
          </c:spPr>
          <c:invertIfNegative val="0"/>
          <c:cat>
            <c:strRef>
              <c:f>Sheet1!$A$2:$A$4</c:f>
              <c:strCache>
                <c:ptCount val="3"/>
                <c:pt idx="0">
                  <c:v>A · API d'abord</c:v>
                </c:pt>
                <c:pt idx="1">
                  <c:v>B · Hybride</c:v>
                </c:pt>
                <c:pt idx="2">
                  <c:v>C · Sur site</c:v>
                </c:pt>
              </c:strCache>
            </c:strRef>
          </c:cat>
          <c:val>
            <c:numRef>
              <c:f>Sheet1!$E$2:$E$4</c:f>
              <c:numCache>
                <c:formatCode>General</c:formatCode>
                <c:ptCount val="3"/>
                <c:pt idx="0">
                  <c:v>250</c:v>
                </c:pt>
                <c:pt idx="1">
                  <c:v>300</c:v>
                </c:pt>
                <c:pt idx="2">
                  <c:v>350</c:v>
                </c:pt>
              </c:numCache>
            </c:numRef>
          </c:val>
          <c:extLst>
            <c:ext xmlns:c16="http://schemas.microsoft.com/office/drawing/2014/chart" uri="{C3380CC4-5D6E-409C-BE32-E72D297353CC}">
              <c16:uniqueId val="{00000003-C1E1-4BD0-8B09-CEEF5EF55042}"/>
            </c:ext>
          </c:extLst>
        </c:ser>
        <c:ser>
          <c:idx val="4"/>
          <c:order val="4"/>
          <c:tx>
            <c:strRef>
              <c:f>Sheet1!$F$1</c:f>
              <c:strCache>
                <c:ptCount val="1"/>
                <c:pt idx="0">
                  <c:v>Locaux</c:v>
                </c:pt>
              </c:strCache>
            </c:strRef>
          </c:tx>
          <c:spPr>
            <a:solidFill>
              <a:srgbClr val="D49A00"/>
            </a:solidFill>
            <a:effectLst/>
          </c:spPr>
          <c:invertIfNegative val="0"/>
          <c:cat>
            <c:strRef>
              <c:f>Sheet1!$A$2:$A$4</c:f>
              <c:strCache>
                <c:ptCount val="3"/>
                <c:pt idx="0">
                  <c:v>A · API d'abord</c:v>
                </c:pt>
                <c:pt idx="1">
                  <c:v>B · Hybride</c:v>
                </c:pt>
                <c:pt idx="2">
                  <c:v>C · Sur site</c:v>
                </c:pt>
              </c:strCache>
            </c:strRef>
          </c:cat>
          <c:val>
            <c:numRef>
              <c:f>Sheet1!$F$2:$F$4</c:f>
              <c:numCache>
                <c:formatCode>General</c:formatCode>
                <c:ptCount val="3"/>
                <c:pt idx="0">
                  <c:v>0</c:v>
                </c:pt>
                <c:pt idx="1">
                  <c:v>120</c:v>
                </c:pt>
                <c:pt idx="2">
                  <c:v>350</c:v>
                </c:pt>
              </c:numCache>
            </c:numRef>
          </c:val>
          <c:extLst>
            <c:ext xmlns:c16="http://schemas.microsoft.com/office/drawing/2014/chart" uri="{C3380CC4-5D6E-409C-BE32-E72D297353CC}">
              <c16:uniqueId val="{00000004-C1E1-4BD0-8B09-CEEF5EF55042}"/>
            </c:ext>
          </c:extLst>
        </c:ser>
        <c:ser>
          <c:idx val="5"/>
          <c:order val="5"/>
          <c:tx>
            <c:strRef>
              <c:f>Sheet1!$G$1</c:f>
              <c:strCache>
                <c:ptCount val="1"/>
                <c:pt idx="0">
                  <c:v>Gouvernance</c:v>
                </c:pt>
              </c:strCache>
            </c:strRef>
          </c:tx>
          <c:spPr>
            <a:solidFill>
              <a:srgbClr val="A9B5B0"/>
            </a:solidFill>
            <a:effectLst/>
          </c:spPr>
          <c:invertIfNegative val="0"/>
          <c:cat>
            <c:strRef>
              <c:f>Sheet1!$A$2:$A$4</c:f>
              <c:strCache>
                <c:ptCount val="3"/>
                <c:pt idx="0">
                  <c:v>A · API d'abord</c:v>
                </c:pt>
                <c:pt idx="1">
                  <c:v>B · Hybride</c:v>
                </c:pt>
                <c:pt idx="2">
                  <c:v>C · Sur site</c:v>
                </c:pt>
              </c:strCache>
            </c:strRef>
          </c:cat>
          <c:val>
            <c:numRef>
              <c:f>Sheet1!$G$2:$G$4</c:f>
              <c:numCache>
                <c:formatCode>General</c:formatCode>
                <c:ptCount val="3"/>
                <c:pt idx="0">
                  <c:v>200</c:v>
                </c:pt>
                <c:pt idx="1">
                  <c:v>200</c:v>
                </c:pt>
                <c:pt idx="2">
                  <c:v>200</c:v>
                </c:pt>
              </c:numCache>
            </c:numRef>
          </c:val>
          <c:extLst>
            <c:ext xmlns:c16="http://schemas.microsoft.com/office/drawing/2014/chart" uri="{C3380CC4-5D6E-409C-BE32-E72D297353CC}">
              <c16:uniqueId val="{00000005-C1E1-4BD0-8B09-CEEF5EF55042}"/>
            </c:ext>
          </c:extLst>
        </c:ser>
        <c:dLbls>
          <c:showLegendKey val="0"/>
          <c:showVal val="0"/>
          <c:showCatName val="0"/>
          <c:showSerName val="0"/>
          <c:showPercent val="0"/>
          <c:showBubbleSize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7E4"/>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Coût sur cinq ans selon l'intensité de charge (milliers, illustratif)</a:t>
            </a:r>
          </a:p>
        </c:rich>
      </c:tx>
      <c:overlay val="0"/>
    </c:title>
    <c:autoTitleDeleted val="0"/>
    <c:plotArea>
      <c:layout/>
      <c:lineChart>
        <c:grouping val="standard"/>
        <c:varyColors val="0"/>
        <c:ser>
          <c:idx val="0"/>
          <c:order val="0"/>
          <c:tx>
            <c:strRef>
              <c:f>Sheet1!$B$1</c:f>
              <c:strCache>
                <c:ptCount val="1"/>
                <c:pt idx="0">
                  <c:v>A · API d'abord</c:v>
                </c:pt>
              </c:strCache>
            </c:strRef>
          </c:tx>
          <c:spPr>
            <a:ln w="31750" cap="flat">
              <a:solidFill>
                <a:srgbClr val="00A86A"/>
              </a:solidFill>
              <a:prstDash val="solid"/>
              <a:round/>
            </a:ln>
            <a:effectLst/>
          </c:spPr>
          <c:marker>
            <c:symbol val="circle"/>
            <c:size val="7"/>
            <c:spPr>
              <a:solidFill>
                <a:srgbClr val="00A86A"/>
              </a:solidFill>
              <a:ln w="9525" cap="flat">
                <a:solidFill>
                  <a:srgbClr val="00A86A"/>
                </a:solidFill>
                <a:prstDash val="solid"/>
                <a:round/>
              </a:ln>
              <a:effectLst/>
            </c:spPr>
          </c:marker>
          <c:cat>
            <c:strRef>
              <c:f>Sheet1!$A$2:$A$6</c:f>
              <c:strCache>
                <c:ptCount val="5"/>
                <c:pt idx="0">
                  <c:v>1× réf.</c:v>
                </c:pt>
                <c:pt idx="1">
                  <c:v>2×</c:v>
                </c:pt>
                <c:pt idx="2">
                  <c:v>5×</c:v>
                </c:pt>
                <c:pt idx="3">
                  <c:v>10×</c:v>
                </c:pt>
                <c:pt idx="4">
                  <c:v>20×</c:v>
                </c:pt>
              </c:strCache>
            </c:strRef>
          </c:cat>
          <c:val>
            <c:numRef>
              <c:f>Sheet1!$B$2:$B$6</c:f>
              <c:numCache>
                <c:formatCode>General</c:formatCode>
                <c:ptCount val="5"/>
                <c:pt idx="0">
                  <c:v>3600</c:v>
                </c:pt>
                <c:pt idx="1">
                  <c:v>4000</c:v>
                </c:pt>
                <c:pt idx="2">
                  <c:v>5150</c:v>
                </c:pt>
                <c:pt idx="3">
                  <c:v>6950</c:v>
                </c:pt>
                <c:pt idx="4">
                  <c:v>10350</c:v>
                </c:pt>
              </c:numCache>
            </c:numRef>
          </c:val>
          <c:smooth val="0"/>
          <c:extLst>
            <c:ext xmlns:c16="http://schemas.microsoft.com/office/drawing/2014/chart" uri="{C3380CC4-5D6E-409C-BE32-E72D297353CC}">
              <c16:uniqueId val="{00000000-1D8F-488B-B506-8F6197325820}"/>
            </c:ext>
          </c:extLst>
        </c:ser>
        <c:ser>
          <c:idx val="1"/>
          <c:order val="1"/>
          <c:tx>
            <c:strRef>
              <c:f>Sheet1!$C$1</c:f>
              <c:strCache>
                <c:ptCount val="1"/>
                <c:pt idx="0">
                  <c:v>B · Hybride</c:v>
                </c:pt>
              </c:strCache>
            </c:strRef>
          </c:tx>
          <c:spPr>
            <a:ln w="31750" cap="flat">
              <a:solidFill>
                <a:srgbClr val="D49A00"/>
              </a:solidFill>
              <a:prstDash val="solid"/>
              <a:round/>
            </a:ln>
            <a:effectLst/>
          </c:spPr>
          <c:marker>
            <c:symbol val="circle"/>
            <c:size val="7"/>
            <c:spPr>
              <a:solidFill>
                <a:srgbClr val="D49A00"/>
              </a:solidFill>
              <a:ln w="9525" cap="flat">
                <a:solidFill>
                  <a:srgbClr val="D49A00"/>
                </a:solidFill>
                <a:prstDash val="solid"/>
                <a:round/>
              </a:ln>
              <a:effectLst/>
            </c:spPr>
          </c:marker>
          <c:cat>
            <c:strRef>
              <c:f>Sheet1!$A$2:$A$6</c:f>
              <c:strCache>
                <c:ptCount val="5"/>
                <c:pt idx="0">
                  <c:v>1× réf.</c:v>
                </c:pt>
                <c:pt idx="1">
                  <c:v>2×</c:v>
                </c:pt>
                <c:pt idx="2">
                  <c:v>5×</c:v>
                </c:pt>
                <c:pt idx="3">
                  <c:v>10×</c:v>
                </c:pt>
                <c:pt idx="4">
                  <c:v>20×</c:v>
                </c:pt>
              </c:strCache>
            </c:strRef>
          </c:cat>
          <c:val>
            <c:numRef>
              <c:f>Sheet1!$C$2:$C$6</c:f>
              <c:numCache>
                <c:formatCode>General</c:formatCode>
                <c:ptCount val="5"/>
                <c:pt idx="0">
                  <c:v>4320</c:v>
                </c:pt>
                <c:pt idx="1">
                  <c:v>4500</c:v>
                </c:pt>
                <c:pt idx="2">
                  <c:v>5100</c:v>
                </c:pt>
                <c:pt idx="3">
                  <c:v>5900</c:v>
                </c:pt>
                <c:pt idx="4">
                  <c:v>7500</c:v>
                </c:pt>
              </c:numCache>
            </c:numRef>
          </c:val>
          <c:smooth val="0"/>
          <c:extLst>
            <c:ext xmlns:c16="http://schemas.microsoft.com/office/drawing/2014/chart" uri="{C3380CC4-5D6E-409C-BE32-E72D297353CC}">
              <c16:uniqueId val="{00000001-1D8F-488B-B506-8F6197325820}"/>
            </c:ext>
          </c:extLst>
        </c:ser>
        <c:ser>
          <c:idx val="2"/>
          <c:order val="2"/>
          <c:tx>
            <c:strRef>
              <c:f>Sheet1!$D$1</c:f>
              <c:strCache>
                <c:ptCount val="1"/>
                <c:pt idx="0">
                  <c:v>C · Sur site</c:v>
                </c:pt>
              </c:strCache>
            </c:strRef>
          </c:tx>
          <c:spPr>
            <a:ln w="31750" cap="flat">
              <a:solidFill>
                <a:srgbClr val="00553A"/>
              </a:solidFill>
              <a:prstDash val="solid"/>
              <a:round/>
            </a:ln>
            <a:effectLst/>
          </c:spPr>
          <c:marker>
            <c:symbol val="circle"/>
            <c:size val="7"/>
            <c:spPr>
              <a:solidFill>
                <a:srgbClr val="00553A"/>
              </a:solidFill>
              <a:ln w="9525" cap="flat">
                <a:solidFill>
                  <a:srgbClr val="00553A"/>
                </a:solidFill>
                <a:prstDash val="solid"/>
                <a:round/>
              </a:ln>
              <a:effectLst/>
            </c:spPr>
          </c:marker>
          <c:cat>
            <c:strRef>
              <c:f>Sheet1!$A$2:$A$6</c:f>
              <c:strCache>
                <c:ptCount val="5"/>
                <c:pt idx="0">
                  <c:v>1× réf.</c:v>
                </c:pt>
                <c:pt idx="1">
                  <c:v>2×</c:v>
                </c:pt>
                <c:pt idx="2">
                  <c:v>5×</c:v>
                </c:pt>
                <c:pt idx="3">
                  <c:v>10×</c:v>
                </c:pt>
                <c:pt idx="4">
                  <c:v>20×</c:v>
                </c:pt>
              </c:strCache>
            </c:strRef>
          </c:cat>
          <c:val>
            <c:numRef>
              <c:f>Sheet1!$D$2:$D$6</c:f>
              <c:numCache>
                <c:formatCode>General</c:formatCode>
                <c:ptCount val="5"/>
                <c:pt idx="0">
                  <c:v>5450</c:v>
                </c:pt>
                <c:pt idx="1">
                  <c:v>5500</c:v>
                </c:pt>
                <c:pt idx="2">
                  <c:v>5750</c:v>
                </c:pt>
                <c:pt idx="3">
                  <c:v>6200</c:v>
                </c:pt>
                <c:pt idx="4">
                  <c:v>7000</c:v>
                </c:pt>
              </c:numCache>
            </c:numRef>
          </c:val>
          <c:smooth val="0"/>
          <c:extLst>
            <c:ext xmlns:c16="http://schemas.microsoft.com/office/drawing/2014/chart" uri="{C3380CC4-5D6E-409C-BE32-E72D297353CC}">
              <c16:uniqueId val="{00000002-1D8F-488B-B506-8F619732582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in val="3000"/>
        </c:scaling>
        <c:delete val="0"/>
        <c:axPos val="l"/>
        <c:majorGridlines>
          <c:spPr>
            <a:ln w="6350" cap="flat">
              <a:solidFill>
                <a:srgbClr val="E1E7E4"/>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320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Cadre d'ouverture : cette présentation ne cherche pas à désigner le meilleur modèle. Elle porte sur l'environnement d'exploitation dont un producteur de statistiques officielles a besoin avant qu'un modèle puisse contribuer à un chiffre publié. Le public est mixte — statisticiens, équipes informatiques et sécurité, direction — nous restons donc concrets sur l'ingénierie, explicites sur la statistique, et nous relions toujours le propos aux coûts, à la confidentialité et aux ressources humaines. La version 2.0 ajoute des explications en langage simple, un exemple détaillé et des éléments propres aux instituts africains : énergie, hébergement, cadre juridique continental et couverture linguistique.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Énoncez l'objectif simplement : à la fin, chacun doit partager le même vocabulaire et la même vision de ce qu'exige une capacité IA, afin que les décisions de budget, d'hébergement et de recrutement puissent être prises et défendues. Les cinq acquis à droite décrivent ce que les participants doivent savoir faire ensuite ; utilisez-les pour vérifier la compréhension en fin de séance. INS désigne un institut national de statistique.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section 1 construit le vocabulaire commun et l'architecture de référence. Les sections 2 et 3 couvrent ce qu'il faut construire et où l'exécuter. Les sections 4 à 6 portent sur les décisions que vous devrez prendre et défendre : qui peut accéder aux données, combien cela coûte, et qui exploite le système. Chaque section garde sa couleur tout au long de la présentation — observez les petits points en haut à droite. Si le temps manque, ne sautez pas les sections 3, 4 et 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Prenez deux minutes ici : un public mixte utilise souvent le même mot pour des choses différentes. La distinction la plus importante est entre entraînement et inférence : l'entraînement est occasionnel et lourd, l'inférence est continue et légère par requête. Deux autres termes reviendront : la dérive, c'est-à-dire l'évolution progressive des données entrantes qui rend un modèle moins précis, et la sortie de données (egress), c'est-à-dire les données qui quittent un réseau ou un cloud — généralement ce que l'on paie dans le cloud.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budgéter l'IA, il faut être lucide sur ce que l'on budgète. Ce n'est pas un modèle : c'est un système de production assorti d'obligations statistiques. Cette section pose le cadre de tout ce qui suit.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L'article de Sculley et al., « Hidden Technical Debt in Machine Learning Systems », mérite d'être diffusé. Sa figure centrale — reprise à droite — montre le code d'apprentissage automatique comme une petite boîte entourée de boîtes bien plus grandes : configuration, collecte et vérification des données, infrastructure de service, suivi. Toute cette présentation porte sur ces boîtes périphériques. Les fourchettes de 6 à 18 mois et de 20 à 40 % sont des ordres de grandeur tirés de l'expérience du secteur public, pas des mesures ; remplacez-les par vos propres données dès que possible.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étiquettes sont délibérées : « Éprouvé » signale les familles déjà largement en production dans les instituts nationaux, « Émergent » les domaines en phase pilote, et « Validation requise » un cas qui touche directement au contrôle de la divulgation et exige une approbation méthodologique avant tout pilote. Les cas 1 à 4 relèvent surtout de l'apprentissage automatique classique et nécessitent rarement de grands modèles de langage — ce qui a de fortes conséquences sur les coûts. Pour les instituts africains, le cas 6 est particulièrement pertinent : les emprises de bâtiments issues d'images satellites servent de plus en plus à la cartographie censitaire et aux bases de sondage. CITP, CITI, COICOP, CPC et CIM sont les nomenclatures internationales des professions, des activités, de la consommation, des produits et des causes de décès.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Déroulez un seul enregistrement. Un répondant écrit « enseigne aux enfants à l'école primaire du village ». Le texte est nettoyé, le modèle propose le code CITP-08 2341 (enseignants du primaire) avec une confiance de 0,96 ; comme cette valeur dépasse le seuil convenu, le code est accepté automatiquement. Une réponse plus vague, comme « travaille pour l'État », obtiendrait une faible confiance et serait transmise à un codeur. Les chiffres du bas sont purement illustratifs : la part automatisable dépend de vos données, de la nomenclature et du seuil fixé après test sur le jeu de référence. Leçon clé : personne n'est retiré du processus — les codeurs se concentrent sur les cas difficiles et le contrôle qualité.</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anticipe l'objection la plus fréquente : « une start-up l'a fait en six semaines avec deux personnes ». C'est vrai — avec des données qui lui appartenaient, sans secret statistique, sans politique de révision et sans obligation de reproduire le résultat des années plus tard. Aucune de ces contraintes n'excuse la lenteur, mais ce sont de vraies données d'entrée de la conception, et elles ont un coût.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chiffres proviennent de sources publiques récentes et doivent être cités comme tels. Environ 600 millions de personnes en Afrique subsaharienne n'avaient pas accès à l'électricité en 2024 (AIE) — et même les bureaux raccordés subissent des coupures. L'Afrique accueille bien moins de 1 % de la capacité mondiale des centres de données ; l'Africa Data Centres Association l'estime à 0,6 % et note que l'énergie a dépassé la connectivité comme principale contrainte. Plus de 40 pays africains disposent désormais d'une loi sur la protection des données : le paysage juridique mûrit, mais reste inégal. Et moins de 2 % des quelque 2 000 langues africaines sont bien prises en charge par les grands modèles de langage (BCG), ce qui compte pour les réponses ouvertes. L'opportunité : l'essentiel de la valeur pour un INS vient de l'inférence et de l'apprentissage classique, bien moins gourmands en énergie que l'entraînement, et les cadres continentaux encouragent les solutions régionales partagées.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Parcourez le schéma de bas en haut. La couche 1 est ce que l'on imagine en entendant « infrastructure IA », et c'est souvent le coût le plus faible. La couche 2 est celle où la plupart des instituts sont réellement faibles. La couche 3 est ce que demandent les data scientists. La couche 5 protège l'institution. Le plan de gouvernance à droite couvre les cinq couches, car une décision prise à ce niveau — par exemple que les microdonnées identifiantes ne quittent pas les locaux — écarte des options entières à chaque couche. La plupart des initiatives d'IA qui échouent dans l'administration tentent de construire la couche 3 sans les couches 1 et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couche qui détermine si un pilote prometteur peut devenir une statistique de production, et c'est là que se concentre l'essentiel de l'effort d'ingénierie. Nous commençons par la distinction la plus utile pour dimensionner le matériel : entraînement ou inférence.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Utilisez l'analogie du codeur. L'entraînement ressemble aux mois passés à former un nouveau codeur à la nomenclature : intensif, ponctuel, et il faut beaucoup d'exemples. L'inférence, c'est le codeur formé qui traite des questionnaires chaque jour : chaque cas est rapide, mais le travail ne s'arrête jamais et doit être fiable. Un institut entraîne ou affine un modèle quelques fois par an et exécute l'inférence en continu ; le matériel permanent doit donc être dimensionné pour l'inférence, et la capacité d'entraînement peut souvent être louée ou empruntée pour quelques jours.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 durée » est volontairement grossière : elle sert à casser l'idée que toute IA exige le même matériel. Une grande part du travail de codification et de contrôle qui apporte une valeur mesurable dans un INS tourne très bien sur les processeurs dont l'institut dispose déjà. Si quelqu'un propose d'acheter une grappe multi-GPU, demandez-lui dans quelle ligne du tableau il se situe et quel taux d'utilisation soutenu il prévoit. « Go » désigne ici la mémoire du GPU, qui détermine la taille de modèle qu'il peut contenir.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Utilisez l'analogie de la cuisine à droite. Un CPU est une petite équipe de chefs experts : très polyvalents, chacun capable d'enchaîner des tâches complexes. Un GPU est une brigade de milliers de commis : chacun fait une tâche simple, mais tous en même temps. Les réseaux de neurones consistent surtout à répéter des milliards de fois le même calcul simple, d'où l'avantage massif des GPU. L'apprentissage classique, comme le boosting, fonctionne toujours très bien sur CPU. Pour un institut de statistique, le chiffre le plus important d'un GPU est sa mémoire (VRAM), car le modèle entier doit y tenir — la diapositive suivante explique comment la calculer. Prévoir une mémoire système au moins égale au double de la mémoire GPU totale est un usage courant, pas une règle absolue.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Déroulez la formule sur un exemple. Un modèle de 7 milliards de paramètres stocké en précision 16 bits demande deux octets par paramètre, soit 14 Go, plus environ 20 % de mémoire de travail pendant les réponses (le « cache KV » et l'environnement d'exécution), soit près de 17 Go — il tient sur une carte de 24 Go. Le même modèle compressé en 4 bits demande environ 4 Go. La compression, appelée quantification, coûte généralement peu en précision à 8 bits ; à 4 bits la perte varie, d'où l'importance de tester sur le jeu de référence. Le surcoût augmente avec les longs documents et le nombre d'utilisateurs simultanés : considérez 20 % comme un minimum. L'entraînement est d'un autre ordre : un affinage complet avec un optimiseur standard demande environ 16 à 20 octets par paramètre (poids, gradients, états de l'optimiseur). Les méthodes efficaces comme LoRA et QLoRA réduisent assez ce besoin pour affiner des modèles moyens sur une seule carte.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L'essentiel de cette diapositive, ce sont les catégories, pas les marques. Les cartes d'entrée de gamme et d'inférence s'installent dans des serveurs ordinaires et consomment peu. Les cartes PCIe de classe station de travail ont désormais assez de mémoire pour exécuter un modèle de 70 milliards de paramètres compressé sur une seule carte, mais il leur manque les liaisons rapides entre GPU (comme NVLink) qui permettent aux GPU de centre de données de fonctionner comme une seule grande machine. Les GPU de centre de données sont conçus pour l'entraînement multi-GPU et les très grands modèles, avec les besoins en énergie et en refroidissement vus plus haut. Les systèmes IA de bureau à grande mémoire partagée sont une option récente et sobre pour le prototypage. Les accélérateurs réservés au cloud peuvent être excellents, mais ne concernent que les données dont la classification autorise le cloud. Avant tout achat, vérifiez que les logiciels de votre équipe le prennent en charge — l'écosystème CUDA de NVIDIA est le plus largement supporté ; ROCm d'AMD progresse. Les mémoires indiquées proviennent des fiches techniques des fabricants (2026).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niveaux sont des archétypes de planification, pas des recommandations de produits. La plupart des instituts devraient commencer au niveau Démarrage, qui permet l'apprentissage classique, les classifieurs de texte et de petits modèles de langage compressés pour une équipe. Passez au niveau Standard seulement quand un usage a franchi son jalon d'évaluation et que la demande est durable. Le niveau Avancé se justifie rarement pour un seul institut : ses besoins en énergie, refroidissement et personnel sont importants, et la même capacité peut souvent être louée pour de courts entraînements ou mutualisée au niveau national ou régional. Les fourchettes de coût sont des prix indicatifs du matériel en 2026, hors travaux, logiciels et personnel — demandez des devis actuels, droits d'importation et effets de change compris.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traduit les précédentes en langage de cahier des charges. Deux points méritent l'attention des instituts africains. D'abord, le support local : un serveur GPU dont la pièce détachée met six semaines à arriver est de fait hors service six semaines ; exigez un support national ou régional et des engagements sur les pièces. Ensuite, le contrôle des exportations : les accélérateurs IA avancés sont soumis à des règles d'exportation dans certains pays fournisseurs, et ces règles ont changé plusieurs fois ces dernières années ; demandez aux fournisseurs de confirmer par écrit les conditions de licence et de livraison avant l'attribution. Sur les cartes grand public pour le jeu : bon marché et rapides, elles n'ont ni mémoire à correction d'erreurs ni support centre de données, et la licence du fabricant peut restreindre leur usage en centre de données. Enfin, le principe « louer avant d'acheter » : quelques mois sur des GPU loués ou mutualisés donnent des données réelles d'utilisation, le meilleur argument pour — ou contre — un achat.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le point 3 si des collègues de la logistique sont présents. Dans plusieurs instituts, le programme d'IA a été retardé non par l'achat des serveurs, mais par les travaux électriques et de climatisation nécessaires pour les accueillir. Établissez la puissance maximale par baie de votre salle serveurs avant de spécifier le matériel. Le point 5 est la cause la plus fréquente de dépassement d'une facture cloud.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concerne les instituts confrontés à des coupures ou à une bande passante limitée. Le principe : concevoir pour qu'une interruption coûte des minutes, pas des jours. Les points de reprise consistent à sauvegarder régulièrement l'avancement d'un long traitement pour qu'il puisse reprendre après une coupure. « Hors ligne d'abord » signifie conserver des copies locales des paquets logiciels, des images de conteneurs et des poids de modèles, afin qu'une installation ne dépende pas d'une liaison internationale lente. Une capacité partagée — centre de données gouvernemental, centre de calcul universitaire ou accord entre pairs — est souvent plus réaliste qu'une salle résiliente par institut. Mission 300 est un élément de contexte : le Groupe de la Banque mondiale et la Banque africaine de développement visent à raccorder 300 millions de personnes en Afrique subsaharienne à l'électricité d'ici 2030.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l'argument à utiliser face à un directeur financier sceptique. Chaque capacité présentée ici se justifie déjà par les besoins de la production statistique : traçabilité, catalogage, contrôle d'accès et instantanés versionnés sont des obligations du cadre qualité. L'IA rend simplement leur absence impossible à ignorer. Ce cadrage transforme une discussion budgétaire sur l'IA en discussion sur la modernisation, plus facile à gagner. GSIM est le modèle générique d'information statistique ; SDMX est la norme d'échange de données et métadonnées statistiques.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un fournisseur ou une équipe enthousiaste demande du matériel, la bonne première question est : « montrez-moi le jeu d'évaluation ». Sans jeu d'évaluation figé, documenté, et sans niveau de performance humaine mesuré, aucune puissance de calcul ne produira un résultat acceptable pour le comité de méthodologie. À l'inverse, un institut doté d'un bon jeu de référence peut évaluer une API en une semaine et savoir exactement ce qu'il achète. L'accord inter-annotateurs mesure la fréquence à laquelle deux codeurs formés attribuent le même code à la même réponse.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Expliquez en deux temps. D'abord la préparation, en bas : les documents, comme les manuels de méthodologie, sont découpés en courts passages ; chaque passage est transformé en une liste de nombres (un plongement vectoriel) qui en capture le sens, puis stocké dans un index vectoriel. Ensuite la réponse, en haut : la question est elle aussi transformée en vecteur, l'index retrouve les passages les plus proches, et le modèle de langage rédige une réponse en s'appuyant uniquement sur ces passages, qu'il cite. L'avantage : pas besoin de réentraîner le modèle quand les documents changent. Le risque, repris en section 4 : l'index est en pratique une copie des documents ; il doit donc être classifié et filtrer les résultats selon les droits de chaque utilisateur.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étapes mises en évidence distinguent la chaîne d'un INS de celle d'une entreprise. Dans l'industrie, l'étape 4 est souvent une simple métrique et l'étape 5 la décision d'un chef de produit. Ici, l'étape 4 doit inclure la comparaison avec la performance humaine et une ventilation par sous-populations, et l'étape 5 doit impliquer l'autorité qui valide tout autre changement méthodologique. Créez l'entrée au registre à l'étape 5 : c'est le document que les auditeurs demanderont.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Imprimez cette diapositive et affichez-la. Presque tous les conflits entre un analyste pressé et un responsable sécurité prudent portent en réalité sur la case à laquelle appartient un travail. Rendre les cases explicites et nommer qui approuve chaque promotion transforme un débat de confiance en question de procédure. L'environnement de développement autorise explicitement les données synthétiques : investir dans de bonnes versions synthétiques de vos principales microdonnées se rentabilise vite.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qui surprend le plus les informaticiens et rassure le plus les méthodologues. Règle pratique recommandée : les modèles génératifs peuvent proposer, classer, extraire ou rédiger, mais la valeur qui entre dans le résultat publié doit provenir d'une étape déterministe — une règle, une table de correspondance, un classifieur validé ou une décision humaine. Sinon, héberger soi-même un modèle à poids ouverts figés est le seul moyen de garantir que le modèle exécuté cette année est celui que l'on pourra relancer dans cinq ans. La « température » est le paramètre qui règle le caractère aléatoire des réponses d'un modèle génératif.</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modèles d'hébergement, sept critères de décision, et le modèle hybride vers lequel convergent la plupart des instituts une fois l'analyse juridique faite. La section se termine par un court exercice.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Résistez à la tentation de choisir un seul modèle pour tout l'institut. Une cible réaliste utilise A pour les microdonnées identifiantes, B ou C pour les traitements lourds non sensibles et les pics, et D pour l'assistance générale sur des contenus publics. Le coût de trois modèles tient surtout au maintien d'un plan unique d'identité, de catalogue et d'audit — raison pour laquelle ce plan doit être conçu en premier. Dans de nombreux pays africains, l'option B correspond à un centre de données ou un cloud gouvernemental national.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Utilisez ce tableau en atelier : prenez trois cas d'usage, parcourez les sept lignes et notez la conclusion. Cela prend vingt minutes et tranche souvent un débat qui dure depuis des mois. La ligne « mécanismes budgétaires » est souvent décisive en pratique : beaucoup d'instituts obtiennent des crédits d'investissement pour du matériel, mais pas une ligne de fonctionnement pluriannuelle garantie pour le cloud — et beaucoup dépendent de projets financés par des bailleurs, limités dans le temps, ce qui oriente vers des options à faible coût récurrent.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6 fait échouer les dossiers « sur site » après leur approbation. Les instituts financent le matériel en supposant que l'équipe infrastructure existante absorbera l'exploitation. Or un parc GPU n'est pas un parc de serveurs ordinaires : compatibilité des pilotes et bibliothèques, ordonnancement et partage entre équipes sont des tâches spécialisées. Si vous ne pouvez pas créer les postes, choisissez B ou C : une grappe non administrée est pire que pas de grappe. Dans les programmes financés par des bailleurs, assurez-vous que le renouvellement et le personnel sont repris par le budget national avant la clôture du projet.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Résidence ou juridiction : c'est une question juridique dont la réponse varie selon les pays et évolue encore. Sur le plan opérationnel, l'essentiel est que votre politique de classification prenne position, sur avis juridique, et soit revue périodiquement. Les instituts ont des problèmes quand personne n'a posé la question, pas quand ils y ont répondu prudemment. Pour les instituts africains, le risque de change est un piège supplémentaire : les factures cloud sont généralement libellées en dollars, et une dépréciation de la monnaie locale augmente le coût en cours d'année.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capacité des centres de données est concentrée sur le continent : une étude sectorielle de septembre 2025 recensait 211 centres opérationnels, dont 46 % en Afrique du Sud, au Kenya, au Nigeria et en Égypte. Plusieurs gouvernements exploitent des centres de données ou des clouds nationaux capables d'accueillir des traitements statistiques dans un cadre public. Les régions des grands fournisseurs cloud sont surtout situées en Afrique du Sud, avec de nouvelles implantations, par exemple la première région cloud publique d'Oracle au Kenya. Héberger dans un autre pays exige toujours une base légale explicite au regard de la loi statistique et de la loi sur les données. Les questions de droite s'appliquent à tout hébergeur, y compris public.</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clé se trouve en bas. Exploiter trois niveaux est gérable ; exploiter trois niveaux avec trois systèmes d'identité, trois catalogues et trois pistes d'audit ne l'est pas. Si vous ne retenez qu'une décision d'architecture, retenez celle-ci : construire le plan de contrôle une seule fois, de façon centrale, et obliger chaque niveau à s'y rattacher. C'est ce qui permet de répondre à la question de l'auditeur « qui a utilisé quel modèle, sur quelles données, et quand ? » par une simple requête plutôt que par une enquête. Les libellés T3 à T0 sont ceux du tableau de classification présenté en section 4.</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Notez l'asymétrie : tout ce que l'on développe est proche de la méthodologie statistique, tout ce que l'on adopte relève de l'infrastructure. C'est précisément le critère. Face à une proposition de développement, demandez si elle incarne un savoir institutionnel qui vous est propre. Sinon, vous vous apprêtez à consacrer un personnel rare à de l'ingénierie générique. Airflow, Argo et Kubeflow sont des exemples d'outils libres d'orchestration très répandus.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remarques pratiques. D'abord, l'écart de capacité qui rendait les modèles propriétaires incontournables s'est nettement réduit pour les tâches d'extraction et de classification qui dominent la statistique officielle — évaluez sur votre propre jeu de référence plutôt que sur des classements publics. Pour les langues africaines, testez soigneusement les deux types : la couverture varie beaucoup. Ensuite, c'est la passerelle qui fait de ce choix un portefeuille : si tous les appels passent par une interface interne unique, changer de modèle devient un simple paramétrage, pas un chantier.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Menez cet exercice en groupe. Lisez chaque cas, laissez deux minutes, puis dévoilez la réponse. Cas 1 : des microdonnées de recensement identifiantes relèvent du niveau T3 — elles restent sur site avec un modèle ouvert auto-hébergé, quel que soit l'argument de coût. Cas 2 : un bulletin publié est un contenu public, de niveau T0 ; une API gérée via la passerelle convient, avec une relecture humaine car la qualité linguistique varie. Cas 3 : des manuels internes relèvent du niveau T1 — non publics mais sans microdonnées ; un cloud d'entreprise sous contrat convient, à condition que la recherche respecte les droits de chaque utilisateur. Cas 4 : des images satellites publiques avec un besoin d'entraînement court et intense sont le cas typique de location de capacité cloud dédiée.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secret statistique est une obligation légale, et l'IA générative crée des voies de divulgation pour lesquelles les contrôles existants n'ont pas été conçus. Cette section traduit cette préoccupation en politiques et en contrôles concrets.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les points 1 et 3. L'IA fantôme — l'usage d'outils publics non autorisés par le personnel — existe déjà dans toute organisation d'une certaine taille. La parade consiste à fournir rapidement une alternative interne approuvée, accompagnée de règles claires et de contrôles techniques sur les flux sortants. Les index vectoriels sont le risque dormant : les équipes les créent comme un simple artefact technique que personne ne classifie, et un corpus confidentiel se retrouve dans une base sans sécurité par ligne ni politique de conservation.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Lisez la matrice ligne par ligne. Le niveau mondial fixe les principes ; le niveau continental comporte des instruments propres à l'Afrique : la Charte africaine de la statistique, la Stratégie pour l'harmonisation des statistiques en Afrique (SHaSA 2), la Convention de Malabo sur la cybersécurité et la protection des données à caractère personnel, entrée en vigueur le 8 juin 2023, le Cadre de politique des données de l'UA, et la Stratégie continentale de l'UA sur l'IA, approuvée en juillet 2024. Le règlement européen sur l'IA figure comme modèle de référence, car de nombreux pays s'inspirent de son approche par les risques, et parce qu'il peut s'appliquer aux travaux menés avec des partenaires européens. Le niveau national porte le détail contraignant — adaptez-le à votre pays. Exemples de lois nationales : la loi kényane de 2019 sur la protection des données, la loi nigériane de 2023 et la loi POPIA en Afrique du Sud.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vous ne mettez en œuvre qu'une chose de cette présentation, que ce soit ce tableau. Rédigez-le avec le juridique, le délégué à la protection des données et le responsable de la méthodologie ; faites-le approuver par la direction ; publiez-le sur l'intranet à côté de la charte d'utilisation. Les quatre niveaux sont un point de départ : alignez les libellés sur le schéma de classification déjà utilisé par votre sécurité de l'information, pour ne pas imposer un second vocabulaire.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passerelle occupe le centre de la diapositive parce qu'elle rend réalisables presque tous les autres engagements de cette présentation. Imputation des coûts, portabilité des modèles, audit, masquage et quotas deviennent du paramétrage plutôt que du développement spécifique. Un ingénieur plateforme compétent peut l'assembler à partir de composants libres en quelques semaines. L'erreur est de la reporter jusqu'à ce que plusieurs équipes se soient connectées directement aux fournisseurs.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6 manque souvent et sert toujours. Demandez à toute équipe qui propose un modèle : quel est le plan de repli s'il se dégrade en pleine période de diffusion, et quand l'avez-vous testé ? Si la réponse est « nous reviendrions au codage manuel », vérifiez que cette capacité existe encore — dans plusieurs instituts, elle a été démantelée après l'automatisation, ne laissant aucun repli. Une fiche de modèle est un court document standard qui décrit ce que fait le modèle, comment il a été entraîné et testé, et ses limites.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GSBPM est le modèle générique du processus de production statistique. La règle d'orientation par la confiance est le cœur pratique de l'IA en production statistique — nous l'avons vue dans l'exemple détaillé. Un modèle qui code avec confiance et justesse la majorité des réponses et transmet le reste aux codeurs est bien plus utile, et bien plus facile à faire valider, qu'un modèle qui code tout avec une précision à peine supérieure à celle des humains sans permettre de savoir quels cas sont erronés. Concevez dès le départ un score de confiance calibré et un seuil de renvoi explicite.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Utilisez cette diapositive comme un exercice de simulation plutôt que comme un exposé. Demandez : lequel de ces cinq scénarios pourrait survenir ici le mois prochain, et qui s'en apercevrait le premier ? Pour la plupart des instituts, la réponse honnête est le scénario 1 — et personne ne s'en apercevrait. Cette prise de conscience débloque généralement le financement de la passerelle et de l'outil interne autorisé.</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Où va réellement l'argent, comment le coût total de possession sur cinq ans évolue avec le volume, et comment rédiger une demande qui résiste à un comité budgétaire. Tous les chiffres de cette section relèvent d'un modèle de planification illustratif, pas de devis.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poste 8 est celui à défendre le plus fermement. Un projet d'investissement qui livre un modèle puis se termine laisse l'institut avec une dépendance de production sans responsable financé — un schéma bien connu des projets financés par les bailleurs. Prévoir 15 à 25 % du coût de construction par an est un ordre de grandeur courant pour les systèmes à forte composante logicielle ; ajustez-le à votre expérience, mais ne le fixez jamais à zéro.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Précisez que ces proportions viennent d'un modèle de planification, pas d'une mesure. Leur intérêt est comparatif : le débat sur l'hébergement, qui occupe l'essentiel de l'attention des comités, pèse sur la plus petite partie de la facture, tandis que le modèle de dotation en personnel, bien moins examiné, pèse sur la plus grande. Remplacez ces parts par vos propres grilles salariales, prix de l'énergie et tarifs fournisseurs.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sert à désamorcer un débat, pas à chiffrer un achat. Les comités passent souvent des mois sur la question « cloud ou sur site » comme si elle représentait tout le budget. Au volume de référence, elle fait varier environ un tiers du total, et le premier segment de chaque barre est le personnel. Les montants sont des unités de planification génériques : reconstruisez le modèle avec vos grilles salariales, prix de l'énergie et tarifs actuels avant toute soumission.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graphique le plus utile de la section pour un public technique. La tarification à l'usage croît à peu près proportionnellement au volume, tandis qu'une capacité propre forme une marche avec un plancher élevé. La réponse dépend de votre position sur l'axe horizontal et de votre certitude d'y rester. La plupart des instituts sont à une ou deux fois le volume de référence et se croient à dix — c'est ainsi que l'on achète des parcs GPU inutilisés.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piège 6 est structurel et mérite une discussion directe avec les finances. Les mécanismes de financement publics — y compris beaucoup de projets de partenaires au développement — sont conçus pour des projets à durée limitée, alors qu'une capacité IA est une dépendance opérationnelle permanente. Si le financement par projet est le seul instrument disponible, obtenez au minimum un engagement écrit sur qui porte le budget d'exploitation dès la clôture du projet.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FinOps désigne simplement la gestion des dépenses cloud et IA comme une discipline opérationnelle continue. Le contrôle 5 mérite qu'on s'y attarde. Les équipes choisissent par défaut le modèle le plus puissant, car c'est le choix le plus sûr pour elles. Une règle qui commence par un petit modèle et ne monte en gamme que sur besoin mesuré supprime souvent une large part des dépenses d'inférence sans perte de qualité mesurable sur les tâches de classification et d'extraction. Le démontrer exige un banc d'évaluation — une raison de plus d'en construire un tôt.</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la promesse de réduction d'effectifs : c'est tentant, c'est ce que les finances veulent entendre, et c'est généralement faux et nuisible. En pratique, la codification automatique redéploie les codeurs vers les cas difficiles et le contrôle qualité, et rend possibles des productions jusqu'ici inabordables. Promettre des économies qui ne se matérialisent pas ruine la crédibilité de la demande suivante et braque le personnel dont vous avez besoin. Avec les partenaires au développement, même logique : demandez un financement de plateforme et d'exploitation, pas seulement d'un pilote.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capacité est une équipe, pas une plateforme. Cette section présente les profils nécessaires, les moyens de les attirer et de les garder avec des grilles salariales publiques, et l'ordre des travaux sur vingt-quatre mois.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 marché » est déterminante. Les data scientists sont visibles et relativement faciles à attirer avec des données intéressantes. Les ingénieurs de données et de plateforme sont plus difficiles à attirer et à retenir, et ce sont eux qui déterminent si quelque chose arrive en production. Si vous ne pouvez financer que deux postes, financez un ingénieur de données et un ingénieur plateforme, et développez la modélisation à partir de vos méthodologues. ETP signifie équivalent temps plein.</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stratégie 1 est la plus sous-estimée. Un méthodologue qui maîtrise l'erreur d'enquête, les règles de nomenclature et le contrôle de la divulgation, puis apprend l'apprentissage automatique appliqué, vaut davantage ici qu'un spécialiste qui doit tout apprendre de la statistique officielle. Comptez six à douze mois d'apprentissage structuré à temps partiel sur des projets réels. Côté partenariats : universités, centres régionaux de formation statistique, instituts pairs et partenaires au développement apportent des compétences que le salaire ne peut acheter.</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 direction » est la plus souvent oubliée, et c'est elle qui détermine l'utilité des deux autres. Une direction incapable de lire un rapport d'évaluation approuvera des projets sur la base de démonstrations — choisies pour impressionner. Le point le plus précieux est le dernier : savoir quels éléments doivent conduire à arrêter un projet, et avoir la volonté de le faire. L'injection de requête désigne des instructions cachées dans un texte qui amènent un modèle à faire autre chose que prévu.</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Menez cette auto-évaluation avec l'équipe de direction, en appliquant la règle du maillon le plus faible. Cas fréquent : un institut doté d'un modèle impressionnant construit par une seule personne talentueuse se croit au niveau 3, alors qu'il est au niveau 1 avec un point unique de défaillance. Le reconnaître honnêtement justifie généralement l'investissement dans le travail peu spectaculaire de plateforme et de gouvernance. Réévaluez chaque année et ne sautez pas de niveau.</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jalons sont l'essentiel de cette diapositive. Chacun est une condition factuelle vérifiable, pas un jugement. Le plus difficile à tenir politiquement est celui de la phase 1, car on est tenté de déclarer une démonstration réussie et de passer à la suite. L'évaluation face à la référence humaine vous protège : si le modèle ne bat pas vos propres codeurs sur votre jeu de test figé, aucun enthousiasme ne doit le faire passer en production. Les durées sont indicatives ; un institut qui part du niveau 1 ou dont les marchés sont longs doit s'attendre à des premières phases plus longues.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dernière mérite un débat ouvert, car c'est là que la rigueur méthodologique peut bloquer ses propres objectifs. Exiger d'un modèle plus que du processus qu'il remplace n'est pas de la prudence, c'est un double standard non examiné. La réponse n'est pas de baisser l'exigence, mais de mesurer correctement le processus manuel existant — ce que peu d'instituts ont fait — et d'appliquer aux deux la même norme publiée.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Distribuez cette page. Elle fonctionne bien comme auto-évaluation avant une discussion de direction, car les réponses sont factuelles et non des intentions — le tableau de classification est approuvé ou il ne l'est pas. Le point 10 est le plus souvent coté « non », et c'est celui qui prédit le mieux une capacité qui se dégrade discrètement la troisième année.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Concluez sur les points 4 et 10. Le point 4, parce qu'il tranche le débat récurrent sur le cloud d'une manière défendable devant un auditeur comme devant un répondant. Le point 10, parce que le meilleur indicateur de la présence d'IA en production dans trois ans n'est ni le budget ni le choix technologique, mais le fait d'avoir posé les fondations peu spectaculaires avant de courir après le cas d'usage visible.</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chiffres des diapositives sur le contexte africain proviennent des sources de la colonne de droite ; vérifiez les mises à jour avant réutilisation, car ces données évoluent vite. Les montants de la section 5 relèvent d'un modèle de planification illustratif et ne sont pas des données sourcées. Les titres des rapports publiés uniquement en anglais sont laissés en version originale.</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11" Type="http://schemas.openxmlformats.org/officeDocument/2006/relationships/image" Target="../media/image21.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1.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3.png"/><Relationship Id="rId9"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51.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40.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png"/><Relationship Id="rId9"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14.pn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4.png"/><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png"/></Relationships>
</file>

<file path=ppt/slides/_rels/slide22.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8.png"/><Relationship Id="rId7"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91.png"/><Relationship Id="rId5" Type="http://schemas.openxmlformats.org/officeDocument/2006/relationships/image" Target="../media/image11.png"/><Relationship Id="rId10" Type="http://schemas.openxmlformats.org/officeDocument/2006/relationships/image" Target="../media/image54.png"/><Relationship Id="rId4" Type="http://schemas.openxmlformats.org/officeDocument/2006/relationships/image" Target="../media/image89.png"/><Relationship Id="rId9" Type="http://schemas.openxmlformats.org/officeDocument/2006/relationships/image" Target="../media/image61.png"/></Relationships>
</file>

<file path=ppt/slides/_rels/slide2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21.png"/><Relationship Id="rId4" Type="http://schemas.openxmlformats.org/officeDocument/2006/relationships/image" Target="../media/image93.png"/><Relationship Id="rId9" Type="http://schemas.openxmlformats.org/officeDocument/2006/relationships/image" Target="../media/image98.png"/></Relationships>
</file>

<file path=ppt/slides/_rels/slide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s>
</file>

<file path=ppt/slides/_rels/slide2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21.png"/><Relationship Id="rId3" Type="http://schemas.openxmlformats.org/officeDocument/2006/relationships/image" Target="../media/image35.png"/><Relationship Id="rId7" Type="http://schemas.openxmlformats.org/officeDocument/2006/relationships/image" Target="../media/image105.png"/><Relationship Id="rId12" Type="http://schemas.openxmlformats.org/officeDocument/2006/relationships/image" Target="../media/image109.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04.png"/><Relationship Id="rId11" Type="http://schemas.openxmlformats.org/officeDocument/2006/relationships/image" Target="../media/image108.png"/><Relationship Id="rId5" Type="http://schemas.openxmlformats.org/officeDocument/2006/relationships/image" Target="../media/image11.png"/><Relationship Id="rId10" Type="http://schemas.openxmlformats.org/officeDocument/2006/relationships/image" Target="../media/image107.png"/><Relationship Id="rId4" Type="http://schemas.openxmlformats.org/officeDocument/2006/relationships/image" Target="../media/image103.png"/><Relationship Id="rId9" Type="http://schemas.openxmlformats.org/officeDocument/2006/relationships/image" Target="../media/image10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7.png"/><Relationship Id="rId4" Type="http://schemas.openxmlformats.org/officeDocument/2006/relationships/image" Target="../media/image111.png"/></Relationships>
</file>

<file path=ppt/slides/_rels/slide30.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3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0.png"/><Relationship Id="rId7"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21.png"/><Relationship Id="rId5" Type="http://schemas.openxmlformats.org/officeDocument/2006/relationships/image" Target="../media/image5.png"/><Relationship Id="rId4" Type="http://schemas.openxmlformats.org/officeDocument/2006/relationships/image" Target="../media/image82.png"/><Relationship Id="rId9" Type="http://schemas.openxmlformats.org/officeDocument/2006/relationships/image" Target="../media/image115.png"/></Relationships>
</file>

<file path=ppt/slides/_rels/slide32.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74.png"/><Relationship Id="rId7"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113.png"/><Relationship Id="rId11" Type="http://schemas.openxmlformats.org/officeDocument/2006/relationships/image" Target="../media/image21.png"/><Relationship Id="rId5" Type="http://schemas.openxmlformats.org/officeDocument/2006/relationships/image" Target="../media/image76.png"/><Relationship Id="rId10" Type="http://schemas.openxmlformats.org/officeDocument/2006/relationships/image" Target="../media/image116.png"/><Relationship Id="rId4" Type="http://schemas.openxmlformats.org/officeDocument/2006/relationships/image" Target="../media/image80.png"/><Relationship Id="rId9" Type="http://schemas.openxmlformats.org/officeDocument/2006/relationships/image" Target="../media/image124.png"/></Relationships>
</file>

<file path=ppt/slides/_rels/slide33.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10.png"/><Relationship Id="rId7" Type="http://schemas.openxmlformats.org/officeDocument/2006/relationships/image" Target="../media/image127.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11.png"/></Relationships>
</file>

<file path=ppt/slides/_rels/slide3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12.png"/><Relationship Id="rId7" Type="http://schemas.openxmlformats.org/officeDocument/2006/relationships/image" Target="../media/image130.png"/><Relationship Id="rId12" Type="http://schemas.openxmlformats.org/officeDocument/2006/relationships/image" Target="../media/image13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00.png"/><Relationship Id="rId11" Type="http://schemas.openxmlformats.org/officeDocument/2006/relationships/image" Target="../media/image96.png"/><Relationship Id="rId5" Type="http://schemas.openxmlformats.org/officeDocument/2006/relationships/image" Target="../media/image129.png"/><Relationship Id="rId10" Type="http://schemas.openxmlformats.org/officeDocument/2006/relationships/image" Target="../media/image132.png"/><Relationship Id="rId4" Type="http://schemas.openxmlformats.org/officeDocument/2006/relationships/image" Target="../media/image101.png"/><Relationship Id="rId9" Type="http://schemas.openxmlformats.org/officeDocument/2006/relationships/image" Target="../media/image131.png"/></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39.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29.png"/><Relationship Id="rId7" Type="http://schemas.openxmlformats.org/officeDocument/2006/relationships/image" Target="../media/image138.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137.png"/><Relationship Id="rId5" Type="http://schemas.openxmlformats.org/officeDocument/2006/relationships/image" Target="../media/image136.png"/><Relationship Id="rId10" Type="http://schemas.openxmlformats.org/officeDocument/2006/relationships/image" Target="../media/image21.png"/><Relationship Id="rId4" Type="http://schemas.openxmlformats.org/officeDocument/2006/relationships/image" Target="../media/image135.png"/><Relationship Id="rId9" Type="http://schemas.openxmlformats.org/officeDocument/2006/relationships/image" Target="../media/image140.png"/></Relationships>
</file>

<file path=ppt/slides/_rels/slide40.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image" Target="../media/image141.png"/><Relationship Id="rId7" Type="http://schemas.openxmlformats.org/officeDocument/2006/relationships/image" Target="../media/image12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43.png"/><Relationship Id="rId4" Type="http://schemas.openxmlformats.org/officeDocument/2006/relationships/image" Target="../media/image142.png"/><Relationship Id="rId9" Type="http://schemas.openxmlformats.org/officeDocument/2006/relationships/image" Target="../media/image145.png"/></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image" Target="../media/image146.png"/><Relationship Id="rId7"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148.png"/><Relationship Id="rId11" Type="http://schemas.openxmlformats.org/officeDocument/2006/relationships/image" Target="../media/image21.png"/><Relationship Id="rId5" Type="http://schemas.openxmlformats.org/officeDocument/2006/relationships/image" Target="../media/image147.png"/><Relationship Id="rId10" Type="http://schemas.openxmlformats.org/officeDocument/2006/relationships/image" Target="../media/image151.png"/><Relationship Id="rId4" Type="http://schemas.openxmlformats.org/officeDocument/2006/relationships/image" Target="../media/image131.png"/><Relationship Id="rId9" Type="http://schemas.openxmlformats.org/officeDocument/2006/relationships/image" Target="../media/image150.png"/></Relationships>
</file>

<file path=ppt/slides/_rels/slide43.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52.png"/><Relationship Id="rId7" Type="http://schemas.openxmlformats.org/officeDocument/2006/relationships/image" Target="../media/image14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54.png"/><Relationship Id="rId5" Type="http://schemas.openxmlformats.org/officeDocument/2006/relationships/image" Target="../media/image137.png"/><Relationship Id="rId4" Type="http://schemas.openxmlformats.org/officeDocument/2006/relationships/image" Target="../media/image153.png"/></Relationships>
</file>

<file path=ppt/slides/_rels/slide4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21.png"/><Relationship Id="rId4" Type="http://schemas.openxmlformats.org/officeDocument/2006/relationships/image" Target="../media/image66.png"/><Relationship Id="rId9" Type="http://schemas.openxmlformats.org/officeDocument/2006/relationships/image" Target="../media/image32.png"/></Relationships>
</file>

<file path=ppt/slides/_rels/slide4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9.png"/><Relationship Id="rId7" Type="http://schemas.openxmlformats.org/officeDocument/2006/relationships/image" Target="../media/image158.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59.png"/></Relationships>
</file>

<file path=ppt/slides/_rels/slide47.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0.png"/><Relationship Id="rId7" Type="http://schemas.openxmlformats.org/officeDocument/2006/relationships/image" Target="../media/image164.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s>
</file>

<file path=ppt/slides/_rels/slide4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16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165.png"/><Relationship Id="rId5" Type="http://schemas.openxmlformats.org/officeDocument/2006/relationships/image" Target="../media/image161.png"/><Relationship Id="rId4" Type="http://schemas.openxmlformats.org/officeDocument/2006/relationships/image" Target="../media/image160.png"/></Relationships>
</file>

<file path=ppt/slides/_rels/slide4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69.png"/><Relationship Id="rId7" Type="http://schemas.openxmlformats.org/officeDocument/2006/relationships/image" Target="../media/image16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162.png"/><Relationship Id="rId5" Type="http://schemas.openxmlformats.org/officeDocument/2006/relationships/image" Target="../media/image171.png"/><Relationship Id="rId10" Type="http://schemas.openxmlformats.org/officeDocument/2006/relationships/image" Target="../media/image168.png"/><Relationship Id="rId4" Type="http://schemas.openxmlformats.org/officeDocument/2006/relationships/image" Target="../media/image170.png"/><Relationship Id="rId9" Type="http://schemas.openxmlformats.org/officeDocument/2006/relationships/image" Target="../media/image172.png"/></Relationships>
</file>

<file path=ppt/slides/_rels/slide52.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74.png"/></Relationships>
</file>

<file path=ppt/slides/_rels/slide53.xml.rels><?xml version="1.0" encoding="UTF-8" standalone="yes"?>
<Relationships xmlns="http://schemas.openxmlformats.org/package/2006/relationships"><Relationship Id="rId3" Type="http://schemas.openxmlformats.org/officeDocument/2006/relationships/image" Target="../media/image175.png"/><Relationship Id="rId7" Type="http://schemas.openxmlformats.org/officeDocument/2006/relationships/image" Target="../media/image168.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176.png"/><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7.png"/><Relationship Id="rId7" Type="http://schemas.openxmlformats.org/officeDocument/2006/relationships/image" Target="../media/image179.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178.png"/><Relationship Id="rId11" Type="http://schemas.openxmlformats.org/officeDocument/2006/relationships/image" Target="../media/image183.png"/><Relationship Id="rId5" Type="http://schemas.openxmlformats.org/officeDocument/2006/relationships/image" Target="../media/image136.png"/><Relationship Id="rId10" Type="http://schemas.openxmlformats.org/officeDocument/2006/relationships/image" Target="../media/image182.png"/><Relationship Id="rId4" Type="http://schemas.openxmlformats.org/officeDocument/2006/relationships/image" Target="../media/image156.png"/><Relationship Id="rId9" Type="http://schemas.openxmlformats.org/officeDocument/2006/relationships/image" Target="../media/image181.png"/></Relationships>
</file>

<file path=ppt/slides/_rels/slide56.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image" Target="../media/image68.png"/><Relationship Id="rId7" Type="http://schemas.openxmlformats.org/officeDocument/2006/relationships/image" Target="../media/image18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185.png"/><Relationship Id="rId5" Type="http://schemas.openxmlformats.org/officeDocument/2006/relationships/image" Target="../media/image184.png"/><Relationship Id="rId10" Type="http://schemas.openxmlformats.org/officeDocument/2006/relationships/image" Target="../media/image91.png"/><Relationship Id="rId4" Type="http://schemas.openxmlformats.org/officeDocument/2006/relationships/image" Target="../media/image34.png"/><Relationship Id="rId9" Type="http://schemas.openxmlformats.org/officeDocument/2006/relationships/image" Target="../media/image187.png"/></Relationships>
</file>

<file path=ppt/slides/_rels/slide5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41.png"/><Relationship Id="rId7" Type="http://schemas.openxmlformats.org/officeDocument/2006/relationships/image" Target="../media/image188.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63.png"/><Relationship Id="rId4" Type="http://schemas.openxmlformats.org/officeDocument/2006/relationships/image" Target="../media/image34.png"/><Relationship Id="rId9" Type="http://schemas.openxmlformats.org/officeDocument/2006/relationships/image" Target="../media/image189.png"/></Relationships>
</file>

<file path=ppt/slides/_rels/slide58.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183.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190.png"/><Relationship Id="rId5" Type="http://schemas.openxmlformats.org/officeDocument/2006/relationships/image" Target="../media/image99.png"/><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image" Target="../media/image179.png"/><Relationship Id="rId7" Type="http://schemas.openxmlformats.org/officeDocument/2006/relationships/image" Target="../media/image193.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192.png"/><Relationship Id="rId11" Type="http://schemas.openxmlformats.org/officeDocument/2006/relationships/image" Target="../media/image183.png"/><Relationship Id="rId5" Type="http://schemas.openxmlformats.org/officeDocument/2006/relationships/image" Target="../media/image124.png"/><Relationship Id="rId10" Type="http://schemas.openxmlformats.org/officeDocument/2006/relationships/image" Target="../media/image196.png"/><Relationship Id="rId4" Type="http://schemas.openxmlformats.org/officeDocument/2006/relationships/image" Target="../media/image191.png"/><Relationship Id="rId9" Type="http://schemas.openxmlformats.org/officeDocument/2006/relationships/image" Target="../media/image19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5" Type="http://schemas.openxmlformats.org/officeDocument/2006/relationships/image" Target="../media/image126.png"/><Relationship Id="rId4" Type="http://schemas.openxmlformats.org/officeDocument/2006/relationships/image" Target="../media/image19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640080"/>
            <a:ext cx="73152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NOTE D'INFORMATION POUR STATISTICIENS, INFORMATICIENS ET DIRECTION</a:t>
            </a:r>
            <a:endParaRPr lang="en-US" sz="1050" dirty="0"/>
          </a:p>
        </p:txBody>
      </p:sp>
      <p:sp>
        <p:nvSpPr>
          <p:cNvPr id="4" name="Text 2"/>
          <p:cNvSpPr txBox="1"/>
          <p:nvPr/>
        </p:nvSpPr>
        <p:spPr>
          <a:xfrm>
            <a:off x="548640" y="1005840"/>
            <a:ext cx="6858000" cy="146304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Infrastructure IA pour les</a:t>
            </a:r>
            <a:endParaRPr lang="en-US" sz="4200" dirty="0"/>
          </a:p>
          <a:p>
            <a:pPr marL="0" indent="0">
              <a:buNone/>
            </a:pPr>
            <a:r>
              <a:rPr lang="en-US" sz="4200" b="1" dirty="0">
                <a:solidFill>
                  <a:srgbClr val="FFFFFF"/>
                </a:solidFill>
                <a:latin typeface="Calibri" pitchFamily="34" charset="0"/>
                <a:ea typeface="Calibri" pitchFamily="34" charset="-122"/>
                <a:cs typeface="Calibri" pitchFamily="34" charset="-120"/>
              </a:rPr>
              <a:t>instituts de statistique</a:t>
            </a:r>
            <a:endParaRPr lang="en-US" sz="4200" dirty="0"/>
          </a:p>
        </p:txBody>
      </p:sp>
      <p:sp>
        <p:nvSpPr>
          <p:cNvPr id="5" name="Text 3"/>
          <p:cNvSpPr txBox="1"/>
          <p:nvPr/>
        </p:nvSpPr>
        <p:spPr>
          <a:xfrm>
            <a:off x="548640" y="2560320"/>
            <a:ext cx="6035040" cy="73152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Ce qu'il faut réellement pour exploiter l'IA dans un institut national de statistique — avec un accent sur le contexte africain</a:t>
            </a:r>
            <a:endParaRPr lang="en-US" sz="1700" dirty="0"/>
          </a:p>
        </p:txBody>
      </p:sp>
      <p:sp>
        <p:nvSpPr>
          <p:cNvPr id="6" name="Shape 4"/>
          <p:cNvSpPr/>
          <p:nvPr/>
        </p:nvSpPr>
        <p:spPr>
          <a:xfrm>
            <a:off x="548640" y="3520440"/>
            <a:ext cx="577901"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7" name="Text 5"/>
          <p:cNvSpPr txBox="1"/>
          <p:nvPr/>
        </p:nvSpPr>
        <p:spPr>
          <a:xfrm>
            <a:off x="548640" y="3520440"/>
            <a:ext cx="577901"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Calcul</a:t>
            </a:r>
            <a:endParaRPr lang="en-US" sz="1000" dirty="0"/>
          </a:p>
        </p:txBody>
      </p:sp>
      <p:sp>
        <p:nvSpPr>
          <p:cNvPr id="8" name="Shape 6"/>
          <p:cNvSpPr/>
          <p:nvPr/>
        </p:nvSpPr>
        <p:spPr>
          <a:xfrm>
            <a:off x="1236269" y="3520440"/>
            <a:ext cx="1170432"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9" name="Text 7"/>
          <p:cNvSpPr txBox="1"/>
          <p:nvPr/>
        </p:nvSpPr>
        <p:spPr>
          <a:xfrm>
            <a:off x="1236269" y="3520440"/>
            <a:ext cx="1170432"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Données &amp; MLOps</a:t>
            </a:r>
            <a:endParaRPr lang="en-US" sz="1000" dirty="0"/>
          </a:p>
        </p:txBody>
      </p:sp>
      <p:sp>
        <p:nvSpPr>
          <p:cNvPr id="10" name="Shape 8"/>
          <p:cNvSpPr/>
          <p:nvPr/>
        </p:nvSpPr>
        <p:spPr>
          <a:xfrm>
            <a:off x="2516429" y="3520440"/>
            <a:ext cx="907085"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1" name="Text 9"/>
          <p:cNvSpPr txBox="1"/>
          <p:nvPr/>
        </p:nvSpPr>
        <p:spPr>
          <a:xfrm>
            <a:off x="2516429" y="3520440"/>
            <a:ext cx="907085"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Déploiement</a:t>
            </a:r>
            <a:endParaRPr lang="en-US" sz="1000" dirty="0"/>
          </a:p>
        </p:txBody>
      </p:sp>
      <p:sp>
        <p:nvSpPr>
          <p:cNvPr id="12" name="Shape 10"/>
          <p:cNvSpPr/>
          <p:nvPr/>
        </p:nvSpPr>
        <p:spPr>
          <a:xfrm>
            <a:off x="3533242" y="3520440"/>
            <a:ext cx="907085"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3" name="Text 11"/>
          <p:cNvSpPr txBox="1"/>
          <p:nvPr/>
        </p:nvSpPr>
        <p:spPr>
          <a:xfrm>
            <a:off x="3533242" y="3520440"/>
            <a:ext cx="907085"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Gouvernance</a:t>
            </a:r>
            <a:endParaRPr lang="en-US" sz="1000" dirty="0"/>
          </a:p>
        </p:txBody>
      </p:sp>
      <p:sp>
        <p:nvSpPr>
          <p:cNvPr id="14" name="Shape 12"/>
          <p:cNvSpPr/>
          <p:nvPr/>
        </p:nvSpPr>
        <p:spPr>
          <a:xfrm>
            <a:off x="4550054" y="3520440"/>
            <a:ext cx="512064"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5" name="Text 13"/>
          <p:cNvSpPr txBox="1"/>
          <p:nvPr/>
        </p:nvSpPr>
        <p:spPr>
          <a:xfrm>
            <a:off x="4550054" y="3520440"/>
            <a:ext cx="512064"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Coûts</a:t>
            </a:r>
            <a:endParaRPr lang="en-US" sz="1000" dirty="0"/>
          </a:p>
        </p:txBody>
      </p:sp>
      <p:sp>
        <p:nvSpPr>
          <p:cNvPr id="16" name="Shape 14"/>
          <p:cNvSpPr/>
          <p:nvPr/>
        </p:nvSpPr>
        <p:spPr>
          <a:xfrm>
            <a:off x="5171846" y="3520440"/>
            <a:ext cx="1894637"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7" name="Text 15"/>
          <p:cNvSpPr txBox="1"/>
          <p:nvPr/>
        </p:nvSpPr>
        <p:spPr>
          <a:xfrm>
            <a:off x="5171846" y="3520440"/>
            <a:ext cx="1894637" cy="27432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Équipes &amp; feuille de route</a:t>
            </a:r>
            <a:endParaRPr lang="en-US" sz="1000" dirty="0"/>
          </a:p>
        </p:txBody>
      </p:sp>
      <p:sp>
        <p:nvSpPr>
          <p:cNvPr id="19" name="Text 23">
            <a:extLst>
              <a:ext uri="{FF2B5EF4-FFF2-40B4-BE49-F238E27FC236}">
                <a16:creationId xmlns:a16="http://schemas.microsoft.com/office/drawing/2014/main" id="{20A1A34C-78AC-CE5A-B8FF-10D3EEC2F0AB}"/>
              </a:ext>
            </a:extLst>
          </p:cNvPr>
          <p:cNvSpPr txBox="1"/>
          <p:nvPr/>
        </p:nvSpPr>
        <p:spPr>
          <a:xfrm>
            <a:off x="548640" y="4287434"/>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À PROPOS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Pourquoi cette présentation, et ce que vous apprendrez</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Objectif : une base commune et pratique pour décider comment bâtir une capacité IA dans un INS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8" name="Shape 15"/>
          <p:cNvSpPr/>
          <p:nvPr/>
        </p:nvSpPr>
        <p:spPr>
          <a:xfrm>
            <a:off x="457200" y="1371600"/>
            <a:ext cx="3566160" cy="3200400"/>
          </a:xfrm>
          <a:prstGeom prst="roundRect">
            <a:avLst>
              <a:gd name="adj" fmla="val 2286"/>
            </a:avLst>
          </a:prstGeom>
          <a:solidFill>
            <a:srgbClr val="E8F5EF"/>
          </a:solidFill>
          <a:ln w="15875">
            <a:solidFill>
              <a:srgbClr val="00A86A"/>
            </a:solidFill>
            <a:prstDash val="solid"/>
          </a:ln>
        </p:spPr>
      </p:sp>
      <p:sp>
        <p:nvSpPr>
          <p:cNvPr id="19" name="Text 16"/>
          <p:cNvSpPr txBox="1"/>
          <p:nvPr/>
        </p:nvSpPr>
        <p:spPr>
          <a:xfrm>
            <a:off x="640080" y="1508760"/>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LE MESSAGE CENTRAL</a:t>
            </a:r>
            <a:endParaRPr lang="en-US" sz="900" dirty="0"/>
          </a:p>
        </p:txBody>
      </p:sp>
      <p:sp>
        <p:nvSpPr>
          <p:cNvPr id="20" name="Text 17"/>
          <p:cNvSpPr txBox="1"/>
          <p:nvPr/>
        </p:nvSpPr>
        <p:spPr>
          <a:xfrm>
            <a:off x="640080" y="1737360"/>
            <a:ext cx="3200400" cy="1051560"/>
          </a:xfrm>
          <a:prstGeom prst="rect">
            <a:avLst/>
          </a:prstGeom>
          <a:noFill/>
          <a:ln/>
        </p:spPr>
        <p:txBody>
          <a:bodyPr wrap="square" lIns="0" tIns="0" rIns="0" bIns="0" rtlCol="0" anchor="t"/>
          <a:lstStyle/>
          <a:p>
            <a:pPr marL="0" indent="0">
              <a:buNone/>
            </a:pPr>
            <a:r>
              <a:rPr lang="en-US" sz="1350" b="1" dirty="0">
                <a:solidFill>
                  <a:srgbClr val="231F20"/>
                </a:solidFill>
                <a:latin typeface="Calibri" pitchFamily="34" charset="0"/>
                <a:ea typeface="Calibri" pitchFamily="34" charset="-122"/>
                <a:cs typeface="Calibri" pitchFamily="34" charset="-120"/>
              </a:rPr>
              <a:t>Dans un INS, une capacité IA est une plateforme de production soumise à des obligations légales — ni un modèle, ni un projet ponctuel.</a:t>
            </a:r>
            <a:endParaRPr lang="en-US" sz="1350" dirty="0"/>
          </a:p>
        </p:txBody>
      </p:sp>
      <p:sp>
        <p:nvSpPr>
          <p:cNvPr id="21" name="Text 18"/>
          <p:cNvSpPr txBox="1"/>
          <p:nvPr/>
        </p:nvSpPr>
        <p:spPr>
          <a:xfrm>
            <a:off x="640080" y="2880360"/>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PUBLIC VISÉ</a:t>
            </a:r>
            <a:endParaRPr lang="en-US" sz="900" dirty="0"/>
          </a:p>
        </p:txBody>
      </p:sp>
      <p:sp>
        <p:nvSpPr>
          <p:cNvPr id="22" name="Shape 19"/>
          <p:cNvSpPr/>
          <p:nvPr/>
        </p:nvSpPr>
        <p:spPr>
          <a:xfrm>
            <a:off x="640080" y="3154680"/>
            <a:ext cx="329184" cy="329184"/>
          </a:xfrm>
          <a:prstGeom prst="ellipse">
            <a:avLst/>
          </a:prstGeom>
          <a:solidFill>
            <a:srgbClr val="00A86A">
              <a:alpha val="22000"/>
            </a:srgbClr>
          </a:solidFill>
          <a:ln/>
        </p:spPr>
      </p:sp>
      <p:pic>
        <p:nvPicPr>
          <p:cNvPr id="23" name="Image 0" descr="preencoded.png"/>
          <p:cNvPicPr>
            <a:picLocks noChangeAspect="1"/>
          </p:cNvPicPr>
          <p:nvPr/>
        </p:nvPicPr>
        <p:blipFill>
          <a:blip r:embed="rId3"/>
          <a:stretch>
            <a:fillRect/>
          </a:stretch>
        </p:blipFill>
        <p:spPr>
          <a:xfrm>
            <a:off x="719084" y="3233684"/>
            <a:ext cx="171176" cy="171176"/>
          </a:xfrm>
          <a:prstGeom prst="rect">
            <a:avLst/>
          </a:prstGeom>
        </p:spPr>
      </p:pic>
      <p:sp>
        <p:nvSpPr>
          <p:cNvPr id="24" name="Text 20"/>
          <p:cNvSpPr txBox="1"/>
          <p:nvPr/>
        </p:nvSpPr>
        <p:spPr>
          <a:xfrm>
            <a:off x="1078992" y="3154680"/>
            <a:ext cx="283464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Statisticiens et méthodologues</a:t>
            </a:r>
            <a:endParaRPr lang="en-US" sz="1100" dirty="0"/>
          </a:p>
        </p:txBody>
      </p:sp>
      <p:sp>
        <p:nvSpPr>
          <p:cNvPr id="25" name="Shape 21"/>
          <p:cNvSpPr/>
          <p:nvPr/>
        </p:nvSpPr>
        <p:spPr>
          <a:xfrm>
            <a:off x="640080" y="3593592"/>
            <a:ext cx="329184" cy="329184"/>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719084" y="3672596"/>
            <a:ext cx="171176" cy="171176"/>
          </a:xfrm>
          <a:prstGeom prst="rect">
            <a:avLst/>
          </a:prstGeom>
        </p:spPr>
      </p:pic>
      <p:sp>
        <p:nvSpPr>
          <p:cNvPr id="27" name="Text 22"/>
          <p:cNvSpPr txBox="1"/>
          <p:nvPr/>
        </p:nvSpPr>
        <p:spPr>
          <a:xfrm>
            <a:off x="1078992" y="3593592"/>
            <a:ext cx="283464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Équipes informatiques et sécurité</a:t>
            </a:r>
            <a:endParaRPr lang="en-US" sz="1100" dirty="0"/>
          </a:p>
        </p:txBody>
      </p:sp>
      <p:sp>
        <p:nvSpPr>
          <p:cNvPr id="28" name="Shape 23"/>
          <p:cNvSpPr/>
          <p:nvPr/>
        </p:nvSpPr>
        <p:spPr>
          <a:xfrm>
            <a:off x="640080" y="4032504"/>
            <a:ext cx="329184" cy="329184"/>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19084" y="4111508"/>
            <a:ext cx="171176" cy="171176"/>
          </a:xfrm>
          <a:prstGeom prst="rect">
            <a:avLst/>
          </a:prstGeom>
        </p:spPr>
      </p:pic>
      <p:sp>
        <p:nvSpPr>
          <p:cNvPr id="30" name="Text 24"/>
          <p:cNvSpPr txBox="1"/>
          <p:nvPr/>
        </p:nvSpPr>
        <p:spPr>
          <a:xfrm>
            <a:off x="1078992" y="4032504"/>
            <a:ext cx="2834640" cy="329184"/>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Direction et organes de contrôle</a:t>
            </a:r>
            <a:endParaRPr lang="en-US" sz="1100" dirty="0"/>
          </a:p>
        </p:txBody>
      </p:sp>
      <p:sp>
        <p:nvSpPr>
          <p:cNvPr id="31" name="Text 25"/>
          <p:cNvSpPr txBox="1"/>
          <p:nvPr/>
        </p:nvSpPr>
        <p:spPr>
          <a:xfrm>
            <a:off x="4297680" y="1371600"/>
            <a:ext cx="438912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À LA FIN, VOUS SAUREZ</a:t>
            </a:r>
            <a:endParaRPr lang="en-US" sz="900" dirty="0"/>
          </a:p>
        </p:txBody>
      </p:sp>
      <p:sp>
        <p:nvSpPr>
          <p:cNvPr id="32" name="Shape 26"/>
          <p:cNvSpPr/>
          <p:nvPr/>
        </p:nvSpPr>
        <p:spPr>
          <a:xfrm>
            <a:off x="4297680" y="1645920"/>
            <a:ext cx="402336" cy="402336"/>
          </a:xfrm>
          <a:prstGeom prst="ellipse">
            <a:avLst/>
          </a:prstGeom>
          <a:solidFill>
            <a:srgbClr val="00A86A"/>
          </a:solidFill>
          <a:ln/>
        </p:spPr>
      </p:sp>
      <p:sp>
        <p:nvSpPr>
          <p:cNvPr id="33" name="Text 27"/>
          <p:cNvSpPr txBox="1"/>
          <p:nvPr/>
        </p:nvSpPr>
        <p:spPr>
          <a:xfrm>
            <a:off x="4297680" y="164592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4" name="Text 28"/>
          <p:cNvSpPr txBox="1"/>
          <p:nvPr/>
        </p:nvSpPr>
        <p:spPr>
          <a:xfrm>
            <a:off x="4846320" y="1591056"/>
            <a:ext cx="3840480" cy="512064"/>
          </a:xfrm>
          <a:prstGeom prst="rect">
            <a:avLst/>
          </a:prstGeom>
          <a:noFill/>
          <a:ln/>
        </p:spPr>
        <p:txBody>
          <a:bodyPr wrap="square" lIns="0" tIns="0" rIns="0" bIns="0" rtlCol="0" anchor="ctr"/>
          <a:lstStyle/>
          <a:p>
            <a:pPr marL="0" indent="0">
              <a:buNone/>
            </a:pPr>
            <a:r>
              <a:rPr lang="en-US" sz="1150" b="1" dirty="0">
                <a:solidFill>
                  <a:srgbClr val="00A86A"/>
                </a:solidFill>
                <a:latin typeface="Calibri" pitchFamily="34" charset="0"/>
                <a:ea typeface="Calibri" pitchFamily="34" charset="-122"/>
                <a:cs typeface="Calibri" pitchFamily="34" charset="-120"/>
              </a:rPr>
              <a:t>Expliquer </a:t>
            </a:r>
            <a:r>
              <a:rPr lang="en-US" sz="1150" dirty="0">
                <a:solidFill>
                  <a:srgbClr val="231F20"/>
                </a:solidFill>
                <a:latin typeface="Calibri" pitchFamily="34" charset="0"/>
                <a:ea typeface="Calibri" pitchFamily="34" charset="-122"/>
                <a:cs typeface="Calibri" pitchFamily="34" charset="-120"/>
              </a:rPr>
              <a:t>les cinq couches d'un système d'IA et pourquoi le modèle en est la plus petite</a:t>
            </a:r>
            <a:endParaRPr lang="en-US" sz="1150" dirty="0"/>
          </a:p>
        </p:txBody>
      </p:sp>
      <p:sp>
        <p:nvSpPr>
          <p:cNvPr id="35" name="Shape 29"/>
          <p:cNvSpPr/>
          <p:nvPr/>
        </p:nvSpPr>
        <p:spPr>
          <a:xfrm>
            <a:off x="4297680" y="2231136"/>
            <a:ext cx="402336" cy="402336"/>
          </a:xfrm>
          <a:prstGeom prst="ellipse">
            <a:avLst/>
          </a:prstGeom>
          <a:solidFill>
            <a:srgbClr val="00704A"/>
          </a:solidFill>
          <a:ln/>
        </p:spPr>
      </p:sp>
      <p:sp>
        <p:nvSpPr>
          <p:cNvPr id="36" name="Text 30"/>
          <p:cNvSpPr txBox="1"/>
          <p:nvPr/>
        </p:nvSpPr>
        <p:spPr>
          <a:xfrm>
            <a:off x="4297680" y="223113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7" name="Text 31"/>
          <p:cNvSpPr txBox="1"/>
          <p:nvPr/>
        </p:nvSpPr>
        <p:spPr>
          <a:xfrm>
            <a:off x="4846320" y="2176272"/>
            <a:ext cx="3840480" cy="512064"/>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Associer </a:t>
            </a:r>
            <a:r>
              <a:rPr lang="en-US" sz="1150" dirty="0">
                <a:solidFill>
                  <a:srgbClr val="231F20"/>
                </a:solidFill>
                <a:latin typeface="Calibri" pitchFamily="34" charset="0"/>
                <a:ea typeface="Calibri" pitchFamily="34" charset="-122"/>
                <a:cs typeface="Calibri" pitchFamily="34" charset="-120"/>
              </a:rPr>
              <a:t>matériel, hébergement et modèles à chaque charge et à sa classification</a:t>
            </a:r>
            <a:endParaRPr lang="en-US" sz="1150" dirty="0"/>
          </a:p>
        </p:txBody>
      </p:sp>
      <p:sp>
        <p:nvSpPr>
          <p:cNvPr id="38" name="Shape 32"/>
          <p:cNvSpPr/>
          <p:nvPr/>
        </p:nvSpPr>
        <p:spPr>
          <a:xfrm>
            <a:off x="4297680" y="2816352"/>
            <a:ext cx="402336" cy="402336"/>
          </a:xfrm>
          <a:prstGeom prst="ellipse">
            <a:avLst/>
          </a:prstGeom>
          <a:solidFill>
            <a:srgbClr val="0E7C86"/>
          </a:solidFill>
          <a:ln/>
        </p:spPr>
      </p:sp>
      <p:sp>
        <p:nvSpPr>
          <p:cNvPr id="39" name="Text 33"/>
          <p:cNvSpPr txBox="1"/>
          <p:nvPr/>
        </p:nvSpPr>
        <p:spPr>
          <a:xfrm>
            <a:off x="4297680" y="28163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0" name="Text 34"/>
          <p:cNvSpPr txBox="1"/>
          <p:nvPr/>
        </p:nvSpPr>
        <p:spPr>
          <a:xfrm>
            <a:off x="4846320" y="2761488"/>
            <a:ext cx="3840480" cy="512064"/>
          </a:xfrm>
          <a:prstGeom prst="rect">
            <a:avLst/>
          </a:prstGeom>
          <a:noFill/>
          <a:ln/>
        </p:spPr>
        <p:txBody>
          <a:bodyPr wrap="square" lIns="0" tIns="0" rIns="0" bIns="0" rtlCol="0" anchor="ctr"/>
          <a:lstStyle/>
          <a:p>
            <a:pPr marL="0" indent="0">
              <a:buNone/>
            </a:pPr>
            <a:r>
              <a:rPr lang="en-US" sz="1150" b="1" dirty="0">
                <a:solidFill>
                  <a:srgbClr val="0E7C86"/>
                </a:solidFill>
                <a:latin typeface="Calibri" pitchFamily="34" charset="0"/>
                <a:ea typeface="Calibri" pitchFamily="34" charset="-122"/>
                <a:cs typeface="Calibri" pitchFamily="34" charset="-120"/>
              </a:rPr>
              <a:t>Identifier </a:t>
            </a:r>
            <a:r>
              <a:rPr lang="en-US" sz="1150" dirty="0">
                <a:solidFill>
                  <a:srgbClr val="231F20"/>
                </a:solidFill>
                <a:latin typeface="Calibri" pitchFamily="34" charset="0"/>
                <a:ea typeface="Calibri" pitchFamily="34" charset="-122"/>
                <a:cs typeface="Calibri" pitchFamily="34" charset="-120"/>
              </a:rPr>
              <a:t>les nouveaux risques de divulgation liés à l'IA et les contrôles adaptés</a:t>
            </a:r>
            <a:endParaRPr lang="en-US" sz="1150" dirty="0"/>
          </a:p>
        </p:txBody>
      </p:sp>
      <p:sp>
        <p:nvSpPr>
          <p:cNvPr id="41" name="Shape 35"/>
          <p:cNvSpPr/>
          <p:nvPr/>
        </p:nvSpPr>
        <p:spPr>
          <a:xfrm>
            <a:off x="4297680" y="3401568"/>
            <a:ext cx="402336" cy="402336"/>
          </a:xfrm>
          <a:prstGeom prst="ellipse">
            <a:avLst/>
          </a:prstGeom>
          <a:solidFill>
            <a:srgbClr val="D49A00"/>
          </a:solidFill>
          <a:ln/>
        </p:spPr>
      </p:sp>
      <p:sp>
        <p:nvSpPr>
          <p:cNvPr id="42" name="Text 36"/>
          <p:cNvSpPr txBox="1"/>
          <p:nvPr/>
        </p:nvSpPr>
        <p:spPr>
          <a:xfrm>
            <a:off x="4297680" y="34015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3" name="Text 37"/>
          <p:cNvSpPr txBox="1"/>
          <p:nvPr/>
        </p:nvSpPr>
        <p:spPr>
          <a:xfrm>
            <a:off x="4846320" y="3346704"/>
            <a:ext cx="3840480" cy="512064"/>
          </a:xfrm>
          <a:prstGeom prst="rect">
            <a:avLst/>
          </a:prstGeom>
          <a:noFill/>
          <a:ln/>
        </p:spPr>
        <p:txBody>
          <a:bodyPr wrap="square" lIns="0" tIns="0" rIns="0" bIns="0" rtlCol="0" anchor="ctr"/>
          <a:lstStyle/>
          <a:p>
            <a:pPr marL="0" indent="0">
              <a:buNone/>
            </a:pPr>
            <a:r>
              <a:rPr lang="en-US" sz="1150" b="1" dirty="0">
                <a:solidFill>
                  <a:srgbClr val="8A6400"/>
                </a:solidFill>
                <a:latin typeface="Calibri" pitchFamily="34" charset="0"/>
                <a:ea typeface="Calibri" pitchFamily="34" charset="-122"/>
                <a:cs typeface="Calibri" pitchFamily="34" charset="-120"/>
              </a:rPr>
              <a:t>Estimer </a:t>
            </a:r>
            <a:r>
              <a:rPr lang="en-US" sz="1150" dirty="0">
                <a:solidFill>
                  <a:srgbClr val="231F20"/>
                </a:solidFill>
                <a:latin typeface="Calibri" pitchFamily="34" charset="0"/>
                <a:ea typeface="Calibri" pitchFamily="34" charset="-122"/>
                <a:cs typeface="Calibri" pitchFamily="34" charset="-120"/>
              </a:rPr>
              <a:t>le coût complet sur cinq ans et les décisions qui le font vraiment varier</a:t>
            </a:r>
            <a:endParaRPr lang="en-US" sz="1150" dirty="0"/>
          </a:p>
        </p:txBody>
      </p:sp>
      <p:sp>
        <p:nvSpPr>
          <p:cNvPr id="44" name="Shape 38"/>
          <p:cNvSpPr/>
          <p:nvPr/>
        </p:nvSpPr>
        <p:spPr>
          <a:xfrm>
            <a:off x="4297680" y="3986784"/>
            <a:ext cx="402336" cy="402336"/>
          </a:xfrm>
          <a:prstGeom prst="ellipse">
            <a:avLst/>
          </a:prstGeom>
          <a:solidFill>
            <a:srgbClr val="C4621D"/>
          </a:solidFill>
          <a:ln/>
        </p:spPr>
      </p:sp>
      <p:sp>
        <p:nvSpPr>
          <p:cNvPr id="45" name="Text 39"/>
          <p:cNvSpPr txBox="1"/>
          <p:nvPr/>
        </p:nvSpPr>
        <p:spPr>
          <a:xfrm>
            <a:off x="4297680" y="398678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6" name="Text 40"/>
          <p:cNvSpPr txBox="1"/>
          <p:nvPr/>
        </p:nvSpPr>
        <p:spPr>
          <a:xfrm>
            <a:off x="4846320" y="3931920"/>
            <a:ext cx="3840480" cy="512064"/>
          </a:xfrm>
          <a:prstGeom prst="rect">
            <a:avLst/>
          </a:prstGeom>
          <a:noFill/>
          <a:ln/>
        </p:spPr>
        <p:txBody>
          <a:bodyPr wrap="square" lIns="0" tIns="0" rIns="0" bIns="0" rtlCol="0" anchor="ctr"/>
          <a:lstStyle/>
          <a:p>
            <a:pPr marL="0" indent="0">
              <a:buNone/>
            </a:pPr>
            <a:r>
              <a:rPr lang="en-US" sz="1150" b="1" dirty="0">
                <a:solidFill>
                  <a:srgbClr val="C4621D"/>
                </a:solidFill>
                <a:latin typeface="Calibri" pitchFamily="34" charset="0"/>
                <a:ea typeface="Calibri" pitchFamily="34" charset="-122"/>
                <a:cs typeface="Calibri" pitchFamily="34" charset="-120"/>
              </a:rPr>
              <a:t>Planifier </a:t>
            </a:r>
            <a:r>
              <a:rPr lang="en-US" sz="1150" dirty="0">
                <a:solidFill>
                  <a:srgbClr val="231F20"/>
                </a:solidFill>
                <a:latin typeface="Calibri" pitchFamily="34" charset="0"/>
                <a:ea typeface="Calibri" pitchFamily="34" charset="-122"/>
                <a:cs typeface="Calibri" pitchFamily="34" charset="-120"/>
              </a:rPr>
              <a:t>l'équipe, les niveaux de maturité et une feuille de route de 24 mois</a:t>
            </a:r>
            <a:endParaRPr lang="en-US" sz="11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SOMMAIRE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Sommaire</a:t>
            </a:r>
            <a:endParaRPr lang="en-US" sz="28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8" name="Shape 15"/>
          <p:cNvSpPr/>
          <p:nvPr/>
        </p:nvSpPr>
        <p:spPr>
          <a:xfrm>
            <a:off x="457200" y="1371600"/>
            <a:ext cx="2651760" cy="1536192"/>
          </a:xfrm>
          <a:prstGeom prst="roundRect">
            <a:avLst>
              <a:gd name="adj" fmla="val 4762"/>
            </a:avLst>
          </a:prstGeom>
          <a:solidFill>
            <a:srgbClr val="F4F7F5"/>
          </a:solidFill>
          <a:ln w="9525">
            <a:solidFill>
              <a:srgbClr val="D5DED9"/>
            </a:solidFill>
            <a:prstDash val="solid"/>
          </a:ln>
        </p:spPr>
      </p:sp>
      <p:sp>
        <p:nvSpPr>
          <p:cNvPr id="19" name="Text 16"/>
          <p:cNvSpPr txBox="1"/>
          <p:nvPr/>
        </p:nvSpPr>
        <p:spPr>
          <a:xfrm>
            <a:off x="594360" y="1481328"/>
            <a:ext cx="73152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20" name="Shape 17"/>
          <p:cNvSpPr/>
          <p:nvPr/>
        </p:nvSpPr>
        <p:spPr>
          <a:xfrm>
            <a:off x="2578608" y="1508760"/>
            <a:ext cx="384048" cy="384048"/>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2670780" y="1600932"/>
            <a:ext cx="199705" cy="199705"/>
          </a:xfrm>
          <a:prstGeom prst="rect">
            <a:avLst/>
          </a:prstGeom>
        </p:spPr>
      </p:pic>
      <p:sp>
        <p:nvSpPr>
          <p:cNvPr id="22" name="Text 18"/>
          <p:cNvSpPr txBox="1"/>
          <p:nvPr/>
        </p:nvSpPr>
        <p:spPr>
          <a:xfrm>
            <a:off x="594360" y="1975104"/>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Cadrage &amp; architecture</a:t>
            </a:r>
            <a:endParaRPr lang="en-US" sz="1300" dirty="0"/>
          </a:p>
        </p:txBody>
      </p:sp>
      <p:sp>
        <p:nvSpPr>
          <p:cNvPr id="23" name="Text 19"/>
          <p:cNvSpPr txBox="1"/>
          <p:nvPr/>
        </p:nvSpPr>
        <p:spPr>
          <a:xfrm>
            <a:off x="594360" y="2258568"/>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Pourquoi le modèle est la partie facile, cas d'usage, contexte africain, architecture en cinq couches</a:t>
            </a:r>
            <a:endParaRPr lang="en-US" sz="900" dirty="0"/>
          </a:p>
        </p:txBody>
      </p:sp>
      <p:sp>
        <p:nvSpPr>
          <p:cNvPr id="26" name="Shape 22"/>
          <p:cNvSpPr/>
          <p:nvPr/>
        </p:nvSpPr>
        <p:spPr>
          <a:xfrm>
            <a:off x="3246120" y="1371600"/>
            <a:ext cx="2651760" cy="1536192"/>
          </a:xfrm>
          <a:prstGeom prst="roundRect">
            <a:avLst>
              <a:gd name="adj" fmla="val 4762"/>
            </a:avLst>
          </a:prstGeom>
          <a:solidFill>
            <a:srgbClr val="F4F7F5"/>
          </a:solidFill>
          <a:ln w="9525">
            <a:solidFill>
              <a:srgbClr val="D5DED9"/>
            </a:solidFill>
            <a:prstDash val="solid"/>
          </a:ln>
        </p:spPr>
      </p:sp>
      <p:sp>
        <p:nvSpPr>
          <p:cNvPr id="27" name="Text 23"/>
          <p:cNvSpPr txBox="1"/>
          <p:nvPr/>
        </p:nvSpPr>
        <p:spPr>
          <a:xfrm>
            <a:off x="3383280" y="1481328"/>
            <a:ext cx="73152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8" name="Shape 24"/>
          <p:cNvSpPr/>
          <p:nvPr/>
        </p:nvSpPr>
        <p:spPr>
          <a:xfrm>
            <a:off x="5367528" y="1508760"/>
            <a:ext cx="384048" cy="384048"/>
          </a:xfrm>
          <a:prstGeom prst="ellipse">
            <a:avLst/>
          </a:prstGeom>
          <a:solidFill>
            <a:srgbClr val="00704A">
              <a:alpha val="22000"/>
            </a:srgbClr>
          </a:solidFill>
          <a:ln/>
        </p:spPr>
      </p:sp>
      <p:pic>
        <p:nvPicPr>
          <p:cNvPr id="29" name="Image 1" descr="preencoded.png"/>
          <p:cNvPicPr>
            <a:picLocks noChangeAspect="1"/>
          </p:cNvPicPr>
          <p:nvPr/>
        </p:nvPicPr>
        <p:blipFill>
          <a:blip r:embed="rId4"/>
          <a:stretch>
            <a:fillRect/>
          </a:stretch>
        </p:blipFill>
        <p:spPr>
          <a:xfrm>
            <a:off x="5459700" y="1600932"/>
            <a:ext cx="199705" cy="199705"/>
          </a:xfrm>
          <a:prstGeom prst="rect">
            <a:avLst/>
          </a:prstGeom>
        </p:spPr>
      </p:pic>
      <p:sp>
        <p:nvSpPr>
          <p:cNvPr id="30" name="Text 25"/>
          <p:cNvSpPr txBox="1"/>
          <p:nvPr/>
        </p:nvSpPr>
        <p:spPr>
          <a:xfrm>
            <a:off x="3383280" y="1975104"/>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Calcul, données &amp; MLOps</a:t>
            </a:r>
            <a:endParaRPr lang="en-US" sz="1300" dirty="0"/>
          </a:p>
        </p:txBody>
      </p:sp>
      <p:sp>
        <p:nvSpPr>
          <p:cNvPr id="31" name="Text 26"/>
          <p:cNvSpPr txBox="1"/>
          <p:nvPr/>
        </p:nvSpPr>
        <p:spPr>
          <a:xfrm>
            <a:off x="3383280" y="2258568"/>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Matériel IA et dimensionnement, énergie, plateformes de données, données annotées, RAG</a:t>
            </a:r>
            <a:endParaRPr lang="en-US" sz="900" dirty="0"/>
          </a:p>
        </p:txBody>
      </p:sp>
      <p:sp>
        <p:nvSpPr>
          <p:cNvPr id="34" name="Shape 29"/>
          <p:cNvSpPr/>
          <p:nvPr/>
        </p:nvSpPr>
        <p:spPr>
          <a:xfrm>
            <a:off x="6035040" y="1371600"/>
            <a:ext cx="2651760" cy="1536192"/>
          </a:xfrm>
          <a:prstGeom prst="roundRect">
            <a:avLst>
              <a:gd name="adj" fmla="val 4762"/>
            </a:avLst>
          </a:prstGeom>
          <a:solidFill>
            <a:srgbClr val="F4F7F5"/>
          </a:solidFill>
          <a:ln w="9525">
            <a:solidFill>
              <a:srgbClr val="D5DED9"/>
            </a:solidFill>
            <a:prstDash val="solid"/>
          </a:ln>
        </p:spPr>
      </p:sp>
      <p:sp>
        <p:nvSpPr>
          <p:cNvPr id="35" name="Text 30"/>
          <p:cNvSpPr txBox="1"/>
          <p:nvPr/>
        </p:nvSpPr>
        <p:spPr>
          <a:xfrm>
            <a:off x="6172200" y="1481328"/>
            <a:ext cx="73152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36" name="Shape 31"/>
          <p:cNvSpPr/>
          <p:nvPr/>
        </p:nvSpPr>
        <p:spPr>
          <a:xfrm>
            <a:off x="8156448" y="1508760"/>
            <a:ext cx="384048" cy="384048"/>
          </a:xfrm>
          <a:prstGeom prst="ellipse">
            <a:avLst/>
          </a:prstGeom>
          <a:solidFill>
            <a:srgbClr val="0E7C86">
              <a:alpha val="22000"/>
            </a:srgbClr>
          </a:solidFill>
          <a:ln/>
        </p:spPr>
      </p:sp>
      <p:pic>
        <p:nvPicPr>
          <p:cNvPr id="37" name="Image 2" descr="preencoded.png"/>
          <p:cNvPicPr>
            <a:picLocks noChangeAspect="1"/>
          </p:cNvPicPr>
          <p:nvPr/>
        </p:nvPicPr>
        <p:blipFill>
          <a:blip r:embed="rId5"/>
          <a:stretch>
            <a:fillRect/>
          </a:stretch>
        </p:blipFill>
        <p:spPr>
          <a:xfrm>
            <a:off x="8248620" y="1600932"/>
            <a:ext cx="199705" cy="199705"/>
          </a:xfrm>
          <a:prstGeom prst="rect">
            <a:avLst/>
          </a:prstGeom>
        </p:spPr>
      </p:pic>
      <p:sp>
        <p:nvSpPr>
          <p:cNvPr id="38" name="Text 32"/>
          <p:cNvSpPr txBox="1"/>
          <p:nvPr/>
        </p:nvSpPr>
        <p:spPr>
          <a:xfrm>
            <a:off x="6172200" y="1975104"/>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Choix de déploiement</a:t>
            </a:r>
            <a:endParaRPr lang="en-US" sz="1300" dirty="0"/>
          </a:p>
        </p:txBody>
      </p:sp>
      <p:sp>
        <p:nvSpPr>
          <p:cNvPr id="39" name="Text 33"/>
          <p:cNvSpPr txBox="1"/>
          <p:nvPr/>
        </p:nvSpPr>
        <p:spPr>
          <a:xfrm>
            <a:off x="6172200" y="2258568"/>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Quatre modèles d'hébergement, grille de décision, faire ou acheter, modèles ouverts ou propriétaires</a:t>
            </a:r>
            <a:endParaRPr lang="en-US" sz="900" dirty="0"/>
          </a:p>
        </p:txBody>
      </p:sp>
      <p:sp>
        <p:nvSpPr>
          <p:cNvPr id="42" name="Shape 36"/>
          <p:cNvSpPr/>
          <p:nvPr/>
        </p:nvSpPr>
        <p:spPr>
          <a:xfrm>
            <a:off x="457200" y="3044952"/>
            <a:ext cx="2651760" cy="1536192"/>
          </a:xfrm>
          <a:prstGeom prst="roundRect">
            <a:avLst>
              <a:gd name="adj" fmla="val 4762"/>
            </a:avLst>
          </a:prstGeom>
          <a:solidFill>
            <a:srgbClr val="F4F7F5"/>
          </a:solidFill>
          <a:ln w="9525">
            <a:solidFill>
              <a:srgbClr val="D5DED9"/>
            </a:solidFill>
            <a:prstDash val="solid"/>
          </a:ln>
        </p:spPr>
      </p:sp>
      <p:sp>
        <p:nvSpPr>
          <p:cNvPr id="43" name="Text 37"/>
          <p:cNvSpPr txBox="1"/>
          <p:nvPr/>
        </p:nvSpPr>
        <p:spPr>
          <a:xfrm>
            <a:off x="594360" y="3154680"/>
            <a:ext cx="73152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44" name="Shape 38"/>
          <p:cNvSpPr/>
          <p:nvPr/>
        </p:nvSpPr>
        <p:spPr>
          <a:xfrm>
            <a:off x="2578608" y="3182112"/>
            <a:ext cx="384048" cy="384048"/>
          </a:xfrm>
          <a:prstGeom prst="ellipse">
            <a:avLst/>
          </a:prstGeom>
          <a:solidFill>
            <a:srgbClr val="D49A00">
              <a:alpha val="22000"/>
            </a:srgbClr>
          </a:solidFill>
          <a:ln/>
        </p:spPr>
      </p:sp>
      <p:pic>
        <p:nvPicPr>
          <p:cNvPr id="45" name="Image 3" descr="preencoded.png"/>
          <p:cNvPicPr>
            <a:picLocks noChangeAspect="1"/>
          </p:cNvPicPr>
          <p:nvPr/>
        </p:nvPicPr>
        <p:blipFill>
          <a:blip r:embed="rId6"/>
          <a:stretch>
            <a:fillRect/>
          </a:stretch>
        </p:blipFill>
        <p:spPr>
          <a:xfrm>
            <a:off x="2670780" y="3274284"/>
            <a:ext cx="199705" cy="199705"/>
          </a:xfrm>
          <a:prstGeom prst="rect">
            <a:avLst/>
          </a:prstGeom>
        </p:spPr>
      </p:pic>
      <p:sp>
        <p:nvSpPr>
          <p:cNvPr id="46" name="Text 39"/>
          <p:cNvSpPr txBox="1"/>
          <p:nvPr/>
        </p:nvSpPr>
        <p:spPr>
          <a:xfrm>
            <a:off x="594360" y="3648456"/>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Gouvernance &amp; confidentialité</a:t>
            </a:r>
            <a:endParaRPr lang="en-US" sz="1300" dirty="0"/>
          </a:p>
        </p:txBody>
      </p:sp>
      <p:sp>
        <p:nvSpPr>
          <p:cNvPr id="47" name="Text 40"/>
          <p:cNvSpPr txBox="1"/>
          <p:nvPr/>
        </p:nvSpPr>
        <p:spPr>
          <a:xfrm>
            <a:off x="594360" y="3931920"/>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Nouveaux risques de divulgation, cadre juridique, niveaux de classification, contrôles</a:t>
            </a:r>
            <a:endParaRPr lang="en-US" sz="900" dirty="0"/>
          </a:p>
        </p:txBody>
      </p:sp>
      <p:sp>
        <p:nvSpPr>
          <p:cNvPr id="50" name="Shape 43"/>
          <p:cNvSpPr/>
          <p:nvPr/>
        </p:nvSpPr>
        <p:spPr>
          <a:xfrm>
            <a:off x="3246120" y="3044952"/>
            <a:ext cx="2651760" cy="1536192"/>
          </a:xfrm>
          <a:prstGeom prst="roundRect">
            <a:avLst>
              <a:gd name="adj" fmla="val 4762"/>
            </a:avLst>
          </a:prstGeom>
          <a:solidFill>
            <a:srgbClr val="F4F7F5"/>
          </a:solidFill>
          <a:ln w="9525">
            <a:solidFill>
              <a:srgbClr val="D5DED9"/>
            </a:solidFill>
            <a:prstDash val="solid"/>
          </a:ln>
        </p:spPr>
      </p:sp>
      <p:sp>
        <p:nvSpPr>
          <p:cNvPr id="51" name="Text 44"/>
          <p:cNvSpPr txBox="1"/>
          <p:nvPr/>
        </p:nvSpPr>
        <p:spPr>
          <a:xfrm>
            <a:off x="3383280" y="3154680"/>
            <a:ext cx="73152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52" name="Shape 45"/>
          <p:cNvSpPr/>
          <p:nvPr/>
        </p:nvSpPr>
        <p:spPr>
          <a:xfrm>
            <a:off x="5367528" y="3182112"/>
            <a:ext cx="384048" cy="384048"/>
          </a:xfrm>
          <a:prstGeom prst="ellipse">
            <a:avLst/>
          </a:prstGeom>
          <a:solidFill>
            <a:srgbClr val="C4621D">
              <a:alpha val="22000"/>
            </a:srgbClr>
          </a:solidFill>
          <a:ln/>
        </p:spPr>
      </p:sp>
      <p:pic>
        <p:nvPicPr>
          <p:cNvPr id="53" name="Image 4" descr="preencoded.png"/>
          <p:cNvPicPr>
            <a:picLocks noChangeAspect="1"/>
          </p:cNvPicPr>
          <p:nvPr/>
        </p:nvPicPr>
        <p:blipFill>
          <a:blip r:embed="rId7"/>
          <a:stretch>
            <a:fillRect/>
          </a:stretch>
        </p:blipFill>
        <p:spPr>
          <a:xfrm>
            <a:off x="5459700" y="3274284"/>
            <a:ext cx="199705" cy="199705"/>
          </a:xfrm>
          <a:prstGeom prst="rect">
            <a:avLst/>
          </a:prstGeom>
        </p:spPr>
      </p:pic>
      <p:sp>
        <p:nvSpPr>
          <p:cNvPr id="54" name="Text 46"/>
          <p:cNvSpPr txBox="1"/>
          <p:nvPr/>
        </p:nvSpPr>
        <p:spPr>
          <a:xfrm>
            <a:off x="3383280" y="3648456"/>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Coûts &amp; budget</a:t>
            </a:r>
            <a:endParaRPr lang="en-US" sz="1300" dirty="0"/>
          </a:p>
        </p:txBody>
      </p:sp>
      <p:sp>
        <p:nvSpPr>
          <p:cNvPr id="55" name="Text 47"/>
          <p:cNvSpPr txBox="1"/>
          <p:nvPr/>
        </p:nvSpPr>
        <p:spPr>
          <a:xfrm>
            <a:off x="3383280" y="3931920"/>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Structure complète des coûts, scénarios à cinq ans, seuils de rentabilité, argumentaire budgétaire</a:t>
            </a:r>
            <a:endParaRPr lang="en-US" sz="900" dirty="0"/>
          </a:p>
        </p:txBody>
      </p:sp>
      <p:sp>
        <p:nvSpPr>
          <p:cNvPr id="58" name="Shape 50"/>
          <p:cNvSpPr/>
          <p:nvPr/>
        </p:nvSpPr>
        <p:spPr>
          <a:xfrm>
            <a:off x="6035040" y="3044952"/>
            <a:ext cx="2651760" cy="1536192"/>
          </a:xfrm>
          <a:prstGeom prst="roundRect">
            <a:avLst>
              <a:gd name="adj" fmla="val 4762"/>
            </a:avLst>
          </a:prstGeom>
          <a:solidFill>
            <a:srgbClr val="F4F7F5"/>
          </a:solidFill>
          <a:ln w="9525">
            <a:solidFill>
              <a:srgbClr val="D5DED9"/>
            </a:solidFill>
            <a:prstDash val="solid"/>
          </a:ln>
        </p:spPr>
      </p:sp>
      <p:sp>
        <p:nvSpPr>
          <p:cNvPr id="59" name="Text 51"/>
          <p:cNvSpPr txBox="1"/>
          <p:nvPr/>
        </p:nvSpPr>
        <p:spPr>
          <a:xfrm>
            <a:off x="6172200" y="3154680"/>
            <a:ext cx="73152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60" name="Shape 52"/>
          <p:cNvSpPr/>
          <p:nvPr/>
        </p:nvSpPr>
        <p:spPr>
          <a:xfrm>
            <a:off x="8156448" y="3182112"/>
            <a:ext cx="384048" cy="384048"/>
          </a:xfrm>
          <a:prstGeom prst="ellipse">
            <a:avLst/>
          </a:prstGeom>
          <a:solidFill>
            <a:srgbClr val="B83B2E">
              <a:alpha val="22000"/>
            </a:srgbClr>
          </a:solidFill>
          <a:ln/>
        </p:spPr>
      </p:sp>
      <p:pic>
        <p:nvPicPr>
          <p:cNvPr id="61" name="Image 5" descr="preencoded.png"/>
          <p:cNvPicPr>
            <a:picLocks noChangeAspect="1"/>
          </p:cNvPicPr>
          <p:nvPr/>
        </p:nvPicPr>
        <p:blipFill>
          <a:blip r:embed="rId8"/>
          <a:stretch>
            <a:fillRect/>
          </a:stretch>
        </p:blipFill>
        <p:spPr>
          <a:xfrm>
            <a:off x="8248620" y="3274284"/>
            <a:ext cx="199705" cy="199705"/>
          </a:xfrm>
          <a:prstGeom prst="rect">
            <a:avLst/>
          </a:prstGeom>
        </p:spPr>
      </p:pic>
      <p:sp>
        <p:nvSpPr>
          <p:cNvPr id="62" name="Text 53"/>
          <p:cNvSpPr txBox="1"/>
          <p:nvPr/>
        </p:nvSpPr>
        <p:spPr>
          <a:xfrm>
            <a:off x="6172200" y="3648456"/>
            <a:ext cx="2377440" cy="274320"/>
          </a:xfrm>
          <a:prstGeom prst="rect">
            <a:avLst/>
          </a:prstGeom>
          <a:noFill/>
          <a:ln/>
        </p:spPr>
        <p:txBody>
          <a:bodyPr wrap="square" lIns="0" tIns="0" rIns="0" bIns="0" rtlCol="0" anchor="t">
            <a:normAutofit/>
          </a:bodyPr>
          <a:lstStyle/>
          <a:p>
            <a:pPr marL="0" indent="0">
              <a:buNone/>
            </a:pPr>
            <a:r>
              <a:rPr lang="en-US" sz="1300" b="1" dirty="0">
                <a:solidFill>
                  <a:srgbClr val="231F20"/>
                </a:solidFill>
                <a:latin typeface="Calibri" pitchFamily="34" charset="0"/>
                <a:ea typeface="Calibri" pitchFamily="34" charset="-122"/>
                <a:cs typeface="Calibri" pitchFamily="34" charset="-120"/>
              </a:rPr>
              <a:t>Équipes &amp; feuille de route</a:t>
            </a:r>
            <a:endParaRPr lang="en-US" sz="1300" dirty="0"/>
          </a:p>
        </p:txBody>
      </p:sp>
      <p:sp>
        <p:nvSpPr>
          <p:cNvPr id="63" name="Text 54"/>
          <p:cNvSpPr txBox="1"/>
          <p:nvPr/>
        </p:nvSpPr>
        <p:spPr>
          <a:xfrm>
            <a:off x="6172200" y="3931920"/>
            <a:ext cx="2377440"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Rôles, compétences, maturité, plan sur 24 mois et liste de vérification</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00 · VOCABULAIRE COMMUN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Dix notions clés en langage simple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Gardez cette page en tête : toutes les diapositives suivantes utilisent ces termes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8" name="Shape 15"/>
          <p:cNvSpPr/>
          <p:nvPr/>
        </p:nvSpPr>
        <p:spPr>
          <a:xfrm>
            <a:off x="457200" y="1371600"/>
            <a:ext cx="1558138" cy="1536192"/>
          </a:xfrm>
          <a:prstGeom prst="roundRect">
            <a:avLst>
              <a:gd name="adj" fmla="val 4762"/>
            </a:avLst>
          </a:prstGeom>
          <a:solidFill>
            <a:srgbClr val="F4F7F5"/>
          </a:solidFill>
          <a:ln w="9525">
            <a:solidFill>
              <a:srgbClr val="D5DED9"/>
            </a:solidFill>
            <a:prstDash val="solid"/>
          </a:ln>
        </p:spPr>
      </p:sp>
      <p:sp>
        <p:nvSpPr>
          <p:cNvPr id="19" name="Shape 16"/>
          <p:cNvSpPr/>
          <p:nvPr/>
        </p:nvSpPr>
        <p:spPr>
          <a:xfrm>
            <a:off x="566928" y="1499616"/>
            <a:ext cx="365760" cy="365760"/>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4710" y="1587398"/>
            <a:ext cx="190195" cy="190195"/>
          </a:xfrm>
          <a:prstGeom prst="rect">
            <a:avLst/>
          </a:prstGeom>
        </p:spPr>
      </p:pic>
      <p:sp>
        <p:nvSpPr>
          <p:cNvPr id="21" name="Text 17"/>
          <p:cNvSpPr txBox="1"/>
          <p:nvPr/>
        </p:nvSpPr>
        <p:spPr>
          <a:xfrm>
            <a:off x="566928" y="1920240"/>
            <a:ext cx="1338682" cy="292608"/>
          </a:xfrm>
          <a:prstGeom prst="rect">
            <a:avLst/>
          </a:prstGeom>
          <a:noFill/>
          <a:ln/>
        </p:spPr>
        <p:txBody>
          <a:bodyPr wrap="square" lIns="0" tIns="0" rIns="0" bIns="0" rtlCol="0" anchor="ctr">
            <a:normAutofit/>
          </a:bodyPr>
          <a:lstStyle/>
          <a:p>
            <a:pPr marL="0" indent="0">
              <a:buNone/>
            </a:pPr>
            <a:r>
              <a:rPr lang="en-US" sz="1200" b="1" dirty="0">
                <a:solidFill>
                  <a:srgbClr val="00704A"/>
                </a:solidFill>
                <a:latin typeface="Calibri" pitchFamily="34" charset="0"/>
                <a:ea typeface="Calibri" pitchFamily="34" charset="-122"/>
                <a:cs typeface="Calibri" pitchFamily="34" charset="-120"/>
              </a:rPr>
              <a:t>Modèle</a:t>
            </a:r>
            <a:endParaRPr lang="en-US" sz="1200" dirty="0"/>
          </a:p>
        </p:txBody>
      </p:sp>
      <p:sp>
        <p:nvSpPr>
          <p:cNvPr id="22" name="Text 18"/>
          <p:cNvSpPr txBox="1"/>
          <p:nvPr/>
        </p:nvSpPr>
        <p:spPr>
          <a:xfrm>
            <a:off x="566928" y="2231136"/>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Programme dont le comportement est appris à partir d'exemples plutôt qu'écrit sous forme de règles.</a:t>
            </a:r>
            <a:endParaRPr lang="en-US" sz="900" dirty="0"/>
          </a:p>
        </p:txBody>
      </p:sp>
      <p:sp>
        <p:nvSpPr>
          <p:cNvPr id="23" name="Shape 19"/>
          <p:cNvSpPr/>
          <p:nvPr/>
        </p:nvSpPr>
        <p:spPr>
          <a:xfrm>
            <a:off x="2125066" y="1371600"/>
            <a:ext cx="1558138" cy="1536192"/>
          </a:xfrm>
          <a:prstGeom prst="roundRect">
            <a:avLst>
              <a:gd name="adj" fmla="val 4762"/>
            </a:avLst>
          </a:prstGeom>
          <a:solidFill>
            <a:srgbClr val="F4F7F5"/>
          </a:solidFill>
          <a:ln w="9525">
            <a:solidFill>
              <a:srgbClr val="D5DED9"/>
            </a:solidFill>
            <a:prstDash val="solid"/>
          </a:ln>
        </p:spPr>
      </p:sp>
      <p:sp>
        <p:nvSpPr>
          <p:cNvPr id="24" name="Shape 20"/>
          <p:cNvSpPr/>
          <p:nvPr/>
        </p:nvSpPr>
        <p:spPr>
          <a:xfrm>
            <a:off x="2234794" y="1499616"/>
            <a:ext cx="365760" cy="365760"/>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2322576" y="1587398"/>
            <a:ext cx="190195" cy="190195"/>
          </a:xfrm>
          <a:prstGeom prst="rect">
            <a:avLst/>
          </a:prstGeom>
        </p:spPr>
      </p:pic>
      <p:sp>
        <p:nvSpPr>
          <p:cNvPr id="26" name="Text 21"/>
          <p:cNvSpPr txBox="1"/>
          <p:nvPr/>
        </p:nvSpPr>
        <p:spPr>
          <a:xfrm>
            <a:off x="2234794" y="1920240"/>
            <a:ext cx="1338682" cy="292608"/>
          </a:xfrm>
          <a:prstGeom prst="rect">
            <a:avLst/>
          </a:prstGeom>
          <a:noFill/>
          <a:ln/>
        </p:spPr>
        <p:txBody>
          <a:bodyPr wrap="square" lIns="0" tIns="0" rIns="0" bIns="0" rtlCol="0" anchor="ctr">
            <a:normAutofit/>
          </a:bodyPr>
          <a:lstStyle/>
          <a:p>
            <a:pPr marL="0" indent="0">
              <a:buNone/>
            </a:pPr>
            <a:r>
              <a:rPr lang="en-US" sz="1200" b="1" dirty="0">
                <a:solidFill>
                  <a:srgbClr val="00704A"/>
                </a:solidFill>
                <a:latin typeface="Calibri" pitchFamily="34" charset="0"/>
                <a:ea typeface="Calibri" pitchFamily="34" charset="-122"/>
                <a:cs typeface="Calibri" pitchFamily="34" charset="-120"/>
              </a:rPr>
              <a:t>Entraînement</a:t>
            </a:r>
            <a:endParaRPr lang="en-US" sz="1200" dirty="0"/>
          </a:p>
        </p:txBody>
      </p:sp>
      <p:sp>
        <p:nvSpPr>
          <p:cNvPr id="27" name="Text 22"/>
          <p:cNvSpPr txBox="1"/>
          <p:nvPr/>
        </p:nvSpPr>
        <p:spPr>
          <a:xfrm>
            <a:off x="2234794" y="2231136"/>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Montrer au modèle de nombreux exemples annotés pour qu'il apprenne. Calcul lourd et ponctuel.</a:t>
            </a:r>
            <a:endParaRPr lang="en-US" sz="900" dirty="0"/>
          </a:p>
        </p:txBody>
      </p:sp>
      <p:sp>
        <p:nvSpPr>
          <p:cNvPr id="28" name="Shape 23"/>
          <p:cNvSpPr/>
          <p:nvPr/>
        </p:nvSpPr>
        <p:spPr>
          <a:xfrm>
            <a:off x="3792931" y="1371600"/>
            <a:ext cx="1558138" cy="1536192"/>
          </a:xfrm>
          <a:prstGeom prst="roundRect">
            <a:avLst>
              <a:gd name="adj" fmla="val 4762"/>
            </a:avLst>
          </a:prstGeom>
          <a:solidFill>
            <a:srgbClr val="F4F7F5"/>
          </a:solidFill>
          <a:ln w="9525">
            <a:solidFill>
              <a:srgbClr val="D5DED9"/>
            </a:solidFill>
            <a:prstDash val="solid"/>
          </a:ln>
        </p:spPr>
      </p:sp>
      <p:sp>
        <p:nvSpPr>
          <p:cNvPr id="29" name="Shape 24"/>
          <p:cNvSpPr/>
          <p:nvPr/>
        </p:nvSpPr>
        <p:spPr>
          <a:xfrm>
            <a:off x="3902659" y="1499616"/>
            <a:ext cx="365760" cy="365760"/>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3990442" y="1587398"/>
            <a:ext cx="190195" cy="190195"/>
          </a:xfrm>
          <a:prstGeom prst="rect">
            <a:avLst/>
          </a:prstGeom>
        </p:spPr>
      </p:pic>
      <p:sp>
        <p:nvSpPr>
          <p:cNvPr id="31" name="Text 25"/>
          <p:cNvSpPr txBox="1"/>
          <p:nvPr/>
        </p:nvSpPr>
        <p:spPr>
          <a:xfrm>
            <a:off x="3902659" y="1920240"/>
            <a:ext cx="1338682" cy="292608"/>
          </a:xfrm>
          <a:prstGeom prst="rect">
            <a:avLst/>
          </a:prstGeom>
          <a:noFill/>
          <a:ln/>
        </p:spPr>
        <p:txBody>
          <a:bodyPr wrap="square" lIns="0" tIns="0" rIns="0" bIns="0" rtlCol="0" anchor="ctr">
            <a:normAutofit/>
          </a:bodyPr>
          <a:lstStyle/>
          <a:p>
            <a:pPr marL="0" indent="0">
              <a:buNone/>
            </a:pPr>
            <a:r>
              <a:rPr lang="en-US" sz="1200" b="1" dirty="0">
                <a:solidFill>
                  <a:srgbClr val="00704A"/>
                </a:solidFill>
                <a:latin typeface="Calibri" pitchFamily="34" charset="0"/>
                <a:ea typeface="Calibri" pitchFamily="34" charset="-122"/>
                <a:cs typeface="Calibri" pitchFamily="34" charset="-120"/>
              </a:rPr>
              <a:t>Inférence</a:t>
            </a:r>
            <a:endParaRPr lang="en-US" sz="1200" dirty="0"/>
          </a:p>
        </p:txBody>
      </p:sp>
      <p:sp>
        <p:nvSpPr>
          <p:cNvPr id="32" name="Text 26"/>
          <p:cNvSpPr txBox="1"/>
          <p:nvPr/>
        </p:nvSpPr>
        <p:spPr>
          <a:xfrm>
            <a:off x="3902659" y="2231136"/>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Utiliser un modèle entraîné pour produire une réponse. Léger par requête, mais continu.</a:t>
            </a:r>
            <a:endParaRPr lang="en-US" sz="900" dirty="0"/>
          </a:p>
        </p:txBody>
      </p:sp>
      <p:sp>
        <p:nvSpPr>
          <p:cNvPr id="33" name="Shape 27"/>
          <p:cNvSpPr/>
          <p:nvPr/>
        </p:nvSpPr>
        <p:spPr>
          <a:xfrm>
            <a:off x="5460797" y="1371600"/>
            <a:ext cx="1558138" cy="1536192"/>
          </a:xfrm>
          <a:prstGeom prst="roundRect">
            <a:avLst>
              <a:gd name="adj" fmla="val 4762"/>
            </a:avLst>
          </a:prstGeom>
          <a:solidFill>
            <a:srgbClr val="F4F7F5"/>
          </a:solidFill>
          <a:ln w="9525">
            <a:solidFill>
              <a:srgbClr val="D5DED9"/>
            </a:solidFill>
            <a:prstDash val="solid"/>
          </a:ln>
        </p:spPr>
      </p:sp>
      <p:sp>
        <p:nvSpPr>
          <p:cNvPr id="34" name="Shape 28"/>
          <p:cNvSpPr/>
          <p:nvPr/>
        </p:nvSpPr>
        <p:spPr>
          <a:xfrm>
            <a:off x="5570525" y="1499616"/>
            <a:ext cx="365760" cy="365760"/>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5658307" y="1587398"/>
            <a:ext cx="190195" cy="190195"/>
          </a:xfrm>
          <a:prstGeom prst="rect">
            <a:avLst/>
          </a:prstGeom>
        </p:spPr>
      </p:pic>
      <p:sp>
        <p:nvSpPr>
          <p:cNvPr id="36" name="Text 29"/>
          <p:cNvSpPr txBox="1"/>
          <p:nvPr/>
        </p:nvSpPr>
        <p:spPr>
          <a:xfrm>
            <a:off x="5570525" y="1920240"/>
            <a:ext cx="1338682" cy="292608"/>
          </a:xfrm>
          <a:prstGeom prst="rect">
            <a:avLst/>
          </a:prstGeom>
          <a:noFill/>
          <a:ln/>
        </p:spPr>
        <p:txBody>
          <a:bodyPr wrap="square" lIns="0" tIns="0" rIns="0" bIns="0" rtlCol="0" anchor="ctr">
            <a:normAutofit/>
          </a:bodyPr>
          <a:lstStyle/>
          <a:p>
            <a:pPr marL="0" indent="0">
              <a:buNone/>
            </a:pPr>
            <a:r>
              <a:rPr lang="en-US" sz="1200" b="1" dirty="0">
                <a:solidFill>
                  <a:srgbClr val="00704A"/>
                </a:solidFill>
                <a:latin typeface="Calibri" pitchFamily="34" charset="0"/>
                <a:ea typeface="Calibri" pitchFamily="34" charset="-122"/>
                <a:cs typeface="Calibri" pitchFamily="34" charset="-120"/>
              </a:rPr>
              <a:t>GPU</a:t>
            </a:r>
            <a:endParaRPr lang="en-US" sz="1200" dirty="0"/>
          </a:p>
        </p:txBody>
      </p:sp>
      <p:sp>
        <p:nvSpPr>
          <p:cNvPr id="37" name="Text 30"/>
          <p:cNvSpPr txBox="1"/>
          <p:nvPr/>
        </p:nvSpPr>
        <p:spPr>
          <a:xfrm>
            <a:off x="5570525" y="2231136"/>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Processeur effectuant de nombreux calculs en parallèle. Vital pour les grands modèles.</a:t>
            </a:r>
            <a:endParaRPr lang="en-US" sz="900" dirty="0"/>
          </a:p>
        </p:txBody>
      </p:sp>
      <p:sp>
        <p:nvSpPr>
          <p:cNvPr id="38" name="Shape 31"/>
          <p:cNvSpPr/>
          <p:nvPr/>
        </p:nvSpPr>
        <p:spPr>
          <a:xfrm>
            <a:off x="7128662" y="1371600"/>
            <a:ext cx="1558138" cy="1536192"/>
          </a:xfrm>
          <a:prstGeom prst="roundRect">
            <a:avLst>
              <a:gd name="adj" fmla="val 4762"/>
            </a:avLst>
          </a:prstGeom>
          <a:solidFill>
            <a:srgbClr val="F4F7F5"/>
          </a:solidFill>
          <a:ln w="9525">
            <a:solidFill>
              <a:srgbClr val="D5DED9"/>
            </a:solidFill>
            <a:prstDash val="solid"/>
          </a:ln>
        </p:spPr>
      </p:sp>
      <p:sp>
        <p:nvSpPr>
          <p:cNvPr id="39" name="Shape 32"/>
          <p:cNvSpPr/>
          <p:nvPr/>
        </p:nvSpPr>
        <p:spPr>
          <a:xfrm>
            <a:off x="7238390" y="1499616"/>
            <a:ext cx="365760" cy="365760"/>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7326173" y="1587398"/>
            <a:ext cx="190195" cy="190195"/>
          </a:xfrm>
          <a:prstGeom prst="rect">
            <a:avLst/>
          </a:prstGeom>
        </p:spPr>
      </p:pic>
      <p:sp>
        <p:nvSpPr>
          <p:cNvPr id="41" name="Text 33"/>
          <p:cNvSpPr txBox="1"/>
          <p:nvPr/>
        </p:nvSpPr>
        <p:spPr>
          <a:xfrm>
            <a:off x="7238390" y="1920240"/>
            <a:ext cx="1338682" cy="292608"/>
          </a:xfrm>
          <a:prstGeom prst="rect">
            <a:avLst/>
          </a:prstGeom>
          <a:noFill/>
          <a:ln/>
        </p:spPr>
        <p:txBody>
          <a:bodyPr wrap="square" lIns="0" tIns="0" rIns="0" bIns="0" rtlCol="0" anchor="ctr">
            <a:normAutofit/>
          </a:bodyPr>
          <a:lstStyle/>
          <a:p>
            <a:pPr marL="0" indent="0">
              <a:buNone/>
            </a:pPr>
            <a:r>
              <a:rPr lang="en-US" sz="1200" b="1" dirty="0">
                <a:solidFill>
                  <a:srgbClr val="00704A"/>
                </a:solidFill>
                <a:latin typeface="Calibri" pitchFamily="34" charset="0"/>
                <a:ea typeface="Calibri" pitchFamily="34" charset="-122"/>
                <a:cs typeface="Calibri" pitchFamily="34" charset="-120"/>
              </a:rPr>
              <a:t>LLM</a:t>
            </a:r>
            <a:endParaRPr lang="en-US" sz="1200" dirty="0"/>
          </a:p>
        </p:txBody>
      </p:sp>
      <p:sp>
        <p:nvSpPr>
          <p:cNvPr id="42" name="Text 34"/>
          <p:cNvSpPr txBox="1"/>
          <p:nvPr/>
        </p:nvSpPr>
        <p:spPr>
          <a:xfrm>
            <a:off x="7238390" y="2231136"/>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Grand modèle de langage : modèle génératif qui rédige, extrait et classe du texte.</a:t>
            </a:r>
            <a:endParaRPr lang="en-US" sz="900" dirty="0"/>
          </a:p>
        </p:txBody>
      </p:sp>
      <p:sp>
        <p:nvSpPr>
          <p:cNvPr id="43" name="Shape 35"/>
          <p:cNvSpPr/>
          <p:nvPr/>
        </p:nvSpPr>
        <p:spPr>
          <a:xfrm>
            <a:off x="457200" y="3044952"/>
            <a:ext cx="1558138" cy="1536192"/>
          </a:xfrm>
          <a:prstGeom prst="roundRect">
            <a:avLst>
              <a:gd name="adj" fmla="val 4762"/>
            </a:avLst>
          </a:prstGeom>
          <a:solidFill>
            <a:srgbClr val="F4F7F5"/>
          </a:solidFill>
          <a:ln w="9525">
            <a:solidFill>
              <a:srgbClr val="D5DED9"/>
            </a:solidFill>
            <a:prstDash val="solid"/>
          </a:ln>
        </p:spPr>
      </p:sp>
      <p:sp>
        <p:nvSpPr>
          <p:cNvPr id="44" name="Shape 36"/>
          <p:cNvSpPr/>
          <p:nvPr/>
        </p:nvSpPr>
        <p:spPr>
          <a:xfrm>
            <a:off x="566928" y="3172968"/>
            <a:ext cx="365760" cy="365760"/>
          </a:xfrm>
          <a:prstGeom prst="ellipse">
            <a:avLst/>
          </a:prstGeom>
          <a:solidFill>
            <a:srgbClr val="0E7C86">
              <a:alpha val="22000"/>
            </a:srgbClr>
          </a:solidFill>
          <a:ln/>
        </p:spPr>
      </p:sp>
      <p:pic>
        <p:nvPicPr>
          <p:cNvPr id="45" name="Image 5" descr="preencoded.png"/>
          <p:cNvPicPr>
            <a:picLocks noChangeAspect="1"/>
          </p:cNvPicPr>
          <p:nvPr/>
        </p:nvPicPr>
        <p:blipFill>
          <a:blip r:embed="rId8"/>
          <a:stretch>
            <a:fillRect/>
          </a:stretch>
        </p:blipFill>
        <p:spPr>
          <a:xfrm>
            <a:off x="654710" y="3260750"/>
            <a:ext cx="190195" cy="190195"/>
          </a:xfrm>
          <a:prstGeom prst="rect">
            <a:avLst/>
          </a:prstGeom>
        </p:spPr>
      </p:pic>
      <p:sp>
        <p:nvSpPr>
          <p:cNvPr id="46" name="Text 37"/>
          <p:cNvSpPr txBox="1"/>
          <p:nvPr/>
        </p:nvSpPr>
        <p:spPr>
          <a:xfrm>
            <a:off x="566928" y="3593592"/>
            <a:ext cx="1338682" cy="292608"/>
          </a:xfrm>
          <a:prstGeom prst="rect">
            <a:avLst/>
          </a:prstGeom>
          <a:noFill/>
          <a:ln/>
        </p:spPr>
        <p:txBody>
          <a:bodyPr wrap="square" lIns="0" tIns="0" rIns="0" bIns="0" rtlCol="0" anchor="ctr">
            <a:normAutofit/>
          </a:bodyPr>
          <a:lstStyle/>
          <a:p>
            <a:pPr marL="0" indent="0">
              <a:buNone/>
            </a:pPr>
            <a:r>
              <a:rPr lang="en-US" sz="1200" b="1" dirty="0">
                <a:solidFill>
                  <a:srgbClr val="0E7C86"/>
                </a:solidFill>
                <a:latin typeface="Calibri" pitchFamily="34" charset="0"/>
                <a:ea typeface="Calibri" pitchFamily="34" charset="-122"/>
                <a:cs typeface="Calibri" pitchFamily="34" charset="-120"/>
              </a:rPr>
              <a:t>Modèle ouvert</a:t>
            </a:r>
            <a:endParaRPr lang="en-US" sz="1200" dirty="0"/>
          </a:p>
        </p:txBody>
      </p:sp>
      <p:sp>
        <p:nvSpPr>
          <p:cNvPr id="47" name="Text 38"/>
          <p:cNvSpPr txBox="1"/>
          <p:nvPr/>
        </p:nvSpPr>
        <p:spPr>
          <a:xfrm>
            <a:off x="566928" y="3904488"/>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Modèle à poids ouverts : on peut télécharger les paramètres et l'exécuter sur ses propres serveurs.</a:t>
            </a:r>
            <a:endParaRPr lang="en-US" sz="900" dirty="0"/>
          </a:p>
        </p:txBody>
      </p:sp>
      <p:sp>
        <p:nvSpPr>
          <p:cNvPr id="48" name="Shape 39"/>
          <p:cNvSpPr/>
          <p:nvPr/>
        </p:nvSpPr>
        <p:spPr>
          <a:xfrm>
            <a:off x="2125066" y="3044952"/>
            <a:ext cx="1558138" cy="1536192"/>
          </a:xfrm>
          <a:prstGeom prst="roundRect">
            <a:avLst>
              <a:gd name="adj" fmla="val 4762"/>
            </a:avLst>
          </a:prstGeom>
          <a:solidFill>
            <a:srgbClr val="F4F7F5"/>
          </a:solidFill>
          <a:ln w="9525">
            <a:solidFill>
              <a:srgbClr val="D5DED9"/>
            </a:solidFill>
            <a:prstDash val="solid"/>
          </a:ln>
        </p:spPr>
      </p:sp>
      <p:sp>
        <p:nvSpPr>
          <p:cNvPr id="49" name="Shape 40"/>
          <p:cNvSpPr/>
          <p:nvPr/>
        </p:nvSpPr>
        <p:spPr>
          <a:xfrm>
            <a:off x="2234794" y="3172968"/>
            <a:ext cx="365760" cy="365760"/>
          </a:xfrm>
          <a:prstGeom prst="ellipse">
            <a:avLst/>
          </a:prstGeom>
          <a:solidFill>
            <a:srgbClr val="0E7C86">
              <a:alpha val="22000"/>
            </a:srgbClr>
          </a:solidFill>
          <a:ln/>
        </p:spPr>
      </p:sp>
      <p:pic>
        <p:nvPicPr>
          <p:cNvPr id="50" name="Image 6" descr="preencoded.png"/>
          <p:cNvPicPr>
            <a:picLocks noChangeAspect="1"/>
          </p:cNvPicPr>
          <p:nvPr/>
        </p:nvPicPr>
        <p:blipFill>
          <a:blip r:embed="rId9"/>
          <a:stretch>
            <a:fillRect/>
          </a:stretch>
        </p:blipFill>
        <p:spPr>
          <a:xfrm>
            <a:off x="2322576" y="3260750"/>
            <a:ext cx="190195" cy="190195"/>
          </a:xfrm>
          <a:prstGeom prst="rect">
            <a:avLst/>
          </a:prstGeom>
        </p:spPr>
      </p:pic>
      <p:sp>
        <p:nvSpPr>
          <p:cNvPr id="51" name="Text 41"/>
          <p:cNvSpPr txBox="1"/>
          <p:nvPr/>
        </p:nvSpPr>
        <p:spPr>
          <a:xfrm>
            <a:off x="2234794" y="3593592"/>
            <a:ext cx="1338682" cy="292608"/>
          </a:xfrm>
          <a:prstGeom prst="rect">
            <a:avLst/>
          </a:prstGeom>
          <a:noFill/>
          <a:ln/>
        </p:spPr>
        <p:txBody>
          <a:bodyPr wrap="square" lIns="0" tIns="0" rIns="0" bIns="0" rtlCol="0" anchor="ctr">
            <a:normAutofit/>
          </a:bodyPr>
          <a:lstStyle/>
          <a:p>
            <a:pPr marL="0" indent="0">
              <a:buNone/>
            </a:pPr>
            <a:r>
              <a:rPr lang="en-US" sz="1200" b="1" dirty="0">
                <a:solidFill>
                  <a:srgbClr val="0E7C86"/>
                </a:solidFill>
                <a:latin typeface="Calibri" pitchFamily="34" charset="0"/>
                <a:ea typeface="Calibri" pitchFamily="34" charset="-122"/>
                <a:cs typeface="Calibri" pitchFamily="34" charset="-120"/>
              </a:rPr>
              <a:t>Affinage</a:t>
            </a:r>
            <a:endParaRPr lang="en-US" sz="1200" dirty="0"/>
          </a:p>
        </p:txBody>
      </p:sp>
      <p:sp>
        <p:nvSpPr>
          <p:cNvPr id="52" name="Text 42"/>
          <p:cNvSpPr txBox="1"/>
          <p:nvPr/>
        </p:nvSpPr>
        <p:spPr>
          <a:xfrm>
            <a:off x="2234794" y="3904488"/>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Entraînement complémentaire d'un modèle existant sur vos propres données.</a:t>
            </a:r>
            <a:endParaRPr lang="en-US" sz="900" dirty="0"/>
          </a:p>
        </p:txBody>
      </p:sp>
      <p:sp>
        <p:nvSpPr>
          <p:cNvPr id="53" name="Shape 43"/>
          <p:cNvSpPr/>
          <p:nvPr/>
        </p:nvSpPr>
        <p:spPr>
          <a:xfrm>
            <a:off x="3792931" y="3044952"/>
            <a:ext cx="1558138" cy="1536192"/>
          </a:xfrm>
          <a:prstGeom prst="roundRect">
            <a:avLst>
              <a:gd name="adj" fmla="val 4762"/>
            </a:avLst>
          </a:prstGeom>
          <a:solidFill>
            <a:srgbClr val="F4F7F5"/>
          </a:solidFill>
          <a:ln w="9525">
            <a:solidFill>
              <a:srgbClr val="D5DED9"/>
            </a:solidFill>
            <a:prstDash val="solid"/>
          </a:ln>
        </p:spPr>
      </p:sp>
      <p:sp>
        <p:nvSpPr>
          <p:cNvPr id="54" name="Shape 44"/>
          <p:cNvSpPr/>
          <p:nvPr/>
        </p:nvSpPr>
        <p:spPr>
          <a:xfrm>
            <a:off x="3902659" y="3172968"/>
            <a:ext cx="365760" cy="365760"/>
          </a:xfrm>
          <a:prstGeom prst="ellipse">
            <a:avLst/>
          </a:prstGeom>
          <a:solidFill>
            <a:srgbClr val="0E7C86">
              <a:alpha val="22000"/>
            </a:srgbClr>
          </a:solidFill>
          <a:ln/>
        </p:spPr>
      </p:sp>
      <p:pic>
        <p:nvPicPr>
          <p:cNvPr id="55" name="Image 7" descr="preencoded.png"/>
          <p:cNvPicPr>
            <a:picLocks noChangeAspect="1"/>
          </p:cNvPicPr>
          <p:nvPr/>
        </p:nvPicPr>
        <p:blipFill>
          <a:blip r:embed="rId10"/>
          <a:stretch>
            <a:fillRect/>
          </a:stretch>
        </p:blipFill>
        <p:spPr>
          <a:xfrm>
            <a:off x="3990442" y="3260750"/>
            <a:ext cx="190195" cy="190195"/>
          </a:xfrm>
          <a:prstGeom prst="rect">
            <a:avLst/>
          </a:prstGeom>
        </p:spPr>
      </p:pic>
      <p:sp>
        <p:nvSpPr>
          <p:cNvPr id="56" name="Text 45"/>
          <p:cNvSpPr txBox="1"/>
          <p:nvPr/>
        </p:nvSpPr>
        <p:spPr>
          <a:xfrm>
            <a:off x="3902659" y="3593592"/>
            <a:ext cx="1338682" cy="292608"/>
          </a:xfrm>
          <a:prstGeom prst="rect">
            <a:avLst/>
          </a:prstGeom>
          <a:noFill/>
          <a:ln/>
        </p:spPr>
        <p:txBody>
          <a:bodyPr wrap="square" lIns="0" tIns="0" rIns="0" bIns="0" rtlCol="0" anchor="ctr">
            <a:normAutofit/>
          </a:bodyPr>
          <a:lstStyle/>
          <a:p>
            <a:pPr marL="0" indent="0">
              <a:buNone/>
            </a:pPr>
            <a:r>
              <a:rPr lang="en-US" sz="1200" b="1" dirty="0">
                <a:solidFill>
                  <a:srgbClr val="0E7C86"/>
                </a:solidFill>
                <a:latin typeface="Calibri" pitchFamily="34" charset="0"/>
                <a:ea typeface="Calibri" pitchFamily="34" charset="-122"/>
                <a:cs typeface="Calibri" pitchFamily="34" charset="-120"/>
              </a:rPr>
              <a:t>RAG</a:t>
            </a:r>
            <a:endParaRPr lang="en-US" sz="1200" dirty="0"/>
          </a:p>
        </p:txBody>
      </p:sp>
      <p:sp>
        <p:nvSpPr>
          <p:cNvPr id="57" name="Text 46"/>
          <p:cNvSpPr txBox="1"/>
          <p:nvPr/>
        </p:nvSpPr>
        <p:spPr>
          <a:xfrm>
            <a:off x="3902659" y="3904488"/>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Génération augmentée par récupération : le modèle répond à partir de vos documents.</a:t>
            </a:r>
            <a:endParaRPr lang="en-US" sz="900" dirty="0"/>
          </a:p>
        </p:txBody>
      </p:sp>
      <p:sp>
        <p:nvSpPr>
          <p:cNvPr id="58" name="Shape 47"/>
          <p:cNvSpPr/>
          <p:nvPr/>
        </p:nvSpPr>
        <p:spPr>
          <a:xfrm>
            <a:off x="5460797" y="3044952"/>
            <a:ext cx="1558138" cy="1536192"/>
          </a:xfrm>
          <a:prstGeom prst="roundRect">
            <a:avLst>
              <a:gd name="adj" fmla="val 4762"/>
            </a:avLst>
          </a:prstGeom>
          <a:solidFill>
            <a:srgbClr val="F4F7F5"/>
          </a:solidFill>
          <a:ln w="9525">
            <a:solidFill>
              <a:srgbClr val="D5DED9"/>
            </a:solidFill>
            <a:prstDash val="solid"/>
          </a:ln>
        </p:spPr>
      </p:sp>
      <p:sp>
        <p:nvSpPr>
          <p:cNvPr id="59" name="Shape 48"/>
          <p:cNvSpPr/>
          <p:nvPr/>
        </p:nvSpPr>
        <p:spPr>
          <a:xfrm>
            <a:off x="5570525" y="3172968"/>
            <a:ext cx="365760" cy="365760"/>
          </a:xfrm>
          <a:prstGeom prst="ellipse">
            <a:avLst/>
          </a:prstGeom>
          <a:solidFill>
            <a:srgbClr val="0E7C86">
              <a:alpha val="22000"/>
            </a:srgbClr>
          </a:solidFill>
          <a:ln/>
        </p:spPr>
      </p:sp>
      <p:pic>
        <p:nvPicPr>
          <p:cNvPr id="60" name="Image 8" descr="preencoded.png"/>
          <p:cNvPicPr>
            <a:picLocks noChangeAspect="1"/>
          </p:cNvPicPr>
          <p:nvPr/>
        </p:nvPicPr>
        <p:blipFill>
          <a:blip r:embed="rId11"/>
          <a:stretch>
            <a:fillRect/>
          </a:stretch>
        </p:blipFill>
        <p:spPr>
          <a:xfrm>
            <a:off x="5658307" y="3260750"/>
            <a:ext cx="190195" cy="190195"/>
          </a:xfrm>
          <a:prstGeom prst="rect">
            <a:avLst/>
          </a:prstGeom>
        </p:spPr>
      </p:pic>
      <p:sp>
        <p:nvSpPr>
          <p:cNvPr id="61" name="Text 49"/>
          <p:cNvSpPr txBox="1"/>
          <p:nvPr/>
        </p:nvSpPr>
        <p:spPr>
          <a:xfrm>
            <a:off x="5570525" y="3593592"/>
            <a:ext cx="1338682" cy="292608"/>
          </a:xfrm>
          <a:prstGeom prst="rect">
            <a:avLst/>
          </a:prstGeom>
          <a:noFill/>
          <a:ln/>
        </p:spPr>
        <p:txBody>
          <a:bodyPr wrap="square" lIns="0" tIns="0" rIns="0" bIns="0" rtlCol="0" anchor="ctr">
            <a:normAutofit/>
          </a:bodyPr>
          <a:lstStyle/>
          <a:p>
            <a:pPr marL="0" indent="0">
              <a:buNone/>
            </a:pPr>
            <a:r>
              <a:rPr lang="en-US" sz="1200" b="1" dirty="0">
                <a:solidFill>
                  <a:srgbClr val="0E7C86"/>
                </a:solidFill>
                <a:latin typeface="Calibri" pitchFamily="34" charset="0"/>
                <a:ea typeface="Calibri" pitchFamily="34" charset="-122"/>
                <a:cs typeface="Calibri" pitchFamily="34" charset="-120"/>
              </a:rPr>
              <a:t>MLOps</a:t>
            </a:r>
            <a:endParaRPr lang="en-US" sz="1200" dirty="0"/>
          </a:p>
        </p:txBody>
      </p:sp>
      <p:sp>
        <p:nvSpPr>
          <p:cNvPr id="62" name="Text 50"/>
          <p:cNvSpPr txBox="1"/>
          <p:nvPr/>
        </p:nvSpPr>
        <p:spPr>
          <a:xfrm>
            <a:off x="5570525" y="3904488"/>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Pratiques et outils qui font passer un modèle de l'expérimentation à la production.</a:t>
            </a:r>
            <a:endParaRPr lang="en-US" sz="900" dirty="0"/>
          </a:p>
        </p:txBody>
      </p:sp>
      <p:sp>
        <p:nvSpPr>
          <p:cNvPr id="63" name="Shape 51"/>
          <p:cNvSpPr/>
          <p:nvPr/>
        </p:nvSpPr>
        <p:spPr>
          <a:xfrm>
            <a:off x="7128662" y="3044952"/>
            <a:ext cx="1558138" cy="1536192"/>
          </a:xfrm>
          <a:prstGeom prst="roundRect">
            <a:avLst>
              <a:gd name="adj" fmla="val 4762"/>
            </a:avLst>
          </a:prstGeom>
          <a:solidFill>
            <a:srgbClr val="F4F7F5"/>
          </a:solidFill>
          <a:ln w="9525">
            <a:solidFill>
              <a:srgbClr val="D5DED9"/>
            </a:solidFill>
            <a:prstDash val="solid"/>
          </a:ln>
        </p:spPr>
      </p:sp>
      <p:sp>
        <p:nvSpPr>
          <p:cNvPr id="64" name="Shape 52"/>
          <p:cNvSpPr/>
          <p:nvPr/>
        </p:nvSpPr>
        <p:spPr>
          <a:xfrm>
            <a:off x="7238390" y="3172968"/>
            <a:ext cx="365760" cy="365760"/>
          </a:xfrm>
          <a:prstGeom prst="ellipse">
            <a:avLst/>
          </a:prstGeom>
          <a:solidFill>
            <a:srgbClr val="0E7C86">
              <a:alpha val="22000"/>
            </a:srgbClr>
          </a:solidFill>
          <a:ln/>
        </p:spPr>
      </p:sp>
      <p:pic>
        <p:nvPicPr>
          <p:cNvPr id="65" name="Image 9" descr="preencoded.png"/>
          <p:cNvPicPr>
            <a:picLocks noChangeAspect="1"/>
          </p:cNvPicPr>
          <p:nvPr/>
        </p:nvPicPr>
        <p:blipFill>
          <a:blip r:embed="rId12"/>
          <a:stretch>
            <a:fillRect/>
          </a:stretch>
        </p:blipFill>
        <p:spPr>
          <a:xfrm>
            <a:off x="7326173" y="3260750"/>
            <a:ext cx="190195" cy="190195"/>
          </a:xfrm>
          <a:prstGeom prst="rect">
            <a:avLst/>
          </a:prstGeom>
        </p:spPr>
      </p:pic>
      <p:sp>
        <p:nvSpPr>
          <p:cNvPr id="66" name="Text 53"/>
          <p:cNvSpPr txBox="1"/>
          <p:nvPr/>
        </p:nvSpPr>
        <p:spPr>
          <a:xfrm>
            <a:off x="7238390" y="3593592"/>
            <a:ext cx="1338682" cy="292608"/>
          </a:xfrm>
          <a:prstGeom prst="rect">
            <a:avLst/>
          </a:prstGeom>
          <a:noFill/>
          <a:ln/>
        </p:spPr>
        <p:txBody>
          <a:bodyPr wrap="square" lIns="0" tIns="0" rIns="0" bIns="0" rtlCol="0" anchor="ctr">
            <a:normAutofit/>
          </a:bodyPr>
          <a:lstStyle/>
          <a:p>
            <a:pPr marL="0" indent="0">
              <a:buNone/>
            </a:pPr>
            <a:r>
              <a:rPr lang="en-US" sz="1200" b="1" dirty="0">
                <a:solidFill>
                  <a:srgbClr val="0E7C86"/>
                </a:solidFill>
                <a:latin typeface="Calibri" pitchFamily="34" charset="0"/>
                <a:ea typeface="Calibri" pitchFamily="34" charset="-122"/>
                <a:cs typeface="Calibri" pitchFamily="34" charset="-120"/>
              </a:rPr>
              <a:t>Jeu de référence</a:t>
            </a:r>
            <a:endParaRPr lang="en-US" sz="1200" dirty="0"/>
          </a:p>
        </p:txBody>
      </p:sp>
      <p:sp>
        <p:nvSpPr>
          <p:cNvPr id="67" name="Text 54"/>
          <p:cNvSpPr txBox="1"/>
          <p:nvPr/>
        </p:nvSpPr>
        <p:spPr>
          <a:xfrm>
            <a:off x="7238390" y="3904488"/>
            <a:ext cx="1338682" cy="6583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Données figées, codées par des experts, qui servent à mesurer la performance d'un modèle.</a:t>
            </a:r>
            <a:endParaRPr lang="en-US" sz="9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01</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Cadrage &amp; architecture</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Pourquoi le modèle est-il la partie la plus simple d'un système d'IA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 modèle, partie facile</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Où l'IA est utile</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Un exemple détaillé</a:t>
            </a:r>
            <a:endParaRPr lang="en-US" sz="1000" dirty="0"/>
          </a:p>
        </p:txBody>
      </p:sp>
      <p:sp>
        <p:nvSpPr>
          <p:cNvPr id="11" name="Text 9"/>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INS ou entreprise tech</a:t>
            </a:r>
            <a:endParaRPr lang="en-US" sz="1000" dirty="0"/>
          </a:p>
        </p:txBody>
      </p:sp>
      <p:sp>
        <p:nvSpPr>
          <p:cNvPr id="12" name="Text 10"/>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 contexte africain</a:t>
            </a:r>
            <a:endParaRPr lang="en-US" sz="1000" dirty="0"/>
          </a:p>
        </p:txBody>
      </p:sp>
      <p:sp>
        <p:nvSpPr>
          <p:cNvPr id="13" name="Text 11"/>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Les cinq couches</a:t>
            </a:r>
            <a:endParaRPr lang="en-US" sz="1000" dirty="0"/>
          </a:p>
        </p:txBody>
      </p:sp>
      <p:sp>
        <p:nvSpPr>
          <p:cNvPr id="14" name="Shape 12"/>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5" name="Shape 13"/>
          <p:cNvSpPr/>
          <p:nvPr/>
        </p:nvSpPr>
        <p:spPr>
          <a:xfrm>
            <a:off x="6355080" y="1325880"/>
            <a:ext cx="1920240" cy="1920240"/>
          </a:xfrm>
          <a:prstGeom prst="ellipse">
            <a:avLst/>
          </a:prstGeom>
          <a:solidFill>
            <a:srgbClr val="FFFFFF">
              <a:alpha val="18000"/>
            </a:srgbClr>
          </a:solidFill>
          <a:ln/>
        </p:spPr>
      </p:sp>
      <p:sp>
        <p:nvSpPr>
          <p:cNvPr id="16" name="Shape 14"/>
          <p:cNvSpPr/>
          <p:nvPr/>
        </p:nvSpPr>
        <p:spPr>
          <a:xfrm>
            <a:off x="6720840" y="1691640"/>
            <a:ext cx="1188720" cy="1188720"/>
          </a:xfrm>
          <a:prstGeom prst="ellipse">
            <a:avLst/>
          </a:prstGeom>
          <a:solidFill>
            <a:srgbClr val="FFFFFF"/>
          </a:solidFill>
          <a:ln/>
        </p:spPr>
      </p:sp>
      <p:pic>
        <p:nvPicPr>
          <p:cNvPr id="17"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8" name="Shape 15"/>
          <p:cNvSpPr/>
          <p:nvPr/>
        </p:nvSpPr>
        <p:spPr>
          <a:xfrm>
            <a:off x="6492240" y="3995928"/>
            <a:ext cx="146304" cy="146304"/>
          </a:xfrm>
          <a:prstGeom prst="ellipse">
            <a:avLst/>
          </a:prstGeom>
          <a:solidFill>
            <a:srgbClr val="F5C242"/>
          </a:solidFill>
          <a:ln/>
        </p:spPr>
      </p:sp>
      <p:sp>
        <p:nvSpPr>
          <p:cNvPr id="19" name="Shape 16"/>
          <p:cNvSpPr/>
          <p:nvPr/>
        </p:nvSpPr>
        <p:spPr>
          <a:xfrm>
            <a:off x="6784848" y="4014216"/>
            <a:ext cx="109728" cy="109728"/>
          </a:xfrm>
          <a:prstGeom prst="ellipse">
            <a:avLst/>
          </a:prstGeom>
          <a:solidFill>
            <a:srgbClr val="FFFFFF">
              <a:alpha val="40000"/>
            </a:srgbClr>
          </a:solidFill>
          <a:ln/>
        </p:spPr>
      </p:sp>
      <p:sp>
        <p:nvSpPr>
          <p:cNvPr id="20" name="Shape 17"/>
          <p:cNvSpPr/>
          <p:nvPr/>
        </p:nvSpPr>
        <p:spPr>
          <a:xfrm>
            <a:off x="7059168" y="4014216"/>
            <a:ext cx="109728" cy="109728"/>
          </a:xfrm>
          <a:prstGeom prst="ellipse">
            <a:avLst/>
          </a:prstGeom>
          <a:solidFill>
            <a:srgbClr val="FFFFFF">
              <a:alpha val="40000"/>
            </a:srgbClr>
          </a:solidFill>
          <a:ln/>
        </p:spPr>
      </p:sp>
      <p:sp>
        <p:nvSpPr>
          <p:cNvPr id="21" name="Shape 18"/>
          <p:cNvSpPr/>
          <p:nvPr/>
        </p:nvSpPr>
        <p:spPr>
          <a:xfrm>
            <a:off x="7333488" y="4014216"/>
            <a:ext cx="109728" cy="109728"/>
          </a:xfrm>
          <a:prstGeom prst="ellipse">
            <a:avLst/>
          </a:prstGeom>
          <a:solidFill>
            <a:srgbClr val="FFFFFF">
              <a:alpha val="40000"/>
            </a:srgbClr>
          </a:solidFill>
          <a:ln/>
        </p:spPr>
      </p:sp>
      <p:sp>
        <p:nvSpPr>
          <p:cNvPr id="22" name="Shape 19"/>
          <p:cNvSpPr/>
          <p:nvPr/>
        </p:nvSpPr>
        <p:spPr>
          <a:xfrm>
            <a:off x="7607808" y="4014216"/>
            <a:ext cx="109728" cy="109728"/>
          </a:xfrm>
          <a:prstGeom prst="ellipse">
            <a:avLst/>
          </a:prstGeom>
          <a:solidFill>
            <a:srgbClr val="FFFFFF">
              <a:alpha val="40000"/>
            </a:srgbClr>
          </a:solidFill>
          <a:ln/>
        </p:spPr>
      </p:sp>
      <p:sp>
        <p:nvSpPr>
          <p:cNvPr id="23" name="Shape 20"/>
          <p:cNvSpPr/>
          <p:nvPr/>
        </p:nvSpPr>
        <p:spPr>
          <a:xfrm>
            <a:off x="7882128" y="4014216"/>
            <a:ext cx="109728" cy="109728"/>
          </a:xfrm>
          <a:prstGeom prst="ellipse">
            <a:avLst/>
          </a:prstGeom>
          <a:solidFill>
            <a:srgbClr val="FFFFFF">
              <a:alpha val="40000"/>
            </a:srgbClr>
          </a:solidFill>
          <a:ln/>
        </p:spPr>
      </p:sp>
      <p:sp>
        <p:nvSpPr>
          <p:cNvPr id="24" name="Text 21"/>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L'IDÉE CENTRALE</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Le modèle est la partie facile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Dans un système d'IA en production, le code du modèle est une petite boîte entourée de bien plus grandes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8" name="Shape 15"/>
          <p:cNvSpPr/>
          <p:nvPr/>
        </p:nvSpPr>
        <p:spPr>
          <a:xfrm>
            <a:off x="457200" y="1371600"/>
            <a:ext cx="2926080" cy="786384"/>
          </a:xfrm>
          <a:prstGeom prst="roundRect">
            <a:avLst>
              <a:gd name="adj" fmla="val 9302"/>
            </a:avLst>
          </a:prstGeom>
          <a:solidFill>
            <a:srgbClr val="F4F7F5"/>
          </a:solidFill>
          <a:ln w="9525">
            <a:solidFill>
              <a:srgbClr val="D5DED9"/>
            </a:solidFill>
            <a:prstDash val="solid"/>
          </a:ln>
        </p:spPr>
      </p:sp>
      <p:sp>
        <p:nvSpPr>
          <p:cNvPr id="19" name="Text 16"/>
          <p:cNvSpPr txBox="1"/>
          <p:nvPr/>
        </p:nvSpPr>
        <p:spPr>
          <a:xfrm>
            <a:off x="566928" y="1444752"/>
            <a:ext cx="1280160" cy="640080"/>
          </a:xfrm>
          <a:prstGeom prst="rect">
            <a:avLst/>
          </a:prstGeom>
          <a:noFill/>
          <a:ln/>
        </p:spPr>
        <p:txBody>
          <a:bodyPr wrap="square" lIns="0" tIns="0" rIns="0" bIns="0" rtlCol="0" anchor="ctr">
            <a:normAutofit/>
          </a:bodyPr>
          <a:lstStyle/>
          <a:p>
            <a:pPr marL="0" indent="0">
              <a:buNone/>
            </a:pPr>
            <a:r>
              <a:rPr lang="en-US" sz="2600" b="1" dirty="0">
                <a:solidFill>
                  <a:srgbClr val="00A86A"/>
                </a:solidFill>
                <a:latin typeface="Calibri" pitchFamily="34" charset="0"/>
                <a:ea typeface="Calibri" pitchFamily="34" charset="-122"/>
                <a:cs typeface="Calibri" pitchFamily="34" charset="-120"/>
              </a:rPr>
              <a:t>~5 %</a:t>
            </a:r>
            <a:endParaRPr lang="en-US" sz="2600" dirty="0"/>
          </a:p>
        </p:txBody>
      </p:sp>
      <p:sp>
        <p:nvSpPr>
          <p:cNvPr id="20" name="Text 17"/>
          <p:cNvSpPr txBox="1"/>
          <p:nvPr/>
        </p:nvSpPr>
        <p:spPr>
          <a:xfrm>
            <a:off x="1874520" y="1417320"/>
            <a:ext cx="1444752" cy="694944"/>
          </a:xfrm>
          <a:prstGeom prst="rect">
            <a:avLst/>
          </a:prstGeom>
          <a:noFill/>
          <a:ln/>
        </p:spPr>
        <p:txBody>
          <a:bodyPr wrap="square" lIns="0" tIns="0" rIns="0" bIns="0" rtlCol="0" anchor="ctr"/>
          <a:lstStyle/>
          <a:p>
            <a:pPr marL="0" indent="0">
              <a:buNone/>
            </a:pPr>
            <a:r>
              <a:rPr lang="en-US" sz="800" dirty="0">
                <a:solidFill>
                  <a:srgbClr val="5E6964"/>
                </a:solidFill>
                <a:latin typeface="Calibri" pitchFamily="34" charset="0"/>
                <a:ea typeface="Calibri" pitchFamily="34" charset="-122"/>
                <a:cs typeface="Calibri" pitchFamily="34" charset="-120"/>
              </a:rPr>
              <a:t>d'un système réel d'apprentissage automatique est du code de modèle ; le reste : données, service, suivi</a:t>
            </a:r>
            <a:endParaRPr lang="en-US" sz="800" dirty="0"/>
          </a:p>
        </p:txBody>
      </p:sp>
      <p:sp>
        <p:nvSpPr>
          <p:cNvPr id="21" name="Shape 18"/>
          <p:cNvSpPr/>
          <p:nvPr/>
        </p:nvSpPr>
        <p:spPr>
          <a:xfrm>
            <a:off x="457200" y="2267712"/>
            <a:ext cx="2926080" cy="786384"/>
          </a:xfrm>
          <a:prstGeom prst="roundRect">
            <a:avLst>
              <a:gd name="adj" fmla="val 9302"/>
            </a:avLst>
          </a:prstGeom>
          <a:solidFill>
            <a:srgbClr val="F4F7F5"/>
          </a:solidFill>
          <a:ln w="9525">
            <a:solidFill>
              <a:srgbClr val="D5DED9"/>
            </a:solidFill>
            <a:prstDash val="solid"/>
          </a:ln>
        </p:spPr>
      </p:sp>
      <p:sp>
        <p:nvSpPr>
          <p:cNvPr id="22" name="Text 19"/>
          <p:cNvSpPr txBox="1"/>
          <p:nvPr/>
        </p:nvSpPr>
        <p:spPr>
          <a:xfrm>
            <a:off x="566928" y="2340864"/>
            <a:ext cx="1280160" cy="640080"/>
          </a:xfrm>
          <a:prstGeom prst="rect">
            <a:avLst/>
          </a:prstGeom>
          <a:noFill/>
          <a:ln/>
        </p:spPr>
        <p:txBody>
          <a:bodyPr wrap="square" lIns="0" tIns="0" rIns="0" bIns="0" rtlCol="0" anchor="ctr">
            <a:normAutofit/>
          </a:bodyPr>
          <a:lstStyle/>
          <a:p>
            <a:pPr marL="0" indent="0">
              <a:buNone/>
            </a:pPr>
            <a:r>
              <a:rPr lang="en-US" sz="2600" b="1" dirty="0">
                <a:solidFill>
                  <a:srgbClr val="D49A00"/>
                </a:solidFill>
                <a:latin typeface="Calibri" pitchFamily="34" charset="0"/>
                <a:ea typeface="Calibri" pitchFamily="34" charset="-122"/>
                <a:cs typeface="Calibri" pitchFamily="34" charset="-120"/>
              </a:rPr>
              <a:t>6–18</a:t>
            </a:r>
            <a:endParaRPr lang="en-US" sz="2600" dirty="0"/>
          </a:p>
        </p:txBody>
      </p:sp>
      <p:sp>
        <p:nvSpPr>
          <p:cNvPr id="23" name="Text 20"/>
          <p:cNvSpPr txBox="1"/>
          <p:nvPr/>
        </p:nvSpPr>
        <p:spPr>
          <a:xfrm>
            <a:off x="1874520" y="2313432"/>
            <a:ext cx="1444752" cy="694944"/>
          </a:xfrm>
          <a:prstGeom prst="rect">
            <a:avLst/>
          </a:prstGeom>
          <a:noFill/>
          <a:ln/>
        </p:spPr>
        <p:txBody>
          <a:bodyPr wrap="square" lIns="0" tIns="0" rIns="0" bIns="0" rtlCol="0" anchor="ctr"/>
          <a:lstStyle/>
          <a:p>
            <a:pPr marL="0" indent="0">
              <a:buNone/>
            </a:pPr>
            <a:r>
              <a:rPr lang="en-US" sz="800" dirty="0">
                <a:solidFill>
                  <a:srgbClr val="5E6964"/>
                </a:solidFill>
                <a:latin typeface="Calibri" pitchFamily="34" charset="0"/>
                <a:ea typeface="Calibri" pitchFamily="34" charset="-122"/>
                <a:cs typeface="Calibri" pitchFamily="34" charset="-120"/>
              </a:rPr>
              <a:t>mois : délai d'acquisition typique de GPU sur site dans l'administration (ordre de grandeur)</a:t>
            </a:r>
            <a:endParaRPr lang="en-US" sz="800" dirty="0"/>
          </a:p>
        </p:txBody>
      </p:sp>
      <p:sp>
        <p:nvSpPr>
          <p:cNvPr id="24" name="Shape 21"/>
          <p:cNvSpPr/>
          <p:nvPr/>
        </p:nvSpPr>
        <p:spPr>
          <a:xfrm>
            <a:off x="457200" y="3163824"/>
            <a:ext cx="2926080" cy="786384"/>
          </a:xfrm>
          <a:prstGeom prst="roundRect">
            <a:avLst>
              <a:gd name="adj" fmla="val 9302"/>
            </a:avLst>
          </a:prstGeom>
          <a:solidFill>
            <a:srgbClr val="F4F7F5"/>
          </a:solidFill>
          <a:ln w="9525">
            <a:solidFill>
              <a:srgbClr val="D5DED9"/>
            </a:solidFill>
            <a:prstDash val="solid"/>
          </a:ln>
        </p:spPr>
      </p:sp>
      <p:sp>
        <p:nvSpPr>
          <p:cNvPr id="25" name="Text 22"/>
          <p:cNvSpPr txBox="1"/>
          <p:nvPr/>
        </p:nvSpPr>
        <p:spPr>
          <a:xfrm>
            <a:off x="566928" y="3236976"/>
            <a:ext cx="1280160" cy="640080"/>
          </a:xfrm>
          <a:prstGeom prst="rect">
            <a:avLst/>
          </a:prstGeom>
          <a:noFill/>
          <a:ln/>
        </p:spPr>
        <p:txBody>
          <a:bodyPr wrap="square" lIns="0" tIns="0" rIns="0" bIns="0" rtlCol="0" anchor="ctr">
            <a:normAutofit/>
          </a:bodyPr>
          <a:lstStyle/>
          <a:p>
            <a:pPr marL="0" indent="0">
              <a:buNone/>
            </a:pPr>
            <a:r>
              <a:rPr lang="en-US" sz="2600" b="1" dirty="0">
                <a:solidFill>
                  <a:srgbClr val="0E7C86"/>
                </a:solidFill>
                <a:latin typeface="Calibri" pitchFamily="34" charset="0"/>
                <a:ea typeface="Calibri" pitchFamily="34" charset="-122"/>
                <a:cs typeface="Calibri" pitchFamily="34" charset="-120"/>
              </a:rPr>
              <a:t>20–40 %</a:t>
            </a:r>
            <a:endParaRPr lang="en-US" sz="2600" dirty="0"/>
          </a:p>
        </p:txBody>
      </p:sp>
      <p:sp>
        <p:nvSpPr>
          <p:cNvPr id="26" name="Text 23"/>
          <p:cNvSpPr txBox="1"/>
          <p:nvPr/>
        </p:nvSpPr>
        <p:spPr>
          <a:xfrm>
            <a:off x="1874520" y="3209544"/>
            <a:ext cx="1444752" cy="694944"/>
          </a:xfrm>
          <a:prstGeom prst="rect">
            <a:avLst/>
          </a:prstGeom>
          <a:noFill/>
          <a:ln/>
        </p:spPr>
        <p:txBody>
          <a:bodyPr wrap="square" lIns="0" tIns="0" rIns="0" bIns="0" rtlCol="0" anchor="ctr"/>
          <a:lstStyle/>
          <a:p>
            <a:pPr marL="0" indent="0">
              <a:buNone/>
            </a:pPr>
            <a:r>
              <a:rPr lang="en-US" sz="800" dirty="0">
                <a:solidFill>
                  <a:srgbClr val="5E6964"/>
                </a:solidFill>
                <a:latin typeface="Calibri" pitchFamily="34" charset="0"/>
                <a:ea typeface="Calibri" pitchFamily="34" charset="-122"/>
                <a:cs typeface="Calibri" pitchFamily="34" charset="-120"/>
              </a:rPr>
              <a:t>de l'effort va à la préparation des données, à l'annotation et à l'évaluation (ordre de grandeur)</a:t>
            </a:r>
            <a:endParaRPr lang="en-US" sz="800" dirty="0"/>
          </a:p>
        </p:txBody>
      </p:sp>
      <p:sp>
        <p:nvSpPr>
          <p:cNvPr id="27" name="Text 24"/>
          <p:cNvSpPr txBox="1"/>
          <p:nvPr/>
        </p:nvSpPr>
        <p:spPr>
          <a:xfrm>
            <a:off x="3611880" y="1371600"/>
            <a:ext cx="5029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CE QUE CONTIENT UN SYSTÈME D'IA EN PRODUCTION</a:t>
            </a:r>
            <a:endParaRPr lang="en-US" sz="900" dirty="0"/>
          </a:p>
        </p:txBody>
      </p:sp>
      <p:sp>
        <p:nvSpPr>
          <p:cNvPr id="28" name="Shape 25"/>
          <p:cNvSpPr/>
          <p:nvPr/>
        </p:nvSpPr>
        <p:spPr>
          <a:xfrm>
            <a:off x="3611880" y="1627632"/>
            <a:ext cx="1630680" cy="731520"/>
          </a:xfrm>
          <a:prstGeom prst="roundRect">
            <a:avLst>
              <a:gd name="adj" fmla="val 10000"/>
            </a:avLst>
          </a:prstGeom>
          <a:solidFill>
            <a:srgbClr val="F4F7F5"/>
          </a:solidFill>
          <a:ln w="9525">
            <a:solidFill>
              <a:srgbClr val="D5DED9"/>
            </a:solidFill>
            <a:prstDash val="solid"/>
          </a:ln>
        </p:spPr>
      </p:sp>
      <p:sp>
        <p:nvSpPr>
          <p:cNvPr id="29" name="Text 26"/>
          <p:cNvSpPr txBox="1"/>
          <p:nvPr/>
        </p:nvSpPr>
        <p:spPr>
          <a:xfrm>
            <a:off x="370332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Collecte des données</a:t>
            </a:r>
            <a:endParaRPr lang="en-US" sz="1100" dirty="0"/>
          </a:p>
        </p:txBody>
      </p:sp>
      <p:sp>
        <p:nvSpPr>
          <p:cNvPr id="30" name="Shape 27"/>
          <p:cNvSpPr/>
          <p:nvPr/>
        </p:nvSpPr>
        <p:spPr>
          <a:xfrm>
            <a:off x="5334000" y="1627632"/>
            <a:ext cx="1630680" cy="731520"/>
          </a:xfrm>
          <a:prstGeom prst="roundRect">
            <a:avLst>
              <a:gd name="adj" fmla="val 10000"/>
            </a:avLst>
          </a:prstGeom>
          <a:solidFill>
            <a:srgbClr val="F4F7F5"/>
          </a:solidFill>
          <a:ln w="9525">
            <a:solidFill>
              <a:srgbClr val="D5DED9"/>
            </a:solidFill>
            <a:prstDash val="solid"/>
          </a:ln>
        </p:spPr>
      </p:sp>
      <p:sp>
        <p:nvSpPr>
          <p:cNvPr id="31" name="Text 28"/>
          <p:cNvSpPr txBox="1"/>
          <p:nvPr/>
        </p:nvSpPr>
        <p:spPr>
          <a:xfrm>
            <a:off x="542544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Vérification des données</a:t>
            </a:r>
            <a:endParaRPr lang="en-US" sz="1100" dirty="0"/>
          </a:p>
        </p:txBody>
      </p:sp>
      <p:sp>
        <p:nvSpPr>
          <p:cNvPr id="32" name="Shape 29"/>
          <p:cNvSpPr/>
          <p:nvPr/>
        </p:nvSpPr>
        <p:spPr>
          <a:xfrm>
            <a:off x="7056120" y="1627632"/>
            <a:ext cx="1630680" cy="731520"/>
          </a:xfrm>
          <a:prstGeom prst="roundRect">
            <a:avLst>
              <a:gd name="adj" fmla="val 10000"/>
            </a:avLst>
          </a:prstGeom>
          <a:solidFill>
            <a:srgbClr val="F4F7F5"/>
          </a:solidFill>
          <a:ln w="9525">
            <a:solidFill>
              <a:srgbClr val="D5DED9"/>
            </a:solidFill>
            <a:prstDash val="solid"/>
          </a:ln>
        </p:spPr>
      </p:sp>
      <p:sp>
        <p:nvSpPr>
          <p:cNvPr id="33" name="Text 30"/>
          <p:cNvSpPr txBox="1"/>
          <p:nvPr/>
        </p:nvSpPr>
        <p:spPr>
          <a:xfrm>
            <a:off x="7147560" y="162763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Configuration</a:t>
            </a:r>
            <a:endParaRPr lang="en-US" sz="1100" dirty="0"/>
          </a:p>
        </p:txBody>
      </p:sp>
      <p:sp>
        <p:nvSpPr>
          <p:cNvPr id="34" name="Shape 31"/>
          <p:cNvSpPr/>
          <p:nvPr/>
        </p:nvSpPr>
        <p:spPr>
          <a:xfrm>
            <a:off x="3611880" y="2450592"/>
            <a:ext cx="1630680" cy="731520"/>
          </a:xfrm>
          <a:prstGeom prst="roundRect">
            <a:avLst>
              <a:gd name="adj" fmla="val 10000"/>
            </a:avLst>
          </a:prstGeom>
          <a:solidFill>
            <a:srgbClr val="F4F7F5"/>
          </a:solidFill>
          <a:ln w="9525">
            <a:solidFill>
              <a:srgbClr val="D5DED9"/>
            </a:solidFill>
            <a:prstDash val="solid"/>
          </a:ln>
        </p:spPr>
      </p:sp>
      <p:sp>
        <p:nvSpPr>
          <p:cNvPr id="35" name="Text 32"/>
          <p:cNvSpPr txBox="1"/>
          <p:nvPr/>
        </p:nvSpPr>
        <p:spPr>
          <a:xfrm>
            <a:off x="3703320" y="245059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Extraction de variables</a:t>
            </a:r>
            <a:endParaRPr lang="en-US" sz="1100" dirty="0"/>
          </a:p>
        </p:txBody>
      </p:sp>
      <p:sp>
        <p:nvSpPr>
          <p:cNvPr id="36" name="Shape 33"/>
          <p:cNvSpPr/>
          <p:nvPr/>
        </p:nvSpPr>
        <p:spPr>
          <a:xfrm>
            <a:off x="5600700" y="2615184"/>
            <a:ext cx="1097280" cy="402336"/>
          </a:xfrm>
          <a:prstGeom prst="roundRect">
            <a:avLst>
              <a:gd name="adj" fmla="val 13636"/>
            </a:avLst>
          </a:prstGeom>
          <a:solidFill>
            <a:srgbClr val="00A86A"/>
          </a:solidFill>
          <a:ln/>
        </p:spPr>
      </p:sp>
      <p:sp>
        <p:nvSpPr>
          <p:cNvPr id="37" name="Text 34"/>
          <p:cNvSpPr txBox="1"/>
          <p:nvPr/>
        </p:nvSpPr>
        <p:spPr>
          <a:xfrm>
            <a:off x="5600700" y="2615184"/>
            <a:ext cx="109728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Code du modèle</a:t>
            </a:r>
            <a:endParaRPr lang="en-US" sz="1050" dirty="0"/>
          </a:p>
        </p:txBody>
      </p:sp>
      <p:sp>
        <p:nvSpPr>
          <p:cNvPr id="38" name="Shape 35"/>
          <p:cNvSpPr/>
          <p:nvPr/>
        </p:nvSpPr>
        <p:spPr>
          <a:xfrm>
            <a:off x="7056120" y="2450592"/>
            <a:ext cx="1630680" cy="731520"/>
          </a:xfrm>
          <a:prstGeom prst="roundRect">
            <a:avLst>
              <a:gd name="adj" fmla="val 10000"/>
            </a:avLst>
          </a:prstGeom>
          <a:solidFill>
            <a:srgbClr val="F4F7F5"/>
          </a:solidFill>
          <a:ln w="9525">
            <a:solidFill>
              <a:srgbClr val="D5DED9"/>
            </a:solidFill>
            <a:prstDash val="solid"/>
          </a:ln>
        </p:spPr>
      </p:sp>
      <p:sp>
        <p:nvSpPr>
          <p:cNvPr id="39" name="Text 36"/>
          <p:cNvSpPr txBox="1"/>
          <p:nvPr/>
        </p:nvSpPr>
        <p:spPr>
          <a:xfrm>
            <a:off x="7147560" y="245059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Infrastructure de service</a:t>
            </a:r>
            <a:endParaRPr lang="en-US" sz="1100" dirty="0"/>
          </a:p>
        </p:txBody>
      </p:sp>
      <p:sp>
        <p:nvSpPr>
          <p:cNvPr id="40" name="Shape 37"/>
          <p:cNvSpPr/>
          <p:nvPr/>
        </p:nvSpPr>
        <p:spPr>
          <a:xfrm>
            <a:off x="3611880" y="3273552"/>
            <a:ext cx="1630680" cy="731520"/>
          </a:xfrm>
          <a:prstGeom prst="roundRect">
            <a:avLst>
              <a:gd name="adj" fmla="val 10000"/>
            </a:avLst>
          </a:prstGeom>
          <a:solidFill>
            <a:srgbClr val="F4F7F5"/>
          </a:solidFill>
          <a:ln w="9525">
            <a:solidFill>
              <a:srgbClr val="D5DED9"/>
            </a:solidFill>
            <a:prstDash val="solid"/>
          </a:ln>
        </p:spPr>
      </p:sp>
      <p:sp>
        <p:nvSpPr>
          <p:cNvPr id="41" name="Text 38"/>
          <p:cNvSpPr txBox="1"/>
          <p:nvPr/>
        </p:nvSpPr>
        <p:spPr>
          <a:xfrm>
            <a:off x="370332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Gestion des ressources</a:t>
            </a:r>
            <a:endParaRPr lang="en-US" sz="1100" dirty="0"/>
          </a:p>
        </p:txBody>
      </p:sp>
      <p:sp>
        <p:nvSpPr>
          <p:cNvPr id="42" name="Shape 39"/>
          <p:cNvSpPr/>
          <p:nvPr/>
        </p:nvSpPr>
        <p:spPr>
          <a:xfrm>
            <a:off x="5334000" y="3273552"/>
            <a:ext cx="1630680" cy="731520"/>
          </a:xfrm>
          <a:prstGeom prst="roundRect">
            <a:avLst>
              <a:gd name="adj" fmla="val 10000"/>
            </a:avLst>
          </a:prstGeom>
          <a:solidFill>
            <a:srgbClr val="F4F7F5"/>
          </a:solidFill>
          <a:ln w="9525">
            <a:solidFill>
              <a:srgbClr val="D5DED9"/>
            </a:solidFill>
            <a:prstDash val="solid"/>
          </a:ln>
        </p:spPr>
      </p:sp>
      <p:sp>
        <p:nvSpPr>
          <p:cNvPr id="43" name="Text 40"/>
          <p:cNvSpPr txBox="1"/>
          <p:nvPr/>
        </p:nvSpPr>
        <p:spPr>
          <a:xfrm>
            <a:off x="542544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Outils d'analyse et d'évaluation</a:t>
            </a:r>
            <a:endParaRPr lang="en-US" sz="1100" dirty="0"/>
          </a:p>
        </p:txBody>
      </p:sp>
      <p:sp>
        <p:nvSpPr>
          <p:cNvPr id="44" name="Shape 41"/>
          <p:cNvSpPr/>
          <p:nvPr/>
        </p:nvSpPr>
        <p:spPr>
          <a:xfrm>
            <a:off x="7056120" y="3273552"/>
            <a:ext cx="1630680" cy="731520"/>
          </a:xfrm>
          <a:prstGeom prst="roundRect">
            <a:avLst>
              <a:gd name="adj" fmla="val 10000"/>
            </a:avLst>
          </a:prstGeom>
          <a:solidFill>
            <a:srgbClr val="F4F7F5"/>
          </a:solidFill>
          <a:ln w="9525">
            <a:solidFill>
              <a:srgbClr val="D5DED9"/>
            </a:solidFill>
            <a:prstDash val="solid"/>
          </a:ln>
        </p:spPr>
      </p:sp>
      <p:sp>
        <p:nvSpPr>
          <p:cNvPr id="45" name="Text 42"/>
          <p:cNvSpPr txBox="1"/>
          <p:nvPr/>
        </p:nvSpPr>
        <p:spPr>
          <a:xfrm>
            <a:off x="7147560" y="3273552"/>
            <a:ext cx="1447800" cy="731520"/>
          </a:xfrm>
          <a:prstGeom prst="rect">
            <a:avLst/>
          </a:prstGeom>
          <a:noFill/>
          <a:ln/>
        </p:spPr>
        <p:txBody>
          <a:bodyPr wrap="square" lIns="0" tIns="0" rIns="0" bIns="0" rtlCol="0" anchor="ctr"/>
          <a:lstStyle/>
          <a:p>
            <a:pPr marL="0" indent="0" algn="ctr">
              <a:buNone/>
            </a:pPr>
            <a:r>
              <a:rPr lang="en-US" sz="1100" b="1" dirty="0">
                <a:solidFill>
                  <a:srgbClr val="5E6964"/>
                </a:solidFill>
                <a:latin typeface="Calibri" pitchFamily="34" charset="0"/>
                <a:ea typeface="Calibri" pitchFamily="34" charset="-122"/>
                <a:cs typeface="Calibri" pitchFamily="34" charset="-120"/>
              </a:rPr>
              <a:t>Suivi et surveillance</a:t>
            </a:r>
            <a:endParaRPr lang="en-US" sz="1100" dirty="0"/>
          </a:p>
        </p:txBody>
      </p:sp>
      <p:sp>
        <p:nvSpPr>
          <p:cNvPr id="46" name="Shape 43"/>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47" name="Shape 44"/>
          <p:cNvSpPr/>
          <p:nvPr/>
        </p:nvSpPr>
        <p:spPr>
          <a:xfrm>
            <a:off x="566928" y="4206240"/>
            <a:ext cx="292608" cy="292608"/>
          </a:xfrm>
          <a:prstGeom prst="ellipse">
            <a:avLst/>
          </a:prstGeom>
          <a:solidFill>
            <a:srgbClr val="00A86A">
              <a:alpha val="22000"/>
            </a:srgbClr>
          </a:solidFill>
          <a:ln/>
        </p:spPr>
      </p:sp>
      <p:pic>
        <p:nvPicPr>
          <p:cNvPr id="48"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49" name="Text 45"/>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À RETENIR   </a:t>
            </a:r>
            <a:r>
              <a:rPr lang="en-US" sz="950" dirty="0">
                <a:solidFill>
                  <a:srgbClr val="231F20"/>
                </a:solidFill>
                <a:latin typeface="Calibri" pitchFamily="34" charset="0"/>
                <a:ea typeface="Calibri" pitchFamily="34" charset="-122"/>
                <a:cs typeface="Calibri" pitchFamily="34" charset="-120"/>
              </a:rPr>
              <a:t>Une capacité IA est une plateforme, pas un projet : il lui faut un financement récurrent, un responsable et une équipe d'exploitation — et on la juge par rapport au processus manuel actuel, pas à la perfection.</a:t>
            </a:r>
            <a:endParaRPr lang="en-US" sz="950" dirty="0"/>
          </a:p>
        </p:txBody>
      </p:sp>
      <p:sp>
        <p:nvSpPr>
          <p:cNvPr id="50" name="Text 46"/>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 : Sculley et al., « Hidden Technical Debt in Machine Learning Systems », NeurIPS 2015 (schéma adapté). Délais et parts d'effort : ordres de grandeur.</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CAS D'USAGE</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Où l'IA trouve sa place en statistique officielle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Huit familles de cas d'usage, classées approximativement par maturité dans les instituts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8" name="Shape 15"/>
          <p:cNvSpPr/>
          <p:nvPr/>
        </p:nvSpPr>
        <p:spPr>
          <a:xfrm>
            <a:off x="457200" y="1371600"/>
            <a:ext cx="1954530" cy="1312164"/>
          </a:xfrm>
          <a:prstGeom prst="roundRect">
            <a:avLst>
              <a:gd name="adj" fmla="val 5575"/>
            </a:avLst>
          </a:prstGeom>
          <a:solidFill>
            <a:srgbClr val="F4F7F5"/>
          </a:solidFill>
          <a:ln w="9525">
            <a:solidFill>
              <a:srgbClr val="D5DED9"/>
            </a:solidFill>
            <a:prstDash val="solid"/>
          </a:ln>
        </p:spPr>
      </p:sp>
      <p:sp>
        <p:nvSpPr>
          <p:cNvPr id="19" name="Shape 16"/>
          <p:cNvSpPr/>
          <p:nvPr/>
        </p:nvSpPr>
        <p:spPr>
          <a:xfrm>
            <a:off x="585216" y="1499616"/>
            <a:ext cx="329184" cy="329184"/>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4220" y="1578620"/>
            <a:ext cx="171176" cy="171176"/>
          </a:xfrm>
          <a:prstGeom prst="rect">
            <a:avLst/>
          </a:prstGeom>
        </p:spPr>
      </p:pic>
      <p:sp>
        <p:nvSpPr>
          <p:cNvPr id="21" name="Text 17"/>
          <p:cNvSpPr txBox="1"/>
          <p:nvPr/>
        </p:nvSpPr>
        <p:spPr>
          <a:xfrm>
            <a:off x="1024128" y="1499616"/>
            <a:ext cx="1277874"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Codification automatique</a:t>
            </a:r>
            <a:endParaRPr lang="en-US" sz="1100" dirty="0"/>
          </a:p>
        </p:txBody>
      </p:sp>
      <p:sp>
        <p:nvSpPr>
          <p:cNvPr id="22" name="Text 18"/>
          <p:cNvSpPr txBox="1"/>
          <p:nvPr/>
        </p:nvSpPr>
        <p:spPr>
          <a:xfrm>
            <a:off x="58521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Réponses en clair codées en CITP, CITI, COICOP, CPC ou CIM.</a:t>
            </a:r>
            <a:endParaRPr lang="en-US" sz="900" dirty="0"/>
          </a:p>
        </p:txBody>
      </p:sp>
      <p:sp>
        <p:nvSpPr>
          <p:cNvPr id="23" name="Shape 19"/>
          <p:cNvSpPr/>
          <p:nvPr/>
        </p:nvSpPr>
        <p:spPr>
          <a:xfrm>
            <a:off x="58521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24" name="Text 20"/>
          <p:cNvSpPr txBox="1"/>
          <p:nvPr/>
        </p:nvSpPr>
        <p:spPr>
          <a:xfrm>
            <a:off x="58521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Éprouvé</a:t>
            </a:r>
            <a:endParaRPr lang="en-US" sz="850" dirty="0"/>
          </a:p>
        </p:txBody>
      </p:sp>
      <p:sp>
        <p:nvSpPr>
          <p:cNvPr id="25" name="Shape 21"/>
          <p:cNvSpPr/>
          <p:nvPr/>
        </p:nvSpPr>
        <p:spPr>
          <a:xfrm>
            <a:off x="2548890" y="1371600"/>
            <a:ext cx="1954530" cy="1312164"/>
          </a:xfrm>
          <a:prstGeom prst="roundRect">
            <a:avLst>
              <a:gd name="adj" fmla="val 5575"/>
            </a:avLst>
          </a:prstGeom>
          <a:solidFill>
            <a:srgbClr val="F4F7F5"/>
          </a:solidFill>
          <a:ln w="9525">
            <a:solidFill>
              <a:srgbClr val="D5DED9"/>
            </a:solidFill>
            <a:prstDash val="solid"/>
          </a:ln>
        </p:spPr>
      </p:sp>
      <p:sp>
        <p:nvSpPr>
          <p:cNvPr id="26" name="Shape 22"/>
          <p:cNvSpPr/>
          <p:nvPr/>
        </p:nvSpPr>
        <p:spPr>
          <a:xfrm>
            <a:off x="2676906" y="1499616"/>
            <a:ext cx="329184" cy="329184"/>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755910" y="1578620"/>
            <a:ext cx="171176" cy="171176"/>
          </a:xfrm>
          <a:prstGeom prst="rect">
            <a:avLst/>
          </a:prstGeom>
        </p:spPr>
      </p:pic>
      <p:sp>
        <p:nvSpPr>
          <p:cNvPr id="28" name="Text 23"/>
          <p:cNvSpPr txBox="1"/>
          <p:nvPr/>
        </p:nvSpPr>
        <p:spPr>
          <a:xfrm>
            <a:off x="3115818" y="1499616"/>
            <a:ext cx="1277874"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Données web et de caisse</a:t>
            </a:r>
            <a:endParaRPr lang="en-US" sz="1100" dirty="0"/>
          </a:p>
        </p:txBody>
      </p:sp>
      <p:sp>
        <p:nvSpPr>
          <p:cNvPr id="29" name="Text 24"/>
          <p:cNvSpPr txBox="1"/>
          <p:nvPr/>
        </p:nvSpPr>
        <p:spPr>
          <a:xfrm>
            <a:off x="267690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Prix en ligne pour l'IPC, offres d'emploi en ligne.</a:t>
            </a:r>
            <a:endParaRPr lang="en-US" sz="900" dirty="0"/>
          </a:p>
        </p:txBody>
      </p:sp>
      <p:sp>
        <p:nvSpPr>
          <p:cNvPr id="30" name="Shape 25"/>
          <p:cNvSpPr/>
          <p:nvPr/>
        </p:nvSpPr>
        <p:spPr>
          <a:xfrm>
            <a:off x="267690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31" name="Text 26"/>
          <p:cNvSpPr txBox="1"/>
          <p:nvPr/>
        </p:nvSpPr>
        <p:spPr>
          <a:xfrm>
            <a:off x="267690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Éprouvé</a:t>
            </a:r>
            <a:endParaRPr lang="en-US" sz="850" dirty="0"/>
          </a:p>
        </p:txBody>
      </p:sp>
      <p:sp>
        <p:nvSpPr>
          <p:cNvPr id="32" name="Shape 27"/>
          <p:cNvSpPr/>
          <p:nvPr/>
        </p:nvSpPr>
        <p:spPr>
          <a:xfrm>
            <a:off x="4640580" y="1371600"/>
            <a:ext cx="1954530" cy="1312164"/>
          </a:xfrm>
          <a:prstGeom prst="roundRect">
            <a:avLst>
              <a:gd name="adj" fmla="val 5575"/>
            </a:avLst>
          </a:prstGeom>
          <a:solidFill>
            <a:srgbClr val="F4F7F5"/>
          </a:solidFill>
          <a:ln w="9525">
            <a:solidFill>
              <a:srgbClr val="D5DED9"/>
            </a:solidFill>
            <a:prstDash val="solid"/>
          </a:ln>
        </p:spPr>
      </p:sp>
      <p:sp>
        <p:nvSpPr>
          <p:cNvPr id="33" name="Shape 28"/>
          <p:cNvSpPr/>
          <p:nvPr/>
        </p:nvSpPr>
        <p:spPr>
          <a:xfrm>
            <a:off x="4768596" y="1499616"/>
            <a:ext cx="329184" cy="329184"/>
          </a:xfrm>
          <a:prstGeom prst="ellipse">
            <a:avLst/>
          </a:prstGeom>
          <a:solidFill>
            <a:srgbClr val="00A86A">
              <a:alpha val="22000"/>
            </a:srgbClr>
          </a:solidFill>
          <a:ln/>
        </p:spPr>
      </p:sp>
      <p:pic>
        <p:nvPicPr>
          <p:cNvPr id="34" name="Image 2" descr="preencoded.png"/>
          <p:cNvPicPr>
            <a:picLocks noChangeAspect="1"/>
          </p:cNvPicPr>
          <p:nvPr/>
        </p:nvPicPr>
        <p:blipFill>
          <a:blip r:embed="rId5"/>
          <a:stretch>
            <a:fillRect/>
          </a:stretch>
        </p:blipFill>
        <p:spPr>
          <a:xfrm>
            <a:off x="4847600" y="1578620"/>
            <a:ext cx="171176" cy="171176"/>
          </a:xfrm>
          <a:prstGeom prst="rect">
            <a:avLst/>
          </a:prstGeom>
        </p:spPr>
      </p:pic>
      <p:sp>
        <p:nvSpPr>
          <p:cNvPr id="35" name="Text 29"/>
          <p:cNvSpPr txBox="1"/>
          <p:nvPr/>
        </p:nvSpPr>
        <p:spPr>
          <a:xfrm>
            <a:off x="5207508" y="1499616"/>
            <a:ext cx="1277874"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Appariement</a:t>
            </a:r>
            <a:endParaRPr lang="en-US" sz="1100" dirty="0"/>
          </a:p>
        </p:txBody>
      </p:sp>
      <p:sp>
        <p:nvSpPr>
          <p:cNvPr id="36" name="Text 30"/>
          <p:cNvSpPr txBox="1"/>
          <p:nvPr/>
        </p:nvSpPr>
        <p:spPr>
          <a:xfrm>
            <a:off x="476859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Recensement, répertoires et fichiers administratifs.</a:t>
            </a:r>
            <a:endParaRPr lang="en-US" sz="900" dirty="0"/>
          </a:p>
        </p:txBody>
      </p:sp>
      <p:sp>
        <p:nvSpPr>
          <p:cNvPr id="37" name="Shape 31"/>
          <p:cNvSpPr/>
          <p:nvPr/>
        </p:nvSpPr>
        <p:spPr>
          <a:xfrm>
            <a:off x="476859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38" name="Text 32"/>
          <p:cNvSpPr txBox="1"/>
          <p:nvPr/>
        </p:nvSpPr>
        <p:spPr>
          <a:xfrm>
            <a:off x="476859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Éprouvé</a:t>
            </a:r>
            <a:endParaRPr lang="en-US" sz="850" dirty="0"/>
          </a:p>
        </p:txBody>
      </p:sp>
      <p:sp>
        <p:nvSpPr>
          <p:cNvPr id="39" name="Shape 33"/>
          <p:cNvSpPr/>
          <p:nvPr/>
        </p:nvSpPr>
        <p:spPr>
          <a:xfrm>
            <a:off x="6732270" y="1371600"/>
            <a:ext cx="1954530" cy="1312164"/>
          </a:xfrm>
          <a:prstGeom prst="roundRect">
            <a:avLst>
              <a:gd name="adj" fmla="val 5575"/>
            </a:avLst>
          </a:prstGeom>
          <a:solidFill>
            <a:srgbClr val="F4F7F5"/>
          </a:solidFill>
          <a:ln w="9525">
            <a:solidFill>
              <a:srgbClr val="D5DED9"/>
            </a:solidFill>
            <a:prstDash val="solid"/>
          </a:ln>
        </p:spPr>
      </p:sp>
      <p:sp>
        <p:nvSpPr>
          <p:cNvPr id="40" name="Shape 34"/>
          <p:cNvSpPr/>
          <p:nvPr/>
        </p:nvSpPr>
        <p:spPr>
          <a:xfrm>
            <a:off x="6860286" y="1499616"/>
            <a:ext cx="329184" cy="329184"/>
          </a:xfrm>
          <a:prstGeom prst="ellipse">
            <a:avLst/>
          </a:prstGeom>
          <a:solidFill>
            <a:srgbClr val="00A86A">
              <a:alpha val="22000"/>
            </a:srgbClr>
          </a:solidFill>
          <a:ln/>
        </p:spPr>
      </p:sp>
      <p:pic>
        <p:nvPicPr>
          <p:cNvPr id="41" name="Image 3" descr="preencoded.png"/>
          <p:cNvPicPr>
            <a:picLocks noChangeAspect="1"/>
          </p:cNvPicPr>
          <p:nvPr/>
        </p:nvPicPr>
        <p:blipFill>
          <a:blip r:embed="rId6"/>
          <a:stretch>
            <a:fillRect/>
          </a:stretch>
        </p:blipFill>
        <p:spPr>
          <a:xfrm>
            <a:off x="6939290" y="1578620"/>
            <a:ext cx="171176" cy="171176"/>
          </a:xfrm>
          <a:prstGeom prst="rect">
            <a:avLst/>
          </a:prstGeom>
        </p:spPr>
      </p:pic>
      <p:sp>
        <p:nvSpPr>
          <p:cNvPr id="42" name="Text 35"/>
          <p:cNvSpPr txBox="1"/>
          <p:nvPr/>
        </p:nvSpPr>
        <p:spPr>
          <a:xfrm>
            <a:off x="7299198" y="1499616"/>
            <a:ext cx="1277874"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Contrôle et imputation</a:t>
            </a:r>
            <a:endParaRPr lang="en-US" sz="1100" dirty="0"/>
          </a:p>
        </p:txBody>
      </p:sp>
      <p:sp>
        <p:nvSpPr>
          <p:cNvPr id="43" name="Text 36"/>
          <p:cNvSpPr txBox="1"/>
          <p:nvPr/>
        </p:nvSpPr>
        <p:spPr>
          <a:xfrm>
            <a:off x="6860286" y="1883664"/>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Contrôle sélectif, valeurs aberrantes, imputation.</a:t>
            </a:r>
            <a:endParaRPr lang="en-US" sz="900" dirty="0"/>
          </a:p>
        </p:txBody>
      </p:sp>
      <p:sp>
        <p:nvSpPr>
          <p:cNvPr id="44" name="Shape 37"/>
          <p:cNvSpPr/>
          <p:nvPr/>
        </p:nvSpPr>
        <p:spPr>
          <a:xfrm>
            <a:off x="6860286" y="2391156"/>
            <a:ext cx="1005840" cy="201168"/>
          </a:xfrm>
          <a:prstGeom prst="roundRect">
            <a:avLst>
              <a:gd name="adj" fmla="val 50000"/>
            </a:avLst>
          </a:prstGeom>
          <a:solidFill>
            <a:srgbClr val="00704A">
              <a:alpha val="15000"/>
            </a:srgbClr>
          </a:solidFill>
          <a:ln w="9525">
            <a:solidFill>
              <a:srgbClr val="00704A"/>
            </a:solidFill>
            <a:prstDash val="solid"/>
          </a:ln>
        </p:spPr>
      </p:sp>
      <p:sp>
        <p:nvSpPr>
          <p:cNvPr id="45" name="Text 38"/>
          <p:cNvSpPr txBox="1"/>
          <p:nvPr/>
        </p:nvSpPr>
        <p:spPr>
          <a:xfrm>
            <a:off x="6860286" y="2391156"/>
            <a:ext cx="1005840" cy="201168"/>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Éprouvé</a:t>
            </a:r>
            <a:endParaRPr lang="en-US" sz="850" dirty="0"/>
          </a:p>
        </p:txBody>
      </p:sp>
      <p:sp>
        <p:nvSpPr>
          <p:cNvPr id="46" name="Shape 39"/>
          <p:cNvSpPr/>
          <p:nvPr/>
        </p:nvSpPr>
        <p:spPr>
          <a:xfrm>
            <a:off x="457200" y="2820924"/>
            <a:ext cx="1954530" cy="1312164"/>
          </a:xfrm>
          <a:prstGeom prst="roundRect">
            <a:avLst>
              <a:gd name="adj" fmla="val 5575"/>
            </a:avLst>
          </a:prstGeom>
          <a:solidFill>
            <a:srgbClr val="F4F7F5"/>
          </a:solidFill>
          <a:ln w="9525">
            <a:solidFill>
              <a:srgbClr val="D5DED9"/>
            </a:solidFill>
            <a:prstDash val="solid"/>
          </a:ln>
        </p:spPr>
      </p:sp>
      <p:sp>
        <p:nvSpPr>
          <p:cNvPr id="47" name="Shape 40"/>
          <p:cNvSpPr/>
          <p:nvPr/>
        </p:nvSpPr>
        <p:spPr>
          <a:xfrm>
            <a:off x="585216" y="2948940"/>
            <a:ext cx="329184" cy="329184"/>
          </a:xfrm>
          <a:prstGeom prst="ellipse">
            <a:avLst/>
          </a:prstGeom>
          <a:solidFill>
            <a:srgbClr val="0E7C86">
              <a:alpha val="22000"/>
            </a:srgbClr>
          </a:solidFill>
          <a:ln/>
        </p:spPr>
      </p:sp>
      <p:pic>
        <p:nvPicPr>
          <p:cNvPr id="48" name="Image 4" descr="preencoded.png"/>
          <p:cNvPicPr>
            <a:picLocks noChangeAspect="1"/>
          </p:cNvPicPr>
          <p:nvPr/>
        </p:nvPicPr>
        <p:blipFill>
          <a:blip r:embed="rId7"/>
          <a:stretch>
            <a:fillRect/>
          </a:stretch>
        </p:blipFill>
        <p:spPr>
          <a:xfrm>
            <a:off x="664220" y="3027944"/>
            <a:ext cx="171176" cy="171176"/>
          </a:xfrm>
          <a:prstGeom prst="rect">
            <a:avLst/>
          </a:prstGeom>
        </p:spPr>
      </p:pic>
      <p:sp>
        <p:nvSpPr>
          <p:cNvPr id="49" name="Text 41"/>
          <p:cNvSpPr txBox="1"/>
          <p:nvPr/>
        </p:nvSpPr>
        <p:spPr>
          <a:xfrm>
            <a:off x="1024128" y="2948940"/>
            <a:ext cx="1277874"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Textes et documents</a:t>
            </a:r>
            <a:endParaRPr lang="en-US" sz="1100" dirty="0"/>
          </a:p>
        </p:txBody>
      </p:sp>
      <p:sp>
        <p:nvSpPr>
          <p:cNvPr id="50" name="Text 42"/>
          <p:cNvSpPr txBox="1"/>
          <p:nvPr/>
        </p:nvSpPr>
        <p:spPr>
          <a:xfrm>
            <a:off x="58521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Questions ouvertes, répertoires, métadonnées.</a:t>
            </a:r>
            <a:endParaRPr lang="en-US" sz="900" dirty="0"/>
          </a:p>
        </p:txBody>
      </p:sp>
      <p:sp>
        <p:nvSpPr>
          <p:cNvPr id="51" name="Shape 43"/>
          <p:cNvSpPr/>
          <p:nvPr/>
        </p:nvSpPr>
        <p:spPr>
          <a:xfrm>
            <a:off x="58521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52" name="Text 44"/>
          <p:cNvSpPr txBox="1"/>
          <p:nvPr/>
        </p:nvSpPr>
        <p:spPr>
          <a:xfrm>
            <a:off x="58521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Émergent</a:t>
            </a:r>
            <a:endParaRPr lang="en-US" sz="850" dirty="0"/>
          </a:p>
        </p:txBody>
      </p:sp>
      <p:sp>
        <p:nvSpPr>
          <p:cNvPr id="53" name="Shape 45"/>
          <p:cNvSpPr/>
          <p:nvPr/>
        </p:nvSpPr>
        <p:spPr>
          <a:xfrm>
            <a:off x="2548890" y="2820924"/>
            <a:ext cx="1954530" cy="1312164"/>
          </a:xfrm>
          <a:prstGeom prst="roundRect">
            <a:avLst>
              <a:gd name="adj" fmla="val 5575"/>
            </a:avLst>
          </a:prstGeom>
          <a:solidFill>
            <a:srgbClr val="F4F7F5"/>
          </a:solidFill>
          <a:ln w="9525">
            <a:solidFill>
              <a:srgbClr val="D5DED9"/>
            </a:solidFill>
            <a:prstDash val="solid"/>
          </a:ln>
        </p:spPr>
      </p:sp>
      <p:sp>
        <p:nvSpPr>
          <p:cNvPr id="54" name="Shape 46"/>
          <p:cNvSpPr/>
          <p:nvPr/>
        </p:nvSpPr>
        <p:spPr>
          <a:xfrm>
            <a:off x="2676906" y="2948940"/>
            <a:ext cx="329184" cy="329184"/>
          </a:xfrm>
          <a:prstGeom prst="ellipse">
            <a:avLst/>
          </a:prstGeom>
          <a:solidFill>
            <a:srgbClr val="0E7C86">
              <a:alpha val="22000"/>
            </a:srgbClr>
          </a:solidFill>
          <a:ln/>
        </p:spPr>
      </p:sp>
      <p:pic>
        <p:nvPicPr>
          <p:cNvPr id="55" name="Image 5" descr="preencoded.png"/>
          <p:cNvPicPr>
            <a:picLocks noChangeAspect="1"/>
          </p:cNvPicPr>
          <p:nvPr/>
        </p:nvPicPr>
        <p:blipFill>
          <a:blip r:embed="rId8"/>
          <a:stretch>
            <a:fillRect/>
          </a:stretch>
        </p:blipFill>
        <p:spPr>
          <a:xfrm>
            <a:off x="2755910" y="3027944"/>
            <a:ext cx="171176" cy="171176"/>
          </a:xfrm>
          <a:prstGeom prst="rect">
            <a:avLst/>
          </a:prstGeom>
        </p:spPr>
      </p:pic>
      <p:sp>
        <p:nvSpPr>
          <p:cNvPr id="56" name="Text 47"/>
          <p:cNvSpPr txBox="1"/>
          <p:nvPr/>
        </p:nvSpPr>
        <p:spPr>
          <a:xfrm>
            <a:off x="3115818" y="2948940"/>
            <a:ext cx="1277874"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Imagerie et géospatial</a:t>
            </a:r>
            <a:endParaRPr lang="en-US" sz="1100" dirty="0"/>
          </a:p>
        </p:txBody>
      </p:sp>
      <p:sp>
        <p:nvSpPr>
          <p:cNvPr id="57" name="Text 48"/>
          <p:cNvSpPr txBox="1"/>
          <p:nvPr/>
        </p:nvSpPr>
        <p:spPr>
          <a:xfrm>
            <a:off x="267690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Bâti pour la cartographie censitaire, sols, cultures.</a:t>
            </a:r>
            <a:endParaRPr lang="en-US" sz="900" dirty="0"/>
          </a:p>
        </p:txBody>
      </p:sp>
      <p:sp>
        <p:nvSpPr>
          <p:cNvPr id="58" name="Shape 49"/>
          <p:cNvSpPr/>
          <p:nvPr/>
        </p:nvSpPr>
        <p:spPr>
          <a:xfrm>
            <a:off x="267690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59" name="Text 50"/>
          <p:cNvSpPr txBox="1"/>
          <p:nvPr/>
        </p:nvSpPr>
        <p:spPr>
          <a:xfrm>
            <a:off x="267690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Émergent</a:t>
            </a:r>
            <a:endParaRPr lang="en-US" sz="850" dirty="0"/>
          </a:p>
        </p:txBody>
      </p:sp>
      <p:sp>
        <p:nvSpPr>
          <p:cNvPr id="60" name="Shape 51"/>
          <p:cNvSpPr/>
          <p:nvPr/>
        </p:nvSpPr>
        <p:spPr>
          <a:xfrm>
            <a:off x="4640580" y="2820924"/>
            <a:ext cx="1954530" cy="1312164"/>
          </a:xfrm>
          <a:prstGeom prst="roundRect">
            <a:avLst>
              <a:gd name="adj" fmla="val 5575"/>
            </a:avLst>
          </a:prstGeom>
          <a:solidFill>
            <a:srgbClr val="F4F7F5"/>
          </a:solidFill>
          <a:ln w="9525">
            <a:solidFill>
              <a:srgbClr val="D5DED9"/>
            </a:solidFill>
            <a:prstDash val="solid"/>
          </a:ln>
        </p:spPr>
      </p:sp>
      <p:sp>
        <p:nvSpPr>
          <p:cNvPr id="61" name="Shape 52"/>
          <p:cNvSpPr/>
          <p:nvPr/>
        </p:nvSpPr>
        <p:spPr>
          <a:xfrm>
            <a:off x="4768596" y="2948940"/>
            <a:ext cx="329184" cy="329184"/>
          </a:xfrm>
          <a:prstGeom prst="ellipse">
            <a:avLst/>
          </a:prstGeom>
          <a:solidFill>
            <a:srgbClr val="0E7C86">
              <a:alpha val="22000"/>
            </a:srgbClr>
          </a:solidFill>
          <a:ln/>
        </p:spPr>
      </p:sp>
      <p:pic>
        <p:nvPicPr>
          <p:cNvPr id="62" name="Image 6" descr="preencoded.png"/>
          <p:cNvPicPr>
            <a:picLocks noChangeAspect="1"/>
          </p:cNvPicPr>
          <p:nvPr/>
        </p:nvPicPr>
        <p:blipFill>
          <a:blip r:embed="rId9"/>
          <a:stretch>
            <a:fillRect/>
          </a:stretch>
        </p:blipFill>
        <p:spPr>
          <a:xfrm>
            <a:off x="4847600" y="3027944"/>
            <a:ext cx="171176" cy="171176"/>
          </a:xfrm>
          <a:prstGeom prst="rect">
            <a:avLst/>
          </a:prstGeom>
        </p:spPr>
      </p:pic>
      <p:sp>
        <p:nvSpPr>
          <p:cNvPr id="63" name="Text 53"/>
          <p:cNvSpPr txBox="1"/>
          <p:nvPr/>
        </p:nvSpPr>
        <p:spPr>
          <a:xfrm>
            <a:off x="5207508" y="2948940"/>
            <a:ext cx="1277874"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Outils d'assistance</a:t>
            </a:r>
            <a:endParaRPr lang="en-US" sz="1100" dirty="0"/>
          </a:p>
        </p:txBody>
      </p:sp>
      <p:sp>
        <p:nvSpPr>
          <p:cNvPr id="64" name="Text 54"/>
          <p:cNvSpPr txBox="1"/>
          <p:nvPr/>
        </p:nvSpPr>
        <p:spPr>
          <a:xfrm>
            <a:off x="476859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Aide au code, rédaction, traduction, recherche.</a:t>
            </a:r>
            <a:endParaRPr lang="en-US" sz="900" dirty="0"/>
          </a:p>
        </p:txBody>
      </p:sp>
      <p:sp>
        <p:nvSpPr>
          <p:cNvPr id="65" name="Shape 55"/>
          <p:cNvSpPr/>
          <p:nvPr/>
        </p:nvSpPr>
        <p:spPr>
          <a:xfrm>
            <a:off x="4768596" y="3840480"/>
            <a:ext cx="1005840" cy="201168"/>
          </a:xfrm>
          <a:prstGeom prst="roundRect">
            <a:avLst>
              <a:gd name="adj" fmla="val 50000"/>
            </a:avLst>
          </a:prstGeom>
          <a:solidFill>
            <a:srgbClr val="0E7C86">
              <a:alpha val="15000"/>
            </a:srgbClr>
          </a:solidFill>
          <a:ln w="9525">
            <a:solidFill>
              <a:srgbClr val="0E7C86"/>
            </a:solidFill>
            <a:prstDash val="solid"/>
          </a:ln>
        </p:spPr>
      </p:sp>
      <p:sp>
        <p:nvSpPr>
          <p:cNvPr id="66" name="Text 56"/>
          <p:cNvSpPr txBox="1"/>
          <p:nvPr/>
        </p:nvSpPr>
        <p:spPr>
          <a:xfrm>
            <a:off x="4768596" y="3840480"/>
            <a:ext cx="1005840" cy="201168"/>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Émergent</a:t>
            </a:r>
            <a:endParaRPr lang="en-US" sz="850" dirty="0"/>
          </a:p>
        </p:txBody>
      </p:sp>
      <p:sp>
        <p:nvSpPr>
          <p:cNvPr id="67" name="Shape 57"/>
          <p:cNvSpPr/>
          <p:nvPr/>
        </p:nvSpPr>
        <p:spPr>
          <a:xfrm>
            <a:off x="6732270" y="2820924"/>
            <a:ext cx="1954530" cy="1312164"/>
          </a:xfrm>
          <a:prstGeom prst="roundRect">
            <a:avLst>
              <a:gd name="adj" fmla="val 5575"/>
            </a:avLst>
          </a:prstGeom>
          <a:solidFill>
            <a:srgbClr val="F4F7F5"/>
          </a:solidFill>
          <a:ln w="9525">
            <a:solidFill>
              <a:srgbClr val="D5DED9"/>
            </a:solidFill>
            <a:prstDash val="solid"/>
          </a:ln>
        </p:spPr>
      </p:sp>
      <p:sp>
        <p:nvSpPr>
          <p:cNvPr id="68" name="Shape 58"/>
          <p:cNvSpPr/>
          <p:nvPr/>
        </p:nvSpPr>
        <p:spPr>
          <a:xfrm>
            <a:off x="6860286" y="2948940"/>
            <a:ext cx="329184" cy="329184"/>
          </a:xfrm>
          <a:prstGeom prst="ellipse">
            <a:avLst/>
          </a:prstGeom>
          <a:solidFill>
            <a:srgbClr val="B83B2E">
              <a:alpha val="22000"/>
            </a:srgbClr>
          </a:solidFill>
          <a:ln/>
        </p:spPr>
      </p:sp>
      <p:pic>
        <p:nvPicPr>
          <p:cNvPr id="69" name="Image 7" descr="preencoded.png"/>
          <p:cNvPicPr>
            <a:picLocks noChangeAspect="1"/>
          </p:cNvPicPr>
          <p:nvPr/>
        </p:nvPicPr>
        <p:blipFill>
          <a:blip r:embed="rId10"/>
          <a:stretch>
            <a:fillRect/>
          </a:stretch>
        </p:blipFill>
        <p:spPr>
          <a:xfrm>
            <a:off x="6939290" y="3027944"/>
            <a:ext cx="171176" cy="171176"/>
          </a:xfrm>
          <a:prstGeom prst="rect">
            <a:avLst/>
          </a:prstGeom>
        </p:spPr>
      </p:pic>
      <p:sp>
        <p:nvSpPr>
          <p:cNvPr id="70" name="Text 59"/>
          <p:cNvSpPr txBox="1"/>
          <p:nvPr/>
        </p:nvSpPr>
        <p:spPr>
          <a:xfrm>
            <a:off x="7299198" y="2948940"/>
            <a:ext cx="1277874"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Appui à la confidentialité</a:t>
            </a:r>
            <a:endParaRPr lang="en-US" sz="1100" dirty="0"/>
          </a:p>
        </p:txBody>
      </p:sp>
      <p:sp>
        <p:nvSpPr>
          <p:cNvPr id="71" name="Text 60"/>
          <p:cNvSpPr txBox="1"/>
          <p:nvPr/>
        </p:nvSpPr>
        <p:spPr>
          <a:xfrm>
            <a:off x="6860286" y="3332988"/>
            <a:ext cx="1698498" cy="47091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Risque de divulgation, données synthétiques.</a:t>
            </a:r>
            <a:endParaRPr lang="en-US" sz="900" dirty="0"/>
          </a:p>
        </p:txBody>
      </p:sp>
      <p:sp>
        <p:nvSpPr>
          <p:cNvPr id="72" name="Shape 61"/>
          <p:cNvSpPr/>
          <p:nvPr/>
        </p:nvSpPr>
        <p:spPr>
          <a:xfrm>
            <a:off x="6860286" y="3840480"/>
            <a:ext cx="1280160" cy="201168"/>
          </a:xfrm>
          <a:prstGeom prst="roundRect">
            <a:avLst>
              <a:gd name="adj" fmla="val 50000"/>
            </a:avLst>
          </a:prstGeom>
          <a:solidFill>
            <a:srgbClr val="B83B2E">
              <a:alpha val="15000"/>
            </a:srgbClr>
          </a:solidFill>
          <a:ln w="9525">
            <a:solidFill>
              <a:srgbClr val="B83B2E"/>
            </a:solidFill>
            <a:prstDash val="solid"/>
          </a:ln>
        </p:spPr>
      </p:sp>
      <p:sp>
        <p:nvSpPr>
          <p:cNvPr id="73" name="Text 62"/>
          <p:cNvSpPr txBox="1"/>
          <p:nvPr/>
        </p:nvSpPr>
        <p:spPr>
          <a:xfrm>
            <a:off x="6860286" y="3840480"/>
            <a:ext cx="1280160" cy="201168"/>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Validation requise</a:t>
            </a:r>
            <a:endParaRPr lang="en-US" sz="850" dirty="0"/>
          </a:p>
        </p:txBody>
      </p:sp>
      <p:sp>
        <p:nvSpPr>
          <p:cNvPr id="74" name="Shape 63"/>
          <p:cNvSpPr/>
          <p:nvPr/>
        </p:nvSpPr>
        <p:spPr>
          <a:xfrm>
            <a:off x="457200" y="4224528"/>
            <a:ext cx="8229600" cy="384048"/>
          </a:xfrm>
          <a:prstGeom prst="roundRect">
            <a:avLst>
              <a:gd name="adj" fmla="val 14286"/>
            </a:avLst>
          </a:prstGeom>
          <a:solidFill>
            <a:srgbClr val="E8F5EF"/>
          </a:solidFill>
          <a:ln w="15875">
            <a:solidFill>
              <a:srgbClr val="00A86A"/>
            </a:solidFill>
            <a:prstDash val="solid"/>
          </a:ln>
        </p:spPr>
      </p:sp>
      <p:sp>
        <p:nvSpPr>
          <p:cNvPr id="75" name="Shape 64"/>
          <p:cNvSpPr/>
          <p:nvPr/>
        </p:nvSpPr>
        <p:spPr>
          <a:xfrm>
            <a:off x="566928" y="4270248"/>
            <a:ext cx="292608" cy="292608"/>
          </a:xfrm>
          <a:prstGeom prst="ellipse">
            <a:avLst/>
          </a:prstGeom>
          <a:solidFill>
            <a:srgbClr val="00A86A">
              <a:alpha val="22000"/>
            </a:srgbClr>
          </a:solidFill>
          <a:ln/>
        </p:spPr>
      </p:sp>
      <p:pic>
        <p:nvPicPr>
          <p:cNvPr id="76" name="Image 8" descr="preencoded.png"/>
          <p:cNvPicPr>
            <a:picLocks noChangeAspect="1"/>
          </p:cNvPicPr>
          <p:nvPr/>
        </p:nvPicPr>
        <p:blipFill>
          <a:blip r:embed="rId11"/>
          <a:stretch>
            <a:fillRect/>
          </a:stretch>
        </p:blipFill>
        <p:spPr>
          <a:xfrm>
            <a:off x="637154" y="4340474"/>
            <a:ext cx="152156" cy="152156"/>
          </a:xfrm>
          <a:prstGeom prst="rect">
            <a:avLst/>
          </a:prstGeom>
        </p:spPr>
      </p:pic>
      <p:sp>
        <p:nvSpPr>
          <p:cNvPr id="77" name="Text 65"/>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Commencez là où vous disposez déjà d'années de réponses codées manuellement — en général la codification. On peut l'évaluer honnêtement dès le premier jour.</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EXEMPLE DÉTAILLÉ</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Exemple : coder les professions avec l'IA</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Suivre une réponse du recensement, du questionnaire au tableau publié</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8" name="Shape 15"/>
          <p:cNvSpPr/>
          <p:nvPr/>
        </p:nvSpPr>
        <p:spPr>
          <a:xfrm>
            <a:off x="457200" y="1371600"/>
            <a:ext cx="1481328" cy="1691640"/>
          </a:xfrm>
          <a:prstGeom prst="roundRect">
            <a:avLst>
              <a:gd name="adj" fmla="val 4938"/>
            </a:avLst>
          </a:prstGeom>
          <a:solidFill>
            <a:srgbClr val="F4F7F5"/>
          </a:solidFill>
          <a:ln w="9525">
            <a:solidFill>
              <a:srgbClr val="D5DED9"/>
            </a:solidFill>
            <a:prstDash val="solid"/>
          </a:ln>
        </p:spPr>
      </p:sp>
      <p:sp>
        <p:nvSpPr>
          <p:cNvPr id="19" name="Shape 16"/>
          <p:cNvSpPr/>
          <p:nvPr/>
        </p:nvSpPr>
        <p:spPr>
          <a:xfrm>
            <a:off x="566928" y="1481328"/>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0321" y="1564721"/>
            <a:ext cx="180685" cy="180685"/>
          </a:xfrm>
          <a:prstGeom prst="rect">
            <a:avLst/>
          </a:prstGeom>
        </p:spPr>
      </p:pic>
      <p:sp>
        <p:nvSpPr>
          <p:cNvPr id="21" name="Text 17"/>
          <p:cNvSpPr txBox="1"/>
          <p:nvPr/>
        </p:nvSpPr>
        <p:spPr>
          <a:xfrm>
            <a:off x="969264" y="1481328"/>
            <a:ext cx="914400"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1  Collecter</a:t>
            </a:r>
            <a:endParaRPr lang="en-US" sz="1100" dirty="0"/>
          </a:p>
        </p:txBody>
      </p:sp>
      <p:sp>
        <p:nvSpPr>
          <p:cNvPr id="22" name="Text 18"/>
          <p:cNvSpPr txBox="1"/>
          <p:nvPr/>
        </p:nvSpPr>
        <p:spPr>
          <a:xfrm>
            <a:off x="566928"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Réponse en clair</a:t>
            </a:r>
            <a:endParaRPr lang="en-US" sz="950" dirty="0"/>
          </a:p>
        </p:txBody>
      </p:sp>
      <p:sp>
        <p:nvSpPr>
          <p:cNvPr id="23" name="Shape 19"/>
          <p:cNvSpPr/>
          <p:nvPr/>
        </p:nvSpPr>
        <p:spPr>
          <a:xfrm>
            <a:off x="548640" y="2176272"/>
            <a:ext cx="1298448" cy="786384"/>
          </a:xfrm>
          <a:prstGeom prst="roundRect">
            <a:avLst>
              <a:gd name="adj" fmla="val 4651"/>
            </a:avLst>
          </a:prstGeom>
          <a:solidFill>
            <a:srgbClr val="FFFFFF"/>
          </a:solidFill>
          <a:ln w="6350">
            <a:solidFill>
              <a:srgbClr val="D5DED9"/>
            </a:solidFill>
            <a:prstDash val="solid"/>
          </a:ln>
        </p:spPr>
      </p:sp>
      <p:sp>
        <p:nvSpPr>
          <p:cNvPr id="24" name="Text 20"/>
          <p:cNvSpPr txBox="1"/>
          <p:nvPr/>
        </p:nvSpPr>
        <p:spPr>
          <a:xfrm>
            <a:off x="603504" y="2194560"/>
            <a:ext cx="1188720" cy="749808"/>
          </a:xfrm>
          <a:prstGeom prst="rect">
            <a:avLst/>
          </a:prstGeom>
          <a:noFill/>
          <a:ln/>
        </p:spPr>
        <p:txBody>
          <a:bodyPr wrap="square" lIns="0" tIns="0" rIns="0" bIns="0" rtlCol="0" anchor="ctr"/>
          <a:lstStyle/>
          <a:p>
            <a:pPr marL="0" indent="0">
              <a:buNone/>
            </a:pPr>
            <a:r>
              <a:rPr lang="en-US" sz="800" dirty="0">
                <a:solidFill>
                  <a:srgbClr val="231F20"/>
                </a:solidFill>
                <a:latin typeface="Courier New" pitchFamily="34" charset="0"/>
                <a:ea typeface="Courier New" pitchFamily="34" charset="-122"/>
                <a:cs typeface="Courier New" pitchFamily="34" charset="-120"/>
              </a:rPr>
              <a:t>« enseigne aux enfants à l'école primaire du village »</a:t>
            </a:r>
            <a:endParaRPr lang="en-US" sz="800" dirty="0"/>
          </a:p>
        </p:txBody>
      </p:sp>
      <p:sp>
        <p:nvSpPr>
          <p:cNvPr id="25" name="Shape 21"/>
          <p:cNvSpPr/>
          <p:nvPr/>
        </p:nvSpPr>
        <p:spPr>
          <a:xfrm>
            <a:off x="1956816" y="2212848"/>
            <a:ext cx="169164" cy="0"/>
          </a:xfrm>
          <a:prstGeom prst="line">
            <a:avLst/>
          </a:prstGeom>
          <a:noFill/>
          <a:ln w="15875">
            <a:solidFill>
              <a:srgbClr val="5E6964"/>
            </a:solidFill>
            <a:prstDash val="solid"/>
            <a:tailEnd type="triangle"/>
          </a:ln>
        </p:spPr>
      </p:sp>
      <p:sp>
        <p:nvSpPr>
          <p:cNvPr id="26" name="Shape 22"/>
          <p:cNvSpPr/>
          <p:nvPr/>
        </p:nvSpPr>
        <p:spPr>
          <a:xfrm>
            <a:off x="2144268" y="1371600"/>
            <a:ext cx="1481328" cy="1691640"/>
          </a:xfrm>
          <a:prstGeom prst="roundRect">
            <a:avLst>
              <a:gd name="adj" fmla="val 4938"/>
            </a:avLst>
          </a:prstGeom>
          <a:solidFill>
            <a:srgbClr val="F4F7F5"/>
          </a:solidFill>
          <a:ln w="9525">
            <a:solidFill>
              <a:srgbClr val="D5DED9"/>
            </a:solidFill>
            <a:prstDash val="solid"/>
          </a:ln>
        </p:spPr>
      </p:sp>
      <p:sp>
        <p:nvSpPr>
          <p:cNvPr id="27" name="Shape 23"/>
          <p:cNvSpPr/>
          <p:nvPr/>
        </p:nvSpPr>
        <p:spPr>
          <a:xfrm>
            <a:off x="2253996" y="1481328"/>
            <a:ext cx="347472" cy="347472"/>
          </a:xfrm>
          <a:prstGeom prst="ellipse">
            <a:avLst/>
          </a:prstGeom>
          <a:solidFill>
            <a:srgbClr val="00A86A">
              <a:alpha val="22000"/>
            </a:srgbClr>
          </a:solidFill>
          <a:ln/>
        </p:spPr>
      </p:sp>
      <p:pic>
        <p:nvPicPr>
          <p:cNvPr id="28" name="Image 1" descr="preencoded.png"/>
          <p:cNvPicPr>
            <a:picLocks noChangeAspect="1"/>
          </p:cNvPicPr>
          <p:nvPr/>
        </p:nvPicPr>
        <p:blipFill>
          <a:blip r:embed="rId4"/>
          <a:stretch>
            <a:fillRect/>
          </a:stretch>
        </p:blipFill>
        <p:spPr>
          <a:xfrm>
            <a:off x="2337389" y="1564721"/>
            <a:ext cx="180685" cy="180685"/>
          </a:xfrm>
          <a:prstGeom prst="rect">
            <a:avLst/>
          </a:prstGeom>
        </p:spPr>
      </p:pic>
      <p:sp>
        <p:nvSpPr>
          <p:cNvPr id="29" name="Text 24"/>
          <p:cNvSpPr txBox="1"/>
          <p:nvPr/>
        </p:nvSpPr>
        <p:spPr>
          <a:xfrm>
            <a:off x="2656332" y="1481328"/>
            <a:ext cx="914400"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2  Nettoyer</a:t>
            </a:r>
            <a:endParaRPr lang="en-US" sz="1100" dirty="0"/>
          </a:p>
        </p:txBody>
      </p:sp>
      <p:sp>
        <p:nvSpPr>
          <p:cNvPr id="30" name="Text 25"/>
          <p:cNvSpPr txBox="1"/>
          <p:nvPr/>
        </p:nvSpPr>
        <p:spPr>
          <a:xfrm>
            <a:off x="2253996"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Normaliser le texte</a:t>
            </a:r>
            <a:endParaRPr lang="en-US" sz="950" dirty="0"/>
          </a:p>
        </p:txBody>
      </p:sp>
      <p:sp>
        <p:nvSpPr>
          <p:cNvPr id="31" name="Shape 26"/>
          <p:cNvSpPr/>
          <p:nvPr/>
        </p:nvSpPr>
        <p:spPr>
          <a:xfrm>
            <a:off x="2235708" y="2176272"/>
            <a:ext cx="1298448" cy="786384"/>
          </a:xfrm>
          <a:prstGeom prst="roundRect">
            <a:avLst>
              <a:gd name="adj" fmla="val 4651"/>
            </a:avLst>
          </a:prstGeom>
          <a:solidFill>
            <a:srgbClr val="FFFFFF"/>
          </a:solidFill>
          <a:ln w="6350">
            <a:solidFill>
              <a:srgbClr val="D5DED9"/>
            </a:solidFill>
            <a:prstDash val="solid"/>
          </a:ln>
        </p:spPr>
      </p:sp>
      <p:sp>
        <p:nvSpPr>
          <p:cNvPr id="32" name="Text 27"/>
          <p:cNvSpPr txBox="1"/>
          <p:nvPr/>
        </p:nvSpPr>
        <p:spPr>
          <a:xfrm>
            <a:off x="2290572" y="2194560"/>
            <a:ext cx="1188720" cy="749808"/>
          </a:xfrm>
          <a:prstGeom prst="rect">
            <a:avLst/>
          </a:prstGeom>
          <a:noFill/>
          <a:ln/>
        </p:spPr>
        <p:txBody>
          <a:bodyPr wrap="square" lIns="0" tIns="0" rIns="0" bIns="0" rtlCol="0" anchor="ctr"/>
          <a:lstStyle/>
          <a:p>
            <a:pPr marL="0" indent="0">
              <a:buNone/>
            </a:pPr>
            <a:r>
              <a:rPr lang="en-US" sz="800" dirty="0">
                <a:solidFill>
                  <a:srgbClr val="231F20"/>
                </a:solidFill>
                <a:latin typeface="Courier New" pitchFamily="34" charset="0"/>
                <a:ea typeface="Courier New" pitchFamily="34" charset="-122"/>
                <a:cs typeface="Courier New" pitchFamily="34" charset="-120"/>
              </a:rPr>
              <a:t>minuscules, orthographe, retrait des données personnelles</a:t>
            </a:r>
            <a:endParaRPr lang="en-US" sz="800" dirty="0"/>
          </a:p>
        </p:txBody>
      </p:sp>
      <p:sp>
        <p:nvSpPr>
          <p:cNvPr id="33" name="Shape 28"/>
          <p:cNvSpPr/>
          <p:nvPr/>
        </p:nvSpPr>
        <p:spPr>
          <a:xfrm>
            <a:off x="3643884" y="2212848"/>
            <a:ext cx="169164" cy="0"/>
          </a:xfrm>
          <a:prstGeom prst="line">
            <a:avLst/>
          </a:prstGeom>
          <a:noFill/>
          <a:ln w="15875">
            <a:solidFill>
              <a:srgbClr val="5E6964"/>
            </a:solidFill>
            <a:prstDash val="solid"/>
            <a:tailEnd type="triangle"/>
          </a:ln>
        </p:spPr>
      </p:sp>
      <p:sp>
        <p:nvSpPr>
          <p:cNvPr id="34" name="Shape 29"/>
          <p:cNvSpPr/>
          <p:nvPr/>
        </p:nvSpPr>
        <p:spPr>
          <a:xfrm>
            <a:off x="3831336" y="1371600"/>
            <a:ext cx="1481328" cy="1691640"/>
          </a:xfrm>
          <a:prstGeom prst="roundRect">
            <a:avLst>
              <a:gd name="adj" fmla="val 4938"/>
            </a:avLst>
          </a:prstGeom>
          <a:solidFill>
            <a:srgbClr val="F4F7F5"/>
          </a:solidFill>
          <a:ln w="9525">
            <a:solidFill>
              <a:srgbClr val="D5DED9"/>
            </a:solidFill>
            <a:prstDash val="solid"/>
          </a:ln>
        </p:spPr>
      </p:sp>
      <p:sp>
        <p:nvSpPr>
          <p:cNvPr id="35" name="Shape 30"/>
          <p:cNvSpPr/>
          <p:nvPr/>
        </p:nvSpPr>
        <p:spPr>
          <a:xfrm>
            <a:off x="3941064" y="1481328"/>
            <a:ext cx="347472" cy="347472"/>
          </a:xfrm>
          <a:prstGeom prst="ellipse">
            <a:avLst/>
          </a:prstGeom>
          <a:solidFill>
            <a:srgbClr val="00A86A">
              <a:alpha val="22000"/>
            </a:srgbClr>
          </a:solidFill>
          <a:ln/>
        </p:spPr>
      </p:sp>
      <p:pic>
        <p:nvPicPr>
          <p:cNvPr id="36" name="Image 2" descr="preencoded.png"/>
          <p:cNvPicPr>
            <a:picLocks noChangeAspect="1"/>
          </p:cNvPicPr>
          <p:nvPr/>
        </p:nvPicPr>
        <p:blipFill>
          <a:blip r:embed="rId5"/>
          <a:stretch>
            <a:fillRect/>
          </a:stretch>
        </p:blipFill>
        <p:spPr>
          <a:xfrm>
            <a:off x="4024457" y="1564721"/>
            <a:ext cx="180685" cy="180685"/>
          </a:xfrm>
          <a:prstGeom prst="rect">
            <a:avLst/>
          </a:prstGeom>
        </p:spPr>
      </p:pic>
      <p:sp>
        <p:nvSpPr>
          <p:cNvPr id="37" name="Text 31"/>
          <p:cNvSpPr txBox="1"/>
          <p:nvPr/>
        </p:nvSpPr>
        <p:spPr>
          <a:xfrm>
            <a:off x="4343400" y="1481328"/>
            <a:ext cx="914400"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3  Prédire</a:t>
            </a:r>
            <a:endParaRPr lang="en-US" sz="1100" dirty="0"/>
          </a:p>
        </p:txBody>
      </p:sp>
      <p:sp>
        <p:nvSpPr>
          <p:cNvPr id="38" name="Text 32"/>
          <p:cNvSpPr txBox="1"/>
          <p:nvPr/>
        </p:nvSpPr>
        <p:spPr>
          <a:xfrm>
            <a:off x="3941064"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Le modèle propose</a:t>
            </a:r>
            <a:endParaRPr lang="en-US" sz="950" dirty="0"/>
          </a:p>
        </p:txBody>
      </p:sp>
      <p:sp>
        <p:nvSpPr>
          <p:cNvPr id="39" name="Shape 33"/>
          <p:cNvSpPr/>
          <p:nvPr/>
        </p:nvSpPr>
        <p:spPr>
          <a:xfrm>
            <a:off x="3922776" y="2176272"/>
            <a:ext cx="1298448" cy="786384"/>
          </a:xfrm>
          <a:prstGeom prst="roundRect">
            <a:avLst>
              <a:gd name="adj" fmla="val 4651"/>
            </a:avLst>
          </a:prstGeom>
          <a:solidFill>
            <a:srgbClr val="FFFFFF"/>
          </a:solidFill>
          <a:ln w="6350">
            <a:solidFill>
              <a:srgbClr val="D5DED9"/>
            </a:solidFill>
            <a:prstDash val="solid"/>
          </a:ln>
        </p:spPr>
      </p:sp>
      <p:sp>
        <p:nvSpPr>
          <p:cNvPr id="40" name="Text 34"/>
          <p:cNvSpPr txBox="1"/>
          <p:nvPr/>
        </p:nvSpPr>
        <p:spPr>
          <a:xfrm>
            <a:off x="3977640" y="2194560"/>
            <a:ext cx="1188720" cy="749808"/>
          </a:xfrm>
          <a:prstGeom prst="rect">
            <a:avLst/>
          </a:prstGeom>
          <a:noFill/>
          <a:ln/>
        </p:spPr>
        <p:txBody>
          <a:bodyPr wrap="square" lIns="0" tIns="0" rIns="0" bIns="0" rtlCol="0" anchor="ctr"/>
          <a:lstStyle/>
          <a:p>
            <a:pPr marL="0" indent="0">
              <a:buNone/>
            </a:pPr>
            <a:r>
              <a:rPr lang="en-US" sz="800" dirty="0">
                <a:solidFill>
                  <a:srgbClr val="231F20"/>
                </a:solidFill>
                <a:latin typeface="Courier New" pitchFamily="34" charset="0"/>
                <a:ea typeface="Courier New" pitchFamily="34" charset="-122"/>
                <a:cs typeface="Courier New" pitchFamily="34" charset="-120"/>
              </a:rPr>
              <a:t>CITP-08 2341</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confiance 0,96</a:t>
            </a:r>
            <a:endParaRPr lang="en-US" sz="800" dirty="0"/>
          </a:p>
        </p:txBody>
      </p:sp>
      <p:sp>
        <p:nvSpPr>
          <p:cNvPr id="41" name="Shape 35"/>
          <p:cNvSpPr/>
          <p:nvPr/>
        </p:nvSpPr>
        <p:spPr>
          <a:xfrm>
            <a:off x="5330952" y="2212848"/>
            <a:ext cx="169164" cy="0"/>
          </a:xfrm>
          <a:prstGeom prst="line">
            <a:avLst/>
          </a:prstGeom>
          <a:noFill/>
          <a:ln w="15875">
            <a:solidFill>
              <a:srgbClr val="5E6964"/>
            </a:solidFill>
            <a:prstDash val="solid"/>
            <a:tailEnd type="triangle"/>
          </a:ln>
        </p:spPr>
      </p:sp>
      <p:sp>
        <p:nvSpPr>
          <p:cNvPr id="42" name="Shape 36"/>
          <p:cNvSpPr/>
          <p:nvPr/>
        </p:nvSpPr>
        <p:spPr>
          <a:xfrm>
            <a:off x="5518404" y="1371600"/>
            <a:ext cx="1481328" cy="1691640"/>
          </a:xfrm>
          <a:prstGeom prst="roundRect">
            <a:avLst>
              <a:gd name="adj" fmla="val 4938"/>
            </a:avLst>
          </a:prstGeom>
          <a:solidFill>
            <a:srgbClr val="E8F5EF"/>
          </a:solidFill>
          <a:ln w="15875">
            <a:solidFill>
              <a:srgbClr val="00A86A"/>
            </a:solidFill>
            <a:prstDash val="solid"/>
          </a:ln>
        </p:spPr>
      </p:sp>
      <p:sp>
        <p:nvSpPr>
          <p:cNvPr id="43" name="Shape 37"/>
          <p:cNvSpPr/>
          <p:nvPr/>
        </p:nvSpPr>
        <p:spPr>
          <a:xfrm>
            <a:off x="5628132" y="1481328"/>
            <a:ext cx="347472" cy="347472"/>
          </a:xfrm>
          <a:prstGeom prst="ellipse">
            <a:avLst/>
          </a:prstGeom>
          <a:solidFill>
            <a:srgbClr val="00A86A">
              <a:alpha val="22000"/>
            </a:srgbClr>
          </a:solidFill>
          <a:ln/>
        </p:spPr>
      </p:sp>
      <p:pic>
        <p:nvPicPr>
          <p:cNvPr id="44" name="Image 3" descr="preencoded.png"/>
          <p:cNvPicPr>
            <a:picLocks noChangeAspect="1"/>
          </p:cNvPicPr>
          <p:nvPr/>
        </p:nvPicPr>
        <p:blipFill>
          <a:blip r:embed="rId6"/>
          <a:stretch>
            <a:fillRect/>
          </a:stretch>
        </p:blipFill>
        <p:spPr>
          <a:xfrm>
            <a:off x="5711525" y="1564721"/>
            <a:ext cx="180685" cy="180685"/>
          </a:xfrm>
          <a:prstGeom prst="rect">
            <a:avLst/>
          </a:prstGeom>
        </p:spPr>
      </p:pic>
      <p:sp>
        <p:nvSpPr>
          <p:cNvPr id="45" name="Text 38"/>
          <p:cNvSpPr txBox="1"/>
          <p:nvPr/>
        </p:nvSpPr>
        <p:spPr>
          <a:xfrm>
            <a:off x="6030468" y="1481328"/>
            <a:ext cx="914400"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4  Orienter</a:t>
            </a:r>
            <a:endParaRPr lang="en-US" sz="1100" dirty="0"/>
          </a:p>
        </p:txBody>
      </p:sp>
      <p:sp>
        <p:nvSpPr>
          <p:cNvPr id="46" name="Text 39"/>
          <p:cNvSpPr txBox="1"/>
          <p:nvPr/>
        </p:nvSpPr>
        <p:spPr>
          <a:xfrm>
            <a:off x="5628132"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Comparer au seuil</a:t>
            </a:r>
            <a:endParaRPr lang="en-US" sz="950" dirty="0"/>
          </a:p>
        </p:txBody>
      </p:sp>
      <p:sp>
        <p:nvSpPr>
          <p:cNvPr id="47" name="Shape 40"/>
          <p:cNvSpPr/>
          <p:nvPr/>
        </p:nvSpPr>
        <p:spPr>
          <a:xfrm>
            <a:off x="5609844" y="2176272"/>
            <a:ext cx="1298448" cy="786384"/>
          </a:xfrm>
          <a:prstGeom prst="roundRect">
            <a:avLst>
              <a:gd name="adj" fmla="val 4651"/>
            </a:avLst>
          </a:prstGeom>
          <a:solidFill>
            <a:srgbClr val="FFFFFF"/>
          </a:solidFill>
          <a:ln w="6350">
            <a:solidFill>
              <a:srgbClr val="D5DED9"/>
            </a:solidFill>
            <a:prstDash val="solid"/>
          </a:ln>
        </p:spPr>
      </p:sp>
      <p:sp>
        <p:nvSpPr>
          <p:cNvPr id="48" name="Text 41"/>
          <p:cNvSpPr txBox="1"/>
          <p:nvPr/>
        </p:nvSpPr>
        <p:spPr>
          <a:xfrm>
            <a:off x="5664708" y="2194560"/>
            <a:ext cx="1188720" cy="749808"/>
          </a:xfrm>
          <a:prstGeom prst="rect">
            <a:avLst/>
          </a:prstGeom>
          <a:noFill/>
          <a:ln/>
        </p:spPr>
        <p:txBody>
          <a:bodyPr wrap="square" lIns="0" tIns="0" rIns="0" bIns="0" rtlCol="0" anchor="ctr"/>
          <a:lstStyle/>
          <a:p>
            <a:pPr marL="0" indent="0">
              <a:buNone/>
            </a:pPr>
            <a:r>
              <a:rPr lang="en-US" sz="800" dirty="0">
                <a:solidFill>
                  <a:srgbClr val="231F20"/>
                </a:solidFill>
                <a:latin typeface="Courier New" pitchFamily="34" charset="0"/>
                <a:ea typeface="Courier New" pitchFamily="34" charset="-122"/>
                <a:cs typeface="Courier New" pitchFamily="34" charset="-120"/>
              </a:rPr>
              <a:t>≥ 0,90 → accepté</a:t>
            </a:r>
            <a:endParaRPr lang="en-US" sz="800" dirty="0"/>
          </a:p>
          <a:p>
            <a:pPr marL="0" indent="0">
              <a:buNone/>
            </a:pPr>
            <a:r>
              <a:rPr lang="en-US" sz="800" dirty="0">
                <a:solidFill>
                  <a:srgbClr val="231F20"/>
                </a:solidFill>
                <a:latin typeface="Courier New" pitchFamily="34" charset="0"/>
                <a:ea typeface="Courier New" pitchFamily="34" charset="-122"/>
                <a:cs typeface="Courier New" pitchFamily="34" charset="-120"/>
              </a:rPr>
              <a:t>&lt; 0,90 → codeur</a:t>
            </a:r>
            <a:endParaRPr lang="en-US" sz="800" dirty="0"/>
          </a:p>
        </p:txBody>
      </p:sp>
      <p:sp>
        <p:nvSpPr>
          <p:cNvPr id="49" name="Shape 42"/>
          <p:cNvSpPr/>
          <p:nvPr/>
        </p:nvSpPr>
        <p:spPr>
          <a:xfrm>
            <a:off x="7018020" y="2212848"/>
            <a:ext cx="169164" cy="0"/>
          </a:xfrm>
          <a:prstGeom prst="line">
            <a:avLst/>
          </a:prstGeom>
          <a:noFill/>
          <a:ln w="15875">
            <a:solidFill>
              <a:srgbClr val="5E6964"/>
            </a:solidFill>
            <a:prstDash val="solid"/>
            <a:tailEnd type="triangle"/>
          </a:ln>
        </p:spPr>
      </p:sp>
      <p:sp>
        <p:nvSpPr>
          <p:cNvPr id="50" name="Shape 43"/>
          <p:cNvSpPr/>
          <p:nvPr/>
        </p:nvSpPr>
        <p:spPr>
          <a:xfrm>
            <a:off x="7205472" y="1371600"/>
            <a:ext cx="1481328" cy="1691640"/>
          </a:xfrm>
          <a:prstGeom prst="roundRect">
            <a:avLst>
              <a:gd name="adj" fmla="val 4938"/>
            </a:avLst>
          </a:prstGeom>
          <a:solidFill>
            <a:srgbClr val="F4F7F5"/>
          </a:solidFill>
          <a:ln w="9525">
            <a:solidFill>
              <a:srgbClr val="D5DED9"/>
            </a:solidFill>
            <a:prstDash val="solid"/>
          </a:ln>
        </p:spPr>
      </p:sp>
      <p:sp>
        <p:nvSpPr>
          <p:cNvPr id="51" name="Shape 44"/>
          <p:cNvSpPr/>
          <p:nvPr/>
        </p:nvSpPr>
        <p:spPr>
          <a:xfrm>
            <a:off x="7315200" y="1481328"/>
            <a:ext cx="347472" cy="347472"/>
          </a:xfrm>
          <a:prstGeom prst="ellipse">
            <a:avLst/>
          </a:prstGeom>
          <a:solidFill>
            <a:srgbClr val="00A86A">
              <a:alpha val="22000"/>
            </a:srgbClr>
          </a:solidFill>
          <a:ln/>
        </p:spPr>
      </p:sp>
      <p:pic>
        <p:nvPicPr>
          <p:cNvPr id="52" name="Image 4" descr="preencoded.png"/>
          <p:cNvPicPr>
            <a:picLocks noChangeAspect="1"/>
          </p:cNvPicPr>
          <p:nvPr/>
        </p:nvPicPr>
        <p:blipFill>
          <a:blip r:embed="rId7"/>
          <a:stretch>
            <a:fillRect/>
          </a:stretch>
        </p:blipFill>
        <p:spPr>
          <a:xfrm>
            <a:off x="7398593" y="1564721"/>
            <a:ext cx="180685" cy="180685"/>
          </a:xfrm>
          <a:prstGeom prst="rect">
            <a:avLst/>
          </a:prstGeom>
        </p:spPr>
      </p:pic>
      <p:sp>
        <p:nvSpPr>
          <p:cNvPr id="53" name="Text 45"/>
          <p:cNvSpPr txBox="1"/>
          <p:nvPr/>
        </p:nvSpPr>
        <p:spPr>
          <a:xfrm>
            <a:off x="7717536" y="1481328"/>
            <a:ext cx="914400"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5  Contrôler</a:t>
            </a:r>
            <a:endParaRPr lang="en-US" sz="1100" dirty="0"/>
          </a:p>
        </p:txBody>
      </p:sp>
      <p:sp>
        <p:nvSpPr>
          <p:cNvPr id="54" name="Text 46"/>
          <p:cNvSpPr txBox="1"/>
          <p:nvPr/>
        </p:nvSpPr>
        <p:spPr>
          <a:xfrm>
            <a:off x="7315200" y="1901952"/>
            <a:ext cx="1261872" cy="228600"/>
          </a:xfrm>
          <a:prstGeom prst="rect">
            <a:avLst/>
          </a:prstGeom>
          <a:noFill/>
          <a:ln/>
        </p:spPr>
        <p:txBody>
          <a:bodyPr wrap="square" lIns="0" tIns="0" rIns="0" bIns="0" rtlCol="0" anchor="t"/>
          <a:lstStyle/>
          <a:p>
            <a:pPr marL="0" indent="0">
              <a:buNone/>
            </a:pPr>
            <a:r>
              <a:rPr lang="en-US" sz="950" b="1" dirty="0">
                <a:solidFill>
                  <a:srgbClr val="00704A"/>
                </a:solidFill>
                <a:latin typeface="Calibri" pitchFamily="34" charset="0"/>
                <a:ea typeface="Calibri" pitchFamily="34" charset="-122"/>
                <a:cs typeface="Calibri" pitchFamily="34" charset="-120"/>
              </a:rPr>
              <a:t>Échantillon qualité</a:t>
            </a:r>
            <a:endParaRPr lang="en-US" sz="950" dirty="0"/>
          </a:p>
        </p:txBody>
      </p:sp>
      <p:sp>
        <p:nvSpPr>
          <p:cNvPr id="55" name="Shape 47"/>
          <p:cNvSpPr/>
          <p:nvPr/>
        </p:nvSpPr>
        <p:spPr>
          <a:xfrm>
            <a:off x="7296912" y="2176272"/>
            <a:ext cx="1298448" cy="786384"/>
          </a:xfrm>
          <a:prstGeom prst="roundRect">
            <a:avLst>
              <a:gd name="adj" fmla="val 4651"/>
            </a:avLst>
          </a:prstGeom>
          <a:solidFill>
            <a:srgbClr val="FFFFFF"/>
          </a:solidFill>
          <a:ln w="6350">
            <a:solidFill>
              <a:srgbClr val="D5DED9"/>
            </a:solidFill>
            <a:prstDash val="solid"/>
          </a:ln>
        </p:spPr>
      </p:sp>
      <p:sp>
        <p:nvSpPr>
          <p:cNvPr id="56" name="Text 48"/>
          <p:cNvSpPr txBox="1"/>
          <p:nvPr/>
        </p:nvSpPr>
        <p:spPr>
          <a:xfrm>
            <a:off x="7351776" y="2194560"/>
            <a:ext cx="1188720" cy="749808"/>
          </a:xfrm>
          <a:prstGeom prst="rect">
            <a:avLst/>
          </a:prstGeom>
          <a:noFill/>
          <a:ln/>
        </p:spPr>
        <p:txBody>
          <a:bodyPr wrap="square" lIns="0" tIns="0" rIns="0" bIns="0" rtlCol="0" anchor="ctr"/>
          <a:lstStyle/>
          <a:p>
            <a:pPr marL="0" indent="0">
              <a:buNone/>
            </a:pPr>
            <a:r>
              <a:rPr lang="en-US" sz="800" dirty="0">
                <a:solidFill>
                  <a:srgbClr val="231F20"/>
                </a:solidFill>
                <a:latin typeface="Courier New" pitchFamily="34" charset="0"/>
                <a:ea typeface="Courier New" pitchFamily="34" charset="-122"/>
                <a:cs typeface="Courier New" pitchFamily="34" charset="-120"/>
              </a:rPr>
              <a:t>Auditer, comparer au jeu de référence, publier</a:t>
            </a:r>
            <a:endParaRPr lang="en-US" sz="800" dirty="0"/>
          </a:p>
        </p:txBody>
      </p:sp>
      <p:sp>
        <p:nvSpPr>
          <p:cNvPr id="57" name="Shape 49"/>
          <p:cNvSpPr/>
          <p:nvPr/>
        </p:nvSpPr>
        <p:spPr>
          <a:xfrm>
            <a:off x="457200" y="3218688"/>
            <a:ext cx="4937760" cy="1325880"/>
          </a:xfrm>
          <a:prstGeom prst="roundRect">
            <a:avLst>
              <a:gd name="adj" fmla="val 5517"/>
            </a:avLst>
          </a:prstGeom>
          <a:solidFill>
            <a:srgbClr val="F4F7F5"/>
          </a:solidFill>
          <a:ln w="9525">
            <a:solidFill>
              <a:srgbClr val="D5DED9"/>
            </a:solidFill>
            <a:prstDash val="solid"/>
          </a:ln>
        </p:spPr>
      </p:sp>
      <p:sp>
        <p:nvSpPr>
          <p:cNvPr id="58" name="Text 50"/>
          <p:cNvSpPr txBox="1"/>
          <p:nvPr/>
        </p:nvSpPr>
        <p:spPr>
          <a:xfrm>
            <a:off x="640080" y="3310128"/>
            <a:ext cx="45720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ILLUSTRATION : 100 000 RÉPONSES DU RECENSEMENT</a:t>
            </a:r>
            <a:endParaRPr lang="en-US" sz="900" dirty="0"/>
          </a:p>
        </p:txBody>
      </p:sp>
      <p:sp>
        <p:nvSpPr>
          <p:cNvPr id="59" name="Shape 51"/>
          <p:cNvSpPr/>
          <p:nvPr/>
        </p:nvSpPr>
        <p:spPr>
          <a:xfrm>
            <a:off x="640080" y="3611880"/>
            <a:ext cx="3200400" cy="411480"/>
          </a:xfrm>
          <a:prstGeom prst="rect">
            <a:avLst/>
          </a:prstGeom>
          <a:solidFill>
            <a:srgbClr val="00A86A"/>
          </a:solidFill>
          <a:ln/>
        </p:spPr>
      </p:sp>
      <p:sp>
        <p:nvSpPr>
          <p:cNvPr id="60" name="Shape 52"/>
          <p:cNvSpPr/>
          <p:nvPr/>
        </p:nvSpPr>
        <p:spPr>
          <a:xfrm>
            <a:off x="3840480" y="3611880"/>
            <a:ext cx="1371600" cy="411480"/>
          </a:xfrm>
          <a:prstGeom prst="rect">
            <a:avLst/>
          </a:prstGeom>
          <a:solidFill>
            <a:srgbClr val="D49A00"/>
          </a:solidFill>
          <a:ln/>
        </p:spPr>
      </p:sp>
      <p:sp>
        <p:nvSpPr>
          <p:cNvPr id="61" name="Text 53"/>
          <p:cNvSpPr txBox="1"/>
          <p:nvPr/>
        </p:nvSpPr>
        <p:spPr>
          <a:xfrm>
            <a:off x="731520" y="3611880"/>
            <a:ext cx="301752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70 000 codées automatiquement</a:t>
            </a:r>
            <a:endParaRPr lang="en-US" sz="1100" dirty="0"/>
          </a:p>
        </p:txBody>
      </p:sp>
      <p:sp>
        <p:nvSpPr>
          <p:cNvPr id="62" name="Text 54"/>
          <p:cNvSpPr txBox="1"/>
          <p:nvPr/>
        </p:nvSpPr>
        <p:spPr>
          <a:xfrm>
            <a:off x="3858768" y="3611880"/>
            <a:ext cx="1335024" cy="4114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30 000 aux codeurs</a:t>
            </a:r>
            <a:endParaRPr lang="en-US" sz="950" dirty="0"/>
          </a:p>
        </p:txBody>
      </p:sp>
      <p:sp>
        <p:nvSpPr>
          <p:cNvPr id="63" name="Text 55"/>
          <p:cNvSpPr txBox="1"/>
          <p:nvPr/>
        </p:nvSpPr>
        <p:spPr>
          <a:xfrm>
            <a:off x="640080" y="4114800"/>
            <a:ext cx="4572000" cy="32004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codeurs traitent les 30 % difficiles et contrôlent la qualité du reste.</a:t>
            </a:r>
            <a:endParaRPr lang="en-US" sz="1000" dirty="0"/>
          </a:p>
        </p:txBody>
      </p:sp>
      <p:sp>
        <p:nvSpPr>
          <p:cNvPr id="64" name="Shape 56"/>
          <p:cNvSpPr/>
          <p:nvPr/>
        </p:nvSpPr>
        <p:spPr>
          <a:xfrm>
            <a:off x="5577840" y="3218688"/>
            <a:ext cx="3108960" cy="1325880"/>
          </a:xfrm>
          <a:prstGeom prst="roundRect">
            <a:avLst>
              <a:gd name="adj" fmla="val 5517"/>
            </a:avLst>
          </a:prstGeom>
          <a:solidFill>
            <a:srgbClr val="E8F5EF"/>
          </a:solidFill>
          <a:ln w="15875">
            <a:solidFill>
              <a:srgbClr val="00A86A"/>
            </a:solidFill>
            <a:prstDash val="solid"/>
          </a:ln>
        </p:spPr>
      </p:sp>
      <p:sp>
        <p:nvSpPr>
          <p:cNvPr id="65" name="Text 57"/>
          <p:cNvSpPr txBox="1"/>
          <p:nvPr/>
        </p:nvSpPr>
        <p:spPr>
          <a:xfrm>
            <a:off x="5760720" y="3310128"/>
            <a:ext cx="27432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TROIS LEÇONS</a:t>
            </a:r>
            <a:endParaRPr lang="en-US" sz="900" dirty="0"/>
          </a:p>
        </p:txBody>
      </p:sp>
      <p:pic>
        <p:nvPicPr>
          <p:cNvPr id="66" name="Image 5" descr="preencoded.png"/>
          <p:cNvPicPr>
            <a:picLocks noChangeAspect="1"/>
          </p:cNvPicPr>
          <p:nvPr/>
        </p:nvPicPr>
        <p:blipFill>
          <a:blip r:embed="rId8"/>
          <a:stretch>
            <a:fillRect/>
          </a:stretch>
        </p:blipFill>
        <p:spPr>
          <a:xfrm>
            <a:off x="5760720" y="3593592"/>
            <a:ext cx="137160" cy="137160"/>
          </a:xfrm>
          <a:prstGeom prst="rect">
            <a:avLst/>
          </a:prstGeom>
        </p:spPr>
      </p:pic>
      <p:sp>
        <p:nvSpPr>
          <p:cNvPr id="67" name="Text 58"/>
          <p:cNvSpPr txBox="1"/>
          <p:nvPr/>
        </p:nvSpPr>
        <p:spPr>
          <a:xfrm>
            <a:off x="5971032" y="3566160"/>
            <a:ext cx="2624328" cy="310896"/>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Le score de confiance compte autant que le code</a:t>
            </a:r>
            <a:endParaRPr lang="en-US" sz="950" dirty="0"/>
          </a:p>
        </p:txBody>
      </p:sp>
      <p:pic>
        <p:nvPicPr>
          <p:cNvPr id="68" name="Image 6" descr="preencoded.png"/>
          <p:cNvPicPr>
            <a:picLocks noChangeAspect="1"/>
          </p:cNvPicPr>
          <p:nvPr/>
        </p:nvPicPr>
        <p:blipFill>
          <a:blip r:embed="rId8"/>
          <a:stretch>
            <a:fillRect/>
          </a:stretch>
        </p:blipFill>
        <p:spPr>
          <a:xfrm>
            <a:off x="5760720" y="3904488"/>
            <a:ext cx="137160" cy="137160"/>
          </a:xfrm>
          <a:prstGeom prst="rect">
            <a:avLst/>
          </a:prstGeom>
        </p:spPr>
      </p:pic>
      <p:sp>
        <p:nvSpPr>
          <p:cNvPr id="69" name="Text 59"/>
          <p:cNvSpPr txBox="1"/>
          <p:nvPr/>
        </p:nvSpPr>
        <p:spPr>
          <a:xfrm>
            <a:off x="5971032" y="3877056"/>
            <a:ext cx="2624328" cy="310896"/>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Fixer le seuil sur un jeu de référence figé</a:t>
            </a:r>
            <a:endParaRPr lang="en-US" sz="950" dirty="0"/>
          </a:p>
        </p:txBody>
      </p:sp>
      <p:pic>
        <p:nvPicPr>
          <p:cNvPr id="70" name="Image 7" descr="preencoded.png"/>
          <p:cNvPicPr>
            <a:picLocks noChangeAspect="1"/>
          </p:cNvPicPr>
          <p:nvPr/>
        </p:nvPicPr>
        <p:blipFill>
          <a:blip r:embed="rId8"/>
          <a:stretch>
            <a:fillRect/>
          </a:stretch>
        </p:blipFill>
        <p:spPr>
          <a:xfrm>
            <a:off x="5760720" y="4215384"/>
            <a:ext cx="137160" cy="137160"/>
          </a:xfrm>
          <a:prstGeom prst="rect">
            <a:avLst/>
          </a:prstGeom>
        </p:spPr>
      </p:pic>
      <p:sp>
        <p:nvSpPr>
          <p:cNvPr id="71" name="Text 60"/>
          <p:cNvSpPr txBox="1"/>
          <p:nvPr/>
        </p:nvSpPr>
        <p:spPr>
          <a:xfrm>
            <a:off x="5971032" y="4187952"/>
            <a:ext cx="2624328" cy="310896"/>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On redéploie les agents, on ne les supprime pas</a:t>
            </a:r>
            <a:endParaRPr lang="en-US" sz="950" dirty="0"/>
          </a:p>
        </p:txBody>
      </p:sp>
      <p:sp>
        <p:nvSpPr>
          <p:cNvPr id="72" name="Text 61"/>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Chiffres pédagogiques. Les taux réels dépendent des données, de la nomenclature et du seuil. CITP-08 2341 = enseignants du primaire.</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CONTRAINTES INSTITUTIONNELLES</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Un institut de statistique n'est pas une entreprise tech</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Les différences sont juridiques et méthodologiques — pas culturelles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8" name="Text 15"/>
          <p:cNvSpPr txBox="1"/>
          <p:nvPr/>
        </p:nvSpPr>
        <p:spPr>
          <a:xfrm>
            <a:off x="548640" y="1298448"/>
            <a:ext cx="18288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DIMENSION</a:t>
            </a:r>
            <a:endParaRPr lang="en-US" sz="900" dirty="0"/>
          </a:p>
        </p:txBody>
      </p:sp>
      <p:sp>
        <p:nvSpPr>
          <p:cNvPr id="19" name="Text 16"/>
          <p:cNvSpPr txBox="1"/>
          <p:nvPr/>
        </p:nvSpPr>
        <p:spPr>
          <a:xfrm>
            <a:off x="2560320" y="1298448"/>
            <a:ext cx="23774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ENTREPRISE TECH TYPIQUE</a:t>
            </a:r>
            <a:endParaRPr lang="en-US" sz="900" dirty="0"/>
          </a:p>
        </p:txBody>
      </p:sp>
      <p:sp>
        <p:nvSpPr>
          <p:cNvPr id="20" name="Text 17"/>
          <p:cNvSpPr txBox="1"/>
          <p:nvPr/>
        </p:nvSpPr>
        <p:spPr>
          <a:xfrm>
            <a:off x="5120640" y="1298448"/>
            <a:ext cx="34747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INSTITUT NATIONAL DE STATISTIQUE</a:t>
            </a:r>
            <a:endParaRPr lang="en-US" sz="900" dirty="0"/>
          </a:p>
        </p:txBody>
      </p:sp>
      <p:sp>
        <p:nvSpPr>
          <p:cNvPr id="21" name="Shape 18"/>
          <p:cNvSpPr/>
          <p:nvPr/>
        </p:nvSpPr>
        <p:spPr>
          <a:xfrm>
            <a:off x="457200" y="1572768"/>
            <a:ext cx="8229600" cy="393192"/>
          </a:xfrm>
          <a:prstGeom prst="roundRect">
            <a:avLst>
              <a:gd name="adj" fmla="val 11628"/>
            </a:avLst>
          </a:prstGeom>
          <a:solidFill>
            <a:srgbClr val="F4F7F5"/>
          </a:solidFill>
          <a:ln w="9525">
            <a:solidFill>
              <a:srgbClr val="D5DED9"/>
            </a:solidFill>
            <a:prstDash val="solid"/>
          </a:ln>
        </p:spPr>
      </p:sp>
      <p:sp>
        <p:nvSpPr>
          <p:cNvPr id="22" name="Shape 19"/>
          <p:cNvSpPr/>
          <p:nvPr/>
        </p:nvSpPr>
        <p:spPr>
          <a:xfrm>
            <a:off x="5029200" y="1572768"/>
            <a:ext cx="3657600" cy="393192"/>
          </a:xfrm>
          <a:prstGeom prst="roundRect">
            <a:avLst>
              <a:gd name="adj" fmla="val 11628"/>
            </a:avLst>
          </a:prstGeom>
          <a:solidFill>
            <a:srgbClr val="E8F5EF"/>
          </a:solidFill>
          <a:ln w="9525">
            <a:solidFill>
              <a:srgbClr val="00A86A"/>
            </a:solidFill>
            <a:prstDash val="solid"/>
          </a:ln>
        </p:spPr>
      </p:sp>
      <p:sp>
        <p:nvSpPr>
          <p:cNvPr id="23" name="Shape 20"/>
          <p:cNvSpPr/>
          <p:nvPr/>
        </p:nvSpPr>
        <p:spPr>
          <a:xfrm>
            <a:off x="548640" y="1632204"/>
            <a:ext cx="274320" cy="274320"/>
          </a:xfrm>
          <a:prstGeom prst="ellipse">
            <a:avLst/>
          </a:prstGeom>
          <a:solidFill>
            <a:srgbClr val="00A86A">
              <a:alpha val="22000"/>
            </a:srgbClr>
          </a:solidFill>
          <a:ln/>
        </p:spPr>
      </p:sp>
      <p:pic>
        <p:nvPicPr>
          <p:cNvPr id="24" name="Image 0" descr="preencoded.png"/>
          <p:cNvPicPr>
            <a:picLocks noChangeAspect="1"/>
          </p:cNvPicPr>
          <p:nvPr/>
        </p:nvPicPr>
        <p:blipFill>
          <a:blip r:embed="rId3"/>
          <a:stretch>
            <a:fillRect/>
          </a:stretch>
        </p:blipFill>
        <p:spPr>
          <a:xfrm>
            <a:off x="614477" y="1698041"/>
            <a:ext cx="142646" cy="142646"/>
          </a:xfrm>
          <a:prstGeom prst="rect">
            <a:avLst/>
          </a:prstGeom>
        </p:spPr>
      </p:pic>
      <p:sp>
        <p:nvSpPr>
          <p:cNvPr id="25" name="Text 21"/>
          <p:cNvSpPr txBox="1"/>
          <p:nvPr/>
        </p:nvSpPr>
        <p:spPr>
          <a:xfrm>
            <a:off x="896112" y="1572768"/>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Données</a:t>
            </a:r>
            <a:endParaRPr lang="en-US" sz="950" dirty="0"/>
          </a:p>
        </p:txBody>
      </p:sp>
      <p:sp>
        <p:nvSpPr>
          <p:cNvPr id="26" name="Text 22"/>
          <p:cNvSpPr txBox="1"/>
          <p:nvPr/>
        </p:nvSpPr>
        <p:spPr>
          <a:xfrm>
            <a:off x="2560320" y="1572768"/>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Surtout propres, consenties, remplaçables</a:t>
            </a:r>
            <a:endParaRPr lang="en-US" sz="950" dirty="0"/>
          </a:p>
        </p:txBody>
      </p:sp>
      <p:sp>
        <p:nvSpPr>
          <p:cNvPr id="27" name="Text 23"/>
          <p:cNvSpPr txBox="1"/>
          <p:nvPr/>
        </p:nvSpPr>
        <p:spPr>
          <a:xfrm>
            <a:off x="5120640" y="1572768"/>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Collecte obligatoire ; microdonnées confidentielles sous secret statistique</a:t>
            </a:r>
            <a:endParaRPr lang="en-US" sz="950" dirty="0"/>
          </a:p>
        </p:txBody>
      </p:sp>
      <p:sp>
        <p:nvSpPr>
          <p:cNvPr id="28" name="Shape 24"/>
          <p:cNvSpPr/>
          <p:nvPr/>
        </p:nvSpPr>
        <p:spPr>
          <a:xfrm>
            <a:off x="457200" y="2011680"/>
            <a:ext cx="8229600" cy="393192"/>
          </a:xfrm>
          <a:prstGeom prst="roundRect">
            <a:avLst>
              <a:gd name="adj" fmla="val 11628"/>
            </a:avLst>
          </a:prstGeom>
          <a:solidFill>
            <a:srgbClr val="F4F7F5"/>
          </a:solidFill>
          <a:ln w="9525">
            <a:solidFill>
              <a:srgbClr val="D5DED9"/>
            </a:solidFill>
            <a:prstDash val="solid"/>
          </a:ln>
        </p:spPr>
      </p:sp>
      <p:sp>
        <p:nvSpPr>
          <p:cNvPr id="29" name="Shape 25"/>
          <p:cNvSpPr/>
          <p:nvPr/>
        </p:nvSpPr>
        <p:spPr>
          <a:xfrm>
            <a:off x="5029200" y="2011680"/>
            <a:ext cx="3657600" cy="393192"/>
          </a:xfrm>
          <a:prstGeom prst="roundRect">
            <a:avLst>
              <a:gd name="adj" fmla="val 11628"/>
            </a:avLst>
          </a:prstGeom>
          <a:solidFill>
            <a:srgbClr val="E8F5EF"/>
          </a:solidFill>
          <a:ln w="9525">
            <a:solidFill>
              <a:srgbClr val="00A86A"/>
            </a:solidFill>
            <a:prstDash val="solid"/>
          </a:ln>
        </p:spPr>
      </p:sp>
      <p:sp>
        <p:nvSpPr>
          <p:cNvPr id="30" name="Shape 26"/>
          <p:cNvSpPr/>
          <p:nvPr/>
        </p:nvSpPr>
        <p:spPr>
          <a:xfrm>
            <a:off x="548640" y="2071116"/>
            <a:ext cx="274320" cy="274320"/>
          </a:xfrm>
          <a:prstGeom prst="ellipse">
            <a:avLst/>
          </a:prstGeom>
          <a:solidFill>
            <a:srgbClr val="00A86A">
              <a:alpha val="22000"/>
            </a:srgbClr>
          </a:solidFill>
          <a:ln/>
        </p:spPr>
      </p:sp>
      <p:pic>
        <p:nvPicPr>
          <p:cNvPr id="31" name="Image 1" descr="preencoded.png"/>
          <p:cNvPicPr>
            <a:picLocks noChangeAspect="1"/>
          </p:cNvPicPr>
          <p:nvPr/>
        </p:nvPicPr>
        <p:blipFill>
          <a:blip r:embed="rId4"/>
          <a:stretch>
            <a:fillRect/>
          </a:stretch>
        </p:blipFill>
        <p:spPr>
          <a:xfrm>
            <a:off x="614477" y="2136953"/>
            <a:ext cx="142646" cy="142646"/>
          </a:xfrm>
          <a:prstGeom prst="rect">
            <a:avLst/>
          </a:prstGeom>
        </p:spPr>
      </p:pic>
      <p:sp>
        <p:nvSpPr>
          <p:cNvPr id="32" name="Text 27"/>
          <p:cNvSpPr txBox="1"/>
          <p:nvPr/>
        </p:nvSpPr>
        <p:spPr>
          <a:xfrm>
            <a:off x="896112" y="2011680"/>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Tolérance à l'erreur</a:t>
            </a:r>
            <a:endParaRPr lang="en-US" sz="950" dirty="0"/>
          </a:p>
        </p:txBody>
      </p:sp>
      <p:sp>
        <p:nvSpPr>
          <p:cNvPr id="33" name="Text 28"/>
          <p:cNvSpPr txBox="1"/>
          <p:nvPr/>
        </p:nvSpPr>
        <p:spPr>
          <a:xfrm>
            <a:off x="2560320" y="2011680"/>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Livrer, mesurer, itérer ; revenir en arrière discrètement</a:t>
            </a:r>
            <a:endParaRPr lang="en-US" sz="950" dirty="0"/>
          </a:p>
        </p:txBody>
      </p:sp>
      <p:sp>
        <p:nvSpPr>
          <p:cNvPr id="34" name="Text 29"/>
          <p:cNvSpPr txBox="1"/>
          <p:nvPr/>
        </p:nvSpPr>
        <p:spPr>
          <a:xfrm>
            <a:off x="5120640" y="2011680"/>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Un chiffre publié est un acte public ; une erreur entraîne révision et perte de confiance</a:t>
            </a:r>
            <a:endParaRPr lang="en-US" sz="950" dirty="0"/>
          </a:p>
        </p:txBody>
      </p:sp>
      <p:sp>
        <p:nvSpPr>
          <p:cNvPr id="35" name="Shape 30"/>
          <p:cNvSpPr/>
          <p:nvPr/>
        </p:nvSpPr>
        <p:spPr>
          <a:xfrm>
            <a:off x="457200" y="2450592"/>
            <a:ext cx="8229600" cy="393192"/>
          </a:xfrm>
          <a:prstGeom prst="roundRect">
            <a:avLst>
              <a:gd name="adj" fmla="val 11628"/>
            </a:avLst>
          </a:prstGeom>
          <a:solidFill>
            <a:srgbClr val="F4F7F5"/>
          </a:solidFill>
          <a:ln w="9525">
            <a:solidFill>
              <a:srgbClr val="D5DED9"/>
            </a:solidFill>
            <a:prstDash val="solid"/>
          </a:ln>
        </p:spPr>
      </p:sp>
      <p:sp>
        <p:nvSpPr>
          <p:cNvPr id="36" name="Shape 31"/>
          <p:cNvSpPr/>
          <p:nvPr/>
        </p:nvSpPr>
        <p:spPr>
          <a:xfrm>
            <a:off x="5029200" y="2450592"/>
            <a:ext cx="3657600" cy="393192"/>
          </a:xfrm>
          <a:prstGeom prst="roundRect">
            <a:avLst>
              <a:gd name="adj" fmla="val 11628"/>
            </a:avLst>
          </a:prstGeom>
          <a:solidFill>
            <a:srgbClr val="E8F5EF"/>
          </a:solidFill>
          <a:ln w="9525">
            <a:solidFill>
              <a:srgbClr val="00A86A"/>
            </a:solidFill>
            <a:prstDash val="solid"/>
          </a:ln>
        </p:spPr>
      </p:sp>
      <p:sp>
        <p:nvSpPr>
          <p:cNvPr id="37" name="Shape 32"/>
          <p:cNvSpPr/>
          <p:nvPr/>
        </p:nvSpPr>
        <p:spPr>
          <a:xfrm>
            <a:off x="548640" y="2510028"/>
            <a:ext cx="274320" cy="274320"/>
          </a:xfrm>
          <a:prstGeom prst="ellipse">
            <a:avLst/>
          </a:prstGeom>
          <a:solidFill>
            <a:srgbClr val="00A86A">
              <a:alpha val="22000"/>
            </a:srgbClr>
          </a:solidFill>
          <a:ln/>
        </p:spPr>
      </p:sp>
      <p:pic>
        <p:nvPicPr>
          <p:cNvPr id="38" name="Image 2" descr="preencoded.png"/>
          <p:cNvPicPr>
            <a:picLocks noChangeAspect="1"/>
          </p:cNvPicPr>
          <p:nvPr/>
        </p:nvPicPr>
        <p:blipFill>
          <a:blip r:embed="rId5"/>
          <a:stretch>
            <a:fillRect/>
          </a:stretch>
        </p:blipFill>
        <p:spPr>
          <a:xfrm>
            <a:off x="614477" y="2575865"/>
            <a:ext cx="142646" cy="142646"/>
          </a:xfrm>
          <a:prstGeom prst="rect">
            <a:avLst/>
          </a:prstGeom>
        </p:spPr>
      </p:pic>
      <p:sp>
        <p:nvSpPr>
          <p:cNvPr id="39" name="Text 33"/>
          <p:cNvSpPr txBox="1"/>
          <p:nvPr/>
        </p:nvSpPr>
        <p:spPr>
          <a:xfrm>
            <a:off x="896112" y="2450592"/>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Rythme de diffusion</a:t>
            </a:r>
            <a:endParaRPr lang="en-US" sz="950" dirty="0"/>
          </a:p>
        </p:txBody>
      </p:sp>
      <p:sp>
        <p:nvSpPr>
          <p:cNvPr id="40" name="Text 34"/>
          <p:cNvSpPr txBox="1"/>
          <p:nvPr/>
        </p:nvSpPr>
        <p:spPr>
          <a:xfrm>
            <a:off x="2560320" y="2450592"/>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Déploiement continu, hebdomadaire</a:t>
            </a:r>
            <a:endParaRPr lang="en-US" sz="950" dirty="0"/>
          </a:p>
        </p:txBody>
      </p:sp>
      <p:sp>
        <p:nvSpPr>
          <p:cNvPr id="41" name="Text 35"/>
          <p:cNvSpPr txBox="1"/>
          <p:nvPr/>
        </p:nvSpPr>
        <p:spPr>
          <a:xfrm>
            <a:off x="5120640" y="2450592"/>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Calendrier de diffusion annoncé à l'avance ; politique formelle de révision</a:t>
            </a:r>
            <a:endParaRPr lang="en-US" sz="950" dirty="0"/>
          </a:p>
        </p:txBody>
      </p:sp>
      <p:sp>
        <p:nvSpPr>
          <p:cNvPr id="42" name="Shape 36"/>
          <p:cNvSpPr/>
          <p:nvPr/>
        </p:nvSpPr>
        <p:spPr>
          <a:xfrm>
            <a:off x="457200" y="2889504"/>
            <a:ext cx="8229600" cy="393192"/>
          </a:xfrm>
          <a:prstGeom prst="roundRect">
            <a:avLst>
              <a:gd name="adj" fmla="val 11628"/>
            </a:avLst>
          </a:prstGeom>
          <a:solidFill>
            <a:srgbClr val="F4F7F5"/>
          </a:solidFill>
          <a:ln w="9525">
            <a:solidFill>
              <a:srgbClr val="D5DED9"/>
            </a:solidFill>
            <a:prstDash val="solid"/>
          </a:ln>
        </p:spPr>
      </p:sp>
      <p:sp>
        <p:nvSpPr>
          <p:cNvPr id="43" name="Shape 37"/>
          <p:cNvSpPr/>
          <p:nvPr/>
        </p:nvSpPr>
        <p:spPr>
          <a:xfrm>
            <a:off x="5029200" y="2889504"/>
            <a:ext cx="3657600" cy="393192"/>
          </a:xfrm>
          <a:prstGeom prst="roundRect">
            <a:avLst>
              <a:gd name="adj" fmla="val 11628"/>
            </a:avLst>
          </a:prstGeom>
          <a:solidFill>
            <a:srgbClr val="E8F5EF"/>
          </a:solidFill>
          <a:ln w="9525">
            <a:solidFill>
              <a:srgbClr val="00A86A"/>
            </a:solidFill>
            <a:prstDash val="solid"/>
          </a:ln>
        </p:spPr>
      </p:sp>
      <p:sp>
        <p:nvSpPr>
          <p:cNvPr id="44" name="Shape 38"/>
          <p:cNvSpPr/>
          <p:nvPr/>
        </p:nvSpPr>
        <p:spPr>
          <a:xfrm>
            <a:off x="548640" y="2948940"/>
            <a:ext cx="274320" cy="274320"/>
          </a:xfrm>
          <a:prstGeom prst="ellipse">
            <a:avLst/>
          </a:prstGeom>
          <a:solidFill>
            <a:srgbClr val="00A86A">
              <a:alpha val="22000"/>
            </a:srgbClr>
          </a:solidFill>
          <a:ln/>
        </p:spPr>
      </p:sp>
      <p:pic>
        <p:nvPicPr>
          <p:cNvPr id="45" name="Image 3" descr="preencoded.png"/>
          <p:cNvPicPr>
            <a:picLocks noChangeAspect="1"/>
          </p:cNvPicPr>
          <p:nvPr/>
        </p:nvPicPr>
        <p:blipFill>
          <a:blip r:embed="rId6"/>
          <a:stretch>
            <a:fillRect/>
          </a:stretch>
        </p:blipFill>
        <p:spPr>
          <a:xfrm>
            <a:off x="614477" y="3014777"/>
            <a:ext cx="142646" cy="142646"/>
          </a:xfrm>
          <a:prstGeom prst="rect">
            <a:avLst/>
          </a:prstGeom>
        </p:spPr>
      </p:pic>
      <p:sp>
        <p:nvSpPr>
          <p:cNvPr id="46" name="Text 39"/>
          <p:cNvSpPr txBox="1"/>
          <p:nvPr/>
        </p:nvSpPr>
        <p:spPr>
          <a:xfrm>
            <a:off x="896112" y="2889504"/>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Reproductibilité</a:t>
            </a:r>
            <a:endParaRPr lang="en-US" sz="950" dirty="0"/>
          </a:p>
        </p:txBody>
      </p:sp>
      <p:sp>
        <p:nvSpPr>
          <p:cNvPr id="47" name="Text 40"/>
          <p:cNvSpPr txBox="1"/>
          <p:nvPr/>
        </p:nvSpPr>
        <p:spPr>
          <a:xfrm>
            <a:off x="2560320" y="2889504"/>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Souhaitable</a:t>
            </a:r>
            <a:endParaRPr lang="en-US" sz="950" dirty="0"/>
          </a:p>
        </p:txBody>
      </p:sp>
      <p:sp>
        <p:nvSpPr>
          <p:cNvPr id="48" name="Text 41"/>
          <p:cNvSpPr txBox="1"/>
          <p:nvPr/>
        </p:nvSpPr>
        <p:spPr>
          <a:xfrm>
            <a:off x="5120640" y="2889504"/>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Obligatoire — un chiffre peut devoir être reproduit des années plus tard</a:t>
            </a:r>
            <a:endParaRPr lang="en-US" sz="950" dirty="0"/>
          </a:p>
        </p:txBody>
      </p:sp>
      <p:sp>
        <p:nvSpPr>
          <p:cNvPr id="49" name="Shape 42"/>
          <p:cNvSpPr/>
          <p:nvPr/>
        </p:nvSpPr>
        <p:spPr>
          <a:xfrm>
            <a:off x="457200" y="3328416"/>
            <a:ext cx="8229600" cy="393192"/>
          </a:xfrm>
          <a:prstGeom prst="roundRect">
            <a:avLst>
              <a:gd name="adj" fmla="val 11628"/>
            </a:avLst>
          </a:prstGeom>
          <a:solidFill>
            <a:srgbClr val="F4F7F5"/>
          </a:solidFill>
          <a:ln w="9525">
            <a:solidFill>
              <a:srgbClr val="D5DED9"/>
            </a:solidFill>
            <a:prstDash val="solid"/>
          </a:ln>
        </p:spPr>
      </p:sp>
      <p:sp>
        <p:nvSpPr>
          <p:cNvPr id="50" name="Shape 43"/>
          <p:cNvSpPr/>
          <p:nvPr/>
        </p:nvSpPr>
        <p:spPr>
          <a:xfrm>
            <a:off x="5029200" y="3328416"/>
            <a:ext cx="3657600" cy="393192"/>
          </a:xfrm>
          <a:prstGeom prst="roundRect">
            <a:avLst>
              <a:gd name="adj" fmla="val 11628"/>
            </a:avLst>
          </a:prstGeom>
          <a:solidFill>
            <a:srgbClr val="E8F5EF"/>
          </a:solidFill>
          <a:ln w="9525">
            <a:solidFill>
              <a:srgbClr val="00A86A"/>
            </a:solidFill>
            <a:prstDash val="solid"/>
          </a:ln>
        </p:spPr>
      </p:sp>
      <p:sp>
        <p:nvSpPr>
          <p:cNvPr id="51" name="Shape 44"/>
          <p:cNvSpPr/>
          <p:nvPr/>
        </p:nvSpPr>
        <p:spPr>
          <a:xfrm>
            <a:off x="548640" y="3387852"/>
            <a:ext cx="274320" cy="274320"/>
          </a:xfrm>
          <a:prstGeom prst="ellipse">
            <a:avLst/>
          </a:prstGeom>
          <a:solidFill>
            <a:srgbClr val="00A86A">
              <a:alpha val="22000"/>
            </a:srgbClr>
          </a:solidFill>
          <a:ln/>
        </p:spPr>
      </p:sp>
      <p:pic>
        <p:nvPicPr>
          <p:cNvPr id="52" name="Image 4" descr="preencoded.png"/>
          <p:cNvPicPr>
            <a:picLocks noChangeAspect="1"/>
          </p:cNvPicPr>
          <p:nvPr/>
        </p:nvPicPr>
        <p:blipFill>
          <a:blip r:embed="rId7"/>
          <a:stretch>
            <a:fillRect/>
          </a:stretch>
        </p:blipFill>
        <p:spPr>
          <a:xfrm>
            <a:off x="614477" y="3453689"/>
            <a:ext cx="142646" cy="142646"/>
          </a:xfrm>
          <a:prstGeom prst="rect">
            <a:avLst/>
          </a:prstGeom>
        </p:spPr>
      </p:pic>
      <p:sp>
        <p:nvSpPr>
          <p:cNvPr id="53" name="Text 45"/>
          <p:cNvSpPr txBox="1"/>
          <p:nvPr/>
        </p:nvSpPr>
        <p:spPr>
          <a:xfrm>
            <a:off x="896112" y="3328416"/>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Explicabilité</a:t>
            </a:r>
            <a:endParaRPr lang="en-US" sz="950" dirty="0"/>
          </a:p>
        </p:txBody>
      </p:sp>
      <p:sp>
        <p:nvSpPr>
          <p:cNvPr id="54" name="Text 46"/>
          <p:cNvSpPr txBox="1"/>
          <p:nvPr/>
        </p:nvSpPr>
        <p:spPr>
          <a:xfrm>
            <a:off x="2560320" y="3328416"/>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Seulement si un régulateur l'exige</a:t>
            </a:r>
            <a:endParaRPr lang="en-US" sz="950" dirty="0"/>
          </a:p>
        </p:txBody>
      </p:sp>
      <p:sp>
        <p:nvSpPr>
          <p:cNvPr id="55" name="Text 47"/>
          <p:cNvSpPr txBox="1"/>
          <p:nvPr/>
        </p:nvSpPr>
        <p:spPr>
          <a:xfrm>
            <a:off x="5120640" y="3328416"/>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Documentation méthodologique, revue par les pairs, comparabilité internationale</a:t>
            </a:r>
            <a:endParaRPr lang="en-US" sz="950" dirty="0"/>
          </a:p>
        </p:txBody>
      </p:sp>
      <p:sp>
        <p:nvSpPr>
          <p:cNvPr id="56" name="Shape 48"/>
          <p:cNvSpPr/>
          <p:nvPr/>
        </p:nvSpPr>
        <p:spPr>
          <a:xfrm>
            <a:off x="457200" y="3767328"/>
            <a:ext cx="8229600" cy="393192"/>
          </a:xfrm>
          <a:prstGeom prst="roundRect">
            <a:avLst>
              <a:gd name="adj" fmla="val 11628"/>
            </a:avLst>
          </a:prstGeom>
          <a:solidFill>
            <a:srgbClr val="F4F7F5"/>
          </a:solidFill>
          <a:ln w="9525">
            <a:solidFill>
              <a:srgbClr val="D5DED9"/>
            </a:solidFill>
            <a:prstDash val="solid"/>
          </a:ln>
        </p:spPr>
      </p:sp>
      <p:sp>
        <p:nvSpPr>
          <p:cNvPr id="57" name="Shape 49"/>
          <p:cNvSpPr/>
          <p:nvPr/>
        </p:nvSpPr>
        <p:spPr>
          <a:xfrm>
            <a:off x="5029200" y="3767328"/>
            <a:ext cx="3657600" cy="393192"/>
          </a:xfrm>
          <a:prstGeom prst="roundRect">
            <a:avLst>
              <a:gd name="adj" fmla="val 11628"/>
            </a:avLst>
          </a:prstGeom>
          <a:solidFill>
            <a:srgbClr val="E8F5EF"/>
          </a:solidFill>
          <a:ln w="9525">
            <a:solidFill>
              <a:srgbClr val="00A86A"/>
            </a:solidFill>
            <a:prstDash val="solid"/>
          </a:ln>
        </p:spPr>
      </p:sp>
      <p:sp>
        <p:nvSpPr>
          <p:cNvPr id="58" name="Shape 50"/>
          <p:cNvSpPr/>
          <p:nvPr/>
        </p:nvSpPr>
        <p:spPr>
          <a:xfrm>
            <a:off x="548640" y="3826764"/>
            <a:ext cx="274320" cy="274320"/>
          </a:xfrm>
          <a:prstGeom prst="ellipse">
            <a:avLst/>
          </a:prstGeom>
          <a:solidFill>
            <a:srgbClr val="00A86A">
              <a:alpha val="22000"/>
            </a:srgbClr>
          </a:solidFill>
          <a:ln/>
        </p:spPr>
      </p:sp>
      <p:pic>
        <p:nvPicPr>
          <p:cNvPr id="59" name="Image 5" descr="preencoded.png"/>
          <p:cNvPicPr>
            <a:picLocks noChangeAspect="1"/>
          </p:cNvPicPr>
          <p:nvPr/>
        </p:nvPicPr>
        <p:blipFill>
          <a:blip r:embed="rId8"/>
          <a:stretch>
            <a:fillRect/>
          </a:stretch>
        </p:blipFill>
        <p:spPr>
          <a:xfrm>
            <a:off x="614477" y="3892601"/>
            <a:ext cx="142646" cy="142646"/>
          </a:xfrm>
          <a:prstGeom prst="rect">
            <a:avLst/>
          </a:prstGeom>
        </p:spPr>
      </p:pic>
      <p:sp>
        <p:nvSpPr>
          <p:cNvPr id="60" name="Text 51"/>
          <p:cNvSpPr txBox="1"/>
          <p:nvPr/>
        </p:nvSpPr>
        <p:spPr>
          <a:xfrm>
            <a:off x="896112" y="3767328"/>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Marché des talents</a:t>
            </a:r>
            <a:endParaRPr lang="en-US" sz="950" dirty="0"/>
          </a:p>
        </p:txBody>
      </p:sp>
      <p:sp>
        <p:nvSpPr>
          <p:cNvPr id="61" name="Text 52"/>
          <p:cNvSpPr txBox="1"/>
          <p:nvPr/>
        </p:nvSpPr>
        <p:spPr>
          <a:xfrm>
            <a:off x="2560320" y="3767328"/>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Concurrence par les salaires</a:t>
            </a:r>
            <a:endParaRPr lang="en-US" sz="950" dirty="0"/>
          </a:p>
        </p:txBody>
      </p:sp>
      <p:sp>
        <p:nvSpPr>
          <p:cNvPr id="62" name="Text 53"/>
          <p:cNvSpPr txBox="1"/>
          <p:nvPr/>
        </p:nvSpPr>
        <p:spPr>
          <a:xfrm>
            <a:off x="5120640" y="3767328"/>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Grilles publiques ; fidélisation par la mission, les données et la formation</a:t>
            </a:r>
            <a:endParaRPr lang="en-US" sz="950" dirty="0"/>
          </a:p>
        </p:txBody>
      </p:sp>
      <p:sp>
        <p:nvSpPr>
          <p:cNvPr id="63" name="Shape 54"/>
          <p:cNvSpPr/>
          <p:nvPr/>
        </p:nvSpPr>
        <p:spPr>
          <a:xfrm>
            <a:off x="457200" y="4206240"/>
            <a:ext cx="8229600" cy="393192"/>
          </a:xfrm>
          <a:prstGeom prst="roundRect">
            <a:avLst>
              <a:gd name="adj" fmla="val 11628"/>
            </a:avLst>
          </a:prstGeom>
          <a:solidFill>
            <a:srgbClr val="F4F7F5"/>
          </a:solidFill>
          <a:ln w="9525">
            <a:solidFill>
              <a:srgbClr val="D5DED9"/>
            </a:solidFill>
            <a:prstDash val="solid"/>
          </a:ln>
        </p:spPr>
      </p:sp>
      <p:sp>
        <p:nvSpPr>
          <p:cNvPr id="64" name="Shape 55"/>
          <p:cNvSpPr/>
          <p:nvPr/>
        </p:nvSpPr>
        <p:spPr>
          <a:xfrm>
            <a:off x="5029200" y="4206240"/>
            <a:ext cx="3657600" cy="393192"/>
          </a:xfrm>
          <a:prstGeom prst="roundRect">
            <a:avLst>
              <a:gd name="adj" fmla="val 11628"/>
            </a:avLst>
          </a:prstGeom>
          <a:solidFill>
            <a:srgbClr val="E8F5EF"/>
          </a:solidFill>
          <a:ln w="9525">
            <a:solidFill>
              <a:srgbClr val="00A86A"/>
            </a:solidFill>
            <a:prstDash val="solid"/>
          </a:ln>
        </p:spPr>
      </p:sp>
      <p:sp>
        <p:nvSpPr>
          <p:cNvPr id="65" name="Shape 56"/>
          <p:cNvSpPr/>
          <p:nvPr/>
        </p:nvSpPr>
        <p:spPr>
          <a:xfrm>
            <a:off x="548640" y="4265676"/>
            <a:ext cx="274320" cy="274320"/>
          </a:xfrm>
          <a:prstGeom prst="ellipse">
            <a:avLst/>
          </a:prstGeom>
          <a:solidFill>
            <a:srgbClr val="00A86A">
              <a:alpha val="22000"/>
            </a:srgbClr>
          </a:solidFill>
          <a:ln/>
        </p:spPr>
      </p:sp>
      <p:pic>
        <p:nvPicPr>
          <p:cNvPr id="66" name="Image 6" descr="preencoded.png"/>
          <p:cNvPicPr>
            <a:picLocks noChangeAspect="1"/>
          </p:cNvPicPr>
          <p:nvPr/>
        </p:nvPicPr>
        <p:blipFill>
          <a:blip r:embed="rId9"/>
          <a:stretch>
            <a:fillRect/>
          </a:stretch>
        </p:blipFill>
        <p:spPr>
          <a:xfrm>
            <a:off x="614477" y="4331513"/>
            <a:ext cx="142646" cy="142646"/>
          </a:xfrm>
          <a:prstGeom prst="rect">
            <a:avLst/>
          </a:prstGeom>
        </p:spPr>
      </p:pic>
      <p:sp>
        <p:nvSpPr>
          <p:cNvPr id="67" name="Text 57"/>
          <p:cNvSpPr txBox="1"/>
          <p:nvPr/>
        </p:nvSpPr>
        <p:spPr>
          <a:xfrm>
            <a:off x="896112" y="4206240"/>
            <a:ext cx="1508760" cy="39319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Infrastructure</a:t>
            </a:r>
            <a:endParaRPr lang="en-US" sz="950" dirty="0"/>
          </a:p>
        </p:txBody>
      </p:sp>
      <p:sp>
        <p:nvSpPr>
          <p:cNvPr id="68" name="Text 58"/>
          <p:cNvSpPr txBox="1"/>
          <p:nvPr/>
        </p:nvSpPr>
        <p:spPr>
          <a:xfrm>
            <a:off x="2560320" y="4206240"/>
            <a:ext cx="237744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Cloud public élastique par défaut</a:t>
            </a:r>
            <a:endParaRPr lang="en-US" sz="950" dirty="0"/>
          </a:p>
        </p:txBody>
      </p:sp>
      <p:sp>
        <p:nvSpPr>
          <p:cNvPr id="69" name="Text 59"/>
          <p:cNvSpPr txBox="1"/>
          <p:nvPr/>
        </p:nvSpPr>
        <p:spPr>
          <a:xfrm>
            <a:off x="5120640" y="4206240"/>
            <a:ext cx="3474720" cy="393192"/>
          </a:xfrm>
          <a:prstGeom prst="rect">
            <a:avLst/>
          </a:prstGeom>
          <a:noFill/>
          <a:ln/>
        </p:spPr>
        <p:txBody>
          <a:bodyPr wrap="square" lIns="0" tIns="0" rIns="0" bIns="0" rtlCol="0" anchor="ctr"/>
          <a:lstStyle/>
          <a:p>
            <a:pPr marL="0" indent="0" algn="l">
              <a:buNone/>
            </a:pPr>
            <a:r>
              <a:rPr lang="en-US" sz="950" dirty="0">
                <a:solidFill>
                  <a:srgbClr val="231F20"/>
                </a:solidFill>
                <a:latin typeface="Calibri" pitchFamily="34" charset="0"/>
                <a:ea typeface="Calibri" pitchFamily="34" charset="-122"/>
                <a:cs typeface="Calibri" pitchFamily="34" charset="-120"/>
              </a:rPr>
              <a:t>Souveraineté, marchés publics, classification, électricité parfois instable</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LE CONTEXTE AFRICAIN</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Ce qui change pour les instituts africains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Quatre faits qui pèsent sur chaque décision d'infrastructure sur le continent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8" name="Shape 15"/>
          <p:cNvSpPr/>
          <p:nvPr/>
        </p:nvSpPr>
        <p:spPr>
          <a:xfrm>
            <a:off x="457200" y="1371600"/>
            <a:ext cx="1954530" cy="1463040"/>
          </a:xfrm>
          <a:prstGeom prst="roundRect">
            <a:avLst>
              <a:gd name="adj" fmla="val 5000"/>
            </a:avLst>
          </a:prstGeom>
          <a:solidFill>
            <a:srgbClr val="F4F7F5"/>
          </a:solidFill>
          <a:ln w="9525">
            <a:solidFill>
              <a:srgbClr val="D5DED9"/>
            </a:solidFill>
            <a:prstDash val="solid"/>
          </a:ln>
        </p:spPr>
      </p:sp>
      <p:sp>
        <p:nvSpPr>
          <p:cNvPr id="19" name="Shape 16"/>
          <p:cNvSpPr/>
          <p:nvPr/>
        </p:nvSpPr>
        <p:spPr>
          <a:xfrm>
            <a:off x="1954530" y="1481328"/>
            <a:ext cx="329184" cy="329184"/>
          </a:xfrm>
          <a:prstGeom prst="ellipse">
            <a:avLst/>
          </a:prstGeom>
          <a:solidFill>
            <a:srgbClr val="D49A00">
              <a:alpha val="22000"/>
            </a:srgbClr>
          </a:solidFill>
          <a:ln/>
        </p:spPr>
      </p:sp>
      <p:pic>
        <p:nvPicPr>
          <p:cNvPr id="20" name="Image 0" descr="preencoded.png"/>
          <p:cNvPicPr>
            <a:picLocks noChangeAspect="1"/>
          </p:cNvPicPr>
          <p:nvPr/>
        </p:nvPicPr>
        <p:blipFill>
          <a:blip r:embed="rId3"/>
          <a:stretch>
            <a:fillRect/>
          </a:stretch>
        </p:blipFill>
        <p:spPr>
          <a:xfrm>
            <a:off x="2033534" y="1560332"/>
            <a:ext cx="171176" cy="171176"/>
          </a:xfrm>
          <a:prstGeom prst="rect">
            <a:avLst/>
          </a:prstGeom>
        </p:spPr>
      </p:pic>
      <p:sp>
        <p:nvSpPr>
          <p:cNvPr id="21" name="Text 17"/>
          <p:cNvSpPr txBox="1"/>
          <p:nvPr/>
        </p:nvSpPr>
        <p:spPr>
          <a:xfrm>
            <a:off x="594360" y="1444752"/>
            <a:ext cx="1314450" cy="548640"/>
          </a:xfrm>
          <a:prstGeom prst="rect">
            <a:avLst/>
          </a:prstGeom>
          <a:noFill/>
          <a:ln/>
        </p:spPr>
        <p:txBody>
          <a:bodyPr wrap="square" lIns="0" tIns="0" rIns="0" bIns="0" rtlCol="0" anchor="ctr">
            <a:normAutofit/>
          </a:bodyPr>
          <a:lstStyle/>
          <a:p>
            <a:pPr marL="0" indent="0">
              <a:buNone/>
            </a:pPr>
            <a:r>
              <a:rPr lang="en-US" sz="3000" b="1" dirty="0">
                <a:solidFill>
                  <a:srgbClr val="D49A00"/>
                </a:solidFill>
                <a:latin typeface="Calibri" pitchFamily="34" charset="0"/>
                <a:ea typeface="Calibri" pitchFamily="34" charset="-122"/>
                <a:cs typeface="Calibri" pitchFamily="34" charset="-120"/>
              </a:rPr>
              <a:t>~600 M</a:t>
            </a:r>
            <a:endParaRPr lang="en-US" sz="3000" dirty="0"/>
          </a:p>
        </p:txBody>
      </p:sp>
      <p:sp>
        <p:nvSpPr>
          <p:cNvPr id="22" name="Text 18"/>
          <p:cNvSpPr txBox="1"/>
          <p:nvPr/>
        </p:nvSpPr>
        <p:spPr>
          <a:xfrm>
            <a:off x="594360" y="2011680"/>
            <a:ext cx="1680210" cy="58521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 personnes sans électricité en Afrique subsaharienne en 2024 (47 % de la population)</a:t>
            </a:r>
            <a:endParaRPr lang="en-US" sz="900" dirty="0"/>
          </a:p>
        </p:txBody>
      </p:sp>
      <p:sp>
        <p:nvSpPr>
          <p:cNvPr id="23" name="Text 19"/>
          <p:cNvSpPr txBox="1"/>
          <p:nvPr/>
        </p:nvSpPr>
        <p:spPr>
          <a:xfrm>
            <a:off x="594360" y="2606040"/>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AIE</a:t>
            </a:r>
            <a:endParaRPr lang="en-US" sz="850" dirty="0"/>
          </a:p>
        </p:txBody>
      </p:sp>
      <p:sp>
        <p:nvSpPr>
          <p:cNvPr id="24" name="Shape 20"/>
          <p:cNvSpPr/>
          <p:nvPr/>
        </p:nvSpPr>
        <p:spPr>
          <a:xfrm>
            <a:off x="2548890" y="1371600"/>
            <a:ext cx="1954530" cy="1463040"/>
          </a:xfrm>
          <a:prstGeom prst="roundRect">
            <a:avLst>
              <a:gd name="adj" fmla="val 5000"/>
            </a:avLst>
          </a:prstGeom>
          <a:solidFill>
            <a:srgbClr val="F4F7F5"/>
          </a:solidFill>
          <a:ln w="9525">
            <a:solidFill>
              <a:srgbClr val="D5DED9"/>
            </a:solidFill>
            <a:prstDash val="solid"/>
          </a:ln>
        </p:spPr>
      </p:sp>
      <p:sp>
        <p:nvSpPr>
          <p:cNvPr id="25" name="Shape 21"/>
          <p:cNvSpPr/>
          <p:nvPr/>
        </p:nvSpPr>
        <p:spPr>
          <a:xfrm>
            <a:off x="4046220" y="1481328"/>
            <a:ext cx="329184" cy="329184"/>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4125224" y="1560332"/>
            <a:ext cx="171176" cy="171176"/>
          </a:xfrm>
          <a:prstGeom prst="rect">
            <a:avLst/>
          </a:prstGeom>
        </p:spPr>
      </p:pic>
      <p:sp>
        <p:nvSpPr>
          <p:cNvPr id="27" name="Text 22"/>
          <p:cNvSpPr txBox="1"/>
          <p:nvPr/>
        </p:nvSpPr>
        <p:spPr>
          <a:xfrm>
            <a:off x="2686050" y="1444752"/>
            <a:ext cx="1314450" cy="548640"/>
          </a:xfrm>
          <a:prstGeom prst="rect">
            <a:avLst/>
          </a:prstGeom>
          <a:noFill/>
          <a:ln/>
        </p:spPr>
        <p:txBody>
          <a:bodyPr wrap="square" lIns="0" tIns="0" rIns="0" bIns="0" rtlCol="0" anchor="ctr">
            <a:normAutofit/>
          </a:bodyPr>
          <a:lstStyle/>
          <a:p>
            <a:pPr marL="0" indent="0">
              <a:buNone/>
            </a:pPr>
            <a:r>
              <a:rPr lang="en-US" sz="3000" b="1" dirty="0">
                <a:solidFill>
                  <a:srgbClr val="0E7C86"/>
                </a:solidFill>
                <a:latin typeface="Calibri" pitchFamily="34" charset="0"/>
                <a:ea typeface="Calibri" pitchFamily="34" charset="-122"/>
                <a:cs typeface="Calibri" pitchFamily="34" charset="-120"/>
              </a:rPr>
              <a:t>0,6 %</a:t>
            </a:r>
            <a:endParaRPr lang="en-US" sz="3000" dirty="0"/>
          </a:p>
        </p:txBody>
      </p:sp>
      <p:sp>
        <p:nvSpPr>
          <p:cNvPr id="28" name="Text 23"/>
          <p:cNvSpPr txBox="1"/>
          <p:nvPr/>
        </p:nvSpPr>
        <p:spPr>
          <a:xfrm>
            <a:off x="2686050" y="2011680"/>
            <a:ext cx="1680210" cy="58521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part de l'Afrique dans la capacité mondiale des centres de données ; l'énergie est la contrainte n° 1</a:t>
            </a:r>
            <a:endParaRPr lang="en-US" sz="900" dirty="0"/>
          </a:p>
        </p:txBody>
      </p:sp>
      <p:sp>
        <p:nvSpPr>
          <p:cNvPr id="29" name="Text 24"/>
          <p:cNvSpPr txBox="1"/>
          <p:nvPr/>
        </p:nvSpPr>
        <p:spPr>
          <a:xfrm>
            <a:off x="2686050" y="2606040"/>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ADCA 2026</a:t>
            </a:r>
            <a:endParaRPr lang="en-US" sz="850" dirty="0"/>
          </a:p>
        </p:txBody>
      </p:sp>
      <p:sp>
        <p:nvSpPr>
          <p:cNvPr id="30" name="Shape 25"/>
          <p:cNvSpPr/>
          <p:nvPr/>
        </p:nvSpPr>
        <p:spPr>
          <a:xfrm>
            <a:off x="4640580" y="1371600"/>
            <a:ext cx="1954530" cy="1463040"/>
          </a:xfrm>
          <a:prstGeom prst="roundRect">
            <a:avLst>
              <a:gd name="adj" fmla="val 5000"/>
            </a:avLst>
          </a:prstGeom>
          <a:solidFill>
            <a:srgbClr val="F4F7F5"/>
          </a:solidFill>
          <a:ln w="9525">
            <a:solidFill>
              <a:srgbClr val="D5DED9"/>
            </a:solidFill>
            <a:prstDash val="solid"/>
          </a:ln>
        </p:spPr>
      </p:sp>
      <p:sp>
        <p:nvSpPr>
          <p:cNvPr id="31" name="Shape 26"/>
          <p:cNvSpPr/>
          <p:nvPr/>
        </p:nvSpPr>
        <p:spPr>
          <a:xfrm>
            <a:off x="6137910" y="1481328"/>
            <a:ext cx="329184" cy="329184"/>
          </a:xfrm>
          <a:prstGeom prst="ellipse">
            <a:avLst/>
          </a:prstGeom>
          <a:solidFill>
            <a:srgbClr val="00A86A">
              <a:alpha val="22000"/>
            </a:srgbClr>
          </a:solidFill>
          <a:ln/>
        </p:spPr>
      </p:sp>
      <p:pic>
        <p:nvPicPr>
          <p:cNvPr id="32" name="Image 2" descr="preencoded.png"/>
          <p:cNvPicPr>
            <a:picLocks noChangeAspect="1"/>
          </p:cNvPicPr>
          <p:nvPr/>
        </p:nvPicPr>
        <p:blipFill>
          <a:blip r:embed="rId5"/>
          <a:stretch>
            <a:fillRect/>
          </a:stretch>
        </p:blipFill>
        <p:spPr>
          <a:xfrm>
            <a:off x="6216914" y="1560332"/>
            <a:ext cx="171176" cy="171176"/>
          </a:xfrm>
          <a:prstGeom prst="rect">
            <a:avLst/>
          </a:prstGeom>
        </p:spPr>
      </p:pic>
      <p:sp>
        <p:nvSpPr>
          <p:cNvPr id="33" name="Text 27"/>
          <p:cNvSpPr txBox="1"/>
          <p:nvPr/>
        </p:nvSpPr>
        <p:spPr>
          <a:xfrm>
            <a:off x="4777740" y="1444752"/>
            <a:ext cx="1314450" cy="548640"/>
          </a:xfrm>
          <a:prstGeom prst="rect">
            <a:avLst/>
          </a:prstGeom>
          <a:noFill/>
          <a:ln/>
        </p:spPr>
        <p:txBody>
          <a:bodyPr wrap="square" lIns="0" tIns="0" rIns="0" bIns="0" rtlCol="0" anchor="ctr">
            <a:normAutofit/>
          </a:bodyPr>
          <a:lstStyle/>
          <a:p>
            <a:pPr marL="0" indent="0">
              <a:buNone/>
            </a:pPr>
            <a:r>
              <a:rPr lang="en-US" sz="3000" b="1" dirty="0">
                <a:solidFill>
                  <a:srgbClr val="00A86A"/>
                </a:solidFill>
                <a:latin typeface="Calibri" pitchFamily="34" charset="0"/>
                <a:ea typeface="Calibri" pitchFamily="34" charset="-122"/>
                <a:cs typeface="Calibri" pitchFamily="34" charset="-120"/>
              </a:rPr>
              <a:t>40+</a:t>
            </a:r>
            <a:endParaRPr lang="en-US" sz="3000" dirty="0"/>
          </a:p>
        </p:txBody>
      </p:sp>
      <p:sp>
        <p:nvSpPr>
          <p:cNvPr id="34" name="Text 28"/>
          <p:cNvSpPr txBox="1"/>
          <p:nvPr/>
        </p:nvSpPr>
        <p:spPr>
          <a:xfrm>
            <a:off x="4777740" y="2011680"/>
            <a:ext cx="1680210" cy="58521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pays africains ont adopté une loi sur la protection des données</a:t>
            </a:r>
            <a:endParaRPr lang="en-US" sz="900" dirty="0"/>
          </a:p>
        </p:txBody>
      </p:sp>
      <p:sp>
        <p:nvSpPr>
          <p:cNvPr id="35" name="Text 29"/>
          <p:cNvSpPr txBox="1"/>
          <p:nvPr/>
        </p:nvSpPr>
        <p:spPr>
          <a:xfrm>
            <a:off x="4777740" y="2606040"/>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ADCA 2026</a:t>
            </a:r>
            <a:endParaRPr lang="en-US" sz="850" dirty="0"/>
          </a:p>
        </p:txBody>
      </p:sp>
      <p:sp>
        <p:nvSpPr>
          <p:cNvPr id="36" name="Shape 30"/>
          <p:cNvSpPr/>
          <p:nvPr/>
        </p:nvSpPr>
        <p:spPr>
          <a:xfrm>
            <a:off x="6732270" y="1371600"/>
            <a:ext cx="1954530" cy="1463040"/>
          </a:xfrm>
          <a:prstGeom prst="roundRect">
            <a:avLst>
              <a:gd name="adj" fmla="val 5000"/>
            </a:avLst>
          </a:prstGeom>
          <a:solidFill>
            <a:srgbClr val="F4F7F5"/>
          </a:solidFill>
          <a:ln w="9525">
            <a:solidFill>
              <a:srgbClr val="D5DED9"/>
            </a:solidFill>
            <a:prstDash val="solid"/>
          </a:ln>
        </p:spPr>
      </p:sp>
      <p:sp>
        <p:nvSpPr>
          <p:cNvPr id="37" name="Shape 31"/>
          <p:cNvSpPr/>
          <p:nvPr/>
        </p:nvSpPr>
        <p:spPr>
          <a:xfrm>
            <a:off x="8229600" y="1481328"/>
            <a:ext cx="329184" cy="329184"/>
          </a:xfrm>
          <a:prstGeom prst="ellipse">
            <a:avLst/>
          </a:prstGeom>
          <a:solidFill>
            <a:srgbClr val="C4621D">
              <a:alpha val="22000"/>
            </a:srgbClr>
          </a:solidFill>
          <a:ln/>
        </p:spPr>
      </p:sp>
      <p:pic>
        <p:nvPicPr>
          <p:cNvPr id="38" name="Image 3" descr="preencoded.png"/>
          <p:cNvPicPr>
            <a:picLocks noChangeAspect="1"/>
          </p:cNvPicPr>
          <p:nvPr/>
        </p:nvPicPr>
        <p:blipFill>
          <a:blip r:embed="rId6"/>
          <a:stretch>
            <a:fillRect/>
          </a:stretch>
        </p:blipFill>
        <p:spPr>
          <a:xfrm>
            <a:off x="8308604" y="1560332"/>
            <a:ext cx="171176" cy="171176"/>
          </a:xfrm>
          <a:prstGeom prst="rect">
            <a:avLst/>
          </a:prstGeom>
        </p:spPr>
      </p:pic>
      <p:sp>
        <p:nvSpPr>
          <p:cNvPr id="39" name="Text 32"/>
          <p:cNvSpPr txBox="1"/>
          <p:nvPr/>
        </p:nvSpPr>
        <p:spPr>
          <a:xfrm>
            <a:off x="6869430" y="1444752"/>
            <a:ext cx="1314450" cy="548640"/>
          </a:xfrm>
          <a:prstGeom prst="rect">
            <a:avLst/>
          </a:prstGeom>
          <a:noFill/>
          <a:ln/>
        </p:spPr>
        <p:txBody>
          <a:bodyPr wrap="square" lIns="0" tIns="0" rIns="0" bIns="0" rtlCol="0" anchor="ctr">
            <a:normAutofit/>
          </a:bodyPr>
          <a:lstStyle/>
          <a:p>
            <a:pPr marL="0" indent="0">
              <a:buNone/>
            </a:pPr>
            <a:r>
              <a:rPr lang="en-US" sz="3000" b="1" dirty="0">
                <a:solidFill>
                  <a:srgbClr val="C4621D"/>
                </a:solidFill>
                <a:latin typeface="Calibri" pitchFamily="34" charset="0"/>
                <a:ea typeface="Calibri" pitchFamily="34" charset="-122"/>
                <a:cs typeface="Calibri" pitchFamily="34" charset="-120"/>
              </a:rPr>
              <a:t>&lt; 2 %</a:t>
            </a:r>
            <a:endParaRPr lang="en-US" sz="3000" dirty="0"/>
          </a:p>
        </p:txBody>
      </p:sp>
      <p:sp>
        <p:nvSpPr>
          <p:cNvPr id="40" name="Text 33"/>
          <p:cNvSpPr txBox="1"/>
          <p:nvPr/>
        </p:nvSpPr>
        <p:spPr>
          <a:xfrm>
            <a:off x="6869430" y="2011680"/>
            <a:ext cx="1680210" cy="58521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des ~2 000 langues africaines sont bien prises en charge par les grands modèles de langage</a:t>
            </a:r>
            <a:endParaRPr lang="en-US" sz="900" dirty="0"/>
          </a:p>
        </p:txBody>
      </p:sp>
      <p:sp>
        <p:nvSpPr>
          <p:cNvPr id="41" name="Text 34"/>
          <p:cNvSpPr txBox="1"/>
          <p:nvPr/>
        </p:nvSpPr>
        <p:spPr>
          <a:xfrm>
            <a:off x="6869430" y="2606040"/>
            <a:ext cx="168021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BCG 2026</a:t>
            </a:r>
            <a:endParaRPr lang="en-US" sz="850" dirty="0"/>
          </a:p>
        </p:txBody>
      </p:sp>
      <p:sp>
        <p:nvSpPr>
          <p:cNvPr id="42" name="Text 35"/>
          <p:cNvSpPr txBox="1"/>
          <p:nvPr/>
        </p:nvSpPr>
        <p:spPr>
          <a:xfrm>
            <a:off x="457200" y="2971800"/>
            <a:ext cx="45720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CE QUE CELA IMPLIQUE EN PRATIQUE</a:t>
            </a:r>
            <a:endParaRPr lang="en-US" sz="900" dirty="0"/>
          </a:p>
        </p:txBody>
      </p:sp>
      <p:sp>
        <p:nvSpPr>
          <p:cNvPr id="43" name="Shape 36"/>
          <p:cNvSpPr/>
          <p:nvPr/>
        </p:nvSpPr>
        <p:spPr>
          <a:xfrm>
            <a:off x="457200" y="3200400"/>
            <a:ext cx="1954530" cy="1353312"/>
          </a:xfrm>
          <a:prstGeom prst="roundRect">
            <a:avLst>
              <a:gd name="adj" fmla="val 5405"/>
            </a:avLst>
          </a:prstGeom>
          <a:solidFill>
            <a:srgbClr val="F4F7F5"/>
          </a:solidFill>
          <a:ln w="9525">
            <a:solidFill>
              <a:srgbClr val="D5DED9"/>
            </a:solidFill>
            <a:prstDash val="solid"/>
          </a:ln>
        </p:spPr>
      </p:sp>
      <p:sp>
        <p:nvSpPr>
          <p:cNvPr id="44" name="Shape 37"/>
          <p:cNvSpPr/>
          <p:nvPr/>
        </p:nvSpPr>
        <p:spPr>
          <a:xfrm>
            <a:off x="566928" y="3310128"/>
            <a:ext cx="310896" cy="310896"/>
          </a:xfrm>
          <a:prstGeom prst="ellipse">
            <a:avLst/>
          </a:prstGeom>
          <a:solidFill>
            <a:srgbClr val="00A86A">
              <a:alpha val="22000"/>
            </a:srgbClr>
          </a:solidFill>
          <a:ln/>
        </p:spPr>
      </p:sp>
      <p:pic>
        <p:nvPicPr>
          <p:cNvPr id="45" name="Image 4" descr="preencoded.png"/>
          <p:cNvPicPr>
            <a:picLocks noChangeAspect="1"/>
          </p:cNvPicPr>
          <p:nvPr/>
        </p:nvPicPr>
        <p:blipFill>
          <a:blip r:embed="rId7"/>
          <a:stretch>
            <a:fillRect/>
          </a:stretch>
        </p:blipFill>
        <p:spPr>
          <a:xfrm>
            <a:off x="641543" y="3384743"/>
            <a:ext cx="161666" cy="161666"/>
          </a:xfrm>
          <a:prstGeom prst="rect">
            <a:avLst/>
          </a:prstGeom>
        </p:spPr>
      </p:pic>
      <p:sp>
        <p:nvSpPr>
          <p:cNvPr id="46" name="Text 38"/>
          <p:cNvSpPr txBox="1"/>
          <p:nvPr/>
        </p:nvSpPr>
        <p:spPr>
          <a:xfrm>
            <a:off x="950976" y="3291840"/>
            <a:ext cx="1387602"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L'énergie d'abord</a:t>
            </a:r>
            <a:endParaRPr lang="en-US" sz="1000" dirty="0"/>
          </a:p>
        </p:txBody>
      </p:sp>
      <p:sp>
        <p:nvSpPr>
          <p:cNvPr id="47" name="Text 39"/>
          <p:cNvSpPr txBox="1"/>
          <p:nvPr/>
        </p:nvSpPr>
        <p:spPr>
          <a:xfrm>
            <a:off x="56692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Vérifier la puissance disponible et l'autonomie de secours avant de choisir le matériel.</a:t>
            </a:r>
            <a:endParaRPr lang="en-US" sz="950" dirty="0"/>
          </a:p>
        </p:txBody>
      </p:sp>
      <p:sp>
        <p:nvSpPr>
          <p:cNvPr id="48" name="Shape 40"/>
          <p:cNvSpPr/>
          <p:nvPr/>
        </p:nvSpPr>
        <p:spPr>
          <a:xfrm>
            <a:off x="2548890" y="3200400"/>
            <a:ext cx="1954530" cy="1353312"/>
          </a:xfrm>
          <a:prstGeom prst="roundRect">
            <a:avLst>
              <a:gd name="adj" fmla="val 5405"/>
            </a:avLst>
          </a:prstGeom>
          <a:solidFill>
            <a:srgbClr val="F4F7F5"/>
          </a:solidFill>
          <a:ln w="9525">
            <a:solidFill>
              <a:srgbClr val="D5DED9"/>
            </a:solidFill>
            <a:prstDash val="solid"/>
          </a:ln>
        </p:spPr>
      </p:sp>
      <p:sp>
        <p:nvSpPr>
          <p:cNvPr id="49" name="Shape 41"/>
          <p:cNvSpPr/>
          <p:nvPr/>
        </p:nvSpPr>
        <p:spPr>
          <a:xfrm>
            <a:off x="2658618" y="3310128"/>
            <a:ext cx="310896" cy="310896"/>
          </a:xfrm>
          <a:prstGeom prst="ellipse">
            <a:avLst/>
          </a:prstGeom>
          <a:solidFill>
            <a:srgbClr val="00A86A">
              <a:alpha val="22000"/>
            </a:srgbClr>
          </a:solidFill>
          <a:ln/>
        </p:spPr>
      </p:sp>
      <p:pic>
        <p:nvPicPr>
          <p:cNvPr id="50" name="Image 5" descr="preencoded.png"/>
          <p:cNvPicPr>
            <a:picLocks noChangeAspect="1"/>
          </p:cNvPicPr>
          <p:nvPr/>
        </p:nvPicPr>
        <p:blipFill>
          <a:blip r:embed="rId8"/>
          <a:stretch>
            <a:fillRect/>
          </a:stretch>
        </p:blipFill>
        <p:spPr>
          <a:xfrm>
            <a:off x="2733233" y="3384743"/>
            <a:ext cx="161666" cy="161666"/>
          </a:xfrm>
          <a:prstGeom prst="rect">
            <a:avLst/>
          </a:prstGeom>
        </p:spPr>
      </p:pic>
      <p:sp>
        <p:nvSpPr>
          <p:cNvPr id="51" name="Text 42"/>
          <p:cNvSpPr txBox="1"/>
          <p:nvPr/>
        </p:nvSpPr>
        <p:spPr>
          <a:xfrm>
            <a:off x="3042666" y="3291840"/>
            <a:ext cx="1387602"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Héberger, un choix souverain</a:t>
            </a:r>
            <a:endParaRPr lang="en-US" sz="1000" dirty="0"/>
          </a:p>
        </p:txBody>
      </p:sp>
      <p:sp>
        <p:nvSpPr>
          <p:cNvPr id="52" name="Text 43"/>
          <p:cNvSpPr txBox="1"/>
          <p:nvPr/>
        </p:nvSpPr>
        <p:spPr>
          <a:xfrm>
            <a:off x="265861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Peu d'options nationales ; l'hébergement à l'étranger exige une base légale.</a:t>
            </a:r>
            <a:endParaRPr lang="en-US" sz="950" dirty="0"/>
          </a:p>
        </p:txBody>
      </p:sp>
      <p:sp>
        <p:nvSpPr>
          <p:cNvPr id="53" name="Shape 44"/>
          <p:cNvSpPr/>
          <p:nvPr/>
        </p:nvSpPr>
        <p:spPr>
          <a:xfrm>
            <a:off x="4640580" y="3200400"/>
            <a:ext cx="1954530" cy="1353312"/>
          </a:xfrm>
          <a:prstGeom prst="roundRect">
            <a:avLst>
              <a:gd name="adj" fmla="val 5405"/>
            </a:avLst>
          </a:prstGeom>
          <a:solidFill>
            <a:srgbClr val="F4F7F5"/>
          </a:solidFill>
          <a:ln w="9525">
            <a:solidFill>
              <a:srgbClr val="D5DED9"/>
            </a:solidFill>
            <a:prstDash val="solid"/>
          </a:ln>
        </p:spPr>
      </p:sp>
      <p:sp>
        <p:nvSpPr>
          <p:cNvPr id="54" name="Shape 45"/>
          <p:cNvSpPr/>
          <p:nvPr/>
        </p:nvSpPr>
        <p:spPr>
          <a:xfrm>
            <a:off x="4750308" y="3310128"/>
            <a:ext cx="310896" cy="310896"/>
          </a:xfrm>
          <a:prstGeom prst="ellipse">
            <a:avLst/>
          </a:prstGeom>
          <a:solidFill>
            <a:srgbClr val="00A86A">
              <a:alpha val="22000"/>
            </a:srgbClr>
          </a:solidFill>
          <a:ln/>
        </p:spPr>
      </p:sp>
      <p:pic>
        <p:nvPicPr>
          <p:cNvPr id="55" name="Image 6" descr="preencoded.png"/>
          <p:cNvPicPr>
            <a:picLocks noChangeAspect="1"/>
          </p:cNvPicPr>
          <p:nvPr/>
        </p:nvPicPr>
        <p:blipFill>
          <a:blip r:embed="rId9"/>
          <a:stretch>
            <a:fillRect/>
          </a:stretch>
        </p:blipFill>
        <p:spPr>
          <a:xfrm>
            <a:off x="4824923" y="3384743"/>
            <a:ext cx="161666" cy="161666"/>
          </a:xfrm>
          <a:prstGeom prst="rect">
            <a:avLst/>
          </a:prstGeom>
        </p:spPr>
      </p:pic>
      <p:sp>
        <p:nvSpPr>
          <p:cNvPr id="56" name="Text 46"/>
          <p:cNvSpPr txBox="1"/>
          <p:nvPr/>
        </p:nvSpPr>
        <p:spPr>
          <a:xfrm>
            <a:off x="5134356" y="3291840"/>
            <a:ext cx="1387602"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Un paysage juridique inégal</a:t>
            </a:r>
            <a:endParaRPr lang="en-US" sz="1000" dirty="0"/>
          </a:p>
        </p:txBody>
      </p:sp>
      <p:sp>
        <p:nvSpPr>
          <p:cNvPr id="57" name="Text 47"/>
          <p:cNvSpPr txBox="1"/>
          <p:nvPr/>
        </p:nvSpPr>
        <p:spPr>
          <a:xfrm>
            <a:off x="475030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S'aligner sur la loi statistique, la loi sur les données et les cadres de l'UA.</a:t>
            </a:r>
            <a:endParaRPr lang="en-US" sz="950" dirty="0"/>
          </a:p>
        </p:txBody>
      </p:sp>
      <p:sp>
        <p:nvSpPr>
          <p:cNvPr id="58" name="Shape 48"/>
          <p:cNvSpPr/>
          <p:nvPr/>
        </p:nvSpPr>
        <p:spPr>
          <a:xfrm>
            <a:off x="6732270" y="3200400"/>
            <a:ext cx="1954530" cy="1353312"/>
          </a:xfrm>
          <a:prstGeom prst="roundRect">
            <a:avLst>
              <a:gd name="adj" fmla="val 5405"/>
            </a:avLst>
          </a:prstGeom>
          <a:solidFill>
            <a:srgbClr val="E8F5EF"/>
          </a:solidFill>
          <a:ln w="15875">
            <a:solidFill>
              <a:srgbClr val="00A86A"/>
            </a:solidFill>
            <a:prstDash val="solid"/>
          </a:ln>
        </p:spPr>
      </p:sp>
      <p:sp>
        <p:nvSpPr>
          <p:cNvPr id="59" name="Shape 49"/>
          <p:cNvSpPr/>
          <p:nvPr/>
        </p:nvSpPr>
        <p:spPr>
          <a:xfrm>
            <a:off x="6841998" y="3310128"/>
            <a:ext cx="310896" cy="310896"/>
          </a:xfrm>
          <a:prstGeom prst="ellipse">
            <a:avLst/>
          </a:prstGeom>
          <a:solidFill>
            <a:srgbClr val="00A86A">
              <a:alpha val="22000"/>
            </a:srgbClr>
          </a:solidFill>
          <a:ln/>
        </p:spPr>
      </p:sp>
      <p:pic>
        <p:nvPicPr>
          <p:cNvPr id="60" name="Image 7" descr="preencoded.png"/>
          <p:cNvPicPr>
            <a:picLocks noChangeAspect="1"/>
          </p:cNvPicPr>
          <p:nvPr/>
        </p:nvPicPr>
        <p:blipFill>
          <a:blip r:embed="rId10"/>
          <a:stretch>
            <a:fillRect/>
          </a:stretch>
        </p:blipFill>
        <p:spPr>
          <a:xfrm>
            <a:off x="6916613" y="3384743"/>
            <a:ext cx="161666" cy="161666"/>
          </a:xfrm>
          <a:prstGeom prst="rect">
            <a:avLst/>
          </a:prstGeom>
        </p:spPr>
      </p:pic>
      <p:sp>
        <p:nvSpPr>
          <p:cNvPr id="61" name="Text 50"/>
          <p:cNvSpPr txBox="1"/>
          <p:nvPr/>
        </p:nvSpPr>
        <p:spPr>
          <a:xfrm>
            <a:off x="7226046" y="3291840"/>
            <a:ext cx="1387602"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L'opportunité</a:t>
            </a:r>
            <a:endParaRPr lang="en-US" sz="1000" dirty="0"/>
          </a:p>
        </p:txBody>
      </p:sp>
      <p:sp>
        <p:nvSpPr>
          <p:cNvPr id="62" name="Text 51"/>
          <p:cNvSpPr txBox="1"/>
          <p:nvPr/>
        </p:nvSpPr>
        <p:spPr>
          <a:xfrm>
            <a:off x="6841998" y="3712464"/>
            <a:ext cx="1735074" cy="77724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L'essentiel de la valeur vient de l'inférence légère et de l'apprentissage classique.</a:t>
            </a:r>
            <a:endParaRPr lang="en-US" sz="950" dirty="0"/>
          </a:p>
        </p:txBody>
      </p:sp>
      <p:sp>
        <p:nvSpPr>
          <p:cNvPr id="63" name="Text 5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 AIE (2025) ; Africa Data Centres Association (ADCA), Data Centres in Africa 2026 ; BCG, Advancing Africa's AI and Digital Economy (2026).</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ARCHITECTURE DE RÉFÉRENCE</a:t>
            </a:r>
            <a:endParaRPr lang="en-US" sz="1050" dirty="0"/>
          </a:p>
        </p:txBody>
      </p:sp>
      <p:sp>
        <p:nvSpPr>
          <p:cNvPr id="7" name="Shape 5"/>
          <p:cNvSpPr/>
          <p:nvPr/>
        </p:nvSpPr>
        <p:spPr>
          <a:xfrm>
            <a:off x="7658100" y="278892"/>
            <a:ext cx="118872" cy="118872"/>
          </a:xfrm>
          <a:prstGeom prst="ellipse">
            <a:avLst/>
          </a:prstGeom>
          <a:solidFill>
            <a:srgbClr val="00A86A"/>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Cinq couches, un plan de gouvernance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À lire de bas en haut : chaque couche ne vaut que ce que vaut celle du dessous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8" name="Shape 15"/>
          <p:cNvSpPr/>
          <p:nvPr/>
        </p:nvSpPr>
        <p:spPr>
          <a:xfrm>
            <a:off x="777240" y="1371600"/>
            <a:ext cx="4983480" cy="475488"/>
          </a:xfrm>
          <a:prstGeom prst="roundRect">
            <a:avLst>
              <a:gd name="adj" fmla="val 11538"/>
            </a:avLst>
          </a:prstGeom>
          <a:solidFill>
            <a:srgbClr val="10A06A"/>
          </a:solidFill>
          <a:ln/>
        </p:spPr>
      </p:sp>
      <p:sp>
        <p:nvSpPr>
          <p:cNvPr id="19" name="Text 16"/>
          <p:cNvSpPr txBox="1"/>
          <p:nvPr/>
        </p:nvSpPr>
        <p:spPr>
          <a:xfrm>
            <a:off x="868680" y="1371600"/>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C5</a:t>
            </a:r>
            <a:endParaRPr lang="en-US" sz="1600" dirty="0"/>
          </a:p>
        </p:txBody>
      </p:sp>
      <p:sp>
        <p:nvSpPr>
          <p:cNvPr id="20" name="Text 17"/>
          <p:cNvSpPr txBox="1"/>
          <p:nvPr/>
        </p:nvSpPr>
        <p:spPr>
          <a:xfrm>
            <a:off x="1371600" y="1417320"/>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Utilisation et supervision</a:t>
            </a:r>
            <a:endParaRPr lang="en-US" sz="1200" dirty="0"/>
          </a:p>
        </p:txBody>
      </p:sp>
      <p:sp>
        <p:nvSpPr>
          <p:cNvPr id="21" name="Text 18"/>
          <p:cNvSpPr txBox="1"/>
          <p:nvPr/>
        </p:nvSpPr>
        <p:spPr>
          <a:xfrm>
            <a:off x="1371600" y="1618488"/>
            <a:ext cx="4343400" cy="18288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Revue humaine · validation méthodologique · contrôles qualité · diffusion</a:t>
            </a:r>
            <a:endParaRPr lang="en-US" sz="850" dirty="0"/>
          </a:p>
        </p:txBody>
      </p:sp>
      <p:sp>
        <p:nvSpPr>
          <p:cNvPr id="22" name="Shape 19"/>
          <p:cNvSpPr/>
          <p:nvPr/>
        </p:nvSpPr>
        <p:spPr>
          <a:xfrm>
            <a:off x="777240" y="1911096"/>
            <a:ext cx="4983480" cy="475488"/>
          </a:xfrm>
          <a:prstGeom prst="roundRect">
            <a:avLst>
              <a:gd name="adj" fmla="val 11538"/>
            </a:avLst>
          </a:prstGeom>
          <a:solidFill>
            <a:srgbClr val="008A5B"/>
          </a:solidFill>
          <a:ln/>
        </p:spPr>
      </p:sp>
      <p:sp>
        <p:nvSpPr>
          <p:cNvPr id="23" name="Text 20"/>
          <p:cNvSpPr txBox="1"/>
          <p:nvPr/>
        </p:nvSpPr>
        <p:spPr>
          <a:xfrm>
            <a:off x="868680" y="1911096"/>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C4</a:t>
            </a:r>
            <a:endParaRPr lang="en-US" sz="1600" dirty="0"/>
          </a:p>
        </p:txBody>
      </p:sp>
      <p:sp>
        <p:nvSpPr>
          <p:cNvPr id="24" name="Text 21"/>
          <p:cNvSpPr txBox="1"/>
          <p:nvPr/>
        </p:nvSpPr>
        <p:spPr>
          <a:xfrm>
            <a:off x="1371600" y="1956816"/>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Applications</a:t>
            </a:r>
            <a:endParaRPr lang="en-US" sz="1200" dirty="0"/>
          </a:p>
        </p:txBody>
      </p:sp>
      <p:sp>
        <p:nvSpPr>
          <p:cNvPr id="25" name="Text 22"/>
          <p:cNvSpPr txBox="1"/>
          <p:nvPr/>
        </p:nvSpPr>
        <p:spPr>
          <a:xfrm>
            <a:off x="1371600" y="2157984"/>
            <a:ext cx="4343400" cy="18288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Chaînes de traitement · recherche documentaire interne · API · outils d'analyse</a:t>
            </a:r>
            <a:endParaRPr lang="en-US" sz="850" dirty="0"/>
          </a:p>
        </p:txBody>
      </p:sp>
      <p:sp>
        <p:nvSpPr>
          <p:cNvPr id="26" name="Shape 23"/>
          <p:cNvSpPr/>
          <p:nvPr/>
        </p:nvSpPr>
        <p:spPr>
          <a:xfrm>
            <a:off x="777240" y="2450592"/>
            <a:ext cx="4983480" cy="475488"/>
          </a:xfrm>
          <a:prstGeom prst="roundRect">
            <a:avLst>
              <a:gd name="adj" fmla="val 11538"/>
            </a:avLst>
          </a:prstGeom>
          <a:solidFill>
            <a:srgbClr val="00704A"/>
          </a:solidFill>
          <a:ln/>
        </p:spPr>
      </p:sp>
      <p:sp>
        <p:nvSpPr>
          <p:cNvPr id="27" name="Text 24"/>
          <p:cNvSpPr txBox="1"/>
          <p:nvPr/>
        </p:nvSpPr>
        <p:spPr>
          <a:xfrm>
            <a:off x="868680" y="2450592"/>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C3</a:t>
            </a:r>
            <a:endParaRPr lang="en-US" sz="1600" dirty="0"/>
          </a:p>
        </p:txBody>
      </p:sp>
      <p:sp>
        <p:nvSpPr>
          <p:cNvPr id="28" name="Text 25"/>
          <p:cNvSpPr txBox="1"/>
          <p:nvPr/>
        </p:nvSpPr>
        <p:spPr>
          <a:xfrm>
            <a:off x="1371600" y="2496312"/>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Modèles et MLOps</a:t>
            </a:r>
            <a:endParaRPr lang="en-US" sz="1200" dirty="0"/>
          </a:p>
        </p:txBody>
      </p:sp>
      <p:sp>
        <p:nvSpPr>
          <p:cNvPr id="29" name="Text 26"/>
          <p:cNvSpPr txBox="1"/>
          <p:nvPr/>
        </p:nvSpPr>
        <p:spPr>
          <a:xfrm>
            <a:off x="1371600" y="2697480"/>
            <a:ext cx="4343400" cy="18288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Entraînement · affinage · registre · service · évaluation · suivi de dérive</a:t>
            </a:r>
            <a:endParaRPr lang="en-US" sz="850" dirty="0"/>
          </a:p>
        </p:txBody>
      </p:sp>
      <p:sp>
        <p:nvSpPr>
          <p:cNvPr id="30" name="Shape 27"/>
          <p:cNvSpPr/>
          <p:nvPr/>
        </p:nvSpPr>
        <p:spPr>
          <a:xfrm>
            <a:off x="777240" y="2990088"/>
            <a:ext cx="4983480" cy="475488"/>
          </a:xfrm>
          <a:prstGeom prst="roundRect">
            <a:avLst>
              <a:gd name="adj" fmla="val 11538"/>
            </a:avLst>
          </a:prstGeom>
          <a:solidFill>
            <a:srgbClr val="00664A"/>
          </a:solidFill>
          <a:ln/>
        </p:spPr>
      </p:sp>
      <p:sp>
        <p:nvSpPr>
          <p:cNvPr id="31" name="Text 28"/>
          <p:cNvSpPr txBox="1"/>
          <p:nvPr/>
        </p:nvSpPr>
        <p:spPr>
          <a:xfrm>
            <a:off x="868680" y="2990088"/>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C2</a:t>
            </a:r>
            <a:endParaRPr lang="en-US" sz="1600" dirty="0"/>
          </a:p>
        </p:txBody>
      </p:sp>
      <p:sp>
        <p:nvSpPr>
          <p:cNvPr id="32" name="Text 29"/>
          <p:cNvSpPr txBox="1"/>
          <p:nvPr/>
        </p:nvSpPr>
        <p:spPr>
          <a:xfrm>
            <a:off x="1371600" y="3035808"/>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Plateforme de données</a:t>
            </a:r>
            <a:endParaRPr lang="en-US" sz="1200" dirty="0"/>
          </a:p>
        </p:txBody>
      </p:sp>
      <p:sp>
        <p:nvSpPr>
          <p:cNvPr id="33" name="Text 30"/>
          <p:cNvSpPr txBox="1"/>
          <p:nvPr/>
        </p:nvSpPr>
        <p:spPr>
          <a:xfrm>
            <a:off x="1371600" y="3236976"/>
            <a:ext cx="4343400" cy="18288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Lac / entrepôt · catalogue · traçabilité · contrôle d'accès · données annotées</a:t>
            </a:r>
            <a:endParaRPr lang="en-US" sz="850" dirty="0"/>
          </a:p>
        </p:txBody>
      </p:sp>
      <p:sp>
        <p:nvSpPr>
          <p:cNvPr id="34" name="Shape 31"/>
          <p:cNvSpPr/>
          <p:nvPr/>
        </p:nvSpPr>
        <p:spPr>
          <a:xfrm>
            <a:off x="777240" y="3529584"/>
            <a:ext cx="4983480" cy="475488"/>
          </a:xfrm>
          <a:prstGeom prst="roundRect">
            <a:avLst>
              <a:gd name="adj" fmla="val 11538"/>
            </a:avLst>
          </a:prstGeom>
          <a:solidFill>
            <a:srgbClr val="00553A"/>
          </a:solidFill>
          <a:ln/>
        </p:spPr>
      </p:sp>
      <p:sp>
        <p:nvSpPr>
          <p:cNvPr id="35" name="Text 32"/>
          <p:cNvSpPr txBox="1"/>
          <p:nvPr/>
        </p:nvSpPr>
        <p:spPr>
          <a:xfrm>
            <a:off x="868680" y="3529584"/>
            <a:ext cx="457200" cy="475488"/>
          </a:xfrm>
          <a:prstGeom prst="rect">
            <a:avLst/>
          </a:prstGeom>
          <a:noFill/>
          <a:ln/>
        </p:spPr>
        <p:txBody>
          <a:bodyPr wrap="square" lIns="0" tIns="0" rIns="0" bIns="0" rtlCol="0" anchor="ctr"/>
          <a:lstStyle/>
          <a:p>
            <a:pPr marL="0" indent="0">
              <a:buNone/>
            </a:pPr>
            <a:r>
              <a:rPr lang="en-US" sz="1600" b="1" dirty="0">
                <a:solidFill>
                  <a:srgbClr val="F5C242"/>
                </a:solidFill>
                <a:latin typeface="Calibri" pitchFamily="34" charset="0"/>
                <a:ea typeface="Calibri" pitchFamily="34" charset="-122"/>
                <a:cs typeface="Calibri" pitchFamily="34" charset="-120"/>
              </a:rPr>
              <a:t>C1</a:t>
            </a:r>
            <a:endParaRPr lang="en-US" sz="1600" dirty="0"/>
          </a:p>
        </p:txBody>
      </p:sp>
      <p:sp>
        <p:nvSpPr>
          <p:cNvPr id="36" name="Text 33"/>
          <p:cNvSpPr txBox="1"/>
          <p:nvPr/>
        </p:nvSpPr>
        <p:spPr>
          <a:xfrm>
            <a:off x="1371600" y="3575304"/>
            <a:ext cx="4297680" cy="201168"/>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Calcul et infrastructure</a:t>
            </a:r>
            <a:endParaRPr lang="en-US" sz="1200" dirty="0"/>
          </a:p>
        </p:txBody>
      </p:sp>
      <p:sp>
        <p:nvSpPr>
          <p:cNvPr id="37" name="Text 34"/>
          <p:cNvSpPr txBox="1"/>
          <p:nvPr/>
        </p:nvSpPr>
        <p:spPr>
          <a:xfrm>
            <a:off x="1371600" y="3776472"/>
            <a:ext cx="4343400" cy="182880"/>
          </a:xfrm>
          <a:prstGeom prst="rect">
            <a:avLst/>
          </a:prstGeom>
          <a:noFill/>
          <a:ln/>
        </p:spPr>
        <p:txBody>
          <a:bodyPr wrap="square" lIns="0" tIns="0" rIns="0" bIns="0" rtlCol="0" anchor="t"/>
          <a:lstStyle/>
          <a:p>
            <a:pPr marL="0" indent="0">
              <a:buNone/>
            </a:pPr>
            <a:r>
              <a:rPr lang="en-US" sz="850" dirty="0">
                <a:solidFill>
                  <a:srgbClr val="FFFFFF"/>
                </a:solidFill>
                <a:latin typeface="Calibri" pitchFamily="34" charset="0"/>
                <a:ea typeface="Calibri" pitchFamily="34" charset="-122"/>
                <a:cs typeface="Calibri" pitchFamily="34" charset="-120"/>
              </a:rPr>
              <a:t>CPU / GPU · stockage · réseau · énergie · identité · sécurité</a:t>
            </a:r>
            <a:endParaRPr lang="en-US" sz="850" dirty="0"/>
          </a:p>
        </p:txBody>
      </p:sp>
      <p:sp>
        <p:nvSpPr>
          <p:cNvPr id="38" name="Shape 35"/>
          <p:cNvSpPr/>
          <p:nvPr/>
        </p:nvSpPr>
        <p:spPr>
          <a:xfrm>
            <a:off x="548640" y="1463040"/>
            <a:ext cx="0" cy="2514600"/>
          </a:xfrm>
          <a:prstGeom prst="line">
            <a:avLst/>
          </a:prstGeom>
          <a:noFill/>
          <a:ln w="15875">
            <a:solidFill>
              <a:srgbClr val="5E6964"/>
            </a:solidFill>
            <a:prstDash val="solid"/>
            <a:headEnd type="triangle"/>
          </a:ln>
        </p:spPr>
      </p:sp>
      <p:sp>
        <p:nvSpPr>
          <p:cNvPr id="39" name="Shape 36"/>
          <p:cNvSpPr/>
          <p:nvPr/>
        </p:nvSpPr>
        <p:spPr>
          <a:xfrm>
            <a:off x="5943600" y="1371600"/>
            <a:ext cx="2743200" cy="2633472"/>
          </a:xfrm>
          <a:prstGeom prst="roundRect">
            <a:avLst>
              <a:gd name="adj" fmla="val 2778"/>
            </a:avLst>
          </a:prstGeom>
          <a:solidFill>
            <a:srgbClr val="E8F5EF"/>
          </a:solidFill>
          <a:ln w="15875">
            <a:solidFill>
              <a:srgbClr val="00A86A"/>
            </a:solidFill>
            <a:prstDash val="solid"/>
          </a:ln>
        </p:spPr>
      </p:sp>
      <p:sp>
        <p:nvSpPr>
          <p:cNvPr id="40" name="Text 37"/>
          <p:cNvSpPr txBox="1"/>
          <p:nvPr/>
        </p:nvSpPr>
        <p:spPr>
          <a:xfrm>
            <a:off x="6080760" y="1444752"/>
            <a:ext cx="2468880" cy="182880"/>
          </a:xfrm>
          <a:prstGeom prst="rect">
            <a:avLst/>
          </a:prstGeom>
          <a:noFill/>
          <a:ln/>
        </p:spPr>
        <p:txBody>
          <a:bodyPr wrap="square" lIns="0" tIns="0" rIns="0" bIns="0" rtlCol="0" anchor="t"/>
          <a:lstStyle/>
          <a:p>
            <a:pPr marL="0" indent="0">
              <a:buNone/>
            </a:pPr>
            <a:r>
              <a:rPr lang="en-US" sz="850" b="1" kern="0" spc="200" dirty="0">
                <a:solidFill>
                  <a:srgbClr val="D49A00"/>
                </a:solidFill>
                <a:latin typeface="Calibri" pitchFamily="34" charset="0"/>
                <a:ea typeface="Calibri" pitchFamily="34" charset="-122"/>
                <a:cs typeface="Calibri" pitchFamily="34" charset="-120"/>
              </a:rPr>
              <a:t>TRANSVERSAL</a:t>
            </a:r>
            <a:endParaRPr lang="en-US" sz="850" dirty="0"/>
          </a:p>
        </p:txBody>
      </p:sp>
      <p:sp>
        <p:nvSpPr>
          <p:cNvPr id="41" name="Text 38"/>
          <p:cNvSpPr txBox="1"/>
          <p:nvPr/>
        </p:nvSpPr>
        <p:spPr>
          <a:xfrm>
            <a:off x="6080760" y="1627632"/>
            <a:ext cx="246888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Plan de gouvernance</a:t>
            </a:r>
            <a:endParaRPr lang="en-US" sz="1300" dirty="0"/>
          </a:p>
        </p:txBody>
      </p:sp>
      <p:pic>
        <p:nvPicPr>
          <p:cNvPr id="42" name="Image 0" descr="preencoded.png"/>
          <p:cNvPicPr>
            <a:picLocks noChangeAspect="1"/>
          </p:cNvPicPr>
          <p:nvPr/>
        </p:nvPicPr>
        <p:blipFill>
          <a:blip r:embed="rId3"/>
          <a:stretch>
            <a:fillRect/>
          </a:stretch>
        </p:blipFill>
        <p:spPr>
          <a:xfrm>
            <a:off x="6080760" y="1984248"/>
            <a:ext cx="137160" cy="137160"/>
          </a:xfrm>
          <a:prstGeom prst="rect">
            <a:avLst/>
          </a:prstGeom>
        </p:spPr>
      </p:pic>
      <p:sp>
        <p:nvSpPr>
          <p:cNvPr id="43" name="Text 39"/>
          <p:cNvSpPr txBox="1"/>
          <p:nvPr/>
        </p:nvSpPr>
        <p:spPr>
          <a:xfrm>
            <a:off x="6291072" y="195681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Base légale et secret statistique</a:t>
            </a:r>
            <a:endParaRPr lang="en-US" sz="950" dirty="0"/>
          </a:p>
        </p:txBody>
      </p:sp>
      <p:pic>
        <p:nvPicPr>
          <p:cNvPr id="44" name="Image 1" descr="preencoded.png"/>
          <p:cNvPicPr>
            <a:picLocks noChangeAspect="1"/>
          </p:cNvPicPr>
          <p:nvPr/>
        </p:nvPicPr>
        <p:blipFill>
          <a:blip r:embed="rId3"/>
          <a:stretch>
            <a:fillRect/>
          </a:stretch>
        </p:blipFill>
        <p:spPr>
          <a:xfrm>
            <a:off x="6080760" y="2235708"/>
            <a:ext cx="137160" cy="137160"/>
          </a:xfrm>
          <a:prstGeom prst="rect">
            <a:avLst/>
          </a:prstGeom>
        </p:spPr>
      </p:pic>
      <p:sp>
        <p:nvSpPr>
          <p:cNvPr id="45" name="Text 40"/>
          <p:cNvSpPr txBox="1"/>
          <p:nvPr/>
        </p:nvSpPr>
        <p:spPr>
          <a:xfrm>
            <a:off x="6291072" y="220827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Politique de classification</a:t>
            </a:r>
            <a:endParaRPr lang="en-US" sz="950" dirty="0"/>
          </a:p>
        </p:txBody>
      </p:sp>
      <p:pic>
        <p:nvPicPr>
          <p:cNvPr id="46" name="Image 2" descr="preencoded.png"/>
          <p:cNvPicPr>
            <a:picLocks noChangeAspect="1"/>
          </p:cNvPicPr>
          <p:nvPr/>
        </p:nvPicPr>
        <p:blipFill>
          <a:blip r:embed="rId3"/>
          <a:stretch>
            <a:fillRect/>
          </a:stretch>
        </p:blipFill>
        <p:spPr>
          <a:xfrm>
            <a:off x="6080760" y="2487168"/>
            <a:ext cx="137160" cy="137160"/>
          </a:xfrm>
          <a:prstGeom prst="rect">
            <a:avLst/>
          </a:prstGeom>
        </p:spPr>
      </p:pic>
      <p:sp>
        <p:nvSpPr>
          <p:cNvPr id="47" name="Text 41"/>
          <p:cNvSpPr txBox="1"/>
          <p:nvPr/>
        </p:nvSpPr>
        <p:spPr>
          <a:xfrm>
            <a:off x="6291072" y="245973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Gestion des identités et accès</a:t>
            </a:r>
            <a:endParaRPr lang="en-US" sz="950" dirty="0"/>
          </a:p>
        </p:txBody>
      </p:sp>
      <p:pic>
        <p:nvPicPr>
          <p:cNvPr id="48" name="Image 3" descr="preencoded.png"/>
          <p:cNvPicPr>
            <a:picLocks noChangeAspect="1"/>
          </p:cNvPicPr>
          <p:nvPr/>
        </p:nvPicPr>
        <p:blipFill>
          <a:blip r:embed="rId3"/>
          <a:stretch>
            <a:fillRect/>
          </a:stretch>
        </p:blipFill>
        <p:spPr>
          <a:xfrm>
            <a:off x="6080760" y="2738628"/>
            <a:ext cx="137160" cy="137160"/>
          </a:xfrm>
          <a:prstGeom prst="rect">
            <a:avLst/>
          </a:prstGeom>
        </p:spPr>
      </p:pic>
      <p:sp>
        <p:nvSpPr>
          <p:cNvPr id="49" name="Text 42"/>
          <p:cNvSpPr txBox="1"/>
          <p:nvPr/>
        </p:nvSpPr>
        <p:spPr>
          <a:xfrm>
            <a:off x="6291072" y="271119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Registre des modèles et validations</a:t>
            </a:r>
            <a:endParaRPr lang="en-US" sz="950" dirty="0"/>
          </a:p>
        </p:txBody>
      </p:sp>
      <p:pic>
        <p:nvPicPr>
          <p:cNvPr id="50" name="Image 4" descr="preencoded.png"/>
          <p:cNvPicPr>
            <a:picLocks noChangeAspect="1"/>
          </p:cNvPicPr>
          <p:nvPr/>
        </p:nvPicPr>
        <p:blipFill>
          <a:blip r:embed="rId3"/>
          <a:stretch>
            <a:fillRect/>
          </a:stretch>
        </p:blipFill>
        <p:spPr>
          <a:xfrm>
            <a:off x="6080760" y="2990088"/>
            <a:ext cx="137160" cy="137160"/>
          </a:xfrm>
          <a:prstGeom prst="rect">
            <a:avLst/>
          </a:prstGeom>
        </p:spPr>
      </p:pic>
      <p:sp>
        <p:nvSpPr>
          <p:cNvPr id="51" name="Text 43"/>
          <p:cNvSpPr txBox="1"/>
          <p:nvPr/>
        </p:nvSpPr>
        <p:spPr>
          <a:xfrm>
            <a:off x="6291072" y="296265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Journalisation et traçabilité</a:t>
            </a:r>
            <a:endParaRPr lang="en-US" sz="950" dirty="0"/>
          </a:p>
        </p:txBody>
      </p:sp>
      <p:pic>
        <p:nvPicPr>
          <p:cNvPr id="52" name="Image 5" descr="preencoded.png"/>
          <p:cNvPicPr>
            <a:picLocks noChangeAspect="1"/>
          </p:cNvPicPr>
          <p:nvPr/>
        </p:nvPicPr>
        <p:blipFill>
          <a:blip r:embed="rId3"/>
          <a:stretch>
            <a:fillRect/>
          </a:stretch>
        </p:blipFill>
        <p:spPr>
          <a:xfrm>
            <a:off x="6080760" y="3241548"/>
            <a:ext cx="137160" cy="137160"/>
          </a:xfrm>
          <a:prstGeom prst="rect">
            <a:avLst/>
          </a:prstGeom>
        </p:spPr>
      </p:pic>
      <p:sp>
        <p:nvSpPr>
          <p:cNvPr id="53" name="Text 44"/>
          <p:cNvSpPr txBox="1"/>
          <p:nvPr/>
        </p:nvSpPr>
        <p:spPr>
          <a:xfrm>
            <a:off x="6291072" y="321411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Imputation des coûts (FinOps)</a:t>
            </a:r>
            <a:endParaRPr lang="en-US" sz="950" dirty="0"/>
          </a:p>
        </p:txBody>
      </p:sp>
      <p:pic>
        <p:nvPicPr>
          <p:cNvPr id="54" name="Image 6" descr="preencoded.png"/>
          <p:cNvPicPr>
            <a:picLocks noChangeAspect="1"/>
          </p:cNvPicPr>
          <p:nvPr/>
        </p:nvPicPr>
        <p:blipFill>
          <a:blip r:embed="rId3"/>
          <a:stretch>
            <a:fillRect/>
          </a:stretch>
        </p:blipFill>
        <p:spPr>
          <a:xfrm>
            <a:off x="6080760" y="3493008"/>
            <a:ext cx="137160" cy="137160"/>
          </a:xfrm>
          <a:prstGeom prst="rect">
            <a:avLst/>
          </a:prstGeom>
        </p:spPr>
      </p:pic>
      <p:sp>
        <p:nvSpPr>
          <p:cNvPr id="55" name="Text 45"/>
          <p:cNvSpPr txBox="1"/>
          <p:nvPr/>
        </p:nvSpPr>
        <p:spPr>
          <a:xfrm>
            <a:off x="6291072" y="346557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Compétences, rôles et relève</a:t>
            </a:r>
            <a:endParaRPr lang="en-US" sz="950" dirty="0"/>
          </a:p>
        </p:txBody>
      </p:sp>
      <p:pic>
        <p:nvPicPr>
          <p:cNvPr id="56" name="Image 7" descr="preencoded.png"/>
          <p:cNvPicPr>
            <a:picLocks noChangeAspect="1"/>
          </p:cNvPicPr>
          <p:nvPr/>
        </p:nvPicPr>
        <p:blipFill>
          <a:blip r:embed="rId3"/>
          <a:stretch>
            <a:fillRect/>
          </a:stretch>
        </p:blipFill>
        <p:spPr>
          <a:xfrm>
            <a:off x="6080760" y="3744468"/>
            <a:ext cx="137160" cy="137160"/>
          </a:xfrm>
          <a:prstGeom prst="rect">
            <a:avLst/>
          </a:prstGeom>
        </p:spPr>
      </p:pic>
      <p:sp>
        <p:nvSpPr>
          <p:cNvPr id="57" name="Text 46"/>
          <p:cNvSpPr txBox="1"/>
          <p:nvPr/>
        </p:nvSpPr>
        <p:spPr>
          <a:xfrm>
            <a:off x="6291072" y="3717036"/>
            <a:ext cx="2331720" cy="25146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Sécurité et gestion des incidents</a:t>
            </a:r>
            <a:endParaRPr lang="en-US" sz="95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59" name="Shape 48"/>
          <p:cNvSpPr/>
          <p:nvPr/>
        </p:nvSpPr>
        <p:spPr>
          <a:xfrm>
            <a:off x="566928" y="4215384"/>
            <a:ext cx="292608" cy="292608"/>
          </a:xfrm>
          <a:prstGeom prst="ellipse">
            <a:avLst/>
          </a:prstGeom>
          <a:solidFill>
            <a:srgbClr val="00A86A">
              <a:alpha val="22000"/>
            </a:srgbClr>
          </a:solidFill>
          <a:ln/>
        </p:spPr>
      </p:sp>
      <p:pic>
        <p:nvPicPr>
          <p:cNvPr id="60" name="Image 8" descr="preencoded.png"/>
          <p:cNvPicPr>
            <a:picLocks noChangeAspect="1"/>
          </p:cNvPicPr>
          <p:nvPr/>
        </p:nvPicPr>
        <p:blipFill>
          <a:blip r:embed="rId4"/>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Le plan de gouvernance ne s'ajoute pas à la fin. Il contraint chaque couche, et c'est là que se cache l'essentiel de l'effort non budgété.</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02</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Calcul, données &amp; MLOps</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Quels matériels, données et processus faut-il avant de se fier à un modèle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Entraînement ou inférence</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Adapter le matériel</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 matériel IA expliqué</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Énergie, stockage, réseau</a:t>
            </a:r>
            <a:endParaRPr lang="en-US" sz="1000" dirty="0"/>
          </a:p>
        </p:txBody>
      </p:sp>
      <p:sp>
        <p:nvSpPr>
          <p:cNvPr id="12" name="Text 10"/>
          <p:cNvSpPr txBox="1"/>
          <p:nvPr/>
        </p:nvSpPr>
        <p:spPr>
          <a:xfrm>
            <a:off x="548640" y="4480560"/>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Concevoir malgré les coupures</a:t>
            </a:r>
            <a:endParaRPr lang="en-US" sz="1000" dirty="0"/>
          </a:p>
        </p:txBody>
      </p:sp>
      <p:sp>
        <p:nvSpPr>
          <p:cNvPr id="13" name="Text 11"/>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La plateforme de données</a:t>
            </a:r>
            <a:endParaRPr lang="en-US" sz="1000" dirty="0"/>
          </a:p>
        </p:txBody>
      </p:sp>
      <p:sp>
        <p:nvSpPr>
          <p:cNvPr id="14" name="Text 12"/>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Les données annotées</a:t>
            </a:r>
            <a:endParaRPr lang="en-US" sz="1000" dirty="0"/>
          </a:p>
        </p:txBody>
      </p:sp>
      <p:sp>
        <p:nvSpPr>
          <p:cNvPr id="15" name="Text 13"/>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Comment fonctionne le RAG</a:t>
            </a:r>
            <a:endParaRPr lang="en-US" sz="1000" dirty="0"/>
          </a:p>
        </p:txBody>
      </p:sp>
      <p:sp>
        <p:nvSpPr>
          <p:cNvPr id="16" name="Text 14"/>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MLOps et environnements</a:t>
            </a:r>
            <a:endParaRPr lang="en-US" sz="1000" dirty="0"/>
          </a:p>
        </p:txBody>
      </p:sp>
      <p:sp>
        <p:nvSpPr>
          <p:cNvPr id="17" name="Shape 15"/>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8" name="Shape 16"/>
          <p:cNvSpPr/>
          <p:nvPr/>
        </p:nvSpPr>
        <p:spPr>
          <a:xfrm>
            <a:off x="6355080" y="1325880"/>
            <a:ext cx="1920240" cy="1920240"/>
          </a:xfrm>
          <a:prstGeom prst="ellipse">
            <a:avLst/>
          </a:prstGeom>
          <a:solidFill>
            <a:srgbClr val="FFFFFF">
              <a:alpha val="18000"/>
            </a:srgbClr>
          </a:solidFill>
          <a:ln/>
        </p:spPr>
      </p:sp>
      <p:sp>
        <p:nvSpPr>
          <p:cNvPr id="19" name="Shape 17"/>
          <p:cNvSpPr/>
          <p:nvPr/>
        </p:nvSpPr>
        <p:spPr>
          <a:xfrm>
            <a:off x="6720840" y="1691640"/>
            <a:ext cx="1188720" cy="1188720"/>
          </a:xfrm>
          <a:prstGeom prst="ellipse">
            <a:avLst/>
          </a:prstGeom>
          <a:solidFill>
            <a:srgbClr val="FFFFFF"/>
          </a:solidFill>
          <a:ln/>
        </p:spPr>
      </p:sp>
      <p:pic>
        <p:nvPicPr>
          <p:cNvPr id="2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1" name="Shape 18"/>
          <p:cNvSpPr/>
          <p:nvPr/>
        </p:nvSpPr>
        <p:spPr>
          <a:xfrm>
            <a:off x="6510528" y="4014216"/>
            <a:ext cx="109728" cy="109728"/>
          </a:xfrm>
          <a:prstGeom prst="ellipse">
            <a:avLst/>
          </a:prstGeom>
          <a:solidFill>
            <a:srgbClr val="FFFFFF">
              <a:alpha val="40000"/>
            </a:srgbClr>
          </a:solidFill>
          <a:ln/>
        </p:spPr>
      </p:sp>
      <p:sp>
        <p:nvSpPr>
          <p:cNvPr id="22" name="Shape 19"/>
          <p:cNvSpPr/>
          <p:nvPr/>
        </p:nvSpPr>
        <p:spPr>
          <a:xfrm>
            <a:off x="6766560" y="3995928"/>
            <a:ext cx="146304" cy="146304"/>
          </a:xfrm>
          <a:prstGeom prst="ellipse">
            <a:avLst/>
          </a:prstGeom>
          <a:solidFill>
            <a:srgbClr val="F5C242"/>
          </a:solidFill>
          <a:ln/>
        </p:spPr>
      </p:sp>
      <p:sp>
        <p:nvSpPr>
          <p:cNvPr id="23" name="Shape 20"/>
          <p:cNvSpPr/>
          <p:nvPr/>
        </p:nvSpPr>
        <p:spPr>
          <a:xfrm>
            <a:off x="7059168" y="4014216"/>
            <a:ext cx="109728" cy="109728"/>
          </a:xfrm>
          <a:prstGeom prst="ellipse">
            <a:avLst/>
          </a:prstGeom>
          <a:solidFill>
            <a:srgbClr val="FFFFFF">
              <a:alpha val="40000"/>
            </a:srgbClr>
          </a:solidFill>
          <a:ln/>
        </p:spPr>
      </p:sp>
      <p:sp>
        <p:nvSpPr>
          <p:cNvPr id="24" name="Shape 21"/>
          <p:cNvSpPr/>
          <p:nvPr/>
        </p:nvSpPr>
        <p:spPr>
          <a:xfrm>
            <a:off x="7333488" y="4014216"/>
            <a:ext cx="109728" cy="109728"/>
          </a:xfrm>
          <a:prstGeom prst="ellipse">
            <a:avLst/>
          </a:prstGeom>
          <a:solidFill>
            <a:srgbClr val="FFFFFF">
              <a:alpha val="40000"/>
            </a:srgbClr>
          </a:solidFill>
          <a:ln/>
        </p:spPr>
      </p:sp>
      <p:sp>
        <p:nvSpPr>
          <p:cNvPr id="25" name="Shape 22"/>
          <p:cNvSpPr/>
          <p:nvPr/>
        </p:nvSpPr>
        <p:spPr>
          <a:xfrm>
            <a:off x="7607808" y="4014216"/>
            <a:ext cx="109728" cy="109728"/>
          </a:xfrm>
          <a:prstGeom prst="ellipse">
            <a:avLst/>
          </a:prstGeom>
          <a:solidFill>
            <a:srgbClr val="FFFFFF">
              <a:alpha val="40000"/>
            </a:srgbClr>
          </a:solidFill>
          <a:ln/>
        </p:spPr>
      </p:sp>
      <p:sp>
        <p:nvSpPr>
          <p:cNvPr id="26" name="Shape 23"/>
          <p:cNvSpPr/>
          <p:nvPr/>
        </p:nvSpPr>
        <p:spPr>
          <a:xfrm>
            <a:off x="7882128" y="4014216"/>
            <a:ext cx="109728" cy="109728"/>
          </a:xfrm>
          <a:prstGeom prst="ellipse">
            <a:avLst/>
          </a:prstGeom>
          <a:solidFill>
            <a:srgbClr val="FFFFFF">
              <a:alpha val="40000"/>
            </a:srgbClr>
          </a:solidFill>
          <a:ln/>
        </p:spPr>
      </p:sp>
      <p:sp>
        <p:nvSpPr>
          <p:cNvPr id="27" name="Text 24"/>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12</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NOTION CLÉ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fontScale="92500"/>
          </a:bodyPr>
          <a:lstStyle/>
          <a:p>
            <a:pPr marL="0" indent="0">
              <a:buNone/>
            </a:pPr>
            <a:r>
              <a:rPr lang="en-US" sz="2800" b="1" dirty="0">
                <a:solidFill>
                  <a:srgbClr val="231F20"/>
                </a:solidFill>
                <a:latin typeface="Calibri" pitchFamily="34" charset="0"/>
                <a:ea typeface="Calibri" pitchFamily="34" charset="-122"/>
                <a:cs typeface="Calibri" pitchFamily="34" charset="-120"/>
              </a:rPr>
              <a:t>Entraînement ou inférence : deux charges très différentes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La plupart des erreurs d'achat viennent de la confusion entre les deux</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8" name="Shape 15"/>
          <p:cNvSpPr/>
          <p:nvPr/>
        </p:nvSpPr>
        <p:spPr>
          <a:xfrm>
            <a:off x="457200" y="1371600"/>
            <a:ext cx="3840480" cy="2697480"/>
          </a:xfrm>
          <a:prstGeom prst="roundRect">
            <a:avLst>
              <a:gd name="adj" fmla="val 2712"/>
            </a:avLst>
          </a:prstGeom>
          <a:solidFill>
            <a:srgbClr val="F4F7F5"/>
          </a:solidFill>
          <a:ln w="9525">
            <a:solidFill>
              <a:srgbClr val="D5DED9"/>
            </a:solidFill>
            <a:prstDash val="solid"/>
          </a:ln>
        </p:spPr>
      </p:sp>
      <p:sp>
        <p:nvSpPr>
          <p:cNvPr id="19" name="Shape 16"/>
          <p:cNvSpPr/>
          <p:nvPr/>
        </p:nvSpPr>
        <p:spPr>
          <a:xfrm>
            <a:off x="594360" y="1481328"/>
            <a:ext cx="457200" cy="457200"/>
          </a:xfrm>
          <a:prstGeom prst="ellipse">
            <a:avLst/>
          </a:prstGeom>
          <a:solidFill>
            <a:srgbClr val="0E7C86">
              <a:alpha val="22000"/>
            </a:srgbClr>
          </a:solidFill>
          <a:ln/>
        </p:spPr>
      </p:sp>
      <p:pic>
        <p:nvPicPr>
          <p:cNvPr id="20" name="Image 0" descr="preencoded.png"/>
          <p:cNvPicPr>
            <a:picLocks noChangeAspect="1"/>
          </p:cNvPicPr>
          <p:nvPr/>
        </p:nvPicPr>
        <p:blipFill>
          <a:blip r:embed="rId3"/>
          <a:stretch>
            <a:fillRect/>
          </a:stretch>
        </p:blipFill>
        <p:spPr>
          <a:xfrm>
            <a:off x="704088" y="1591056"/>
            <a:ext cx="237744" cy="237744"/>
          </a:xfrm>
          <a:prstGeom prst="rect">
            <a:avLst/>
          </a:prstGeom>
        </p:spPr>
      </p:pic>
      <p:sp>
        <p:nvSpPr>
          <p:cNvPr id="21" name="Text 17"/>
          <p:cNvSpPr txBox="1"/>
          <p:nvPr/>
        </p:nvSpPr>
        <p:spPr>
          <a:xfrm>
            <a:off x="1170432" y="1463040"/>
            <a:ext cx="2743200" cy="274320"/>
          </a:xfrm>
          <a:prstGeom prst="rect">
            <a:avLst/>
          </a:prstGeom>
          <a:noFill/>
          <a:ln/>
        </p:spPr>
        <p:txBody>
          <a:bodyPr wrap="square" lIns="0" tIns="0" rIns="0" bIns="0" rtlCol="0" anchor="t"/>
          <a:lstStyle/>
          <a:p>
            <a:pPr marL="0" indent="0">
              <a:buNone/>
            </a:pPr>
            <a:r>
              <a:rPr lang="en-US" sz="1600" b="1" dirty="0">
                <a:solidFill>
                  <a:srgbClr val="0E7C86"/>
                </a:solidFill>
                <a:latin typeface="Calibri" pitchFamily="34" charset="0"/>
                <a:ea typeface="Calibri" pitchFamily="34" charset="-122"/>
                <a:cs typeface="Calibri" pitchFamily="34" charset="-120"/>
              </a:rPr>
              <a:t>Entraînement</a:t>
            </a:r>
            <a:endParaRPr lang="en-US" sz="1600" dirty="0"/>
          </a:p>
        </p:txBody>
      </p:sp>
      <p:sp>
        <p:nvSpPr>
          <p:cNvPr id="22" name="Text 18"/>
          <p:cNvSpPr txBox="1"/>
          <p:nvPr/>
        </p:nvSpPr>
        <p:spPr>
          <a:xfrm>
            <a:off x="1170432" y="1737360"/>
            <a:ext cx="3063240" cy="228600"/>
          </a:xfrm>
          <a:prstGeom prst="rect">
            <a:avLst/>
          </a:prstGeom>
          <a:noFill/>
          <a:ln/>
        </p:spPr>
        <p:txBody>
          <a:bodyPr wrap="square" lIns="0" tIns="0" rIns="0" bIns="0" rtlCol="0" anchor="t">
            <a:normAutofit/>
          </a:bodyPr>
          <a:lstStyle/>
          <a:p>
            <a:pPr marL="0" indent="0">
              <a:buNone/>
            </a:pPr>
            <a:r>
              <a:rPr lang="en-US" sz="950" i="1" dirty="0">
                <a:solidFill>
                  <a:srgbClr val="5E6964"/>
                </a:solidFill>
                <a:latin typeface="Calibri" pitchFamily="34" charset="0"/>
                <a:ea typeface="Calibri" pitchFamily="34" charset="-122"/>
                <a:cs typeface="Calibri" pitchFamily="34" charset="-120"/>
              </a:rPr>
              <a:t>Comme former un nouveau codeur à la nomenclature</a:t>
            </a:r>
            <a:endParaRPr lang="en-US" sz="950" dirty="0"/>
          </a:p>
        </p:txBody>
      </p:sp>
      <p:sp>
        <p:nvSpPr>
          <p:cNvPr id="23" name="Shape 19"/>
          <p:cNvSpPr/>
          <p:nvPr/>
        </p:nvSpPr>
        <p:spPr>
          <a:xfrm>
            <a:off x="594360" y="2103120"/>
            <a:ext cx="3566160" cy="0"/>
          </a:xfrm>
          <a:prstGeom prst="line">
            <a:avLst/>
          </a:prstGeom>
          <a:noFill/>
          <a:ln w="6350">
            <a:solidFill>
              <a:srgbClr val="D5DED9"/>
            </a:solidFill>
            <a:prstDash val="solid"/>
          </a:ln>
        </p:spPr>
      </p:sp>
      <p:sp>
        <p:nvSpPr>
          <p:cNvPr id="24" name="Text 20"/>
          <p:cNvSpPr txBox="1"/>
          <p:nvPr/>
        </p:nvSpPr>
        <p:spPr>
          <a:xfrm>
            <a:off x="594360" y="2139696"/>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Fréquence</a:t>
            </a:r>
            <a:endParaRPr lang="en-US" sz="950" dirty="0"/>
          </a:p>
        </p:txBody>
      </p:sp>
      <p:sp>
        <p:nvSpPr>
          <p:cNvPr id="25" name="Text 21"/>
          <p:cNvSpPr txBox="1"/>
          <p:nvPr/>
        </p:nvSpPr>
        <p:spPr>
          <a:xfrm>
            <a:off x="1737360" y="2139696"/>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Quelques fois par an</a:t>
            </a:r>
            <a:endParaRPr lang="en-US" sz="1050" dirty="0"/>
          </a:p>
        </p:txBody>
      </p:sp>
      <p:sp>
        <p:nvSpPr>
          <p:cNvPr id="26" name="Shape 22"/>
          <p:cNvSpPr/>
          <p:nvPr/>
        </p:nvSpPr>
        <p:spPr>
          <a:xfrm>
            <a:off x="594360" y="2487168"/>
            <a:ext cx="3566160" cy="0"/>
          </a:xfrm>
          <a:prstGeom prst="line">
            <a:avLst/>
          </a:prstGeom>
          <a:noFill/>
          <a:ln w="6350">
            <a:solidFill>
              <a:srgbClr val="D5DED9"/>
            </a:solidFill>
            <a:prstDash val="solid"/>
          </a:ln>
        </p:spPr>
      </p:sp>
      <p:sp>
        <p:nvSpPr>
          <p:cNvPr id="27" name="Text 23"/>
          <p:cNvSpPr txBox="1"/>
          <p:nvPr/>
        </p:nvSpPr>
        <p:spPr>
          <a:xfrm>
            <a:off x="594360" y="2523744"/>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Calcul</a:t>
            </a:r>
            <a:endParaRPr lang="en-US" sz="950" dirty="0"/>
          </a:p>
        </p:txBody>
      </p:sp>
      <p:sp>
        <p:nvSpPr>
          <p:cNvPr id="28" name="Text 24"/>
          <p:cNvSpPr txBox="1"/>
          <p:nvPr/>
        </p:nvSpPr>
        <p:spPr>
          <a:xfrm>
            <a:off x="1737360" y="2523744"/>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Lourd : GPU pendant des heures ou des jours</a:t>
            </a:r>
            <a:endParaRPr lang="en-US" sz="1050" dirty="0"/>
          </a:p>
        </p:txBody>
      </p:sp>
      <p:sp>
        <p:nvSpPr>
          <p:cNvPr id="29" name="Shape 25"/>
          <p:cNvSpPr/>
          <p:nvPr/>
        </p:nvSpPr>
        <p:spPr>
          <a:xfrm>
            <a:off x="594360" y="2871216"/>
            <a:ext cx="3566160" cy="0"/>
          </a:xfrm>
          <a:prstGeom prst="line">
            <a:avLst/>
          </a:prstGeom>
          <a:noFill/>
          <a:ln w="6350">
            <a:solidFill>
              <a:srgbClr val="D5DED9"/>
            </a:solidFill>
            <a:prstDash val="solid"/>
          </a:ln>
        </p:spPr>
      </p:sp>
      <p:sp>
        <p:nvSpPr>
          <p:cNvPr id="30" name="Text 26"/>
          <p:cNvSpPr txBox="1"/>
          <p:nvPr/>
        </p:nvSpPr>
        <p:spPr>
          <a:xfrm>
            <a:off x="594360" y="2907792"/>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Données</a:t>
            </a:r>
            <a:endParaRPr lang="en-US" sz="950" dirty="0"/>
          </a:p>
        </p:txBody>
      </p:sp>
      <p:sp>
        <p:nvSpPr>
          <p:cNvPr id="31" name="Text 27"/>
          <p:cNvSpPr txBox="1"/>
          <p:nvPr/>
        </p:nvSpPr>
        <p:spPr>
          <a:xfrm>
            <a:off x="1737360" y="2907792"/>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Des milliers d'exemples annotés</a:t>
            </a:r>
            <a:endParaRPr lang="en-US" sz="1050" dirty="0"/>
          </a:p>
        </p:txBody>
      </p:sp>
      <p:sp>
        <p:nvSpPr>
          <p:cNvPr id="32" name="Shape 28"/>
          <p:cNvSpPr/>
          <p:nvPr/>
        </p:nvSpPr>
        <p:spPr>
          <a:xfrm>
            <a:off x="594360" y="3255264"/>
            <a:ext cx="3566160" cy="0"/>
          </a:xfrm>
          <a:prstGeom prst="line">
            <a:avLst/>
          </a:prstGeom>
          <a:noFill/>
          <a:ln w="6350">
            <a:solidFill>
              <a:srgbClr val="D5DED9"/>
            </a:solidFill>
            <a:prstDash val="solid"/>
          </a:ln>
        </p:spPr>
      </p:sp>
      <p:sp>
        <p:nvSpPr>
          <p:cNvPr id="33" name="Text 29"/>
          <p:cNvSpPr txBox="1"/>
          <p:nvPr/>
        </p:nvSpPr>
        <p:spPr>
          <a:xfrm>
            <a:off x="594360" y="3291840"/>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Risque</a:t>
            </a:r>
            <a:endParaRPr lang="en-US" sz="950" dirty="0"/>
          </a:p>
        </p:txBody>
      </p:sp>
      <p:sp>
        <p:nvSpPr>
          <p:cNvPr id="34" name="Text 30"/>
          <p:cNvSpPr txBox="1"/>
          <p:nvPr/>
        </p:nvSpPr>
        <p:spPr>
          <a:xfrm>
            <a:off x="1737360" y="3291840"/>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Acheter une grappe qui reste inactive</a:t>
            </a:r>
            <a:endParaRPr lang="en-US" sz="1050" dirty="0"/>
          </a:p>
        </p:txBody>
      </p:sp>
      <p:sp>
        <p:nvSpPr>
          <p:cNvPr id="35" name="Shape 31"/>
          <p:cNvSpPr/>
          <p:nvPr/>
        </p:nvSpPr>
        <p:spPr>
          <a:xfrm>
            <a:off x="594360" y="3639312"/>
            <a:ext cx="3566160" cy="0"/>
          </a:xfrm>
          <a:prstGeom prst="line">
            <a:avLst/>
          </a:prstGeom>
          <a:noFill/>
          <a:ln w="6350">
            <a:solidFill>
              <a:srgbClr val="D5DED9"/>
            </a:solidFill>
            <a:prstDash val="solid"/>
          </a:ln>
        </p:spPr>
      </p:sp>
      <p:sp>
        <p:nvSpPr>
          <p:cNvPr id="36" name="Text 32"/>
          <p:cNvSpPr txBox="1"/>
          <p:nvPr/>
        </p:nvSpPr>
        <p:spPr>
          <a:xfrm>
            <a:off x="594360" y="3675888"/>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Où l'exécuter</a:t>
            </a:r>
            <a:endParaRPr lang="en-US" sz="950" dirty="0"/>
          </a:p>
        </p:txBody>
      </p:sp>
      <p:sp>
        <p:nvSpPr>
          <p:cNvPr id="37" name="Text 33"/>
          <p:cNvSpPr txBox="1"/>
          <p:nvPr/>
        </p:nvSpPr>
        <p:spPr>
          <a:xfrm>
            <a:off x="1737360" y="3675888"/>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Louer ou emprunter de la capacité ponctuelle</a:t>
            </a:r>
            <a:endParaRPr lang="en-US" sz="1050" dirty="0"/>
          </a:p>
        </p:txBody>
      </p:sp>
      <p:sp>
        <p:nvSpPr>
          <p:cNvPr id="38" name="Shape 34"/>
          <p:cNvSpPr/>
          <p:nvPr/>
        </p:nvSpPr>
        <p:spPr>
          <a:xfrm>
            <a:off x="4846320" y="1371600"/>
            <a:ext cx="3840480" cy="2697480"/>
          </a:xfrm>
          <a:prstGeom prst="roundRect">
            <a:avLst>
              <a:gd name="adj" fmla="val 2712"/>
            </a:avLst>
          </a:prstGeom>
          <a:solidFill>
            <a:srgbClr val="F4F7F5"/>
          </a:solidFill>
          <a:ln w="9525">
            <a:solidFill>
              <a:srgbClr val="D5DED9"/>
            </a:solidFill>
            <a:prstDash val="solid"/>
          </a:ln>
        </p:spPr>
      </p:sp>
      <p:sp>
        <p:nvSpPr>
          <p:cNvPr id="39" name="Shape 35"/>
          <p:cNvSpPr/>
          <p:nvPr/>
        </p:nvSpPr>
        <p:spPr>
          <a:xfrm>
            <a:off x="4983480" y="1481328"/>
            <a:ext cx="457200" cy="457200"/>
          </a:xfrm>
          <a:prstGeom prst="ellipse">
            <a:avLst/>
          </a:prstGeom>
          <a:solidFill>
            <a:srgbClr val="00A86A">
              <a:alpha val="22000"/>
            </a:srgbClr>
          </a:solidFill>
          <a:ln/>
        </p:spPr>
      </p:sp>
      <p:pic>
        <p:nvPicPr>
          <p:cNvPr id="40" name="Image 1" descr="preencoded.png"/>
          <p:cNvPicPr>
            <a:picLocks noChangeAspect="1"/>
          </p:cNvPicPr>
          <p:nvPr/>
        </p:nvPicPr>
        <p:blipFill>
          <a:blip r:embed="rId4"/>
          <a:stretch>
            <a:fillRect/>
          </a:stretch>
        </p:blipFill>
        <p:spPr>
          <a:xfrm>
            <a:off x="5093208" y="1591056"/>
            <a:ext cx="237744" cy="237744"/>
          </a:xfrm>
          <a:prstGeom prst="rect">
            <a:avLst/>
          </a:prstGeom>
        </p:spPr>
      </p:pic>
      <p:sp>
        <p:nvSpPr>
          <p:cNvPr id="41" name="Text 36"/>
          <p:cNvSpPr txBox="1"/>
          <p:nvPr/>
        </p:nvSpPr>
        <p:spPr>
          <a:xfrm>
            <a:off x="5559552" y="1463040"/>
            <a:ext cx="2743200" cy="274320"/>
          </a:xfrm>
          <a:prstGeom prst="rect">
            <a:avLst/>
          </a:prstGeom>
          <a:noFill/>
          <a:ln/>
        </p:spPr>
        <p:txBody>
          <a:bodyPr wrap="square" lIns="0" tIns="0" rIns="0" bIns="0" rtlCol="0" anchor="t"/>
          <a:lstStyle/>
          <a:p>
            <a:pPr marL="0" indent="0">
              <a:buNone/>
            </a:pPr>
            <a:r>
              <a:rPr lang="en-US" sz="1600" b="1" dirty="0">
                <a:solidFill>
                  <a:srgbClr val="00A86A"/>
                </a:solidFill>
                <a:latin typeface="Calibri" pitchFamily="34" charset="0"/>
                <a:ea typeface="Calibri" pitchFamily="34" charset="-122"/>
                <a:cs typeface="Calibri" pitchFamily="34" charset="-120"/>
              </a:rPr>
              <a:t>Inférence</a:t>
            </a:r>
            <a:endParaRPr lang="en-US" sz="1600" dirty="0"/>
          </a:p>
        </p:txBody>
      </p:sp>
      <p:sp>
        <p:nvSpPr>
          <p:cNvPr id="42" name="Text 37"/>
          <p:cNvSpPr txBox="1"/>
          <p:nvPr/>
        </p:nvSpPr>
        <p:spPr>
          <a:xfrm>
            <a:off x="5559552" y="1737360"/>
            <a:ext cx="3063240" cy="228600"/>
          </a:xfrm>
          <a:prstGeom prst="rect">
            <a:avLst/>
          </a:prstGeom>
          <a:noFill/>
          <a:ln/>
        </p:spPr>
        <p:txBody>
          <a:bodyPr wrap="square" lIns="0" tIns="0" rIns="0" bIns="0" rtlCol="0" anchor="t">
            <a:normAutofit fontScale="92500"/>
          </a:bodyPr>
          <a:lstStyle/>
          <a:p>
            <a:pPr marL="0" indent="0">
              <a:buNone/>
            </a:pPr>
            <a:r>
              <a:rPr lang="en-US" sz="950" i="1" dirty="0">
                <a:solidFill>
                  <a:srgbClr val="5E6964"/>
                </a:solidFill>
                <a:latin typeface="Calibri" pitchFamily="34" charset="0"/>
                <a:ea typeface="Calibri" pitchFamily="34" charset="-122"/>
                <a:cs typeface="Calibri" pitchFamily="34" charset="-120"/>
              </a:rPr>
              <a:t>Comme le codeur formé qui traite des questionnaires chaque jour</a:t>
            </a:r>
            <a:endParaRPr lang="en-US" sz="950" dirty="0"/>
          </a:p>
        </p:txBody>
      </p:sp>
      <p:sp>
        <p:nvSpPr>
          <p:cNvPr id="43" name="Shape 38"/>
          <p:cNvSpPr/>
          <p:nvPr/>
        </p:nvSpPr>
        <p:spPr>
          <a:xfrm>
            <a:off x="4983480" y="2103120"/>
            <a:ext cx="3566160" cy="0"/>
          </a:xfrm>
          <a:prstGeom prst="line">
            <a:avLst/>
          </a:prstGeom>
          <a:noFill/>
          <a:ln w="6350">
            <a:solidFill>
              <a:srgbClr val="D5DED9"/>
            </a:solidFill>
            <a:prstDash val="solid"/>
          </a:ln>
        </p:spPr>
      </p:sp>
      <p:sp>
        <p:nvSpPr>
          <p:cNvPr id="44" name="Text 39"/>
          <p:cNvSpPr txBox="1"/>
          <p:nvPr/>
        </p:nvSpPr>
        <p:spPr>
          <a:xfrm>
            <a:off x="4983480" y="2139696"/>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Fréquence</a:t>
            </a:r>
            <a:endParaRPr lang="en-US" sz="950" dirty="0"/>
          </a:p>
        </p:txBody>
      </p:sp>
      <p:sp>
        <p:nvSpPr>
          <p:cNvPr id="45" name="Text 40"/>
          <p:cNvSpPr txBox="1"/>
          <p:nvPr/>
        </p:nvSpPr>
        <p:spPr>
          <a:xfrm>
            <a:off x="6126480" y="2139696"/>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En continu, chaque jour</a:t>
            </a:r>
            <a:endParaRPr lang="en-US" sz="1050" dirty="0"/>
          </a:p>
        </p:txBody>
      </p:sp>
      <p:sp>
        <p:nvSpPr>
          <p:cNvPr id="46" name="Shape 41"/>
          <p:cNvSpPr/>
          <p:nvPr/>
        </p:nvSpPr>
        <p:spPr>
          <a:xfrm>
            <a:off x="4983480" y="2487168"/>
            <a:ext cx="3566160" cy="0"/>
          </a:xfrm>
          <a:prstGeom prst="line">
            <a:avLst/>
          </a:prstGeom>
          <a:noFill/>
          <a:ln w="6350">
            <a:solidFill>
              <a:srgbClr val="D5DED9"/>
            </a:solidFill>
            <a:prstDash val="solid"/>
          </a:ln>
        </p:spPr>
      </p:sp>
      <p:sp>
        <p:nvSpPr>
          <p:cNvPr id="47" name="Text 42"/>
          <p:cNvSpPr txBox="1"/>
          <p:nvPr/>
        </p:nvSpPr>
        <p:spPr>
          <a:xfrm>
            <a:off x="4983480" y="2523744"/>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Calcul</a:t>
            </a:r>
            <a:endParaRPr lang="en-US" sz="950" dirty="0"/>
          </a:p>
        </p:txBody>
      </p:sp>
      <p:sp>
        <p:nvSpPr>
          <p:cNvPr id="48" name="Text 43"/>
          <p:cNvSpPr txBox="1"/>
          <p:nvPr/>
        </p:nvSpPr>
        <p:spPr>
          <a:xfrm>
            <a:off x="6126480" y="2523744"/>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Léger par requête : CPU ou un GPU</a:t>
            </a:r>
            <a:endParaRPr lang="en-US" sz="1050" dirty="0"/>
          </a:p>
        </p:txBody>
      </p:sp>
      <p:sp>
        <p:nvSpPr>
          <p:cNvPr id="49" name="Shape 44"/>
          <p:cNvSpPr/>
          <p:nvPr/>
        </p:nvSpPr>
        <p:spPr>
          <a:xfrm>
            <a:off x="4983480" y="2871216"/>
            <a:ext cx="3566160" cy="0"/>
          </a:xfrm>
          <a:prstGeom prst="line">
            <a:avLst/>
          </a:prstGeom>
          <a:noFill/>
          <a:ln w="6350">
            <a:solidFill>
              <a:srgbClr val="D5DED9"/>
            </a:solidFill>
            <a:prstDash val="solid"/>
          </a:ln>
        </p:spPr>
      </p:sp>
      <p:sp>
        <p:nvSpPr>
          <p:cNvPr id="50" name="Text 45"/>
          <p:cNvSpPr txBox="1"/>
          <p:nvPr/>
        </p:nvSpPr>
        <p:spPr>
          <a:xfrm>
            <a:off x="4983480" y="2907792"/>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Données</a:t>
            </a:r>
            <a:endParaRPr lang="en-US" sz="950" dirty="0"/>
          </a:p>
        </p:txBody>
      </p:sp>
      <p:sp>
        <p:nvSpPr>
          <p:cNvPr id="51" name="Text 46"/>
          <p:cNvSpPr txBox="1"/>
          <p:nvPr/>
        </p:nvSpPr>
        <p:spPr>
          <a:xfrm>
            <a:off x="6126480" y="2907792"/>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Les nouveaux enregistrements à classer</a:t>
            </a:r>
            <a:endParaRPr lang="en-US" sz="1050" dirty="0"/>
          </a:p>
        </p:txBody>
      </p:sp>
      <p:sp>
        <p:nvSpPr>
          <p:cNvPr id="52" name="Shape 47"/>
          <p:cNvSpPr/>
          <p:nvPr/>
        </p:nvSpPr>
        <p:spPr>
          <a:xfrm>
            <a:off x="4983480" y="3255264"/>
            <a:ext cx="3566160" cy="0"/>
          </a:xfrm>
          <a:prstGeom prst="line">
            <a:avLst/>
          </a:prstGeom>
          <a:noFill/>
          <a:ln w="6350">
            <a:solidFill>
              <a:srgbClr val="D5DED9"/>
            </a:solidFill>
            <a:prstDash val="solid"/>
          </a:ln>
        </p:spPr>
      </p:sp>
      <p:sp>
        <p:nvSpPr>
          <p:cNvPr id="53" name="Text 48"/>
          <p:cNvSpPr txBox="1"/>
          <p:nvPr/>
        </p:nvSpPr>
        <p:spPr>
          <a:xfrm>
            <a:off x="4983480" y="3291840"/>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Risque</a:t>
            </a:r>
            <a:endParaRPr lang="en-US" sz="950" dirty="0"/>
          </a:p>
        </p:txBody>
      </p:sp>
      <p:sp>
        <p:nvSpPr>
          <p:cNvPr id="54" name="Text 49"/>
          <p:cNvSpPr txBox="1"/>
          <p:nvPr/>
        </p:nvSpPr>
        <p:spPr>
          <a:xfrm>
            <a:off x="6126480" y="3291840"/>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panne pendant une période de diffusion</a:t>
            </a:r>
            <a:endParaRPr lang="en-US" sz="1050" dirty="0"/>
          </a:p>
        </p:txBody>
      </p:sp>
      <p:sp>
        <p:nvSpPr>
          <p:cNvPr id="55" name="Shape 50"/>
          <p:cNvSpPr/>
          <p:nvPr/>
        </p:nvSpPr>
        <p:spPr>
          <a:xfrm>
            <a:off x="4983480" y="3639312"/>
            <a:ext cx="3566160" cy="0"/>
          </a:xfrm>
          <a:prstGeom prst="line">
            <a:avLst/>
          </a:prstGeom>
          <a:noFill/>
          <a:ln w="6350">
            <a:solidFill>
              <a:srgbClr val="D5DED9"/>
            </a:solidFill>
            <a:prstDash val="solid"/>
          </a:ln>
        </p:spPr>
      </p:sp>
      <p:sp>
        <p:nvSpPr>
          <p:cNvPr id="56" name="Text 51"/>
          <p:cNvSpPr txBox="1"/>
          <p:nvPr/>
        </p:nvSpPr>
        <p:spPr>
          <a:xfrm>
            <a:off x="4983480" y="3675888"/>
            <a:ext cx="1097280" cy="310896"/>
          </a:xfrm>
          <a:prstGeom prst="rect">
            <a:avLst/>
          </a:prstGeom>
          <a:noFill/>
          <a:ln/>
        </p:spPr>
        <p:txBody>
          <a:bodyPr wrap="square" lIns="0" tIns="0" rIns="0" bIns="0" rtlCol="0" anchor="ctr"/>
          <a:lstStyle/>
          <a:p>
            <a:pPr marL="0" indent="0">
              <a:buNone/>
            </a:pPr>
            <a:r>
              <a:rPr lang="en-US" sz="950" b="1" dirty="0">
                <a:solidFill>
                  <a:srgbClr val="5E6964"/>
                </a:solidFill>
                <a:latin typeface="Calibri" pitchFamily="34" charset="0"/>
                <a:ea typeface="Calibri" pitchFamily="34" charset="-122"/>
                <a:cs typeface="Calibri" pitchFamily="34" charset="-120"/>
              </a:rPr>
              <a:t>Où l'exécuter</a:t>
            </a:r>
            <a:endParaRPr lang="en-US" sz="950" dirty="0"/>
          </a:p>
        </p:txBody>
      </p:sp>
      <p:sp>
        <p:nvSpPr>
          <p:cNvPr id="57" name="Text 52"/>
          <p:cNvSpPr txBox="1"/>
          <p:nvPr/>
        </p:nvSpPr>
        <p:spPr>
          <a:xfrm>
            <a:off x="6126480" y="3675888"/>
            <a:ext cx="2423160" cy="310896"/>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Capacité stable, propre ou contractuelle</a:t>
            </a:r>
            <a:endParaRPr lang="en-US" sz="1050" dirty="0"/>
          </a:p>
        </p:txBody>
      </p:sp>
      <p:sp>
        <p:nvSpPr>
          <p:cNvPr id="58" name="Shape 53"/>
          <p:cNvSpPr/>
          <p:nvPr/>
        </p:nvSpPr>
        <p:spPr>
          <a:xfrm>
            <a:off x="4315968" y="2395728"/>
            <a:ext cx="512064" cy="512064"/>
          </a:xfrm>
          <a:prstGeom prst="ellipse">
            <a:avLst/>
          </a:prstGeom>
          <a:solidFill>
            <a:srgbClr val="FFFFFF"/>
          </a:solidFill>
          <a:ln w="12700">
            <a:solidFill>
              <a:srgbClr val="D5DED9"/>
            </a:solidFill>
            <a:prstDash val="solid"/>
          </a:ln>
        </p:spPr>
      </p:sp>
      <p:pic>
        <p:nvPicPr>
          <p:cNvPr id="59" name="Image 2" descr="preencoded.png"/>
          <p:cNvPicPr>
            <a:picLocks noChangeAspect="1"/>
          </p:cNvPicPr>
          <p:nvPr/>
        </p:nvPicPr>
        <p:blipFill>
          <a:blip r:embed="rId5"/>
          <a:stretch>
            <a:fillRect/>
          </a:stretch>
        </p:blipFill>
        <p:spPr>
          <a:xfrm>
            <a:off x="4443984" y="2523744"/>
            <a:ext cx="256032" cy="256032"/>
          </a:xfrm>
          <a:prstGeom prst="rect">
            <a:avLst/>
          </a:prstGeom>
        </p:spPr>
      </p:pic>
      <p:sp>
        <p:nvSpPr>
          <p:cNvPr id="60" name="Shape 54"/>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1" name="Shape 55"/>
          <p:cNvSpPr/>
          <p:nvPr/>
        </p:nvSpPr>
        <p:spPr>
          <a:xfrm>
            <a:off x="566928" y="4233672"/>
            <a:ext cx="292608" cy="292608"/>
          </a:xfrm>
          <a:prstGeom prst="ellipse">
            <a:avLst/>
          </a:prstGeom>
          <a:solidFill>
            <a:srgbClr val="00A86A">
              <a:alpha val="22000"/>
            </a:srgbClr>
          </a:solidFill>
          <a:ln/>
        </p:spPr>
      </p:sp>
      <p:pic>
        <p:nvPicPr>
          <p:cNvPr id="62" name="Image 3" descr="preencoded.png"/>
          <p:cNvPicPr>
            <a:picLocks noChangeAspect="1"/>
          </p:cNvPicPr>
          <p:nvPr/>
        </p:nvPicPr>
        <p:blipFill>
          <a:blip r:embed="rId6"/>
          <a:stretch>
            <a:fillRect/>
          </a:stretch>
        </p:blipFill>
        <p:spPr>
          <a:xfrm>
            <a:off x="637154" y="4303898"/>
            <a:ext cx="152156" cy="152156"/>
          </a:xfrm>
          <a:prstGeom prst="rect">
            <a:avLst/>
          </a:prstGeom>
        </p:spPr>
      </p:pic>
      <p:sp>
        <p:nvSpPr>
          <p:cNvPr id="63" name="Text 56"/>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La plupart des usages d'un INS sont lourds en inférence et légers en entraînement. Dimensionnez le matériel propre pour l'inférence ; louez la capacité d'entraînement au besoin.</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1 · CALCUL</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Adapter le matériel à la charge de travail</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L'erreur la plus coûteuse : acheter du matériel d'entraînement pour un besoin d'inférence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8" name="Text 15"/>
          <p:cNvSpPr txBox="1"/>
          <p:nvPr/>
        </p:nvSpPr>
        <p:spPr>
          <a:xfrm>
            <a:off x="548640" y="1298448"/>
            <a:ext cx="25603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CHARGE DE TRAVAIL</a:t>
            </a:r>
            <a:endParaRPr lang="en-US" sz="900" dirty="0"/>
          </a:p>
        </p:txBody>
      </p:sp>
      <p:sp>
        <p:nvSpPr>
          <p:cNvPr id="19" name="Text 16"/>
          <p:cNvSpPr txBox="1"/>
          <p:nvPr/>
        </p:nvSpPr>
        <p:spPr>
          <a:xfrm>
            <a:off x="3291840" y="1298448"/>
            <a:ext cx="14630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MATÉRIEL TYPE</a:t>
            </a:r>
            <a:endParaRPr lang="en-US" sz="900" dirty="0"/>
          </a:p>
        </p:txBody>
      </p:sp>
      <p:sp>
        <p:nvSpPr>
          <p:cNvPr id="20" name="Text 17"/>
          <p:cNvSpPr txBox="1"/>
          <p:nvPr/>
        </p:nvSpPr>
        <p:spPr>
          <a:xfrm>
            <a:off x="4937760" y="1298448"/>
            <a:ext cx="9601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DURÉE</a:t>
            </a:r>
            <a:endParaRPr lang="en-US" sz="900" dirty="0"/>
          </a:p>
        </p:txBody>
      </p:sp>
      <p:sp>
        <p:nvSpPr>
          <p:cNvPr id="21" name="Text 18"/>
          <p:cNvSpPr txBox="1"/>
          <p:nvPr/>
        </p:nvSpPr>
        <p:spPr>
          <a:xfrm>
            <a:off x="6080760" y="1298448"/>
            <a:ext cx="91440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POUR UN INS ?</a:t>
            </a:r>
            <a:endParaRPr lang="en-US" sz="900" dirty="0"/>
          </a:p>
        </p:txBody>
      </p:sp>
      <p:sp>
        <p:nvSpPr>
          <p:cNvPr id="22" name="Text 19"/>
          <p:cNvSpPr txBox="1"/>
          <p:nvPr/>
        </p:nvSpPr>
        <p:spPr>
          <a:xfrm>
            <a:off x="7178040" y="1298448"/>
            <a:ext cx="14173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COMMENTAIRE</a:t>
            </a:r>
            <a:endParaRPr lang="en-US" sz="900" dirty="0"/>
          </a:p>
        </p:txBody>
      </p:sp>
      <p:sp>
        <p:nvSpPr>
          <p:cNvPr id="23" name="Shape 20"/>
          <p:cNvSpPr/>
          <p:nvPr/>
        </p:nvSpPr>
        <p:spPr>
          <a:xfrm>
            <a:off x="457200" y="1572768"/>
            <a:ext cx="8229600" cy="365760"/>
          </a:xfrm>
          <a:prstGeom prst="roundRect">
            <a:avLst>
              <a:gd name="adj" fmla="val 12500"/>
            </a:avLst>
          </a:prstGeom>
          <a:solidFill>
            <a:srgbClr val="F4F7F5"/>
          </a:solidFill>
          <a:ln w="9525">
            <a:solidFill>
              <a:srgbClr val="D5DED9"/>
            </a:solidFill>
            <a:prstDash val="solid"/>
          </a:ln>
        </p:spPr>
      </p:sp>
      <p:sp>
        <p:nvSpPr>
          <p:cNvPr id="24" name="Text 21"/>
          <p:cNvSpPr txBox="1"/>
          <p:nvPr/>
        </p:nvSpPr>
        <p:spPr>
          <a:xfrm>
            <a:off x="548640" y="157276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Apprentissage classique (boosting, modèles linéaires)</a:t>
            </a:r>
            <a:endParaRPr lang="en-US" sz="900" dirty="0"/>
          </a:p>
        </p:txBody>
      </p:sp>
      <p:sp>
        <p:nvSpPr>
          <p:cNvPr id="25" name="Text 22"/>
          <p:cNvSpPr txBox="1"/>
          <p:nvPr/>
        </p:nvSpPr>
        <p:spPr>
          <a:xfrm>
            <a:off x="3291840" y="157276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CPU seul, 16–64 cœurs</a:t>
            </a:r>
            <a:endParaRPr lang="en-US" sz="900" dirty="0"/>
          </a:p>
        </p:txBody>
      </p:sp>
      <p:sp>
        <p:nvSpPr>
          <p:cNvPr id="26" name="Text 23"/>
          <p:cNvSpPr txBox="1"/>
          <p:nvPr/>
        </p:nvSpPr>
        <p:spPr>
          <a:xfrm>
            <a:off x="4937760" y="157276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Minutes–heures</a:t>
            </a:r>
            <a:endParaRPr lang="en-US" sz="900" dirty="0"/>
          </a:p>
        </p:txBody>
      </p:sp>
      <p:sp>
        <p:nvSpPr>
          <p:cNvPr id="27" name="Shape 24"/>
          <p:cNvSpPr/>
          <p:nvPr/>
        </p:nvSpPr>
        <p:spPr>
          <a:xfrm>
            <a:off x="6035040" y="1645920"/>
            <a:ext cx="1005840" cy="219456"/>
          </a:xfrm>
          <a:prstGeom prst="roundRect">
            <a:avLst>
              <a:gd name="adj" fmla="val 50000"/>
            </a:avLst>
          </a:prstGeom>
          <a:solidFill>
            <a:srgbClr val="00704A">
              <a:alpha val="15000"/>
            </a:srgbClr>
          </a:solidFill>
          <a:ln w="9525">
            <a:solidFill>
              <a:srgbClr val="00704A"/>
            </a:solidFill>
            <a:prstDash val="solid"/>
          </a:ln>
        </p:spPr>
      </p:sp>
      <p:sp>
        <p:nvSpPr>
          <p:cNvPr id="28" name="Text 25"/>
          <p:cNvSpPr txBox="1"/>
          <p:nvPr/>
        </p:nvSpPr>
        <p:spPr>
          <a:xfrm>
            <a:off x="6035040" y="164592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Oui</a:t>
            </a:r>
            <a:endParaRPr lang="en-US" sz="850" dirty="0"/>
          </a:p>
        </p:txBody>
      </p:sp>
      <p:sp>
        <p:nvSpPr>
          <p:cNvPr id="29" name="Text 26"/>
          <p:cNvSpPr txBox="1"/>
          <p:nvPr/>
        </p:nvSpPr>
        <p:spPr>
          <a:xfrm>
            <a:off x="7178040" y="157276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Couvre une grande part de la codification</a:t>
            </a:r>
            <a:endParaRPr lang="en-US" sz="900" dirty="0"/>
          </a:p>
        </p:txBody>
      </p:sp>
      <p:sp>
        <p:nvSpPr>
          <p:cNvPr id="30" name="Shape 27"/>
          <p:cNvSpPr/>
          <p:nvPr/>
        </p:nvSpPr>
        <p:spPr>
          <a:xfrm>
            <a:off x="457200" y="1984248"/>
            <a:ext cx="8229600" cy="365760"/>
          </a:xfrm>
          <a:prstGeom prst="roundRect">
            <a:avLst>
              <a:gd name="adj" fmla="val 12500"/>
            </a:avLst>
          </a:prstGeom>
          <a:solidFill>
            <a:srgbClr val="F4F7F5"/>
          </a:solidFill>
          <a:ln w="9525">
            <a:solidFill>
              <a:srgbClr val="D5DED9"/>
            </a:solidFill>
            <a:prstDash val="solid"/>
          </a:ln>
        </p:spPr>
      </p:sp>
      <p:sp>
        <p:nvSpPr>
          <p:cNvPr id="31" name="Text 28"/>
          <p:cNvSpPr txBox="1"/>
          <p:nvPr/>
        </p:nvSpPr>
        <p:spPr>
          <a:xfrm>
            <a:off x="548640" y="198424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Affinage de petits modèles de texte (&lt; 1 Md de paramètres)</a:t>
            </a:r>
            <a:endParaRPr lang="en-US" sz="900" dirty="0"/>
          </a:p>
        </p:txBody>
      </p:sp>
      <p:sp>
        <p:nvSpPr>
          <p:cNvPr id="32" name="Text 29"/>
          <p:cNvSpPr txBox="1"/>
          <p:nvPr/>
        </p:nvSpPr>
        <p:spPr>
          <a:xfrm>
            <a:off x="3291840" y="198424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1 GPU, 24–48 Go</a:t>
            </a:r>
            <a:endParaRPr lang="en-US" sz="900" dirty="0"/>
          </a:p>
        </p:txBody>
      </p:sp>
      <p:sp>
        <p:nvSpPr>
          <p:cNvPr id="33" name="Text 30"/>
          <p:cNvSpPr txBox="1"/>
          <p:nvPr/>
        </p:nvSpPr>
        <p:spPr>
          <a:xfrm>
            <a:off x="4937760" y="198424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Heures</a:t>
            </a:r>
            <a:endParaRPr lang="en-US" sz="900" dirty="0"/>
          </a:p>
        </p:txBody>
      </p:sp>
      <p:sp>
        <p:nvSpPr>
          <p:cNvPr id="34" name="Shape 31"/>
          <p:cNvSpPr/>
          <p:nvPr/>
        </p:nvSpPr>
        <p:spPr>
          <a:xfrm>
            <a:off x="6035040" y="2057400"/>
            <a:ext cx="1005840" cy="219456"/>
          </a:xfrm>
          <a:prstGeom prst="roundRect">
            <a:avLst>
              <a:gd name="adj" fmla="val 50000"/>
            </a:avLst>
          </a:prstGeom>
          <a:solidFill>
            <a:srgbClr val="00704A">
              <a:alpha val="15000"/>
            </a:srgbClr>
          </a:solidFill>
          <a:ln w="9525">
            <a:solidFill>
              <a:srgbClr val="00704A"/>
            </a:solidFill>
            <a:prstDash val="solid"/>
          </a:ln>
        </p:spPr>
      </p:sp>
      <p:sp>
        <p:nvSpPr>
          <p:cNvPr id="35" name="Text 32"/>
          <p:cNvSpPr txBox="1"/>
          <p:nvPr/>
        </p:nvSpPr>
        <p:spPr>
          <a:xfrm>
            <a:off x="6035040" y="205740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Oui</a:t>
            </a:r>
            <a:endParaRPr lang="en-US" sz="850" dirty="0"/>
          </a:p>
        </p:txBody>
      </p:sp>
      <p:sp>
        <p:nvSpPr>
          <p:cNvPr id="36" name="Text 33"/>
          <p:cNvSpPr txBox="1"/>
          <p:nvPr/>
        </p:nvSpPr>
        <p:spPr>
          <a:xfrm>
            <a:off x="7178040" y="198424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Le cheval de trait de la classification</a:t>
            </a:r>
            <a:endParaRPr lang="en-US" sz="900" dirty="0"/>
          </a:p>
        </p:txBody>
      </p:sp>
      <p:sp>
        <p:nvSpPr>
          <p:cNvPr id="37" name="Shape 34"/>
          <p:cNvSpPr/>
          <p:nvPr/>
        </p:nvSpPr>
        <p:spPr>
          <a:xfrm>
            <a:off x="457200" y="2395728"/>
            <a:ext cx="8229600" cy="365760"/>
          </a:xfrm>
          <a:prstGeom prst="roundRect">
            <a:avLst>
              <a:gd name="adj" fmla="val 12500"/>
            </a:avLst>
          </a:prstGeom>
          <a:solidFill>
            <a:srgbClr val="F4F7F5"/>
          </a:solidFill>
          <a:ln w="9525">
            <a:solidFill>
              <a:srgbClr val="D5DED9"/>
            </a:solidFill>
            <a:prstDash val="solid"/>
          </a:ln>
        </p:spPr>
      </p:sp>
      <p:sp>
        <p:nvSpPr>
          <p:cNvPr id="38" name="Text 35"/>
          <p:cNvSpPr txBox="1"/>
          <p:nvPr/>
        </p:nvSpPr>
        <p:spPr>
          <a:xfrm>
            <a:off x="548640" y="239572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Exécution de petits LLM ouverts (7–14 Md, compressés)</a:t>
            </a:r>
            <a:endParaRPr lang="en-US" sz="900" dirty="0"/>
          </a:p>
        </p:txBody>
      </p:sp>
      <p:sp>
        <p:nvSpPr>
          <p:cNvPr id="39" name="Text 36"/>
          <p:cNvSpPr txBox="1"/>
          <p:nvPr/>
        </p:nvSpPr>
        <p:spPr>
          <a:xfrm>
            <a:off x="3291840" y="239572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1 GPU, 24–48 Go</a:t>
            </a:r>
            <a:endParaRPr lang="en-US" sz="900" dirty="0"/>
          </a:p>
        </p:txBody>
      </p:sp>
      <p:sp>
        <p:nvSpPr>
          <p:cNvPr id="40" name="Text 37"/>
          <p:cNvSpPr txBox="1"/>
          <p:nvPr/>
        </p:nvSpPr>
        <p:spPr>
          <a:xfrm>
            <a:off x="4937760" y="239572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Temps réel, équipes</a:t>
            </a:r>
            <a:endParaRPr lang="en-US" sz="900" dirty="0"/>
          </a:p>
        </p:txBody>
      </p:sp>
      <p:sp>
        <p:nvSpPr>
          <p:cNvPr id="41" name="Shape 38"/>
          <p:cNvSpPr/>
          <p:nvPr/>
        </p:nvSpPr>
        <p:spPr>
          <a:xfrm>
            <a:off x="6035040" y="2468880"/>
            <a:ext cx="1005840" cy="219456"/>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6035040" y="2468880"/>
            <a:ext cx="100584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Oui</a:t>
            </a:r>
            <a:endParaRPr lang="en-US" sz="850" dirty="0"/>
          </a:p>
        </p:txBody>
      </p:sp>
      <p:sp>
        <p:nvSpPr>
          <p:cNvPr id="43" name="Text 40"/>
          <p:cNvSpPr txBox="1"/>
          <p:nvPr/>
        </p:nvSpPr>
        <p:spPr>
          <a:xfrm>
            <a:off x="7178040" y="239572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Assistance, recherche, extraction</a:t>
            </a:r>
            <a:endParaRPr lang="en-US" sz="900" dirty="0"/>
          </a:p>
        </p:txBody>
      </p:sp>
      <p:sp>
        <p:nvSpPr>
          <p:cNvPr id="44" name="Shape 41"/>
          <p:cNvSpPr/>
          <p:nvPr/>
        </p:nvSpPr>
        <p:spPr>
          <a:xfrm>
            <a:off x="457200" y="2807208"/>
            <a:ext cx="8229600" cy="365760"/>
          </a:xfrm>
          <a:prstGeom prst="roundRect">
            <a:avLst>
              <a:gd name="adj" fmla="val 12500"/>
            </a:avLst>
          </a:prstGeom>
          <a:solidFill>
            <a:srgbClr val="F4F7F5"/>
          </a:solidFill>
          <a:ln w="9525">
            <a:solidFill>
              <a:srgbClr val="D5DED9"/>
            </a:solidFill>
            <a:prstDash val="solid"/>
          </a:ln>
        </p:spPr>
      </p:sp>
      <p:sp>
        <p:nvSpPr>
          <p:cNvPr id="45" name="Text 42"/>
          <p:cNvSpPr txBox="1"/>
          <p:nvPr/>
        </p:nvSpPr>
        <p:spPr>
          <a:xfrm>
            <a:off x="548640" y="280720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Exécution de LLM ouverts plus grands (~70 Md)</a:t>
            </a:r>
            <a:endParaRPr lang="en-US" sz="900" dirty="0"/>
          </a:p>
        </p:txBody>
      </p:sp>
      <p:sp>
        <p:nvSpPr>
          <p:cNvPr id="46" name="Text 43"/>
          <p:cNvSpPr txBox="1"/>
          <p:nvPr/>
        </p:nvSpPr>
        <p:spPr>
          <a:xfrm>
            <a:off x="3291840" y="280720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2–4 GPU de 80 Go</a:t>
            </a:r>
            <a:endParaRPr lang="en-US" sz="900" dirty="0"/>
          </a:p>
        </p:txBody>
      </p:sp>
      <p:sp>
        <p:nvSpPr>
          <p:cNvPr id="47" name="Text 44"/>
          <p:cNvSpPr txBox="1"/>
          <p:nvPr/>
        </p:nvSpPr>
        <p:spPr>
          <a:xfrm>
            <a:off x="4937760" y="280720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Temps réel, institut</a:t>
            </a:r>
            <a:endParaRPr lang="en-US" sz="900" dirty="0"/>
          </a:p>
        </p:txBody>
      </p:sp>
      <p:sp>
        <p:nvSpPr>
          <p:cNvPr id="48" name="Shape 45"/>
          <p:cNvSpPr/>
          <p:nvPr/>
        </p:nvSpPr>
        <p:spPr>
          <a:xfrm>
            <a:off x="6035040" y="2880360"/>
            <a:ext cx="1005840" cy="219456"/>
          </a:xfrm>
          <a:prstGeom prst="roundRect">
            <a:avLst>
              <a:gd name="adj" fmla="val 50000"/>
            </a:avLst>
          </a:prstGeom>
          <a:solidFill>
            <a:srgbClr val="D49A00">
              <a:alpha val="15000"/>
            </a:srgbClr>
          </a:solidFill>
          <a:ln w="9525">
            <a:solidFill>
              <a:srgbClr val="D49A00"/>
            </a:solidFill>
            <a:prstDash val="solid"/>
          </a:ln>
        </p:spPr>
      </p:sp>
      <p:sp>
        <p:nvSpPr>
          <p:cNvPr id="49" name="Text 46"/>
          <p:cNvSpPr txBox="1"/>
          <p:nvPr/>
        </p:nvSpPr>
        <p:spPr>
          <a:xfrm>
            <a:off x="6035040" y="2880360"/>
            <a:ext cx="100584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Parfois</a:t>
            </a:r>
            <a:endParaRPr lang="en-US" sz="850" dirty="0"/>
          </a:p>
        </p:txBody>
      </p:sp>
      <p:sp>
        <p:nvSpPr>
          <p:cNvPr id="50" name="Text 47"/>
          <p:cNvSpPr txBox="1"/>
          <p:nvPr/>
        </p:nvSpPr>
        <p:spPr>
          <a:xfrm>
            <a:off x="7178040" y="280720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Comparer honnêtement à une API</a:t>
            </a:r>
            <a:endParaRPr lang="en-US" sz="900" dirty="0"/>
          </a:p>
        </p:txBody>
      </p:sp>
      <p:sp>
        <p:nvSpPr>
          <p:cNvPr id="51" name="Shape 48"/>
          <p:cNvSpPr/>
          <p:nvPr/>
        </p:nvSpPr>
        <p:spPr>
          <a:xfrm>
            <a:off x="457200" y="3218688"/>
            <a:ext cx="8229600" cy="365760"/>
          </a:xfrm>
          <a:prstGeom prst="roundRect">
            <a:avLst>
              <a:gd name="adj" fmla="val 12500"/>
            </a:avLst>
          </a:prstGeom>
          <a:solidFill>
            <a:srgbClr val="F4F7F5"/>
          </a:solidFill>
          <a:ln w="9525">
            <a:solidFill>
              <a:srgbClr val="D5DED9"/>
            </a:solidFill>
            <a:prstDash val="solid"/>
          </a:ln>
        </p:spPr>
      </p:sp>
      <p:sp>
        <p:nvSpPr>
          <p:cNvPr id="52" name="Text 49"/>
          <p:cNvSpPr txBox="1"/>
          <p:nvPr/>
        </p:nvSpPr>
        <p:spPr>
          <a:xfrm>
            <a:off x="548640" y="321868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Affinage efficace de modèles ~70 Md (LoRA)</a:t>
            </a:r>
            <a:endParaRPr lang="en-US" sz="900" dirty="0"/>
          </a:p>
        </p:txBody>
      </p:sp>
      <p:sp>
        <p:nvSpPr>
          <p:cNvPr id="53" name="Text 50"/>
          <p:cNvSpPr txBox="1"/>
          <p:nvPr/>
        </p:nvSpPr>
        <p:spPr>
          <a:xfrm>
            <a:off x="3291840" y="321868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4–8 GPU de 80 Go</a:t>
            </a:r>
            <a:endParaRPr lang="en-US" sz="900" dirty="0"/>
          </a:p>
        </p:txBody>
      </p:sp>
      <p:sp>
        <p:nvSpPr>
          <p:cNvPr id="54" name="Text 51"/>
          <p:cNvSpPr txBox="1"/>
          <p:nvPr/>
        </p:nvSpPr>
        <p:spPr>
          <a:xfrm>
            <a:off x="4937760" y="321868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Jours</a:t>
            </a:r>
            <a:endParaRPr lang="en-US" sz="900" dirty="0"/>
          </a:p>
        </p:txBody>
      </p:sp>
      <p:sp>
        <p:nvSpPr>
          <p:cNvPr id="55" name="Shape 52"/>
          <p:cNvSpPr/>
          <p:nvPr/>
        </p:nvSpPr>
        <p:spPr>
          <a:xfrm>
            <a:off x="6035040" y="3291840"/>
            <a:ext cx="1005840" cy="219456"/>
          </a:xfrm>
          <a:prstGeom prst="roundRect">
            <a:avLst>
              <a:gd name="adj" fmla="val 50000"/>
            </a:avLst>
          </a:prstGeom>
          <a:solidFill>
            <a:srgbClr val="C4621D">
              <a:alpha val="15000"/>
            </a:srgbClr>
          </a:solidFill>
          <a:ln w="9525">
            <a:solidFill>
              <a:srgbClr val="C4621D"/>
            </a:solidFill>
            <a:prstDash val="solid"/>
          </a:ln>
        </p:spPr>
      </p:sp>
      <p:sp>
        <p:nvSpPr>
          <p:cNvPr id="56" name="Text 53"/>
          <p:cNvSpPr txBox="1"/>
          <p:nvPr/>
        </p:nvSpPr>
        <p:spPr>
          <a:xfrm>
            <a:off x="6035040" y="3291840"/>
            <a:ext cx="1005840" cy="219456"/>
          </a:xfrm>
          <a:prstGeom prst="rect">
            <a:avLst/>
          </a:prstGeom>
          <a:noFill/>
          <a:ln/>
        </p:spPr>
        <p:txBody>
          <a:bodyPr wrap="square" lIns="0" tIns="0" rIns="0" bIns="0" rtlCol="0" anchor="ctr"/>
          <a:lstStyle/>
          <a:p>
            <a:pPr marL="0" indent="0" algn="ctr">
              <a:buNone/>
            </a:pPr>
            <a:r>
              <a:rPr lang="en-US" sz="850" b="1" kern="0" spc="50" dirty="0">
                <a:solidFill>
                  <a:srgbClr val="C4621D"/>
                </a:solidFill>
                <a:latin typeface="Calibri" pitchFamily="34" charset="0"/>
                <a:ea typeface="Calibri" pitchFamily="34" charset="-122"/>
                <a:cs typeface="Calibri" pitchFamily="34" charset="-120"/>
              </a:rPr>
              <a:t>Rarement</a:t>
            </a:r>
            <a:endParaRPr lang="en-US" sz="850" dirty="0"/>
          </a:p>
        </p:txBody>
      </p:sp>
      <p:sp>
        <p:nvSpPr>
          <p:cNvPr id="57" name="Text 54"/>
          <p:cNvSpPr txBox="1"/>
          <p:nvPr/>
        </p:nvSpPr>
        <p:spPr>
          <a:xfrm>
            <a:off x="7178040" y="321868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Seulement avec un vrai besoin métier</a:t>
            </a:r>
            <a:endParaRPr lang="en-US" sz="900" dirty="0"/>
          </a:p>
        </p:txBody>
      </p:sp>
      <p:sp>
        <p:nvSpPr>
          <p:cNvPr id="58" name="Shape 55"/>
          <p:cNvSpPr/>
          <p:nvPr/>
        </p:nvSpPr>
        <p:spPr>
          <a:xfrm>
            <a:off x="457200" y="3630168"/>
            <a:ext cx="8229600" cy="365760"/>
          </a:xfrm>
          <a:prstGeom prst="roundRect">
            <a:avLst>
              <a:gd name="adj" fmla="val 12500"/>
            </a:avLst>
          </a:prstGeom>
          <a:solidFill>
            <a:srgbClr val="F4F7F5"/>
          </a:solidFill>
          <a:ln w="9525">
            <a:solidFill>
              <a:srgbClr val="D5DED9"/>
            </a:solidFill>
            <a:prstDash val="solid"/>
          </a:ln>
        </p:spPr>
      </p:sp>
      <p:sp>
        <p:nvSpPr>
          <p:cNvPr id="59" name="Text 56"/>
          <p:cNvSpPr txBox="1"/>
          <p:nvPr/>
        </p:nvSpPr>
        <p:spPr>
          <a:xfrm>
            <a:off x="548640" y="3630168"/>
            <a:ext cx="2560320" cy="36576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Pré-entraînement d'un modèle de fondation</a:t>
            </a:r>
            <a:endParaRPr lang="en-US" sz="900" dirty="0"/>
          </a:p>
        </p:txBody>
      </p:sp>
      <p:sp>
        <p:nvSpPr>
          <p:cNvPr id="60" name="Text 57"/>
          <p:cNvSpPr txBox="1"/>
          <p:nvPr/>
        </p:nvSpPr>
        <p:spPr>
          <a:xfrm>
            <a:off x="3291840" y="3630168"/>
            <a:ext cx="146304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Centaines à milliers de GPU</a:t>
            </a:r>
            <a:endParaRPr lang="en-US" sz="900" dirty="0"/>
          </a:p>
        </p:txBody>
      </p:sp>
      <p:sp>
        <p:nvSpPr>
          <p:cNvPr id="61" name="Text 58"/>
          <p:cNvSpPr txBox="1"/>
          <p:nvPr/>
        </p:nvSpPr>
        <p:spPr>
          <a:xfrm>
            <a:off x="4937760" y="3630168"/>
            <a:ext cx="9601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Semaines–mois</a:t>
            </a:r>
            <a:endParaRPr lang="en-US" sz="900" dirty="0"/>
          </a:p>
        </p:txBody>
      </p:sp>
      <p:sp>
        <p:nvSpPr>
          <p:cNvPr id="62" name="Shape 59"/>
          <p:cNvSpPr/>
          <p:nvPr/>
        </p:nvSpPr>
        <p:spPr>
          <a:xfrm>
            <a:off x="6035040" y="3703320"/>
            <a:ext cx="1005840" cy="219456"/>
          </a:xfrm>
          <a:prstGeom prst="roundRect">
            <a:avLst>
              <a:gd name="adj" fmla="val 50000"/>
            </a:avLst>
          </a:prstGeom>
          <a:solidFill>
            <a:srgbClr val="B83B2E">
              <a:alpha val="15000"/>
            </a:srgbClr>
          </a:solidFill>
          <a:ln w="9525">
            <a:solidFill>
              <a:srgbClr val="B83B2E"/>
            </a:solidFill>
            <a:prstDash val="solid"/>
          </a:ln>
        </p:spPr>
      </p:sp>
      <p:sp>
        <p:nvSpPr>
          <p:cNvPr id="63" name="Text 60"/>
          <p:cNvSpPr txBox="1"/>
          <p:nvPr/>
        </p:nvSpPr>
        <p:spPr>
          <a:xfrm>
            <a:off x="6035040" y="3703320"/>
            <a:ext cx="100584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Non</a:t>
            </a:r>
            <a:endParaRPr lang="en-US" sz="850" dirty="0"/>
          </a:p>
        </p:txBody>
      </p:sp>
      <p:sp>
        <p:nvSpPr>
          <p:cNvPr id="64" name="Text 61"/>
          <p:cNvSpPr txBox="1"/>
          <p:nvPr/>
        </p:nvSpPr>
        <p:spPr>
          <a:xfrm>
            <a:off x="7178040" y="3630168"/>
            <a:ext cx="1417320" cy="36576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Pas une activité d'institut statistique</a:t>
            </a:r>
            <a:endParaRPr lang="en-US" sz="900" dirty="0"/>
          </a:p>
        </p:txBody>
      </p:sp>
      <p:sp>
        <p:nvSpPr>
          <p:cNvPr id="65" name="Shape 62"/>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66" name="Shape 63"/>
          <p:cNvSpPr/>
          <p:nvPr/>
        </p:nvSpPr>
        <p:spPr>
          <a:xfrm>
            <a:off x="566928" y="4215384"/>
            <a:ext cx="292608" cy="292608"/>
          </a:xfrm>
          <a:prstGeom prst="ellipse">
            <a:avLst/>
          </a:prstGeom>
          <a:solidFill>
            <a:srgbClr val="00A86A">
              <a:alpha val="22000"/>
            </a:srgbClr>
          </a:solidFill>
          <a:ln/>
        </p:spPr>
      </p:sp>
      <p:pic>
        <p:nvPicPr>
          <p:cNvPr id="67" name="Image 0" descr="preencoded.png"/>
          <p:cNvPicPr>
            <a:picLocks noChangeAspect="1"/>
          </p:cNvPicPr>
          <p:nvPr/>
        </p:nvPicPr>
        <p:blipFill>
          <a:blip r:embed="rId3"/>
          <a:stretch>
            <a:fillRect/>
          </a:stretch>
        </p:blipFill>
        <p:spPr>
          <a:xfrm>
            <a:off x="637154" y="4285610"/>
            <a:ext cx="152156" cy="152156"/>
          </a:xfrm>
          <a:prstGeom prst="rect">
            <a:avLst/>
          </a:prstGeom>
        </p:spPr>
      </p:pic>
      <p:sp>
        <p:nvSpPr>
          <p:cNvPr id="68" name="Text 64"/>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Avant de demander un GPU, trois questions : entraînement ou inférence ? Charge soutenue ou pic ? La classification des données autorise-t-elle un calcul externe ?</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MATÉRIEL IA · ANATOMIE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Que contient un serveur IA ?</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Sept composants — et le rôle de chacun pour l'IA</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8" name="Shape 15"/>
          <p:cNvSpPr/>
          <p:nvPr/>
        </p:nvSpPr>
        <p:spPr>
          <a:xfrm>
            <a:off x="457200" y="1325880"/>
            <a:ext cx="5394960" cy="3291840"/>
          </a:xfrm>
          <a:prstGeom prst="roundRect">
            <a:avLst>
              <a:gd name="adj" fmla="val 2222"/>
            </a:avLst>
          </a:prstGeom>
          <a:solidFill>
            <a:srgbClr val="FFFFFF"/>
          </a:solidFill>
          <a:ln w="15875">
            <a:solidFill>
              <a:srgbClr val="5E6964"/>
            </a:solidFill>
            <a:prstDash val="dash"/>
          </a:ln>
        </p:spPr>
      </p:sp>
      <p:sp>
        <p:nvSpPr>
          <p:cNvPr id="19" name="Text 16"/>
          <p:cNvSpPr txBox="1"/>
          <p:nvPr/>
        </p:nvSpPr>
        <p:spPr>
          <a:xfrm>
            <a:off x="594360" y="1389888"/>
            <a:ext cx="2743200" cy="182880"/>
          </a:xfrm>
          <a:prstGeom prst="rect">
            <a:avLst/>
          </a:prstGeom>
          <a:noFill/>
          <a:ln/>
        </p:spPr>
        <p:txBody>
          <a:bodyPr wrap="square" lIns="0" tIns="0" rIns="0" bIns="0" rtlCol="0" anchor="t"/>
          <a:lstStyle/>
          <a:p>
            <a:pPr marL="0" indent="0">
              <a:buNone/>
            </a:pPr>
            <a:r>
              <a:rPr lang="en-US" sz="850" b="1" kern="0" spc="200" dirty="0">
                <a:solidFill>
                  <a:srgbClr val="5E6964"/>
                </a:solidFill>
                <a:latin typeface="Calibri" pitchFamily="34" charset="0"/>
                <a:ea typeface="Calibri" pitchFamily="34" charset="-122"/>
                <a:cs typeface="Calibri" pitchFamily="34" charset="-120"/>
              </a:rPr>
              <a:t>SERVEUR IA</a:t>
            </a:r>
            <a:endParaRPr lang="en-US" sz="850" dirty="0"/>
          </a:p>
        </p:txBody>
      </p:sp>
      <p:sp>
        <p:nvSpPr>
          <p:cNvPr id="20" name="Shape 17"/>
          <p:cNvSpPr/>
          <p:nvPr/>
        </p:nvSpPr>
        <p:spPr>
          <a:xfrm>
            <a:off x="594360" y="1645920"/>
            <a:ext cx="1645920" cy="1097280"/>
          </a:xfrm>
          <a:prstGeom prst="roundRect">
            <a:avLst>
              <a:gd name="adj" fmla="val 6667"/>
            </a:avLst>
          </a:prstGeom>
          <a:solidFill>
            <a:srgbClr val="F4F7F5"/>
          </a:solidFill>
          <a:ln w="9525">
            <a:solidFill>
              <a:srgbClr val="D5DED9"/>
            </a:solidFill>
            <a:prstDash val="solid"/>
          </a:ln>
        </p:spPr>
      </p:sp>
      <p:sp>
        <p:nvSpPr>
          <p:cNvPr id="21" name="Shape 18"/>
          <p:cNvSpPr/>
          <p:nvPr/>
        </p:nvSpPr>
        <p:spPr>
          <a:xfrm>
            <a:off x="685800" y="1737360"/>
            <a:ext cx="310896" cy="310896"/>
          </a:xfrm>
          <a:prstGeom prst="ellipse">
            <a:avLst/>
          </a:prstGeom>
          <a:solidFill>
            <a:srgbClr val="0E7C86">
              <a:alpha val="22000"/>
            </a:srgbClr>
          </a:solidFill>
          <a:ln/>
        </p:spPr>
      </p:sp>
      <p:pic>
        <p:nvPicPr>
          <p:cNvPr id="22" name="Image 0" descr="preencoded.png"/>
          <p:cNvPicPr>
            <a:picLocks noChangeAspect="1"/>
          </p:cNvPicPr>
          <p:nvPr/>
        </p:nvPicPr>
        <p:blipFill>
          <a:blip r:embed="rId3"/>
          <a:stretch>
            <a:fillRect/>
          </a:stretch>
        </p:blipFill>
        <p:spPr>
          <a:xfrm>
            <a:off x="760415" y="1811975"/>
            <a:ext cx="161666" cy="161666"/>
          </a:xfrm>
          <a:prstGeom prst="rect">
            <a:avLst/>
          </a:prstGeom>
        </p:spPr>
      </p:pic>
      <p:sp>
        <p:nvSpPr>
          <p:cNvPr id="23" name="Text 19"/>
          <p:cNvSpPr txBox="1"/>
          <p:nvPr/>
        </p:nvSpPr>
        <p:spPr>
          <a:xfrm>
            <a:off x="105156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CPU (processeur)</a:t>
            </a:r>
            <a:endParaRPr lang="en-US" sz="1000" dirty="0"/>
          </a:p>
        </p:txBody>
      </p:sp>
      <p:sp>
        <p:nvSpPr>
          <p:cNvPr id="24" name="Text 20"/>
          <p:cNvSpPr txBox="1"/>
          <p:nvPr/>
        </p:nvSpPr>
        <p:spPr>
          <a:xfrm>
            <a:off x="68580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Orchestre, prépare les données, exécute l'apprentissage classique</a:t>
            </a:r>
            <a:endParaRPr lang="en-US" sz="850" dirty="0"/>
          </a:p>
        </p:txBody>
      </p:sp>
      <p:sp>
        <p:nvSpPr>
          <p:cNvPr id="25" name="Shape 21"/>
          <p:cNvSpPr/>
          <p:nvPr/>
        </p:nvSpPr>
        <p:spPr>
          <a:xfrm>
            <a:off x="2331720" y="1645920"/>
            <a:ext cx="1645920" cy="1097280"/>
          </a:xfrm>
          <a:prstGeom prst="roundRect">
            <a:avLst>
              <a:gd name="adj" fmla="val 6667"/>
            </a:avLst>
          </a:prstGeom>
          <a:solidFill>
            <a:srgbClr val="E8F5EF"/>
          </a:solidFill>
          <a:ln w="15875">
            <a:solidFill>
              <a:srgbClr val="00A86A"/>
            </a:solidFill>
            <a:prstDash val="solid"/>
          </a:ln>
        </p:spPr>
      </p:sp>
      <p:sp>
        <p:nvSpPr>
          <p:cNvPr id="26" name="Shape 22"/>
          <p:cNvSpPr/>
          <p:nvPr/>
        </p:nvSpPr>
        <p:spPr>
          <a:xfrm>
            <a:off x="2423160" y="1737360"/>
            <a:ext cx="310896" cy="310896"/>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497775" y="1811975"/>
            <a:ext cx="161666" cy="161666"/>
          </a:xfrm>
          <a:prstGeom prst="rect">
            <a:avLst/>
          </a:prstGeom>
        </p:spPr>
      </p:pic>
      <p:sp>
        <p:nvSpPr>
          <p:cNvPr id="28" name="Text 23"/>
          <p:cNvSpPr txBox="1"/>
          <p:nvPr/>
        </p:nvSpPr>
        <p:spPr>
          <a:xfrm>
            <a:off x="278892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GPU / accélérateur</a:t>
            </a:r>
            <a:endParaRPr lang="en-US" sz="1000" dirty="0"/>
          </a:p>
        </p:txBody>
      </p:sp>
      <p:sp>
        <p:nvSpPr>
          <p:cNvPr id="29" name="Text 24"/>
          <p:cNvSpPr txBox="1"/>
          <p:nvPr/>
        </p:nvSpPr>
        <p:spPr>
          <a:xfrm>
            <a:off x="242316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Exécute en parallèle les calculs des réseaux de neurones</a:t>
            </a:r>
            <a:endParaRPr lang="en-US" sz="850" dirty="0"/>
          </a:p>
        </p:txBody>
      </p:sp>
      <p:sp>
        <p:nvSpPr>
          <p:cNvPr id="30" name="Shape 25"/>
          <p:cNvSpPr/>
          <p:nvPr/>
        </p:nvSpPr>
        <p:spPr>
          <a:xfrm>
            <a:off x="4069080" y="1645920"/>
            <a:ext cx="1645920" cy="1097280"/>
          </a:xfrm>
          <a:prstGeom prst="roundRect">
            <a:avLst>
              <a:gd name="adj" fmla="val 6667"/>
            </a:avLst>
          </a:prstGeom>
          <a:solidFill>
            <a:srgbClr val="E8F5EF"/>
          </a:solidFill>
          <a:ln w="15875">
            <a:solidFill>
              <a:srgbClr val="00A86A"/>
            </a:solidFill>
            <a:prstDash val="solid"/>
          </a:ln>
        </p:spPr>
      </p:sp>
      <p:sp>
        <p:nvSpPr>
          <p:cNvPr id="31" name="Shape 26"/>
          <p:cNvSpPr/>
          <p:nvPr/>
        </p:nvSpPr>
        <p:spPr>
          <a:xfrm>
            <a:off x="4160520" y="1737360"/>
            <a:ext cx="310896" cy="310896"/>
          </a:xfrm>
          <a:prstGeom prst="ellipse">
            <a:avLst/>
          </a:prstGeom>
          <a:solidFill>
            <a:srgbClr val="00A86A">
              <a:alpha val="22000"/>
            </a:srgbClr>
          </a:solidFill>
          <a:ln/>
        </p:spPr>
      </p:sp>
      <p:pic>
        <p:nvPicPr>
          <p:cNvPr id="32" name="Image 2" descr="preencoded.png"/>
          <p:cNvPicPr>
            <a:picLocks noChangeAspect="1"/>
          </p:cNvPicPr>
          <p:nvPr/>
        </p:nvPicPr>
        <p:blipFill>
          <a:blip r:embed="rId5"/>
          <a:stretch>
            <a:fillRect/>
          </a:stretch>
        </p:blipFill>
        <p:spPr>
          <a:xfrm>
            <a:off x="4235135" y="1811975"/>
            <a:ext cx="161666" cy="161666"/>
          </a:xfrm>
          <a:prstGeom prst="rect">
            <a:avLst/>
          </a:prstGeom>
        </p:spPr>
      </p:pic>
      <p:sp>
        <p:nvSpPr>
          <p:cNvPr id="33" name="Text 27"/>
          <p:cNvSpPr txBox="1"/>
          <p:nvPr/>
        </p:nvSpPr>
        <p:spPr>
          <a:xfrm>
            <a:off x="4526280" y="171907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Mémoire GPU (VRAM)</a:t>
            </a:r>
            <a:endParaRPr lang="en-US" sz="1000" dirty="0"/>
          </a:p>
        </p:txBody>
      </p:sp>
      <p:sp>
        <p:nvSpPr>
          <p:cNvPr id="34" name="Text 28"/>
          <p:cNvSpPr txBox="1"/>
          <p:nvPr/>
        </p:nvSpPr>
        <p:spPr>
          <a:xfrm>
            <a:off x="4160520" y="212140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Doit contenir tout le modèle : la caractéristique décisive</a:t>
            </a:r>
            <a:endParaRPr lang="en-US" sz="850" dirty="0"/>
          </a:p>
        </p:txBody>
      </p:sp>
      <p:sp>
        <p:nvSpPr>
          <p:cNvPr id="35" name="Shape 29"/>
          <p:cNvSpPr/>
          <p:nvPr/>
        </p:nvSpPr>
        <p:spPr>
          <a:xfrm>
            <a:off x="594360" y="2834640"/>
            <a:ext cx="1645920" cy="1097280"/>
          </a:xfrm>
          <a:prstGeom prst="roundRect">
            <a:avLst>
              <a:gd name="adj" fmla="val 6667"/>
            </a:avLst>
          </a:prstGeom>
          <a:solidFill>
            <a:srgbClr val="F4F7F5"/>
          </a:solidFill>
          <a:ln w="9525">
            <a:solidFill>
              <a:srgbClr val="D5DED9"/>
            </a:solidFill>
            <a:prstDash val="solid"/>
          </a:ln>
        </p:spPr>
      </p:sp>
      <p:sp>
        <p:nvSpPr>
          <p:cNvPr id="36" name="Shape 30"/>
          <p:cNvSpPr/>
          <p:nvPr/>
        </p:nvSpPr>
        <p:spPr>
          <a:xfrm>
            <a:off x="685800" y="2926080"/>
            <a:ext cx="310896" cy="310896"/>
          </a:xfrm>
          <a:prstGeom prst="ellipse">
            <a:avLst/>
          </a:prstGeom>
          <a:solidFill>
            <a:srgbClr val="0E7C86">
              <a:alpha val="22000"/>
            </a:srgbClr>
          </a:solidFill>
          <a:ln/>
        </p:spPr>
      </p:sp>
      <p:pic>
        <p:nvPicPr>
          <p:cNvPr id="37" name="Image 3" descr="preencoded.png"/>
          <p:cNvPicPr>
            <a:picLocks noChangeAspect="1"/>
          </p:cNvPicPr>
          <p:nvPr/>
        </p:nvPicPr>
        <p:blipFill>
          <a:blip r:embed="rId6"/>
          <a:stretch>
            <a:fillRect/>
          </a:stretch>
        </p:blipFill>
        <p:spPr>
          <a:xfrm>
            <a:off x="760415" y="3000695"/>
            <a:ext cx="161666" cy="161666"/>
          </a:xfrm>
          <a:prstGeom prst="rect">
            <a:avLst/>
          </a:prstGeom>
        </p:spPr>
      </p:pic>
      <p:sp>
        <p:nvSpPr>
          <p:cNvPr id="38" name="Text 31"/>
          <p:cNvSpPr txBox="1"/>
          <p:nvPr/>
        </p:nvSpPr>
        <p:spPr>
          <a:xfrm>
            <a:off x="105156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Mémoire système (RAM)</a:t>
            </a:r>
            <a:endParaRPr lang="en-US" sz="1000" dirty="0"/>
          </a:p>
        </p:txBody>
      </p:sp>
      <p:sp>
        <p:nvSpPr>
          <p:cNvPr id="39" name="Text 32"/>
          <p:cNvSpPr txBox="1"/>
          <p:nvPr/>
        </p:nvSpPr>
        <p:spPr>
          <a:xfrm>
            <a:off x="68580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Alimente le GPU ; souvent ≥ 2× la mémoire GPU</a:t>
            </a:r>
            <a:endParaRPr lang="en-US" sz="850" dirty="0"/>
          </a:p>
        </p:txBody>
      </p:sp>
      <p:sp>
        <p:nvSpPr>
          <p:cNvPr id="40" name="Shape 33"/>
          <p:cNvSpPr/>
          <p:nvPr/>
        </p:nvSpPr>
        <p:spPr>
          <a:xfrm>
            <a:off x="2331720" y="2834640"/>
            <a:ext cx="1645920" cy="1097280"/>
          </a:xfrm>
          <a:prstGeom prst="roundRect">
            <a:avLst>
              <a:gd name="adj" fmla="val 6667"/>
            </a:avLst>
          </a:prstGeom>
          <a:solidFill>
            <a:srgbClr val="F4F7F5"/>
          </a:solidFill>
          <a:ln w="9525">
            <a:solidFill>
              <a:srgbClr val="D5DED9"/>
            </a:solidFill>
            <a:prstDash val="solid"/>
          </a:ln>
        </p:spPr>
      </p:sp>
      <p:sp>
        <p:nvSpPr>
          <p:cNvPr id="41" name="Shape 34"/>
          <p:cNvSpPr/>
          <p:nvPr/>
        </p:nvSpPr>
        <p:spPr>
          <a:xfrm>
            <a:off x="2423160" y="2926080"/>
            <a:ext cx="310896" cy="310896"/>
          </a:xfrm>
          <a:prstGeom prst="ellipse">
            <a:avLst/>
          </a:prstGeom>
          <a:solidFill>
            <a:srgbClr val="0E7C86">
              <a:alpha val="22000"/>
            </a:srgbClr>
          </a:solidFill>
          <a:ln/>
        </p:spPr>
      </p:sp>
      <p:pic>
        <p:nvPicPr>
          <p:cNvPr id="42" name="Image 4" descr="preencoded.png"/>
          <p:cNvPicPr>
            <a:picLocks noChangeAspect="1"/>
          </p:cNvPicPr>
          <p:nvPr/>
        </p:nvPicPr>
        <p:blipFill>
          <a:blip r:embed="rId7"/>
          <a:stretch>
            <a:fillRect/>
          </a:stretch>
        </p:blipFill>
        <p:spPr>
          <a:xfrm>
            <a:off x="2497775" y="3000695"/>
            <a:ext cx="161666" cy="161666"/>
          </a:xfrm>
          <a:prstGeom prst="rect">
            <a:avLst/>
          </a:prstGeom>
        </p:spPr>
      </p:pic>
      <p:sp>
        <p:nvSpPr>
          <p:cNvPr id="43" name="Text 35"/>
          <p:cNvSpPr txBox="1"/>
          <p:nvPr/>
        </p:nvSpPr>
        <p:spPr>
          <a:xfrm>
            <a:off x="278892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Stockage NVMe</a:t>
            </a:r>
            <a:endParaRPr lang="en-US" sz="1000" dirty="0"/>
          </a:p>
        </p:txBody>
      </p:sp>
      <p:sp>
        <p:nvSpPr>
          <p:cNvPr id="44" name="Text 36"/>
          <p:cNvSpPr txBox="1"/>
          <p:nvPr/>
        </p:nvSpPr>
        <p:spPr>
          <a:xfrm>
            <a:off x="242316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Charge vite données, modèles et points de reprise</a:t>
            </a:r>
            <a:endParaRPr lang="en-US" sz="850" dirty="0"/>
          </a:p>
        </p:txBody>
      </p:sp>
      <p:sp>
        <p:nvSpPr>
          <p:cNvPr id="45" name="Shape 37"/>
          <p:cNvSpPr/>
          <p:nvPr/>
        </p:nvSpPr>
        <p:spPr>
          <a:xfrm>
            <a:off x="4069080" y="2834640"/>
            <a:ext cx="1645920" cy="1097280"/>
          </a:xfrm>
          <a:prstGeom prst="roundRect">
            <a:avLst>
              <a:gd name="adj" fmla="val 6667"/>
            </a:avLst>
          </a:prstGeom>
          <a:solidFill>
            <a:srgbClr val="F4F7F5"/>
          </a:solidFill>
          <a:ln w="9525">
            <a:solidFill>
              <a:srgbClr val="D5DED9"/>
            </a:solidFill>
            <a:prstDash val="solid"/>
          </a:ln>
        </p:spPr>
      </p:sp>
      <p:sp>
        <p:nvSpPr>
          <p:cNvPr id="46" name="Shape 38"/>
          <p:cNvSpPr/>
          <p:nvPr/>
        </p:nvSpPr>
        <p:spPr>
          <a:xfrm>
            <a:off x="4160520" y="2926080"/>
            <a:ext cx="310896" cy="310896"/>
          </a:xfrm>
          <a:prstGeom prst="ellipse">
            <a:avLst/>
          </a:prstGeom>
          <a:solidFill>
            <a:srgbClr val="0E7C86">
              <a:alpha val="22000"/>
            </a:srgbClr>
          </a:solidFill>
          <a:ln/>
        </p:spPr>
      </p:sp>
      <p:pic>
        <p:nvPicPr>
          <p:cNvPr id="47" name="Image 5" descr="preencoded.png"/>
          <p:cNvPicPr>
            <a:picLocks noChangeAspect="1"/>
          </p:cNvPicPr>
          <p:nvPr/>
        </p:nvPicPr>
        <p:blipFill>
          <a:blip r:embed="rId8"/>
          <a:stretch>
            <a:fillRect/>
          </a:stretch>
        </p:blipFill>
        <p:spPr>
          <a:xfrm>
            <a:off x="4235135" y="3000695"/>
            <a:ext cx="161666" cy="161666"/>
          </a:xfrm>
          <a:prstGeom prst="rect">
            <a:avLst/>
          </a:prstGeom>
        </p:spPr>
      </p:pic>
      <p:sp>
        <p:nvSpPr>
          <p:cNvPr id="48" name="Text 39"/>
          <p:cNvSpPr txBox="1"/>
          <p:nvPr/>
        </p:nvSpPr>
        <p:spPr>
          <a:xfrm>
            <a:off x="4526280" y="2907792"/>
            <a:ext cx="1133856" cy="365760"/>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Carte réseau</a:t>
            </a:r>
            <a:endParaRPr lang="en-US" sz="1000" dirty="0"/>
          </a:p>
        </p:txBody>
      </p:sp>
      <p:sp>
        <p:nvSpPr>
          <p:cNvPr id="49" name="Text 40"/>
          <p:cNvSpPr txBox="1"/>
          <p:nvPr/>
        </p:nvSpPr>
        <p:spPr>
          <a:xfrm>
            <a:off x="4160520" y="3310128"/>
            <a:ext cx="1463040" cy="585216"/>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10–25 GbE pour un serveur ; plus rapide pour une grappe</a:t>
            </a:r>
            <a:endParaRPr lang="en-US" sz="850" dirty="0"/>
          </a:p>
        </p:txBody>
      </p:sp>
      <p:sp>
        <p:nvSpPr>
          <p:cNvPr id="50" name="Shape 41"/>
          <p:cNvSpPr/>
          <p:nvPr/>
        </p:nvSpPr>
        <p:spPr>
          <a:xfrm>
            <a:off x="594360" y="4041648"/>
            <a:ext cx="5120640" cy="457200"/>
          </a:xfrm>
          <a:prstGeom prst="roundRect">
            <a:avLst>
              <a:gd name="adj" fmla="val 10000"/>
            </a:avLst>
          </a:prstGeom>
          <a:solidFill>
            <a:srgbClr val="D49A00">
              <a:alpha val="13000"/>
            </a:srgbClr>
          </a:solidFill>
          <a:ln w="12700">
            <a:solidFill>
              <a:srgbClr val="D49A00"/>
            </a:solidFill>
            <a:prstDash val="solid"/>
          </a:ln>
        </p:spPr>
      </p:sp>
      <p:sp>
        <p:nvSpPr>
          <p:cNvPr id="51" name="Shape 42"/>
          <p:cNvSpPr/>
          <p:nvPr/>
        </p:nvSpPr>
        <p:spPr>
          <a:xfrm>
            <a:off x="685800" y="4114800"/>
            <a:ext cx="310896" cy="310896"/>
          </a:xfrm>
          <a:prstGeom prst="ellipse">
            <a:avLst/>
          </a:prstGeom>
          <a:solidFill>
            <a:srgbClr val="D49A00">
              <a:alpha val="22000"/>
            </a:srgbClr>
          </a:solidFill>
          <a:ln/>
        </p:spPr>
      </p:sp>
      <p:pic>
        <p:nvPicPr>
          <p:cNvPr id="52" name="Image 6" descr="preencoded.png"/>
          <p:cNvPicPr>
            <a:picLocks noChangeAspect="1"/>
          </p:cNvPicPr>
          <p:nvPr/>
        </p:nvPicPr>
        <p:blipFill>
          <a:blip r:embed="rId9"/>
          <a:stretch>
            <a:fillRect/>
          </a:stretch>
        </p:blipFill>
        <p:spPr>
          <a:xfrm>
            <a:off x="760415" y="4189415"/>
            <a:ext cx="161666" cy="161666"/>
          </a:xfrm>
          <a:prstGeom prst="rect">
            <a:avLst/>
          </a:prstGeom>
        </p:spPr>
      </p:pic>
      <p:sp>
        <p:nvSpPr>
          <p:cNvPr id="53" name="Text 43"/>
          <p:cNvSpPr txBox="1"/>
          <p:nvPr/>
        </p:nvSpPr>
        <p:spPr>
          <a:xfrm>
            <a:off x="1078992" y="4041648"/>
            <a:ext cx="4572000" cy="457200"/>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Énergie et refroidissement  </a:t>
            </a:r>
            <a:r>
              <a:rPr lang="en-US" sz="950" dirty="0">
                <a:solidFill>
                  <a:srgbClr val="231F20"/>
                </a:solidFill>
                <a:latin typeface="Calibri" pitchFamily="34" charset="0"/>
                <a:ea typeface="Calibri" pitchFamily="34" charset="-122"/>
                <a:cs typeface="Calibri" pitchFamily="34" charset="-120"/>
              </a:rPr>
              <a:t>de ~1 kW (un GPU) à plus de 10 kW (huit GPU) ; refroidissement à air ou liquide</a:t>
            </a:r>
            <a:endParaRPr lang="en-US" sz="950" dirty="0"/>
          </a:p>
        </p:txBody>
      </p:sp>
      <p:sp>
        <p:nvSpPr>
          <p:cNvPr id="54" name="Shape 44"/>
          <p:cNvSpPr/>
          <p:nvPr/>
        </p:nvSpPr>
        <p:spPr>
          <a:xfrm>
            <a:off x="6035040" y="1325880"/>
            <a:ext cx="2651760" cy="2148840"/>
          </a:xfrm>
          <a:prstGeom prst="roundRect">
            <a:avLst>
              <a:gd name="adj" fmla="val 3404"/>
            </a:avLst>
          </a:prstGeom>
          <a:solidFill>
            <a:srgbClr val="E8F5EF"/>
          </a:solidFill>
          <a:ln w="15875">
            <a:solidFill>
              <a:srgbClr val="00A86A"/>
            </a:solidFill>
            <a:prstDash val="solid"/>
          </a:ln>
        </p:spPr>
      </p:sp>
      <p:sp>
        <p:nvSpPr>
          <p:cNvPr id="55" name="Text 45"/>
          <p:cNvSpPr txBox="1"/>
          <p:nvPr/>
        </p:nvSpPr>
        <p:spPr>
          <a:xfrm>
            <a:off x="6172200" y="1417320"/>
            <a:ext cx="237744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UNE ANALOGIE</a:t>
            </a:r>
            <a:endParaRPr lang="en-US" sz="900" dirty="0"/>
          </a:p>
        </p:txBody>
      </p:sp>
      <p:sp>
        <p:nvSpPr>
          <p:cNvPr id="56" name="Shape 46"/>
          <p:cNvSpPr/>
          <p:nvPr/>
        </p:nvSpPr>
        <p:spPr>
          <a:xfrm>
            <a:off x="6172200" y="1691640"/>
            <a:ext cx="365760" cy="365760"/>
          </a:xfrm>
          <a:prstGeom prst="ellipse">
            <a:avLst/>
          </a:prstGeom>
          <a:solidFill>
            <a:srgbClr val="0E7C86">
              <a:alpha val="22000"/>
            </a:srgbClr>
          </a:solidFill>
          <a:ln/>
        </p:spPr>
      </p:sp>
      <p:pic>
        <p:nvPicPr>
          <p:cNvPr id="57" name="Image 7" descr="preencoded.png"/>
          <p:cNvPicPr>
            <a:picLocks noChangeAspect="1"/>
          </p:cNvPicPr>
          <p:nvPr/>
        </p:nvPicPr>
        <p:blipFill>
          <a:blip r:embed="rId10"/>
          <a:stretch>
            <a:fillRect/>
          </a:stretch>
        </p:blipFill>
        <p:spPr>
          <a:xfrm>
            <a:off x="6259982" y="1779422"/>
            <a:ext cx="190195" cy="190195"/>
          </a:xfrm>
          <a:prstGeom prst="rect">
            <a:avLst/>
          </a:prstGeom>
        </p:spPr>
      </p:pic>
      <p:sp>
        <p:nvSpPr>
          <p:cNvPr id="58" name="Text 47"/>
          <p:cNvSpPr txBox="1"/>
          <p:nvPr/>
        </p:nvSpPr>
        <p:spPr>
          <a:xfrm>
            <a:off x="6629400" y="1645920"/>
            <a:ext cx="1965960" cy="685800"/>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CPU</a:t>
            </a:r>
            <a:r>
              <a:rPr lang="en-US" sz="950" dirty="0">
                <a:solidFill>
                  <a:srgbClr val="231F20"/>
                </a:solidFill>
                <a:latin typeface="Calibri" pitchFamily="34" charset="0"/>
                <a:ea typeface="Calibri" pitchFamily="34" charset="-122"/>
                <a:cs typeface="Calibri" pitchFamily="34" charset="-120"/>
              </a:rPr>
              <a:t> = quelques chefs experts qui enchaînent des tâches complexes</a:t>
            </a:r>
            <a:endParaRPr lang="en-US" sz="950" dirty="0"/>
          </a:p>
        </p:txBody>
      </p:sp>
      <p:sp>
        <p:nvSpPr>
          <p:cNvPr id="59" name="Shape 48"/>
          <p:cNvSpPr/>
          <p:nvPr/>
        </p:nvSpPr>
        <p:spPr>
          <a:xfrm>
            <a:off x="6172200" y="2468880"/>
            <a:ext cx="365760" cy="365760"/>
          </a:xfrm>
          <a:prstGeom prst="ellipse">
            <a:avLst/>
          </a:prstGeom>
          <a:solidFill>
            <a:srgbClr val="00A86A">
              <a:alpha val="22000"/>
            </a:srgbClr>
          </a:solidFill>
          <a:ln/>
        </p:spPr>
      </p:sp>
      <p:pic>
        <p:nvPicPr>
          <p:cNvPr id="60" name="Image 8" descr="preencoded.png"/>
          <p:cNvPicPr>
            <a:picLocks noChangeAspect="1"/>
          </p:cNvPicPr>
          <p:nvPr/>
        </p:nvPicPr>
        <p:blipFill>
          <a:blip r:embed="rId11"/>
          <a:stretch>
            <a:fillRect/>
          </a:stretch>
        </p:blipFill>
        <p:spPr>
          <a:xfrm>
            <a:off x="6259982" y="2556662"/>
            <a:ext cx="190195" cy="190195"/>
          </a:xfrm>
          <a:prstGeom prst="rect">
            <a:avLst/>
          </a:prstGeom>
        </p:spPr>
      </p:pic>
      <p:sp>
        <p:nvSpPr>
          <p:cNvPr id="61" name="Text 49"/>
          <p:cNvSpPr txBox="1"/>
          <p:nvPr/>
        </p:nvSpPr>
        <p:spPr>
          <a:xfrm>
            <a:off x="6629400" y="2395728"/>
            <a:ext cx="1965960" cy="777240"/>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GPU</a:t>
            </a:r>
            <a:r>
              <a:rPr lang="en-US" sz="950" dirty="0">
                <a:solidFill>
                  <a:srgbClr val="231F20"/>
                </a:solidFill>
                <a:latin typeface="Calibri" pitchFamily="34" charset="0"/>
                <a:ea typeface="Calibri" pitchFamily="34" charset="-122"/>
                <a:cs typeface="Calibri" pitchFamily="34" charset="-120"/>
              </a:rPr>
              <a:t> = des milliers de commis qui font chacun une tâche simple en même temps</a:t>
            </a:r>
            <a:endParaRPr lang="en-US" sz="950" dirty="0"/>
          </a:p>
        </p:txBody>
      </p:sp>
      <p:sp>
        <p:nvSpPr>
          <p:cNvPr id="62" name="Shape 50"/>
          <p:cNvSpPr/>
          <p:nvPr/>
        </p:nvSpPr>
        <p:spPr>
          <a:xfrm>
            <a:off x="6035040" y="3611880"/>
            <a:ext cx="2651760" cy="1005840"/>
          </a:xfrm>
          <a:prstGeom prst="roundRect">
            <a:avLst>
              <a:gd name="adj" fmla="val 7273"/>
            </a:avLst>
          </a:prstGeom>
          <a:solidFill>
            <a:srgbClr val="F4F7F5"/>
          </a:solidFill>
          <a:ln w="9525">
            <a:solidFill>
              <a:srgbClr val="D5DED9"/>
            </a:solidFill>
            <a:prstDash val="solid"/>
          </a:ln>
        </p:spPr>
      </p:sp>
      <p:sp>
        <p:nvSpPr>
          <p:cNvPr id="63" name="Text 51"/>
          <p:cNvSpPr txBox="1"/>
          <p:nvPr/>
        </p:nvSpPr>
        <p:spPr>
          <a:xfrm>
            <a:off x="6172200" y="3685032"/>
            <a:ext cx="237744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POURQUOI C'EST IMPORTANT</a:t>
            </a:r>
            <a:endParaRPr lang="en-US" sz="900" dirty="0"/>
          </a:p>
        </p:txBody>
      </p:sp>
      <p:sp>
        <p:nvSpPr>
          <p:cNvPr id="64" name="Text 52"/>
          <p:cNvSpPr txBox="1"/>
          <p:nvPr/>
        </p:nvSpPr>
        <p:spPr>
          <a:xfrm>
            <a:off x="6172200" y="3886200"/>
            <a:ext cx="2395728" cy="6949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réseaux de neurones répètent un calcul simple des milliards de fois — idéal pour les GPU. L'apprentissage classique reste sur CPU.</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MATÉRIEL IA · DIMENSIONNEMENT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La mémoire GPU est le critère décisif</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Un calcul simple indique quel modèle tient sur quelle carte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8" name="Shape 15"/>
          <p:cNvSpPr/>
          <p:nvPr/>
        </p:nvSpPr>
        <p:spPr>
          <a:xfrm>
            <a:off x="457200" y="1325880"/>
            <a:ext cx="3246120" cy="1005840"/>
          </a:xfrm>
          <a:prstGeom prst="roundRect">
            <a:avLst>
              <a:gd name="adj" fmla="val 7273"/>
            </a:avLst>
          </a:prstGeom>
          <a:solidFill>
            <a:srgbClr val="E8F5EF"/>
          </a:solidFill>
          <a:ln w="15875">
            <a:solidFill>
              <a:srgbClr val="00A86A"/>
            </a:solidFill>
            <a:prstDash val="solid"/>
          </a:ln>
        </p:spPr>
      </p:sp>
      <p:sp>
        <p:nvSpPr>
          <p:cNvPr id="19" name="Text 16"/>
          <p:cNvSpPr txBox="1"/>
          <p:nvPr/>
        </p:nvSpPr>
        <p:spPr>
          <a:xfrm>
            <a:off x="594360" y="1399032"/>
            <a:ext cx="292608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LA RÈGLE PRATIQUE</a:t>
            </a:r>
            <a:endParaRPr lang="en-US" sz="900" dirty="0"/>
          </a:p>
        </p:txBody>
      </p:sp>
      <p:sp>
        <p:nvSpPr>
          <p:cNvPr id="20" name="Text 17"/>
          <p:cNvSpPr txBox="1"/>
          <p:nvPr/>
        </p:nvSpPr>
        <p:spPr>
          <a:xfrm>
            <a:off x="594360" y="1627632"/>
            <a:ext cx="3017520" cy="6400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Mémoire ≈ paramètres × octets par paramètre + ~20 %</a:t>
            </a:r>
            <a:endParaRPr lang="en-US" sz="1300" dirty="0"/>
          </a:p>
        </p:txBody>
      </p:sp>
      <p:sp>
        <p:nvSpPr>
          <p:cNvPr id="21" name="Text 18"/>
          <p:cNvSpPr txBox="1"/>
          <p:nvPr/>
        </p:nvSpPr>
        <p:spPr>
          <a:xfrm>
            <a:off x="457200" y="2450592"/>
            <a:ext cx="32004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OCTETS PAR PARAMÈTRE</a:t>
            </a:r>
            <a:endParaRPr lang="en-US" sz="900" dirty="0"/>
          </a:p>
        </p:txBody>
      </p:sp>
      <p:sp>
        <p:nvSpPr>
          <p:cNvPr id="22" name="Shape 19"/>
          <p:cNvSpPr/>
          <p:nvPr/>
        </p:nvSpPr>
        <p:spPr>
          <a:xfrm>
            <a:off x="457200" y="2679192"/>
            <a:ext cx="3246120" cy="310896"/>
          </a:xfrm>
          <a:prstGeom prst="roundRect">
            <a:avLst>
              <a:gd name="adj" fmla="val 11765"/>
            </a:avLst>
          </a:prstGeom>
          <a:solidFill>
            <a:srgbClr val="F4F7F5"/>
          </a:solidFill>
          <a:ln w="9525">
            <a:solidFill>
              <a:srgbClr val="D5DED9"/>
            </a:solidFill>
            <a:prstDash val="solid"/>
          </a:ln>
        </p:spPr>
      </p:sp>
      <p:sp>
        <p:nvSpPr>
          <p:cNvPr id="23" name="Shape 20"/>
          <p:cNvSpPr/>
          <p:nvPr/>
        </p:nvSpPr>
        <p:spPr>
          <a:xfrm>
            <a:off x="566928" y="2770632"/>
            <a:ext cx="128016" cy="128016"/>
          </a:xfrm>
          <a:prstGeom prst="ellipse">
            <a:avLst/>
          </a:prstGeom>
          <a:solidFill>
            <a:srgbClr val="00553A"/>
          </a:solidFill>
          <a:ln/>
        </p:spPr>
      </p:sp>
      <p:sp>
        <p:nvSpPr>
          <p:cNvPr id="24" name="Text 21"/>
          <p:cNvSpPr txBox="1"/>
          <p:nvPr/>
        </p:nvSpPr>
        <p:spPr>
          <a:xfrm>
            <a:off x="786384" y="267919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16 bits (complet)</a:t>
            </a:r>
            <a:endParaRPr lang="en-US" sz="1000" dirty="0"/>
          </a:p>
        </p:txBody>
      </p:sp>
      <p:sp>
        <p:nvSpPr>
          <p:cNvPr id="25" name="Text 22"/>
          <p:cNvSpPr txBox="1"/>
          <p:nvPr/>
        </p:nvSpPr>
        <p:spPr>
          <a:xfrm>
            <a:off x="2834640" y="267919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2</a:t>
            </a:r>
            <a:endParaRPr lang="en-US" sz="1200" dirty="0"/>
          </a:p>
        </p:txBody>
      </p:sp>
      <p:sp>
        <p:nvSpPr>
          <p:cNvPr id="26" name="Shape 23"/>
          <p:cNvSpPr/>
          <p:nvPr/>
        </p:nvSpPr>
        <p:spPr>
          <a:xfrm>
            <a:off x="457200" y="3044952"/>
            <a:ext cx="3246120" cy="310896"/>
          </a:xfrm>
          <a:prstGeom prst="roundRect">
            <a:avLst>
              <a:gd name="adj" fmla="val 11765"/>
            </a:avLst>
          </a:prstGeom>
          <a:solidFill>
            <a:srgbClr val="F4F7F5"/>
          </a:solidFill>
          <a:ln w="9525">
            <a:solidFill>
              <a:srgbClr val="D5DED9"/>
            </a:solidFill>
            <a:prstDash val="solid"/>
          </a:ln>
        </p:spPr>
      </p:sp>
      <p:sp>
        <p:nvSpPr>
          <p:cNvPr id="27" name="Shape 24"/>
          <p:cNvSpPr/>
          <p:nvPr/>
        </p:nvSpPr>
        <p:spPr>
          <a:xfrm>
            <a:off x="566928" y="3136392"/>
            <a:ext cx="128016" cy="128016"/>
          </a:xfrm>
          <a:prstGeom prst="ellipse">
            <a:avLst/>
          </a:prstGeom>
          <a:solidFill>
            <a:srgbClr val="008A5B"/>
          </a:solidFill>
          <a:ln/>
        </p:spPr>
      </p:sp>
      <p:sp>
        <p:nvSpPr>
          <p:cNvPr id="28" name="Text 25"/>
          <p:cNvSpPr txBox="1"/>
          <p:nvPr/>
        </p:nvSpPr>
        <p:spPr>
          <a:xfrm>
            <a:off x="786384" y="304495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8 bits (compressé)</a:t>
            </a:r>
            <a:endParaRPr lang="en-US" sz="1000" dirty="0"/>
          </a:p>
        </p:txBody>
      </p:sp>
      <p:sp>
        <p:nvSpPr>
          <p:cNvPr id="29" name="Text 26"/>
          <p:cNvSpPr txBox="1"/>
          <p:nvPr/>
        </p:nvSpPr>
        <p:spPr>
          <a:xfrm>
            <a:off x="2834640" y="304495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1</a:t>
            </a:r>
            <a:endParaRPr lang="en-US" sz="1200" dirty="0"/>
          </a:p>
        </p:txBody>
      </p:sp>
      <p:sp>
        <p:nvSpPr>
          <p:cNvPr id="30" name="Shape 27"/>
          <p:cNvSpPr/>
          <p:nvPr/>
        </p:nvSpPr>
        <p:spPr>
          <a:xfrm>
            <a:off x="457200" y="3410712"/>
            <a:ext cx="3246120" cy="310896"/>
          </a:xfrm>
          <a:prstGeom prst="roundRect">
            <a:avLst>
              <a:gd name="adj" fmla="val 11765"/>
            </a:avLst>
          </a:prstGeom>
          <a:solidFill>
            <a:srgbClr val="F4F7F5"/>
          </a:solidFill>
          <a:ln w="9525">
            <a:solidFill>
              <a:srgbClr val="D5DED9"/>
            </a:solidFill>
            <a:prstDash val="solid"/>
          </a:ln>
        </p:spPr>
      </p:sp>
      <p:sp>
        <p:nvSpPr>
          <p:cNvPr id="31" name="Shape 28"/>
          <p:cNvSpPr/>
          <p:nvPr/>
        </p:nvSpPr>
        <p:spPr>
          <a:xfrm>
            <a:off x="566928" y="3502152"/>
            <a:ext cx="128016" cy="128016"/>
          </a:xfrm>
          <a:prstGeom prst="ellipse">
            <a:avLst/>
          </a:prstGeom>
          <a:solidFill>
            <a:srgbClr val="57BD92"/>
          </a:solidFill>
          <a:ln/>
        </p:spPr>
      </p:sp>
      <p:sp>
        <p:nvSpPr>
          <p:cNvPr id="32" name="Text 29"/>
          <p:cNvSpPr txBox="1"/>
          <p:nvPr/>
        </p:nvSpPr>
        <p:spPr>
          <a:xfrm>
            <a:off x="786384" y="3410712"/>
            <a:ext cx="2011680" cy="31089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4 bits (compressé)</a:t>
            </a:r>
            <a:endParaRPr lang="en-US" sz="1000" dirty="0"/>
          </a:p>
        </p:txBody>
      </p:sp>
      <p:sp>
        <p:nvSpPr>
          <p:cNvPr id="33" name="Text 30"/>
          <p:cNvSpPr txBox="1"/>
          <p:nvPr/>
        </p:nvSpPr>
        <p:spPr>
          <a:xfrm>
            <a:off x="2834640" y="3410712"/>
            <a:ext cx="731520" cy="310896"/>
          </a:xfrm>
          <a:prstGeom prst="rect">
            <a:avLst/>
          </a:prstGeom>
          <a:noFill/>
          <a:ln/>
        </p:spPr>
        <p:txBody>
          <a:bodyPr wrap="square" lIns="0" tIns="0" rIns="0" bIns="0" rtlCol="0" anchor="ctr"/>
          <a:lstStyle/>
          <a:p>
            <a:pPr marL="0" indent="0" algn="r">
              <a:buNone/>
            </a:pPr>
            <a:r>
              <a:rPr lang="en-US" sz="1200" b="1" dirty="0">
                <a:solidFill>
                  <a:srgbClr val="00704A"/>
                </a:solidFill>
                <a:latin typeface="Calibri" pitchFamily="34" charset="0"/>
                <a:ea typeface="Calibri" pitchFamily="34" charset="-122"/>
                <a:cs typeface="Calibri" pitchFamily="34" charset="-120"/>
              </a:rPr>
              <a:t>0,5</a:t>
            </a:r>
            <a:endParaRPr lang="en-US" sz="1200" dirty="0"/>
          </a:p>
        </p:txBody>
      </p:sp>
      <p:sp>
        <p:nvSpPr>
          <p:cNvPr id="34" name="Shape 31"/>
          <p:cNvSpPr/>
          <p:nvPr/>
        </p:nvSpPr>
        <p:spPr>
          <a:xfrm>
            <a:off x="457200" y="3813048"/>
            <a:ext cx="3246120" cy="804672"/>
          </a:xfrm>
          <a:prstGeom prst="roundRect">
            <a:avLst>
              <a:gd name="adj" fmla="val 6818"/>
            </a:avLst>
          </a:prstGeom>
          <a:solidFill>
            <a:srgbClr val="D49A00">
              <a:alpha val="13000"/>
            </a:srgbClr>
          </a:solidFill>
          <a:ln w="12700">
            <a:solidFill>
              <a:srgbClr val="D49A00"/>
            </a:solidFill>
            <a:prstDash val="solid"/>
          </a:ln>
        </p:spPr>
      </p:sp>
      <p:sp>
        <p:nvSpPr>
          <p:cNvPr id="35" name="Shape 32"/>
          <p:cNvSpPr/>
          <p:nvPr/>
        </p:nvSpPr>
        <p:spPr>
          <a:xfrm>
            <a:off x="566928" y="4069080"/>
            <a:ext cx="292608" cy="292608"/>
          </a:xfrm>
          <a:prstGeom prst="ellipse">
            <a:avLst/>
          </a:prstGeom>
          <a:solidFill>
            <a:srgbClr val="D49A00">
              <a:alpha val="22000"/>
            </a:srgbClr>
          </a:solidFill>
          <a:ln/>
        </p:spPr>
      </p:sp>
      <p:pic>
        <p:nvPicPr>
          <p:cNvPr id="36" name="Image 0" descr="preencoded.png"/>
          <p:cNvPicPr>
            <a:picLocks noChangeAspect="1"/>
          </p:cNvPicPr>
          <p:nvPr/>
        </p:nvPicPr>
        <p:blipFill>
          <a:blip r:embed="rId3"/>
          <a:stretch>
            <a:fillRect/>
          </a:stretch>
        </p:blipFill>
        <p:spPr>
          <a:xfrm>
            <a:off x="637154" y="4139306"/>
            <a:ext cx="152156" cy="152156"/>
          </a:xfrm>
          <a:prstGeom prst="rect">
            <a:avLst/>
          </a:prstGeom>
        </p:spPr>
      </p:pic>
      <p:sp>
        <p:nvSpPr>
          <p:cNvPr id="37" name="Text 33"/>
          <p:cNvSpPr txBox="1"/>
          <p:nvPr/>
        </p:nvSpPr>
        <p:spPr>
          <a:xfrm>
            <a:off x="960120" y="3813048"/>
            <a:ext cx="2606040" cy="804672"/>
          </a:xfrm>
          <a:prstGeom prst="rect">
            <a:avLst/>
          </a:prstGeom>
          <a:noFill/>
          <a:ln/>
        </p:spPr>
        <p:txBody>
          <a:bodyPr wrap="square" lIns="0" tIns="0" rIns="0" bIns="0" rtlCol="0" anchor="ctr"/>
          <a:lstStyle/>
          <a:p>
            <a:pPr marL="0" indent="0">
              <a:buNone/>
            </a:pPr>
            <a:r>
              <a:rPr lang="en-US" sz="900" b="1" dirty="0">
                <a:solidFill>
                  <a:srgbClr val="8A6400"/>
                </a:solidFill>
                <a:latin typeface="Calibri" pitchFamily="34" charset="0"/>
                <a:ea typeface="Calibri" pitchFamily="34" charset="-122"/>
                <a:cs typeface="Calibri" pitchFamily="34" charset="-120"/>
              </a:rPr>
              <a:t>L'entraînement exige bien plus :  </a:t>
            </a:r>
            <a:r>
              <a:rPr lang="en-US" sz="900" dirty="0">
                <a:solidFill>
                  <a:srgbClr val="231F20"/>
                </a:solidFill>
                <a:latin typeface="Calibri" pitchFamily="34" charset="0"/>
                <a:ea typeface="Calibri" pitchFamily="34" charset="-122"/>
                <a:cs typeface="Calibri" pitchFamily="34" charset="-120"/>
              </a:rPr>
              <a:t>un affinage complet demande ~16–20 octets par paramètre. LoRA / QLoRA le font tenir sur une carte.</a:t>
            </a:r>
            <a:endParaRPr lang="en-US" sz="900" dirty="0"/>
          </a:p>
        </p:txBody>
      </p:sp>
      <p:sp>
        <p:nvSpPr>
          <p:cNvPr id="38" name="Shape 34"/>
          <p:cNvSpPr/>
          <p:nvPr/>
        </p:nvSpPr>
        <p:spPr>
          <a:xfrm>
            <a:off x="3886200" y="1325880"/>
            <a:ext cx="4800600" cy="2697480"/>
          </a:xfrm>
          <a:prstGeom prst="roundRect">
            <a:avLst>
              <a:gd name="adj" fmla="val 2712"/>
            </a:avLst>
          </a:prstGeom>
          <a:solidFill>
            <a:srgbClr val="F4F7F5"/>
          </a:solidFill>
          <a:ln w="9525">
            <a:solidFill>
              <a:srgbClr val="D5DED9"/>
            </a:solidFill>
            <a:prstDash val="solid"/>
          </a:ln>
        </p:spPr>
      </p:sp>
      <p:graphicFrame>
        <p:nvGraphicFramePr>
          <p:cNvPr id="39" name="Chart 0"/>
          <p:cNvGraphicFramePr/>
          <p:nvPr/>
        </p:nvGraphicFramePr>
        <p:xfrm>
          <a:off x="3931920" y="1371600"/>
          <a:ext cx="470916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40" name="Text 35"/>
          <p:cNvSpPr txBox="1"/>
          <p:nvPr/>
        </p:nvSpPr>
        <p:spPr>
          <a:xfrm>
            <a:off x="3886200" y="4114800"/>
            <a:ext cx="274320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TAILLES DE CARTES COURANTES</a:t>
            </a:r>
            <a:endParaRPr lang="en-US" sz="900" dirty="0"/>
          </a:p>
        </p:txBody>
      </p:sp>
      <p:sp>
        <p:nvSpPr>
          <p:cNvPr id="41" name="Shape 36"/>
          <p:cNvSpPr/>
          <p:nvPr/>
        </p:nvSpPr>
        <p:spPr>
          <a:xfrm>
            <a:off x="3886200" y="4315968"/>
            <a:ext cx="749808" cy="329184"/>
          </a:xfrm>
          <a:prstGeom prst="roundRect">
            <a:avLst>
              <a:gd name="adj" fmla="val 13889"/>
            </a:avLst>
          </a:prstGeom>
          <a:solidFill>
            <a:srgbClr val="E8F5EF"/>
          </a:solidFill>
          <a:ln w="9525">
            <a:solidFill>
              <a:srgbClr val="00A86A"/>
            </a:solidFill>
            <a:prstDash val="solid"/>
          </a:ln>
        </p:spPr>
      </p:sp>
      <p:sp>
        <p:nvSpPr>
          <p:cNvPr id="42" name="Text 37"/>
          <p:cNvSpPr txBox="1"/>
          <p:nvPr/>
        </p:nvSpPr>
        <p:spPr>
          <a:xfrm>
            <a:off x="3886200"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24 Go</a:t>
            </a:r>
            <a:endParaRPr lang="en-US" sz="950" dirty="0"/>
          </a:p>
        </p:txBody>
      </p:sp>
      <p:sp>
        <p:nvSpPr>
          <p:cNvPr id="43" name="Text 38"/>
          <p:cNvSpPr txBox="1"/>
          <p:nvPr/>
        </p:nvSpPr>
        <p:spPr>
          <a:xfrm>
            <a:off x="3886200"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entrée</a:t>
            </a:r>
            <a:endParaRPr lang="en-US" sz="650" dirty="0"/>
          </a:p>
        </p:txBody>
      </p:sp>
      <p:sp>
        <p:nvSpPr>
          <p:cNvPr id="44" name="Shape 39"/>
          <p:cNvSpPr/>
          <p:nvPr/>
        </p:nvSpPr>
        <p:spPr>
          <a:xfrm>
            <a:off x="4696358" y="4315968"/>
            <a:ext cx="749808" cy="329184"/>
          </a:xfrm>
          <a:prstGeom prst="roundRect">
            <a:avLst>
              <a:gd name="adj" fmla="val 13889"/>
            </a:avLst>
          </a:prstGeom>
          <a:solidFill>
            <a:srgbClr val="E8F5EF"/>
          </a:solidFill>
          <a:ln w="9525">
            <a:solidFill>
              <a:srgbClr val="00A86A"/>
            </a:solidFill>
            <a:prstDash val="solid"/>
          </a:ln>
        </p:spPr>
      </p:sp>
      <p:sp>
        <p:nvSpPr>
          <p:cNvPr id="45" name="Text 40"/>
          <p:cNvSpPr txBox="1"/>
          <p:nvPr/>
        </p:nvSpPr>
        <p:spPr>
          <a:xfrm>
            <a:off x="4696358"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48 Go</a:t>
            </a:r>
            <a:endParaRPr lang="en-US" sz="950" dirty="0"/>
          </a:p>
        </p:txBody>
      </p:sp>
      <p:sp>
        <p:nvSpPr>
          <p:cNvPr id="46" name="Text 41"/>
          <p:cNvSpPr txBox="1"/>
          <p:nvPr/>
        </p:nvSpPr>
        <p:spPr>
          <a:xfrm>
            <a:off x="4696358"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inférence</a:t>
            </a:r>
            <a:endParaRPr lang="en-US" sz="650" dirty="0"/>
          </a:p>
        </p:txBody>
      </p:sp>
      <p:sp>
        <p:nvSpPr>
          <p:cNvPr id="47" name="Shape 42"/>
          <p:cNvSpPr/>
          <p:nvPr/>
        </p:nvSpPr>
        <p:spPr>
          <a:xfrm>
            <a:off x="5506517" y="4315968"/>
            <a:ext cx="749808" cy="329184"/>
          </a:xfrm>
          <a:prstGeom prst="roundRect">
            <a:avLst>
              <a:gd name="adj" fmla="val 13889"/>
            </a:avLst>
          </a:prstGeom>
          <a:solidFill>
            <a:srgbClr val="E8F5EF"/>
          </a:solidFill>
          <a:ln w="9525">
            <a:solidFill>
              <a:srgbClr val="00A86A"/>
            </a:solidFill>
            <a:prstDash val="solid"/>
          </a:ln>
        </p:spPr>
      </p:sp>
      <p:sp>
        <p:nvSpPr>
          <p:cNvPr id="48" name="Text 43"/>
          <p:cNvSpPr txBox="1"/>
          <p:nvPr/>
        </p:nvSpPr>
        <p:spPr>
          <a:xfrm>
            <a:off x="5506517"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80 Go</a:t>
            </a:r>
            <a:endParaRPr lang="en-US" sz="950" dirty="0"/>
          </a:p>
        </p:txBody>
      </p:sp>
      <p:sp>
        <p:nvSpPr>
          <p:cNvPr id="49" name="Text 44"/>
          <p:cNvSpPr txBox="1"/>
          <p:nvPr/>
        </p:nvSpPr>
        <p:spPr>
          <a:xfrm>
            <a:off x="5506517"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H100</a:t>
            </a:r>
            <a:endParaRPr lang="en-US" sz="650" dirty="0"/>
          </a:p>
        </p:txBody>
      </p:sp>
      <p:sp>
        <p:nvSpPr>
          <p:cNvPr id="50" name="Shape 45"/>
          <p:cNvSpPr/>
          <p:nvPr/>
        </p:nvSpPr>
        <p:spPr>
          <a:xfrm>
            <a:off x="6316675" y="4315968"/>
            <a:ext cx="749808" cy="329184"/>
          </a:xfrm>
          <a:prstGeom prst="roundRect">
            <a:avLst>
              <a:gd name="adj" fmla="val 13889"/>
            </a:avLst>
          </a:prstGeom>
          <a:solidFill>
            <a:srgbClr val="E8F5EF"/>
          </a:solidFill>
          <a:ln w="9525">
            <a:solidFill>
              <a:srgbClr val="00A86A"/>
            </a:solidFill>
            <a:prstDash val="solid"/>
          </a:ln>
        </p:spPr>
      </p:sp>
      <p:sp>
        <p:nvSpPr>
          <p:cNvPr id="51" name="Text 46"/>
          <p:cNvSpPr txBox="1"/>
          <p:nvPr/>
        </p:nvSpPr>
        <p:spPr>
          <a:xfrm>
            <a:off x="6316675"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96 Go</a:t>
            </a:r>
            <a:endParaRPr lang="en-US" sz="950" dirty="0"/>
          </a:p>
        </p:txBody>
      </p:sp>
      <p:sp>
        <p:nvSpPr>
          <p:cNvPr id="52" name="Text 47"/>
          <p:cNvSpPr txBox="1"/>
          <p:nvPr/>
        </p:nvSpPr>
        <p:spPr>
          <a:xfrm>
            <a:off x="6316675"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RTX PRO 6000</a:t>
            </a:r>
            <a:endParaRPr lang="en-US" sz="650" dirty="0"/>
          </a:p>
        </p:txBody>
      </p:sp>
      <p:sp>
        <p:nvSpPr>
          <p:cNvPr id="53" name="Shape 48"/>
          <p:cNvSpPr/>
          <p:nvPr/>
        </p:nvSpPr>
        <p:spPr>
          <a:xfrm>
            <a:off x="7126834" y="4315968"/>
            <a:ext cx="749808" cy="329184"/>
          </a:xfrm>
          <a:prstGeom prst="roundRect">
            <a:avLst>
              <a:gd name="adj" fmla="val 13889"/>
            </a:avLst>
          </a:prstGeom>
          <a:solidFill>
            <a:srgbClr val="E8F5EF"/>
          </a:solidFill>
          <a:ln w="9525">
            <a:solidFill>
              <a:srgbClr val="00A86A"/>
            </a:solidFill>
            <a:prstDash val="solid"/>
          </a:ln>
        </p:spPr>
      </p:sp>
      <p:sp>
        <p:nvSpPr>
          <p:cNvPr id="54" name="Text 49"/>
          <p:cNvSpPr txBox="1"/>
          <p:nvPr/>
        </p:nvSpPr>
        <p:spPr>
          <a:xfrm>
            <a:off x="7126834"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141 Go</a:t>
            </a:r>
            <a:endParaRPr lang="en-US" sz="950" dirty="0"/>
          </a:p>
        </p:txBody>
      </p:sp>
      <p:sp>
        <p:nvSpPr>
          <p:cNvPr id="55" name="Text 50"/>
          <p:cNvSpPr txBox="1"/>
          <p:nvPr/>
        </p:nvSpPr>
        <p:spPr>
          <a:xfrm>
            <a:off x="7126834"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H200</a:t>
            </a:r>
            <a:endParaRPr lang="en-US" sz="650" dirty="0"/>
          </a:p>
        </p:txBody>
      </p:sp>
      <p:sp>
        <p:nvSpPr>
          <p:cNvPr id="56" name="Shape 51"/>
          <p:cNvSpPr/>
          <p:nvPr/>
        </p:nvSpPr>
        <p:spPr>
          <a:xfrm>
            <a:off x="7936992" y="4315968"/>
            <a:ext cx="749808" cy="329184"/>
          </a:xfrm>
          <a:prstGeom prst="roundRect">
            <a:avLst>
              <a:gd name="adj" fmla="val 13889"/>
            </a:avLst>
          </a:prstGeom>
          <a:solidFill>
            <a:srgbClr val="E8F5EF"/>
          </a:solidFill>
          <a:ln w="9525">
            <a:solidFill>
              <a:srgbClr val="00A86A"/>
            </a:solidFill>
            <a:prstDash val="solid"/>
          </a:ln>
        </p:spPr>
      </p:sp>
      <p:sp>
        <p:nvSpPr>
          <p:cNvPr id="57" name="Text 52"/>
          <p:cNvSpPr txBox="1"/>
          <p:nvPr/>
        </p:nvSpPr>
        <p:spPr>
          <a:xfrm>
            <a:off x="7936992" y="4325112"/>
            <a:ext cx="749808" cy="164592"/>
          </a:xfrm>
          <a:prstGeom prst="rect">
            <a:avLst/>
          </a:prstGeom>
          <a:noFill/>
          <a:ln/>
        </p:spPr>
        <p:txBody>
          <a:bodyPr wrap="square" lIns="0" tIns="0" rIns="0" bIns="0" rtlCol="0" anchor="ctr"/>
          <a:lstStyle/>
          <a:p>
            <a:pPr marL="0" indent="0" algn="ctr">
              <a:buNone/>
            </a:pPr>
            <a:r>
              <a:rPr lang="en-US" sz="950" b="1" dirty="0">
                <a:solidFill>
                  <a:srgbClr val="00704A"/>
                </a:solidFill>
                <a:latin typeface="Calibri" pitchFamily="34" charset="0"/>
                <a:ea typeface="Calibri" pitchFamily="34" charset="-122"/>
                <a:cs typeface="Calibri" pitchFamily="34" charset="-120"/>
              </a:rPr>
              <a:t>180 Go</a:t>
            </a:r>
            <a:endParaRPr lang="en-US" sz="950" dirty="0"/>
          </a:p>
        </p:txBody>
      </p:sp>
      <p:sp>
        <p:nvSpPr>
          <p:cNvPr id="58" name="Text 53"/>
          <p:cNvSpPr txBox="1"/>
          <p:nvPr/>
        </p:nvSpPr>
        <p:spPr>
          <a:xfrm>
            <a:off x="7936992" y="4480560"/>
            <a:ext cx="749808" cy="146304"/>
          </a:xfrm>
          <a:prstGeom prst="rect">
            <a:avLst/>
          </a:prstGeom>
          <a:noFill/>
          <a:ln/>
        </p:spPr>
        <p:txBody>
          <a:bodyPr wrap="square" lIns="0" tIns="0" rIns="0" bIns="0" rtlCol="0" anchor="ctr"/>
          <a:lstStyle/>
          <a:p>
            <a:pPr marL="0" indent="0" algn="ctr">
              <a:buNone/>
            </a:pPr>
            <a:r>
              <a:rPr lang="en-US" sz="650" dirty="0">
                <a:solidFill>
                  <a:srgbClr val="5E6964"/>
                </a:solidFill>
                <a:latin typeface="Calibri" pitchFamily="34" charset="0"/>
                <a:ea typeface="Calibri" pitchFamily="34" charset="-122"/>
                <a:cs typeface="Calibri" pitchFamily="34" charset="-120"/>
              </a:rPr>
              <a:t>B200</a:t>
            </a:r>
            <a:endParaRPr lang="en-US" sz="6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MATÉRIEL IA · FAMILLES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Les familles d'accélérateurs en un coup d'œil</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Exemples illustratifs, pas des recommandations — les gammes changent tous les 12 à 18 mois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8" name="Text 15"/>
          <p:cNvSpPr txBox="1"/>
          <p:nvPr/>
        </p:nvSpPr>
        <p:spPr>
          <a:xfrm>
            <a:off x="548640" y="1298448"/>
            <a:ext cx="17830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CATÉGORIE</a:t>
            </a:r>
            <a:endParaRPr lang="en-US" sz="900" dirty="0"/>
          </a:p>
        </p:txBody>
      </p:sp>
      <p:sp>
        <p:nvSpPr>
          <p:cNvPr id="19" name="Text 16"/>
          <p:cNvSpPr txBox="1"/>
          <p:nvPr/>
        </p:nvSpPr>
        <p:spPr>
          <a:xfrm>
            <a:off x="2514600" y="1298448"/>
            <a:ext cx="16916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EXEMPLES (2026)</a:t>
            </a:r>
            <a:endParaRPr lang="en-US" sz="900" dirty="0"/>
          </a:p>
        </p:txBody>
      </p:sp>
      <p:sp>
        <p:nvSpPr>
          <p:cNvPr id="20" name="Text 17"/>
          <p:cNvSpPr txBox="1"/>
          <p:nvPr/>
        </p:nvSpPr>
        <p:spPr>
          <a:xfrm>
            <a:off x="4389120" y="1298448"/>
            <a:ext cx="8229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MÉMOIRE</a:t>
            </a:r>
            <a:endParaRPr lang="en-US" sz="900" dirty="0"/>
          </a:p>
        </p:txBody>
      </p:sp>
      <p:sp>
        <p:nvSpPr>
          <p:cNvPr id="21" name="Text 18"/>
          <p:cNvSpPr txBox="1"/>
          <p:nvPr/>
        </p:nvSpPr>
        <p:spPr>
          <a:xfrm>
            <a:off x="5394960" y="1298448"/>
            <a:ext cx="7315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PUISSANCE</a:t>
            </a:r>
            <a:endParaRPr lang="en-US" sz="900" dirty="0"/>
          </a:p>
        </p:txBody>
      </p:sp>
      <p:sp>
        <p:nvSpPr>
          <p:cNvPr id="22" name="Text 19"/>
          <p:cNvSpPr txBox="1"/>
          <p:nvPr/>
        </p:nvSpPr>
        <p:spPr>
          <a:xfrm>
            <a:off x="6309360" y="1298448"/>
            <a:ext cx="9601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POUR UN INS</a:t>
            </a:r>
            <a:endParaRPr lang="en-US" sz="900" dirty="0"/>
          </a:p>
        </p:txBody>
      </p:sp>
      <p:sp>
        <p:nvSpPr>
          <p:cNvPr id="23" name="Text 20"/>
          <p:cNvSpPr txBox="1"/>
          <p:nvPr/>
        </p:nvSpPr>
        <p:spPr>
          <a:xfrm>
            <a:off x="7452360" y="1298448"/>
            <a:ext cx="11430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USAGE TYPE</a:t>
            </a:r>
            <a:endParaRPr lang="en-US" sz="900" dirty="0"/>
          </a:p>
        </p:txBody>
      </p:sp>
      <p:sp>
        <p:nvSpPr>
          <p:cNvPr id="24" name="Shape 21"/>
          <p:cNvSpPr/>
          <p:nvPr/>
        </p:nvSpPr>
        <p:spPr>
          <a:xfrm>
            <a:off x="457200" y="1572768"/>
            <a:ext cx="8229600" cy="365760"/>
          </a:xfrm>
          <a:prstGeom prst="roundRect">
            <a:avLst>
              <a:gd name="adj" fmla="val 12500"/>
            </a:avLst>
          </a:prstGeom>
          <a:solidFill>
            <a:srgbClr val="F4F7F5"/>
          </a:solidFill>
          <a:ln w="9525">
            <a:solidFill>
              <a:srgbClr val="D5DED9"/>
            </a:solidFill>
            <a:prstDash val="solid"/>
          </a:ln>
        </p:spPr>
      </p:sp>
      <p:sp>
        <p:nvSpPr>
          <p:cNvPr id="25" name="Shape 22"/>
          <p:cNvSpPr/>
          <p:nvPr/>
        </p:nvSpPr>
        <p:spPr>
          <a:xfrm>
            <a:off x="548640" y="1618488"/>
            <a:ext cx="274320" cy="274320"/>
          </a:xfrm>
          <a:prstGeom prst="ellipse">
            <a:avLst/>
          </a:prstGeom>
          <a:solidFill>
            <a:srgbClr val="0E7C86">
              <a:alpha val="22000"/>
            </a:srgbClr>
          </a:solidFill>
          <a:ln/>
        </p:spPr>
      </p:sp>
      <p:pic>
        <p:nvPicPr>
          <p:cNvPr id="26" name="Image 0" descr="preencoded.png"/>
          <p:cNvPicPr>
            <a:picLocks noChangeAspect="1"/>
          </p:cNvPicPr>
          <p:nvPr/>
        </p:nvPicPr>
        <p:blipFill>
          <a:blip r:embed="rId3"/>
          <a:stretch>
            <a:fillRect/>
          </a:stretch>
        </p:blipFill>
        <p:spPr>
          <a:xfrm>
            <a:off x="614477" y="1684325"/>
            <a:ext cx="142646" cy="142646"/>
          </a:xfrm>
          <a:prstGeom prst="rect">
            <a:avLst/>
          </a:prstGeom>
        </p:spPr>
      </p:pic>
      <p:sp>
        <p:nvSpPr>
          <p:cNvPr id="27" name="Text 23"/>
          <p:cNvSpPr txBox="1"/>
          <p:nvPr/>
        </p:nvSpPr>
        <p:spPr>
          <a:xfrm>
            <a:off x="896112" y="1572768"/>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Serveurs CPU</a:t>
            </a:r>
            <a:endParaRPr lang="en-US" sz="850" dirty="0"/>
          </a:p>
        </p:txBody>
      </p:sp>
      <p:sp>
        <p:nvSpPr>
          <p:cNvPr id="28" name="Text 24"/>
          <p:cNvSpPr txBox="1"/>
          <p:nvPr/>
        </p:nvSpPr>
        <p:spPr>
          <a:xfrm>
            <a:off x="2514600" y="1572768"/>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Processeurs serveur x86 ou Arm actuels</a:t>
            </a:r>
            <a:endParaRPr lang="en-US" sz="850" dirty="0"/>
          </a:p>
        </p:txBody>
      </p:sp>
      <p:sp>
        <p:nvSpPr>
          <p:cNvPr id="29" name="Text 25"/>
          <p:cNvSpPr txBox="1"/>
          <p:nvPr/>
        </p:nvSpPr>
        <p:spPr>
          <a:xfrm>
            <a:off x="4389120" y="1572768"/>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RAM système</a:t>
            </a:r>
            <a:endParaRPr lang="en-US" sz="850" dirty="0"/>
          </a:p>
        </p:txBody>
      </p:sp>
      <p:sp>
        <p:nvSpPr>
          <p:cNvPr id="30" name="Text 26"/>
          <p:cNvSpPr txBox="1"/>
          <p:nvPr/>
        </p:nvSpPr>
        <p:spPr>
          <a:xfrm>
            <a:off x="5394960" y="1572768"/>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0,3–1 kW</a:t>
            </a:r>
            <a:endParaRPr lang="en-US" sz="850" dirty="0"/>
          </a:p>
        </p:txBody>
      </p:sp>
      <p:sp>
        <p:nvSpPr>
          <p:cNvPr id="31" name="Shape 27"/>
          <p:cNvSpPr/>
          <p:nvPr/>
        </p:nvSpPr>
        <p:spPr>
          <a:xfrm>
            <a:off x="6263640" y="1645920"/>
            <a:ext cx="1051560" cy="219456"/>
          </a:xfrm>
          <a:prstGeom prst="roundRect">
            <a:avLst>
              <a:gd name="adj" fmla="val 50000"/>
            </a:avLst>
          </a:prstGeom>
          <a:solidFill>
            <a:srgbClr val="00704A">
              <a:alpha val="15000"/>
            </a:srgbClr>
          </a:solidFill>
          <a:ln w="9525">
            <a:solidFill>
              <a:srgbClr val="00704A"/>
            </a:solidFill>
            <a:prstDash val="solid"/>
          </a:ln>
        </p:spPr>
      </p:sp>
      <p:sp>
        <p:nvSpPr>
          <p:cNvPr id="32" name="Text 28"/>
          <p:cNvSpPr txBox="1"/>
          <p:nvPr/>
        </p:nvSpPr>
        <p:spPr>
          <a:xfrm>
            <a:off x="6263640" y="1645920"/>
            <a:ext cx="105156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Essentiel</a:t>
            </a:r>
            <a:endParaRPr lang="en-US" sz="850" dirty="0"/>
          </a:p>
        </p:txBody>
      </p:sp>
      <p:sp>
        <p:nvSpPr>
          <p:cNvPr id="33" name="Text 29"/>
          <p:cNvSpPr txBox="1"/>
          <p:nvPr/>
        </p:nvSpPr>
        <p:spPr>
          <a:xfrm>
            <a:off x="7452360" y="1572768"/>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Apprentissage classique, petits modèles</a:t>
            </a:r>
            <a:endParaRPr lang="en-US" sz="850" dirty="0"/>
          </a:p>
        </p:txBody>
      </p:sp>
      <p:sp>
        <p:nvSpPr>
          <p:cNvPr id="34" name="Shape 30"/>
          <p:cNvSpPr/>
          <p:nvPr/>
        </p:nvSpPr>
        <p:spPr>
          <a:xfrm>
            <a:off x="457200" y="1979676"/>
            <a:ext cx="8229600" cy="365760"/>
          </a:xfrm>
          <a:prstGeom prst="roundRect">
            <a:avLst>
              <a:gd name="adj" fmla="val 12500"/>
            </a:avLst>
          </a:prstGeom>
          <a:solidFill>
            <a:srgbClr val="F4F7F5"/>
          </a:solidFill>
          <a:ln w="9525">
            <a:solidFill>
              <a:srgbClr val="D5DED9"/>
            </a:solidFill>
            <a:prstDash val="solid"/>
          </a:ln>
        </p:spPr>
      </p:sp>
      <p:sp>
        <p:nvSpPr>
          <p:cNvPr id="35" name="Shape 31"/>
          <p:cNvSpPr/>
          <p:nvPr/>
        </p:nvSpPr>
        <p:spPr>
          <a:xfrm>
            <a:off x="548640" y="2025396"/>
            <a:ext cx="274320" cy="274320"/>
          </a:xfrm>
          <a:prstGeom prst="ellipse">
            <a:avLst/>
          </a:prstGeom>
          <a:solidFill>
            <a:srgbClr val="00A86A">
              <a:alpha val="22000"/>
            </a:srgbClr>
          </a:solidFill>
          <a:ln/>
        </p:spPr>
      </p:sp>
      <p:pic>
        <p:nvPicPr>
          <p:cNvPr id="36" name="Image 1" descr="preencoded.png"/>
          <p:cNvPicPr>
            <a:picLocks noChangeAspect="1"/>
          </p:cNvPicPr>
          <p:nvPr/>
        </p:nvPicPr>
        <p:blipFill>
          <a:blip r:embed="rId4"/>
          <a:stretch>
            <a:fillRect/>
          </a:stretch>
        </p:blipFill>
        <p:spPr>
          <a:xfrm>
            <a:off x="614477" y="2091233"/>
            <a:ext cx="142646" cy="142646"/>
          </a:xfrm>
          <a:prstGeom prst="rect">
            <a:avLst/>
          </a:prstGeom>
        </p:spPr>
      </p:pic>
      <p:sp>
        <p:nvSpPr>
          <p:cNvPr id="37" name="Text 32"/>
          <p:cNvSpPr txBox="1"/>
          <p:nvPr/>
        </p:nvSpPr>
        <p:spPr>
          <a:xfrm>
            <a:off x="896112" y="1979676"/>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GPU d'entrée / d'inférence</a:t>
            </a:r>
            <a:endParaRPr lang="en-US" sz="850" dirty="0"/>
          </a:p>
        </p:txBody>
      </p:sp>
      <p:sp>
        <p:nvSpPr>
          <p:cNvPr id="38" name="Text 33"/>
          <p:cNvSpPr txBox="1"/>
          <p:nvPr/>
        </p:nvSpPr>
        <p:spPr>
          <a:xfrm>
            <a:off x="2514600" y="1979676"/>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L4, L40S</a:t>
            </a:r>
            <a:endParaRPr lang="en-US" sz="850" dirty="0"/>
          </a:p>
        </p:txBody>
      </p:sp>
      <p:sp>
        <p:nvSpPr>
          <p:cNvPr id="39" name="Text 34"/>
          <p:cNvSpPr txBox="1"/>
          <p:nvPr/>
        </p:nvSpPr>
        <p:spPr>
          <a:xfrm>
            <a:off x="4389120" y="1979676"/>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24–48 Go</a:t>
            </a:r>
            <a:endParaRPr lang="en-US" sz="850" dirty="0"/>
          </a:p>
        </p:txBody>
      </p:sp>
      <p:sp>
        <p:nvSpPr>
          <p:cNvPr id="40" name="Text 35"/>
          <p:cNvSpPr txBox="1"/>
          <p:nvPr/>
        </p:nvSpPr>
        <p:spPr>
          <a:xfrm>
            <a:off x="5394960" y="1979676"/>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~70–350 W</a:t>
            </a:r>
            <a:endParaRPr lang="en-US" sz="850" dirty="0"/>
          </a:p>
        </p:txBody>
      </p:sp>
      <p:sp>
        <p:nvSpPr>
          <p:cNvPr id="41" name="Shape 36"/>
          <p:cNvSpPr/>
          <p:nvPr/>
        </p:nvSpPr>
        <p:spPr>
          <a:xfrm>
            <a:off x="6263640" y="2052828"/>
            <a:ext cx="1051560" cy="219456"/>
          </a:xfrm>
          <a:prstGeom prst="roundRect">
            <a:avLst>
              <a:gd name="adj" fmla="val 50000"/>
            </a:avLst>
          </a:prstGeom>
          <a:solidFill>
            <a:srgbClr val="00A86A">
              <a:alpha val="15000"/>
            </a:srgbClr>
          </a:solidFill>
          <a:ln w="9525">
            <a:solidFill>
              <a:srgbClr val="00A86A"/>
            </a:solidFill>
            <a:prstDash val="solid"/>
          </a:ln>
        </p:spPr>
      </p:sp>
      <p:sp>
        <p:nvSpPr>
          <p:cNvPr id="42" name="Text 37"/>
          <p:cNvSpPr txBox="1"/>
          <p:nvPr/>
        </p:nvSpPr>
        <p:spPr>
          <a:xfrm>
            <a:off x="6263640" y="2052828"/>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Adapté</a:t>
            </a:r>
            <a:endParaRPr lang="en-US" sz="850" dirty="0"/>
          </a:p>
        </p:txBody>
      </p:sp>
      <p:sp>
        <p:nvSpPr>
          <p:cNvPr id="43" name="Text 38"/>
          <p:cNvSpPr txBox="1"/>
          <p:nvPr/>
        </p:nvSpPr>
        <p:spPr>
          <a:xfrm>
            <a:off x="7452360" y="1979676"/>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Classifieurs, LLM de 7–14 Md</a:t>
            </a:r>
            <a:endParaRPr lang="en-US" sz="850" dirty="0"/>
          </a:p>
        </p:txBody>
      </p:sp>
      <p:sp>
        <p:nvSpPr>
          <p:cNvPr id="44" name="Shape 39"/>
          <p:cNvSpPr/>
          <p:nvPr/>
        </p:nvSpPr>
        <p:spPr>
          <a:xfrm>
            <a:off x="457200" y="2386584"/>
            <a:ext cx="8229600" cy="365760"/>
          </a:xfrm>
          <a:prstGeom prst="roundRect">
            <a:avLst>
              <a:gd name="adj" fmla="val 12500"/>
            </a:avLst>
          </a:prstGeom>
          <a:solidFill>
            <a:srgbClr val="F4F7F5"/>
          </a:solidFill>
          <a:ln w="9525">
            <a:solidFill>
              <a:srgbClr val="D5DED9"/>
            </a:solidFill>
            <a:prstDash val="solid"/>
          </a:ln>
        </p:spPr>
      </p:sp>
      <p:sp>
        <p:nvSpPr>
          <p:cNvPr id="45" name="Shape 40"/>
          <p:cNvSpPr/>
          <p:nvPr/>
        </p:nvSpPr>
        <p:spPr>
          <a:xfrm>
            <a:off x="548640" y="2432304"/>
            <a:ext cx="274320" cy="274320"/>
          </a:xfrm>
          <a:prstGeom prst="ellipse">
            <a:avLst/>
          </a:prstGeom>
          <a:solidFill>
            <a:srgbClr val="00A86A">
              <a:alpha val="22000"/>
            </a:srgbClr>
          </a:solidFill>
          <a:ln/>
        </p:spPr>
      </p:sp>
      <p:pic>
        <p:nvPicPr>
          <p:cNvPr id="46" name="Image 2" descr="preencoded.png"/>
          <p:cNvPicPr>
            <a:picLocks noChangeAspect="1"/>
          </p:cNvPicPr>
          <p:nvPr/>
        </p:nvPicPr>
        <p:blipFill>
          <a:blip r:embed="rId5"/>
          <a:stretch>
            <a:fillRect/>
          </a:stretch>
        </p:blipFill>
        <p:spPr>
          <a:xfrm>
            <a:off x="614477" y="2498141"/>
            <a:ext cx="142646" cy="142646"/>
          </a:xfrm>
          <a:prstGeom prst="rect">
            <a:avLst/>
          </a:prstGeom>
        </p:spPr>
      </p:pic>
      <p:sp>
        <p:nvSpPr>
          <p:cNvPr id="47" name="Text 41"/>
          <p:cNvSpPr txBox="1"/>
          <p:nvPr/>
        </p:nvSpPr>
        <p:spPr>
          <a:xfrm>
            <a:off x="896112" y="2386584"/>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GPU de station de travail</a:t>
            </a:r>
            <a:endParaRPr lang="en-US" sz="850" dirty="0"/>
          </a:p>
        </p:txBody>
      </p:sp>
      <p:sp>
        <p:nvSpPr>
          <p:cNvPr id="48" name="Text 42"/>
          <p:cNvSpPr txBox="1"/>
          <p:nvPr/>
        </p:nvSpPr>
        <p:spPr>
          <a:xfrm>
            <a:off x="2514600" y="2386584"/>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RTX PRO 6000 (Blackwell)</a:t>
            </a:r>
            <a:endParaRPr lang="en-US" sz="850" dirty="0"/>
          </a:p>
        </p:txBody>
      </p:sp>
      <p:sp>
        <p:nvSpPr>
          <p:cNvPr id="49" name="Text 43"/>
          <p:cNvSpPr txBox="1"/>
          <p:nvPr/>
        </p:nvSpPr>
        <p:spPr>
          <a:xfrm>
            <a:off x="4389120" y="2386584"/>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96 Go</a:t>
            </a:r>
            <a:endParaRPr lang="en-US" sz="850" dirty="0"/>
          </a:p>
        </p:txBody>
      </p:sp>
      <p:sp>
        <p:nvSpPr>
          <p:cNvPr id="50" name="Text 44"/>
          <p:cNvSpPr txBox="1"/>
          <p:nvPr/>
        </p:nvSpPr>
        <p:spPr>
          <a:xfrm>
            <a:off x="5394960" y="2386584"/>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~600 W</a:t>
            </a:r>
            <a:endParaRPr lang="en-US" sz="850" dirty="0"/>
          </a:p>
        </p:txBody>
      </p:sp>
      <p:sp>
        <p:nvSpPr>
          <p:cNvPr id="51" name="Shape 45"/>
          <p:cNvSpPr/>
          <p:nvPr/>
        </p:nvSpPr>
        <p:spPr>
          <a:xfrm>
            <a:off x="6263640" y="2459736"/>
            <a:ext cx="1051560" cy="219456"/>
          </a:xfrm>
          <a:prstGeom prst="roundRect">
            <a:avLst>
              <a:gd name="adj" fmla="val 50000"/>
            </a:avLst>
          </a:prstGeom>
          <a:solidFill>
            <a:srgbClr val="00A86A">
              <a:alpha val="15000"/>
            </a:srgbClr>
          </a:solidFill>
          <a:ln w="9525">
            <a:solidFill>
              <a:srgbClr val="00A86A"/>
            </a:solidFill>
            <a:prstDash val="solid"/>
          </a:ln>
        </p:spPr>
      </p:sp>
      <p:sp>
        <p:nvSpPr>
          <p:cNvPr id="52" name="Text 46"/>
          <p:cNvSpPr txBox="1"/>
          <p:nvPr/>
        </p:nvSpPr>
        <p:spPr>
          <a:xfrm>
            <a:off x="6263640" y="2459736"/>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Adapté</a:t>
            </a:r>
            <a:endParaRPr lang="en-US" sz="850" dirty="0"/>
          </a:p>
        </p:txBody>
      </p:sp>
      <p:sp>
        <p:nvSpPr>
          <p:cNvPr id="53" name="Text 47"/>
          <p:cNvSpPr txBox="1"/>
          <p:nvPr/>
        </p:nvSpPr>
        <p:spPr>
          <a:xfrm>
            <a:off x="7452360" y="2386584"/>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Jusqu'à 70 Md compressé ; LoRA</a:t>
            </a:r>
            <a:endParaRPr lang="en-US" sz="850" dirty="0"/>
          </a:p>
        </p:txBody>
      </p:sp>
      <p:sp>
        <p:nvSpPr>
          <p:cNvPr id="54" name="Shape 48"/>
          <p:cNvSpPr/>
          <p:nvPr/>
        </p:nvSpPr>
        <p:spPr>
          <a:xfrm>
            <a:off x="457200" y="2793492"/>
            <a:ext cx="8229600" cy="365760"/>
          </a:xfrm>
          <a:prstGeom prst="roundRect">
            <a:avLst>
              <a:gd name="adj" fmla="val 12500"/>
            </a:avLst>
          </a:prstGeom>
          <a:solidFill>
            <a:srgbClr val="F4F7F5"/>
          </a:solidFill>
          <a:ln w="9525">
            <a:solidFill>
              <a:srgbClr val="D5DED9"/>
            </a:solidFill>
            <a:prstDash val="solid"/>
          </a:ln>
        </p:spPr>
      </p:sp>
      <p:sp>
        <p:nvSpPr>
          <p:cNvPr id="55" name="Shape 49"/>
          <p:cNvSpPr/>
          <p:nvPr/>
        </p:nvSpPr>
        <p:spPr>
          <a:xfrm>
            <a:off x="548640" y="2839212"/>
            <a:ext cx="274320" cy="274320"/>
          </a:xfrm>
          <a:prstGeom prst="ellipse">
            <a:avLst/>
          </a:prstGeom>
          <a:solidFill>
            <a:srgbClr val="00553A">
              <a:alpha val="22000"/>
            </a:srgbClr>
          </a:solidFill>
          <a:ln/>
        </p:spPr>
      </p:sp>
      <p:pic>
        <p:nvPicPr>
          <p:cNvPr id="56" name="Image 3" descr="preencoded.png"/>
          <p:cNvPicPr>
            <a:picLocks noChangeAspect="1"/>
          </p:cNvPicPr>
          <p:nvPr/>
        </p:nvPicPr>
        <p:blipFill>
          <a:blip r:embed="rId6"/>
          <a:stretch>
            <a:fillRect/>
          </a:stretch>
        </p:blipFill>
        <p:spPr>
          <a:xfrm>
            <a:off x="614477" y="2905049"/>
            <a:ext cx="142646" cy="142646"/>
          </a:xfrm>
          <a:prstGeom prst="rect">
            <a:avLst/>
          </a:prstGeom>
        </p:spPr>
      </p:pic>
      <p:sp>
        <p:nvSpPr>
          <p:cNvPr id="57" name="Text 50"/>
          <p:cNvSpPr txBox="1"/>
          <p:nvPr/>
        </p:nvSpPr>
        <p:spPr>
          <a:xfrm>
            <a:off x="896112" y="2793492"/>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GPU de centre de données</a:t>
            </a:r>
            <a:endParaRPr lang="en-US" sz="850" dirty="0"/>
          </a:p>
        </p:txBody>
      </p:sp>
      <p:sp>
        <p:nvSpPr>
          <p:cNvPr id="58" name="Text 51"/>
          <p:cNvSpPr txBox="1"/>
          <p:nvPr/>
        </p:nvSpPr>
        <p:spPr>
          <a:xfrm>
            <a:off x="2514600" y="2793492"/>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H100 / H200 / B200 ; AMD Instinct</a:t>
            </a:r>
            <a:endParaRPr lang="en-US" sz="850" dirty="0"/>
          </a:p>
        </p:txBody>
      </p:sp>
      <p:sp>
        <p:nvSpPr>
          <p:cNvPr id="59" name="Text 52"/>
          <p:cNvSpPr txBox="1"/>
          <p:nvPr/>
        </p:nvSpPr>
        <p:spPr>
          <a:xfrm>
            <a:off x="4389120" y="2793492"/>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80 / 141 / 180 Go</a:t>
            </a:r>
            <a:endParaRPr lang="en-US" sz="850" dirty="0"/>
          </a:p>
        </p:txBody>
      </p:sp>
      <p:sp>
        <p:nvSpPr>
          <p:cNvPr id="60" name="Text 53"/>
          <p:cNvSpPr txBox="1"/>
          <p:nvPr/>
        </p:nvSpPr>
        <p:spPr>
          <a:xfrm>
            <a:off x="5394960" y="2793492"/>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~0,7–1 kW chacun</a:t>
            </a:r>
            <a:endParaRPr lang="en-US" sz="850" dirty="0"/>
          </a:p>
        </p:txBody>
      </p:sp>
      <p:sp>
        <p:nvSpPr>
          <p:cNvPr id="61" name="Shape 54"/>
          <p:cNvSpPr/>
          <p:nvPr/>
        </p:nvSpPr>
        <p:spPr>
          <a:xfrm>
            <a:off x="6263640" y="2866644"/>
            <a:ext cx="1051560" cy="219456"/>
          </a:xfrm>
          <a:prstGeom prst="roundRect">
            <a:avLst>
              <a:gd name="adj" fmla="val 50000"/>
            </a:avLst>
          </a:prstGeom>
          <a:solidFill>
            <a:srgbClr val="D49A00">
              <a:alpha val="15000"/>
            </a:srgbClr>
          </a:solidFill>
          <a:ln w="9525">
            <a:solidFill>
              <a:srgbClr val="D49A00"/>
            </a:solidFill>
            <a:prstDash val="solid"/>
          </a:ln>
        </p:spPr>
      </p:sp>
      <p:sp>
        <p:nvSpPr>
          <p:cNvPr id="62" name="Text 55"/>
          <p:cNvSpPr txBox="1"/>
          <p:nvPr/>
        </p:nvSpPr>
        <p:spPr>
          <a:xfrm>
            <a:off x="6263640" y="2866644"/>
            <a:ext cx="10515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Sélectif</a:t>
            </a:r>
            <a:endParaRPr lang="en-US" sz="850" dirty="0"/>
          </a:p>
        </p:txBody>
      </p:sp>
      <p:sp>
        <p:nvSpPr>
          <p:cNvPr id="63" name="Text 56"/>
          <p:cNvSpPr txBox="1"/>
          <p:nvPr/>
        </p:nvSpPr>
        <p:spPr>
          <a:xfrm>
            <a:off x="7452360" y="2793492"/>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Grands modèles, entraînement multi-GPU</a:t>
            </a:r>
            <a:endParaRPr lang="en-US" sz="850" dirty="0"/>
          </a:p>
        </p:txBody>
      </p:sp>
      <p:sp>
        <p:nvSpPr>
          <p:cNvPr id="64" name="Shape 57"/>
          <p:cNvSpPr/>
          <p:nvPr/>
        </p:nvSpPr>
        <p:spPr>
          <a:xfrm>
            <a:off x="457200" y="3200400"/>
            <a:ext cx="8229600" cy="365760"/>
          </a:xfrm>
          <a:prstGeom prst="roundRect">
            <a:avLst>
              <a:gd name="adj" fmla="val 12500"/>
            </a:avLst>
          </a:prstGeom>
          <a:solidFill>
            <a:srgbClr val="F4F7F5"/>
          </a:solidFill>
          <a:ln w="9525">
            <a:solidFill>
              <a:srgbClr val="D5DED9"/>
            </a:solidFill>
            <a:prstDash val="solid"/>
          </a:ln>
        </p:spPr>
      </p:sp>
      <p:sp>
        <p:nvSpPr>
          <p:cNvPr id="65" name="Shape 58"/>
          <p:cNvSpPr/>
          <p:nvPr/>
        </p:nvSpPr>
        <p:spPr>
          <a:xfrm>
            <a:off x="548640" y="3246120"/>
            <a:ext cx="274320" cy="274320"/>
          </a:xfrm>
          <a:prstGeom prst="ellipse">
            <a:avLst/>
          </a:prstGeom>
          <a:solidFill>
            <a:srgbClr val="0E7C86">
              <a:alpha val="22000"/>
            </a:srgbClr>
          </a:solidFill>
          <a:ln/>
        </p:spPr>
      </p:sp>
      <p:pic>
        <p:nvPicPr>
          <p:cNvPr id="66" name="Image 4" descr="preencoded.png"/>
          <p:cNvPicPr>
            <a:picLocks noChangeAspect="1"/>
          </p:cNvPicPr>
          <p:nvPr/>
        </p:nvPicPr>
        <p:blipFill>
          <a:blip r:embed="rId7"/>
          <a:stretch>
            <a:fillRect/>
          </a:stretch>
        </p:blipFill>
        <p:spPr>
          <a:xfrm>
            <a:off x="614477" y="3311957"/>
            <a:ext cx="142646" cy="142646"/>
          </a:xfrm>
          <a:prstGeom prst="rect">
            <a:avLst/>
          </a:prstGeom>
        </p:spPr>
      </p:pic>
      <p:sp>
        <p:nvSpPr>
          <p:cNvPr id="67" name="Text 59"/>
          <p:cNvSpPr txBox="1"/>
          <p:nvPr/>
        </p:nvSpPr>
        <p:spPr>
          <a:xfrm>
            <a:off x="896112" y="3200400"/>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Systèmes IA de bureau</a:t>
            </a:r>
            <a:endParaRPr lang="en-US" sz="850" dirty="0"/>
          </a:p>
        </p:txBody>
      </p:sp>
      <p:sp>
        <p:nvSpPr>
          <p:cNvPr id="68" name="Text 60"/>
          <p:cNvSpPr txBox="1"/>
          <p:nvPr/>
        </p:nvSpPr>
        <p:spPr>
          <a:xfrm>
            <a:off x="2514600" y="3200400"/>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NVIDIA DGX Spark</a:t>
            </a:r>
            <a:endParaRPr lang="en-US" sz="850" dirty="0"/>
          </a:p>
        </p:txBody>
      </p:sp>
      <p:sp>
        <p:nvSpPr>
          <p:cNvPr id="69" name="Text 61"/>
          <p:cNvSpPr txBox="1"/>
          <p:nvPr/>
        </p:nvSpPr>
        <p:spPr>
          <a:xfrm>
            <a:off x="4389120" y="3200400"/>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128 Go partagés</a:t>
            </a:r>
            <a:endParaRPr lang="en-US" sz="850" dirty="0"/>
          </a:p>
        </p:txBody>
      </p:sp>
      <p:sp>
        <p:nvSpPr>
          <p:cNvPr id="70" name="Text 62"/>
          <p:cNvSpPr txBox="1"/>
          <p:nvPr/>
        </p:nvSpPr>
        <p:spPr>
          <a:xfrm>
            <a:off x="5394960" y="3200400"/>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Prise standard</a:t>
            </a:r>
            <a:endParaRPr lang="en-US" sz="850" dirty="0"/>
          </a:p>
        </p:txBody>
      </p:sp>
      <p:sp>
        <p:nvSpPr>
          <p:cNvPr id="71" name="Shape 63"/>
          <p:cNvSpPr/>
          <p:nvPr/>
        </p:nvSpPr>
        <p:spPr>
          <a:xfrm>
            <a:off x="6263640" y="3273552"/>
            <a:ext cx="1051560" cy="219456"/>
          </a:xfrm>
          <a:prstGeom prst="roundRect">
            <a:avLst>
              <a:gd name="adj" fmla="val 50000"/>
            </a:avLst>
          </a:prstGeom>
          <a:solidFill>
            <a:srgbClr val="00A86A">
              <a:alpha val="15000"/>
            </a:srgbClr>
          </a:solidFill>
          <a:ln w="9525">
            <a:solidFill>
              <a:srgbClr val="00A86A"/>
            </a:solidFill>
            <a:prstDash val="solid"/>
          </a:ln>
        </p:spPr>
      </p:sp>
      <p:sp>
        <p:nvSpPr>
          <p:cNvPr id="72" name="Text 64"/>
          <p:cNvSpPr txBox="1"/>
          <p:nvPr/>
        </p:nvSpPr>
        <p:spPr>
          <a:xfrm>
            <a:off x="6263640" y="3273552"/>
            <a:ext cx="10515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Adapté</a:t>
            </a:r>
            <a:endParaRPr lang="en-US" sz="850" dirty="0"/>
          </a:p>
        </p:txBody>
      </p:sp>
      <p:sp>
        <p:nvSpPr>
          <p:cNvPr id="73" name="Text 65"/>
          <p:cNvSpPr txBox="1"/>
          <p:nvPr/>
        </p:nvSpPr>
        <p:spPr>
          <a:xfrm>
            <a:off x="7452360" y="3200400"/>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Prototypage, petites équipes</a:t>
            </a:r>
            <a:endParaRPr lang="en-US" sz="850" dirty="0"/>
          </a:p>
        </p:txBody>
      </p:sp>
      <p:sp>
        <p:nvSpPr>
          <p:cNvPr id="74" name="Shape 66"/>
          <p:cNvSpPr/>
          <p:nvPr/>
        </p:nvSpPr>
        <p:spPr>
          <a:xfrm>
            <a:off x="457200" y="3607308"/>
            <a:ext cx="8229600" cy="365760"/>
          </a:xfrm>
          <a:prstGeom prst="roundRect">
            <a:avLst>
              <a:gd name="adj" fmla="val 12500"/>
            </a:avLst>
          </a:prstGeom>
          <a:solidFill>
            <a:srgbClr val="F4F7F5"/>
          </a:solidFill>
          <a:ln w="9525">
            <a:solidFill>
              <a:srgbClr val="D5DED9"/>
            </a:solidFill>
            <a:prstDash val="solid"/>
          </a:ln>
        </p:spPr>
      </p:sp>
      <p:sp>
        <p:nvSpPr>
          <p:cNvPr id="75" name="Shape 67"/>
          <p:cNvSpPr/>
          <p:nvPr/>
        </p:nvSpPr>
        <p:spPr>
          <a:xfrm>
            <a:off x="548640" y="3653028"/>
            <a:ext cx="274320" cy="274320"/>
          </a:xfrm>
          <a:prstGeom prst="ellipse">
            <a:avLst/>
          </a:prstGeom>
          <a:solidFill>
            <a:srgbClr val="0E7C86">
              <a:alpha val="22000"/>
            </a:srgbClr>
          </a:solidFill>
          <a:ln/>
        </p:spPr>
      </p:sp>
      <p:pic>
        <p:nvPicPr>
          <p:cNvPr id="76" name="Image 5" descr="preencoded.png"/>
          <p:cNvPicPr>
            <a:picLocks noChangeAspect="1"/>
          </p:cNvPicPr>
          <p:nvPr/>
        </p:nvPicPr>
        <p:blipFill>
          <a:blip r:embed="rId8"/>
          <a:stretch>
            <a:fillRect/>
          </a:stretch>
        </p:blipFill>
        <p:spPr>
          <a:xfrm>
            <a:off x="614477" y="3718865"/>
            <a:ext cx="142646" cy="142646"/>
          </a:xfrm>
          <a:prstGeom prst="rect">
            <a:avLst/>
          </a:prstGeom>
        </p:spPr>
      </p:pic>
      <p:sp>
        <p:nvSpPr>
          <p:cNvPr id="77" name="Text 68"/>
          <p:cNvSpPr txBox="1"/>
          <p:nvPr/>
        </p:nvSpPr>
        <p:spPr>
          <a:xfrm>
            <a:off x="896112" y="3607308"/>
            <a:ext cx="1463040" cy="36576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Accélérateurs cloud</a:t>
            </a:r>
            <a:endParaRPr lang="en-US" sz="850" dirty="0"/>
          </a:p>
        </p:txBody>
      </p:sp>
      <p:sp>
        <p:nvSpPr>
          <p:cNvPr id="78" name="Text 69"/>
          <p:cNvSpPr txBox="1"/>
          <p:nvPr/>
        </p:nvSpPr>
        <p:spPr>
          <a:xfrm>
            <a:off x="2514600" y="3607308"/>
            <a:ext cx="169164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Google TPU, AWS Trainium / Inferentia</a:t>
            </a:r>
            <a:endParaRPr lang="en-US" sz="850" dirty="0"/>
          </a:p>
        </p:txBody>
      </p:sp>
      <p:sp>
        <p:nvSpPr>
          <p:cNvPr id="79" name="Text 70"/>
          <p:cNvSpPr txBox="1"/>
          <p:nvPr/>
        </p:nvSpPr>
        <p:spPr>
          <a:xfrm>
            <a:off x="4389120" y="3607308"/>
            <a:ext cx="82296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En location</a:t>
            </a:r>
            <a:endParaRPr lang="en-US" sz="850" dirty="0"/>
          </a:p>
        </p:txBody>
      </p:sp>
      <p:sp>
        <p:nvSpPr>
          <p:cNvPr id="80" name="Text 71"/>
          <p:cNvSpPr txBox="1"/>
          <p:nvPr/>
        </p:nvSpPr>
        <p:spPr>
          <a:xfrm>
            <a:off x="5394960" y="3607308"/>
            <a:ext cx="73152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Chez le fournisseur</a:t>
            </a:r>
            <a:endParaRPr lang="en-US" sz="850" dirty="0"/>
          </a:p>
        </p:txBody>
      </p:sp>
      <p:sp>
        <p:nvSpPr>
          <p:cNvPr id="81" name="Shape 72"/>
          <p:cNvSpPr/>
          <p:nvPr/>
        </p:nvSpPr>
        <p:spPr>
          <a:xfrm>
            <a:off x="6263640" y="3680460"/>
            <a:ext cx="1051560" cy="219456"/>
          </a:xfrm>
          <a:prstGeom prst="roundRect">
            <a:avLst>
              <a:gd name="adj" fmla="val 50000"/>
            </a:avLst>
          </a:prstGeom>
          <a:solidFill>
            <a:srgbClr val="0E7C86">
              <a:alpha val="15000"/>
            </a:srgbClr>
          </a:solidFill>
          <a:ln w="9525">
            <a:solidFill>
              <a:srgbClr val="0E7C86"/>
            </a:solidFill>
            <a:prstDash val="solid"/>
          </a:ln>
        </p:spPr>
      </p:sp>
      <p:sp>
        <p:nvSpPr>
          <p:cNvPr id="82" name="Text 73"/>
          <p:cNvSpPr txBox="1"/>
          <p:nvPr/>
        </p:nvSpPr>
        <p:spPr>
          <a:xfrm>
            <a:off x="6263640" y="3680460"/>
            <a:ext cx="10515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Si cloud permis</a:t>
            </a:r>
            <a:endParaRPr lang="en-US" sz="850" dirty="0"/>
          </a:p>
        </p:txBody>
      </p:sp>
      <p:sp>
        <p:nvSpPr>
          <p:cNvPr id="83" name="Text 74"/>
          <p:cNvSpPr txBox="1"/>
          <p:nvPr/>
        </p:nvSpPr>
        <p:spPr>
          <a:xfrm>
            <a:off x="7452360" y="3607308"/>
            <a:ext cx="1143000" cy="36576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Seulement si la classification le permet</a:t>
            </a:r>
            <a:endParaRPr lang="en-US" sz="850" dirty="0"/>
          </a:p>
        </p:txBody>
      </p:sp>
      <p:sp>
        <p:nvSpPr>
          <p:cNvPr id="84" name="Shape 75"/>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85" name="Shape 76"/>
          <p:cNvSpPr/>
          <p:nvPr/>
        </p:nvSpPr>
        <p:spPr>
          <a:xfrm>
            <a:off x="566928" y="4215384"/>
            <a:ext cx="292608" cy="292608"/>
          </a:xfrm>
          <a:prstGeom prst="ellipse">
            <a:avLst/>
          </a:prstGeom>
          <a:solidFill>
            <a:srgbClr val="00A86A">
              <a:alpha val="22000"/>
            </a:srgbClr>
          </a:solidFill>
          <a:ln/>
        </p:spPr>
      </p:sp>
      <p:pic>
        <p:nvPicPr>
          <p:cNvPr id="86"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87" name="Text 77"/>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Vérifiez la compatibilité logicielle avant la marque : vos outils doivent fonctionner sur la carte. La mémoire d'abord, la vitesse ensuite.</a:t>
            </a:r>
            <a:endParaRPr lang="en-US" sz="1000" dirty="0"/>
          </a:p>
        </p:txBody>
      </p:sp>
      <p:sp>
        <p:nvSpPr>
          <p:cNvPr id="88" name="Text 78"/>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 pages produits NVIDIA et fiches techniques compilées par GetDeploying (2026). Puissances indicatives maximales.</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MATÉRIEL IA · CONFIGURATIONS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Trois configurations de référence pour un INS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Commencer petit, grandir seulement quand un usage franchit son jalon — et louer le haut de gamme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8" name="Shape 15"/>
          <p:cNvSpPr/>
          <p:nvPr/>
        </p:nvSpPr>
        <p:spPr>
          <a:xfrm>
            <a:off x="457200" y="1325880"/>
            <a:ext cx="2651760" cy="2807208"/>
          </a:xfrm>
          <a:prstGeom prst="roundRect">
            <a:avLst>
              <a:gd name="adj" fmla="val 2759"/>
            </a:avLst>
          </a:prstGeom>
          <a:solidFill>
            <a:srgbClr val="F4F7F5"/>
          </a:solidFill>
          <a:ln w="9525">
            <a:solidFill>
              <a:srgbClr val="D5DED9"/>
            </a:solidFill>
            <a:prstDash val="solid"/>
          </a:ln>
        </p:spPr>
      </p:sp>
      <p:sp>
        <p:nvSpPr>
          <p:cNvPr id="19" name="Shape 16"/>
          <p:cNvSpPr/>
          <p:nvPr/>
        </p:nvSpPr>
        <p:spPr>
          <a:xfrm>
            <a:off x="566928" y="1435608"/>
            <a:ext cx="2432304" cy="384048"/>
          </a:xfrm>
          <a:prstGeom prst="roundRect">
            <a:avLst>
              <a:gd name="adj" fmla="val 14286"/>
            </a:avLst>
          </a:prstGeom>
          <a:solidFill>
            <a:srgbClr val="00A86A"/>
          </a:solidFill>
          <a:ln/>
        </p:spPr>
      </p:sp>
      <p:pic>
        <p:nvPicPr>
          <p:cNvPr id="20" name="Image 0" descr="preencoded.png"/>
          <p:cNvPicPr>
            <a:picLocks noChangeAspect="1"/>
          </p:cNvPicPr>
          <p:nvPr/>
        </p:nvPicPr>
        <p:blipFill>
          <a:blip r:embed="rId3"/>
          <a:stretch>
            <a:fillRect/>
          </a:stretch>
        </p:blipFill>
        <p:spPr>
          <a:xfrm>
            <a:off x="676656" y="1527048"/>
            <a:ext cx="201168" cy="201168"/>
          </a:xfrm>
          <a:prstGeom prst="rect">
            <a:avLst/>
          </a:prstGeom>
        </p:spPr>
      </p:pic>
      <p:sp>
        <p:nvSpPr>
          <p:cNvPr id="21" name="Text 17"/>
          <p:cNvSpPr txBox="1"/>
          <p:nvPr/>
        </p:nvSpPr>
        <p:spPr>
          <a:xfrm>
            <a:off x="96926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DÉMARRAGE</a:t>
            </a:r>
            <a:endParaRPr lang="en-US" sz="1200" dirty="0"/>
          </a:p>
        </p:txBody>
      </p:sp>
      <p:sp>
        <p:nvSpPr>
          <p:cNvPr id="22" name="Text 18"/>
          <p:cNvSpPr txBox="1"/>
          <p:nvPr/>
        </p:nvSpPr>
        <p:spPr>
          <a:xfrm>
            <a:off x="585216" y="1892808"/>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CONFIGURATION</a:t>
            </a:r>
            <a:endParaRPr lang="en-US" sz="700" dirty="0"/>
          </a:p>
        </p:txBody>
      </p:sp>
      <p:sp>
        <p:nvSpPr>
          <p:cNvPr id="23" name="Text 19"/>
          <p:cNvSpPr txBox="1"/>
          <p:nvPr/>
        </p:nvSpPr>
        <p:spPr>
          <a:xfrm>
            <a:off x="58521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 serveur, 1–2 GPU (24–48 Go) ou système IA de bureau</a:t>
            </a:r>
            <a:endParaRPr lang="en-US" sz="850" dirty="0"/>
          </a:p>
        </p:txBody>
      </p:sp>
      <p:sp>
        <p:nvSpPr>
          <p:cNvPr id="24" name="Text 20"/>
          <p:cNvSpPr txBox="1"/>
          <p:nvPr/>
        </p:nvSpPr>
        <p:spPr>
          <a:xfrm>
            <a:off x="585216" y="2340864"/>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PERMET</a:t>
            </a:r>
            <a:endParaRPr lang="en-US" sz="700" dirty="0"/>
          </a:p>
        </p:txBody>
      </p:sp>
      <p:sp>
        <p:nvSpPr>
          <p:cNvPr id="25" name="Text 21"/>
          <p:cNvSpPr txBox="1"/>
          <p:nvPr/>
        </p:nvSpPr>
        <p:spPr>
          <a:xfrm>
            <a:off x="58521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Apprentissage classique, classifieurs, LLM 7–14 Md</a:t>
            </a:r>
            <a:endParaRPr lang="en-US" sz="850" dirty="0"/>
          </a:p>
        </p:txBody>
      </p:sp>
      <p:sp>
        <p:nvSpPr>
          <p:cNvPr id="26" name="Text 22"/>
          <p:cNvSpPr txBox="1"/>
          <p:nvPr/>
        </p:nvSpPr>
        <p:spPr>
          <a:xfrm>
            <a:off x="585216" y="2788920"/>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ÉNERGIE / FROID</a:t>
            </a:r>
            <a:endParaRPr lang="en-US" sz="700" dirty="0"/>
          </a:p>
        </p:txBody>
      </p:sp>
      <p:sp>
        <p:nvSpPr>
          <p:cNvPr id="27" name="Text 23"/>
          <p:cNvSpPr txBox="1"/>
          <p:nvPr/>
        </p:nvSpPr>
        <p:spPr>
          <a:xfrm>
            <a:off x="58521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kW ; climatisation standard</a:t>
            </a:r>
            <a:endParaRPr lang="en-US" sz="850" dirty="0"/>
          </a:p>
        </p:txBody>
      </p:sp>
      <p:sp>
        <p:nvSpPr>
          <p:cNvPr id="28" name="Text 24"/>
          <p:cNvSpPr txBox="1"/>
          <p:nvPr/>
        </p:nvSpPr>
        <p:spPr>
          <a:xfrm>
            <a:off x="585216" y="3236976"/>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PERSONNEL</a:t>
            </a:r>
            <a:endParaRPr lang="en-US" sz="700" dirty="0"/>
          </a:p>
        </p:txBody>
      </p:sp>
      <p:sp>
        <p:nvSpPr>
          <p:cNvPr id="29" name="Text 25"/>
          <p:cNvSpPr txBox="1"/>
          <p:nvPr/>
        </p:nvSpPr>
        <p:spPr>
          <a:xfrm>
            <a:off x="58521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Informatique existante + 0,5 ingénieur</a:t>
            </a:r>
            <a:endParaRPr lang="en-US" sz="850" dirty="0"/>
          </a:p>
        </p:txBody>
      </p:sp>
      <p:sp>
        <p:nvSpPr>
          <p:cNvPr id="30" name="Text 26"/>
          <p:cNvSpPr txBox="1"/>
          <p:nvPr/>
        </p:nvSpPr>
        <p:spPr>
          <a:xfrm>
            <a:off x="585216" y="3685032"/>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COÛT MATÉRIEL</a:t>
            </a:r>
            <a:endParaRPr lang="en-US" sz="700" dirty="0"/>
          </a:p>
        </p:txBody>
      </p:sp>
      <p:sp>
        <p:nvSpPr>
          <p:cNvPr id="31" name="Text 27"/>
          <p:cNvSpPr txBox="1"/>
          <p:nvPr/>
        </p:nvSpPr>
        <p:spPr>
          <a:xfrm>
            <a:off x="58521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Quelques dizaines de milliers d'USD</a:t>
            </a:r>
            <a:endParaRPr lang="en-US" sz="850" dirty="0"/>
          </a:p>
        </p:txBody>
      </p:sp>
      <p:sp>
        <p:nvSpPr>
          <p:cNvPr id="32" name="Shape 28"/>
          <p:cNvSpPr/>
          <p:nvPr/>
        </p:nvSpPr>
        <p:spPr>
          <a:xfrm>
            <a:off x="3246120" y="1325880"/>
            <a:ext cx="2651760" cy="2807208"/>
          </a:xfrm>
          <a:prstGeom prst="roundRect">
            <a:avLst>
              <a:gd name="adj" fmla="val 2759"/>
            </a:avLst>
          </a:prstGeom>
          <a:solidFill>
            <a:srgbClr val="E8F5EF"/>
          </a:solidFill>
          <a:ln w="15875">
            <a:solidFill>
              <a:srgbClr val="00704A"/>
            </a:solidFill>
            <a:prstDash val="solid"/>
          </a:ln>
        </p:spPr>
      </p:sp>
      <p:sp>
        <p:nvSpPr>
          <p:cNvPr id="33" name="Shape 29"/>
          <p:cNvSpPr/>
          <p:nvPr/>
        </p:nvSpPr>
        <p:spPr>
          <a:xfrm>
            <a:off x="3355848" y="1435608"/>
            <a:ext cx="2432304" cy="384048"/>
          </a:xfrm>
          <a:prstGeom prst="roundRect">
            <a:avLst>
              <a:gd name="adj" fmla="val 14286"/>
            </a:avLst>
          </a:prstGeom>
          <a:solidFill>
            <a:srgbClr val="00704A"/>
          </a:solidFill>
          <a:ln/>
        </p:spPr>
      </p:sp>
      <p:pic>
        <p:nvPicPr>
          <p:cNvPr id="34" name="Image 1" descr="preencoded.png"/>
          <p:cNvPicPr>
            <a:picLocks noChangeAspect="1"/>
          </p:cNvPicPr>
          <p:nvPr/>
        </p:nvPicPr>
        <p:blipFill>
          <a:blip r:embed="rId4"/>
          <a:stretch>
            <a:fillRect/>
          </a:stretch>
        </p:blipFill>
        <p:spPr>
          <a:xfrm>
            <a:off x="3465576" y="1527048"/>
            <a:ext cx="201168" cy="201168"/>
          </a:xfrm>
          <a:prstGeom prst="rect">
            <a:avLst/>
          </a:prstGeom>
        </p:spPr>
      </p:pic>
      <p:sp>
        <p:nvSpPr>
          <p:cNvPr id="35" name="Text 30"/>
          <p:cNvSpPr txBox="1"/>
          <p:nvPr/>
        </p:nvSpPr>
        <p:spPr>
          <a:xfrm>
            <a:off x="375818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STANDARD</a:t>
            </a:r>
            <a:endParaRPr lang="en-US" sz="1200" dirty="0"/>
          </a:p>
        </p:txBody>
      </p:sp>
      <p:sp>
        <p:nvSpPr>
          <p:cNvPr id="36" name="Text 31"/>
          <p:cNvSpPr txBox="1"/>
          <p:nvPr/>
        </p:nvSpPr>
        <p:spPr>
          <a:xfrm>
            <a:off x="3374136" y="1892808"/>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CONFIGURATION</a:t>
            </a:r>
            <a:endParaRPr lang="en-US" sz="700" dirty="0"/>
          </a:p>
        </p:txBody>
      </p:sp>
      <p:sp>
        <p:nvSpPr>
          <p:cNvPr id="37" name="Text 32"/>
          <p:cNvSpPr txBox="1"/>
          <p:nvPr/>
        </p:nvSpPr>
        <p:spPr>
          <a:xfrm>
            <a:off x="337413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serveurs, 2–4 GPU de 48–96 Go chacun</a:t>
            </a:r>
            <a:endParaRPr lang="en-US" sz="850" dirty="0"/>
          </a:p>
        </p:txBody>
      </p:sp>
      <p:sp>
        <p:nvSpPr>
          <p:cNvPr id="38" name="Text 33"/>
          <p:cNvSpPr txBox="1"/>
          <p:nvPr/>
        </p:nvSpPr>
        <p:spPr>
          <a:xfrm>
            <a:off x="3374136" y="2340864"/>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PERMET</a:t>
            </a:r>
            <a:endParaRPr lang="en-US" sz="700" dirty="0"/>
          </a:p>
        </p:txBody>
      </p:sp>
      <p:sp>
        <p:nvSpPr>
          <p:cNvPr id="39" name="Text 34"/>
          <p:cNvSpPr txBox="1"/>
          <p:nvPr/>
        </p:nvSpPr>
        <p:spPr>
          <a:xfrm>
            <a:off x="337413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LLM 30–70 Md pour l'institut, affinage LoRA, plusieurs usages</a:t>
            </a:r>
            <a:endParaRPr lang="en-US" sz="850" dirty="0"/>
          </a:p>
        </p:txBody>
      </p:sp>
      <p:sp>
        <p:nvSpPr>
          <p:cNvPr id="40" name="Text 35"/>
          <p:cNvSpPr txBox="1"/>
          <p:nvPr/>
        </p:nvSpPr>
        <p:spPr>
          <a:xfrm>
            <a:off x="3374136" y="2788920"/>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ÉNERGIE / FROID</a:t>
            </a:r>
            <a:endParaRPr lang="en-US" sz="700" dirty="0"/>
          </a:p>
        </p:txBody>
      </p:sp>
      <p:sp>
        <p:nvSpPr>
          <p:cNvPr id="41" name="Text 36"/>
          <p:cNvSpPr txBox="1"/>
          <p:nvPr/>
        </p:nvSpPr>
        <p:spPr>
          <a:xfrm>
            <a:off x="337413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~3–5 kW par serveur ; baie dédiée</a:t>
            </a:r>
            <a:endParaRPr lang="en-US" sz="850" dirty="0"/>
          </a:p>
        </p:txBody>
      </p:sp>
      <p:sp>
        <p:nvSpPr>
          <p:cNvPr id="42" name="Text 37"/>
          <p:cNvSpPr txBox="1"/>
          <p:nvPr/>
        </p:nvSpPr>
        <p:spPr>
          <a:xfrm>
            <a:off x="3374136" y="3236976"/>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PERSONNEL</a:t>
            </a:r>
            <a:endParaRPr lang="en-US" sz="700" dirty="0"/>
          </a:p>
        </p:txBody>
      </p:sp>
      <p:sp>
        <p:nvSpPr>
          <p:cNvPr id="43" name="Text 38"/>
          <p:cNvSpPr txBox="1"/>
          <p:nvPr/>
        </p:nvSpPr>
        <p:spPr>
          <a:xfrm>
            <a:off x="337413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1–2 ingénieurs plateforme</a:t>
            </a:r>
            <a:endParaRPr lang="en-US" sz="850" dirty="0"/>
          </a:p>
        </p:txBody>
      </p:sp>
      <p:sp>
        <p:nvSpPr>
          <p:cNvPr id="44" name="Text 39"/>
          <p:cNvSpPr txBox="1"/>
          <p:nvPr/>
        </p:nvSpPr>
        <p:spPr>
          <a:xfrm>
            <a:off x="3374136" y="3685032"/>
            <a:ext cx="2395728" cy="128016"/>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COÛT MATÉRIEL</a:t>
            </a:r>
            <a:endParaRPr lang="en-US" sz="700" dirty="0"/>
          </a:p>
        </p:txBody>
      </p:sp>
      <p:sp>
        <p:nvSpPr>
          <p:cNvPr id="45" name="Text 40"/>
          <p:cNvSpPr txBox="1"/>
          <p:nvPr/>
        </p:nvSpPr>
        <p:spPr>
          <a:xfrm>
            <a:off x="337413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Environ 50–150 k USD</a:t>
            </a:r>
            <a:endParaRPr lang="en-US" sz="850" dirty="0"/>
          </a:p>
        </p:txBody>
      </p:sp>
      <p:sp>
        <p:nvSpPr>
          <p:cNvPr id="46" name="Shape 41"/>
          <p:cNvSpPr/>
          <p:nvPr/>
        </p:nvSpPr>
        <p:spPr>
          <a:xfrm>
            <a:off x="6035040" y="1325880"/>
            <a:ext cx="2651760" cy="2807208"/>
          </a:xfrm>
          <a:prstGeom prst="roundRect">
            <a:avLst>
              <a:gd name="adj" fmla="val 2759"/>
            </a:avLst>
          </a:prstGeom>
          <a:solidFill>
            <a:srgbClr val="F4F7F5"/>
          </a:solidFill>
          <a:ln w="9525">
            <a:solidFill>
              <a:srgbClr val="D5DED9"/>
            </a:solidFill>
            <a:prstDash val="solid"/>
          </a:ln>
        </p:spPr>
      </p:sp>
      <p:sp>
        <p:nvSpPr>
          <p:cNvPr id="47" name="Shape 42"/>
          <p:cNvSpPr/>
          <p:nvPr/>
        </p:nvSpPr>
        <p:spPr>
          <a:xfrm>
            <a:off x="6144768" y="1435608"/>
            <a:ext cx="2432304" cy="384048"/>
          </a:xfrm>
          <a:prstGeom prst="roundRect">
            <a:avLst>
              <a:gd name="adj" fmla="val 14286"/>
            </a:avLst>
          </a:prstGeom>
          <a:solidFill>
            <a:srgbClr val="00553A"/>
          </a:solidFill>
          <a:ln/>
        </p:spPr>
      </p:sp>
      <p:pic>
        <p:nvPicPr>
          <p:cNvPr id="48" name="Image 2" descr="preencoded.png"/>
          <p:cNvPicPr>
            <a:picLocks noChangeAspect="1"/>
          </p:cNvPicPr>
          <p:nvPr/>
        </p:nvPicPr>
        <p:blipFill>
          <a:blip r:embed="rId5"/>
          <a:stretch>
            <a:fillRect/>
          </a:stretch>
        </p:blipFill>
        <p:spPr>
          <a:xfrm>
            <a:off x="6254496" y="1527048"/>
            <a:ext cx="201168" cy="201168"/>
          </a:xfrm>
          <a:prstGeom prst="rect">
            <a:avLst/>
          </a:prstGeom>
        </p:spPr>
      </p:pic>
      <p:sp>
        <p:nvSpPr>
          <p:cNvPr id="49" name="Text 43"/>
          <p:cNvSpPr txBox="1"/>
          <p:nvPr/>
        </p:nvSpPr>
        <p:spPr>
          <a:xfrm>
            <a:off x="6547104" y="1435608"/>
            <a:ext cx="1920240" cy="384048"/>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AVANCÉ</a:t>
            </a:r>
            <a:endParaRPr lang="en-US" sz="1200" dirty="0"/>
          </a:p>
        </p:txBody>
      </p:sp>
      <p:sp>
        <p:nvSpPr>
          <p:cNvPr id="50" name="Text 44"/>
          <p:cNvSpPr txBox="1"/>
          <p:nvPr/>
        </p:nvSpPr>
        <p:spPr>
          <a:xfrm>
            <a:off x="6163056" y="1892808"/>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CONFIGURATION</a:t>
            </a:r>
            <a:endParaRPr lang="en-US" sz="700" dirty="0"/>
          </a:p>
        </p:txBody>
      </p:sp>
      <p:sp>
        <p:nvSpPr>
          <p:cNvPr id="51" name="Text 45"/>
          <p:cNvSpPr txBox="1"/>
          <p:nvPr/>
        </p:nvSpPr>
        <p:spPr>
          <a:xfrm>
            <a:off x="6163056" y="2029968"/>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Nœuds de 8 GPU (80–180 Go), liaison rapide</a:t>
            </a:r>
            <a:endParaRPr lang="en-US" sz="850" dirty="0"/>
          </a:p>
        </p:txBody>
      </p:sp>
      <p:sp>
        <p:nvSpPr>
          <p:cNvPr id="52" name="Text 46"/>
          <p:cNvSpPr txBox="1"/>
          <p:nvPr/>
        </p:nvSpPr>
        <p:spPr>
          <a:xfrm>
            <a:off x="6163056" y="2340864"/>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PERMET</a:t>
            </a:r>
            <a:endParaRPr lang="en-US" sz="700" dirty="0"/>
          </a:p>
        </p:txBody>
      </p:sp>
      <p:sp>
        <p:nvSpPr>
          <p:cNvPr id="53" name="Text 47"/>
          <p:cNvSpPr txBox="1"/>
          <p:nvPr/>
        </p:nvSpPr>
        <p:spPr>
          <a:xfrm>
            <a:off x="6163056" y="2478024"/>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Grands modèles, nombreuses équipes, recherche</a:t>
            </a:r>
            <a:endParaRPr lang="en-US" sz="850" dirty="0"/>
          </a:p>
        </p:txBody>
      </p:sp>
      <p:sp>
        <p:nvSpPr>
          <p:cNvPr id="54" name="Text 48"/>
          <p:cNvSpPr txBox="1"/>
          <p:nvPr/>
        </p:nvSpPr>
        <p:spPr>
          <a:xfrm>
            <a:off x="6163056" y="2788920"/>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ÉNERGIE / FROID</a:t>
            </a:r>
            <a:endParaRPr lang="en-US" sz="700" dirty="0"/>
          </a:p>
        </p:txBody>
      </p:sp>
      <p:sp>
        <p:nvSpPr>
          <p:cNvPr id="55" name="Text 49"/>
          <p:cNvSpPr txBox="1"/>
          <p:nvPr/>
        </p:nvSpPr>
        <p:spPr>
          <a:xfrm>
            <a:off x="6163056" y="2926080"/>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6–10 kW+ par nœud ; souvent liquide</a:t>
            </a:r>
            <a:endParaRPr lang="en-US" sz="850" dirty="0"/>
          </a:p>
        </p:txBody>
      </p:sp>
      <p:sp>
        <p:nvSpPr>
          <p:cNvPr id="56" name="Text 50"/>
          <p:cNvSpPr txBox="1"/>
          <p:nvPr/>
        </p:nvSpPr>
        <p:spPr>
          <a:xfrm>
            <a:off x="6163056" y="3236976"/>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PERSONNEL</a:t>
            </a:r>
            <a:endParaRPr lang="en-US" sz="700" dirty="0"/>
          </a:p>
        </p:txBody>
      </p:sp>
      <p:sp>
        <p:nvSpPr>
          <p:cNvPr id="57" name="Text 51"/>
          <p:cNvSpPr txBox="1"/>
          <p:nvPr/>
        </p:nvSpPr>
        <p:spPr>
          <a:xfrm>
            <a:off x="6163056" y="3374136"/>
            <a:ext cx="2395728"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2+ ingénieurs, support des locaux 24 h/24</a:t>
            </a:r>
            <a:endParaRPr lang="en-US" sz="850" dirty="0"/>
          </a:p>
        </p:txBody>
      </p:sp>
      <p:sp>
        <p:nvSpPr>
          <p:cNvPr id="58" name="Text 52"/>
          <p:cNvSpPr txBox="1"/>
          <p:nvPr/>
        </p:nvSpPr>
        <p:spPr>
          <a:xfrm>
            <a:off x="6163056" y="3685032"/>
            <a:ext cx="2395728" cy="128016"/>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COÛT MATÉRIEL</a:t>
            </a:r>
            <a:endParaRPr lang="en-US" sz="700" dirty="0"/>
          </a:p>
        </p:txBody>
      </p:sp>
      <p:sp>
        <p:nvSpPr>
          <p:cNvPr id="59" name="Text 53"/>
          <p:cNvSpPr txBox="1"/>
          <p:nvPr/>
        </p:nvSpPr>
        <p:spPr>
          <a:xfrm>
            <a:off x="6163056" y="3822192"/>
            <a:ext cx="2395728" cy="292608"/>
          </a:xfrm>
          <a:prstGeom prst="rect">
            <a:avLst/>
          </a:prstGeom>
          <a:noFill/>
          <a:ln/>
        </p:spPr>
        <p:txBody>
          <a:bodyPr wrap="square" lIns="0" tIns="0" rIns="0" bIns="0" rtlCol="0" anchor="t"/>
          <a:lstStyle/>
          <a:p>
            <a:pPr marL="0" indent="0">
              <a:buNone/>
            </a:pPr>
            <a:r>
              <a:rPr lang="en-US" sz="850" b="1" dirty="0">
                <a:solidFill>
                  <a:srgbClr val="231F20"/>
                </a:solidFill>
                <a:latin typeface="Calibri" pitchFamily="34" charset="0"/>
                <a:ea typeface="Calibri" pitchFamily="34" charset="-122"/>
                <a:cs typeface="Calibri" pitchFamily="34" charset="-120"/>
              </a:rPr>
              <a:t>300 k USD et plus par nœud</a:t>
            </a:r>
            <a:endParaRPr lang="en-US" sz="850" dirty="0"/>
          </a:p>
        </p:txBody>
      </p:sp>
      <p:sp>
        <p:nvSpPr>
          <p:cNvPr id="60" name="Shape 54"/>
          <p:cNvSpPr/>
          <p:nvPr/>
        </p:nvSpPr>
        <p:spPr>
          <a:xfrm>
            <a:off x="457200" y="4224528"/>
            <a:ext cx="8229600" cy="384048"/>
          </a:xfrm>
          <a:prstGeom prst="roundRect">
            <a:avLst>
              <a:gd name="adj" fmla="val 14286"/>
            </a:avLst>
          </a:prstGeom>
          <a:solidFill>
            <a:srgbClr val="E8F5EF"/>
          </a:solidFill>
          <a:ln w="15875">
            <a:solidFill>
              <a:srgbClr val="00A86A"/>
            </a:solidFill>
            <a:prstDash val="solid"/>
          </a:ln>
        </p:spPr>
      </p:sp>
      <p:sp>
        <p:nvSpPr>
          <p:cNvPr id="61" name="Shape 55"/>
          <p:cNvSpPr/>
          <p:nvPr/>
        </p:nvSpPr>
        <p:spPr>
          <a:xfrm>
            <a:off x="566928" y="4270248"/>
            <a:ext cx="292608" cy="292608"/>
          </a:xfrm>
          <a:prstGeom prst="ellipse">
            <a:avLst/>
          </a:prstGeom>
          <a:solidFill>
            <a:srgbClr val="00A86A">
              <a:alpha val="22000"/>
            </a:srgbClr>
          </a:solidFill>
          <a:ln/>
        </p:spPr>
      </p:sp>
      <p:pic>
        <p:nvPicPr>
          <p:cNvPr id="62" name="Image 3" descr="preencoded.png"/>
          <p:cNvPicPr>
            <a:picLocks noChangeAspect="1"/>
          </p:cNvPicPr>
          <p:nvPr/>
        </p:nvPicPr>
        <p:blipFill>
          <a:blip r:embed="rId6"/>
          <a:stretch>
            <a:fillRect/>
          </a:stretch>
        </p:blipFill>
        <p:spPr>
          <a:xfrm>
            <a:off x="637154" y="4340474"/>
            <a:ext cx="152156" cy="152156"/>
          </a:xfrm>
          <a:prstGeom prst="rect">
            <a:avLst/>
          </a:prstGeom>
        </p:spPr>
      </p:pic>
      <p:sp>
        <p:nvSpPr>
          <p:cNvPr id="63" name="Text 56"/>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Commencez au niveau Démarrage, passez au Standard après un jalon réussi, et louez ou mutualisez le niveau Avancé.</a:t>
            </a:r>
            <a:endParaRPr lang="en-US" sz="1000" dirty="0"/>
          </a:p>
        </p:txBody>
      </p:sp>
      <p:sp>
        <p:nvSpPr>
          <p:cNvPr id="64" name="Text 57"/>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Prix matériels indicatifs 2026, hors travaux, logiciels, personnel, droits d'importation et change. Demandez des devis actuels.</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MATÉRIEL IA · ACHAT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Acheter du matériel IA : liste de contrôle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Ce qu'il faut inscrire au cahier des charges — et les pièges à éviter</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8" name="Shape 15"/>
          <p:cNvSpPr/>
          <p:nvPr/>
        </p:nvSpPr>
        <p:spPr>
          <a:xfrm>
            <a:off x="457200" y="1325880"/>
            <a:ext cx="4023360" cy="2651760"/>
          </a:xfrm>
          <a:prstGeom prst="roundRect">
            <a:avLst>
              <a:gd name="adj" fmla="val 2759"/>
            </a:avLst>
          </a:prstGeom>
          <a:solidFill>
            <a:srgbClr val="E8F5EF"/>
          </a:solidFill>
          <a:ln w="9525">
            <a:solidFill>
              <a:srgbClr val="00704A"/>
            </a:solidFill>
            <a:prstDash val="solid"/>
          </a:ln>
        </p:spPr>
      </p:sp>
      <p:sp>
        <p:nvSpPr>
          <p:cNvPr id="19" name="Shape 16"/>
          <p:cNvSpPr/>
          <p:nvPr/>
        </p:nvSpPr>
        <p:spPr>
          <a:xfrm>
            <a:off x="566928" y="1417320"/>
            <a:ext cx="365760" cy="365760"/>
          </a:xfrm>
          <a:prstGeom prst="ellipse">
            <a:avLst/>
          </a:prstGeom>
          <a:solidFill>
            <a:srgbClr val="00704A"/>
          </a:solidFill>
          <a:ln/>
        </p:spPr>
      </p:sp>
      <p:pic>
        <p:nvPicPr>
          <p:cNvPr id="20" name="Image 0" descr="preencoded.png"/>
          <p:cNvPicPr>
            <a:picLocks noChangeAspect="1"/>
          </p:cNvPicPr>
          <p:nvPr/>
        </p:nvPicPr>
        <p:blipFill>
          <a:blip r:embed="rId3"/>
          <a:stretch>
            <a:fillRect/>
          </a:stretch>
        </p:blipFill>
        <p:spPr>
          <a:xfrm>
            <a:off x="654710" y="1505102"/>
            <a:ext cx="190195" cy="190195"/>
          </a:xfrm>
          <a:prstGeom prst="rect">
            <a:avLst/>
          </a:prstGeom>
        </p:spPr>
      </p:pic>
      <p:sp>
        <p:nvSpPr>
          <p:cNvPr id="21" name="Text 17"/>
          <p:cNvSpPr txBox="1"/>
          <p:nvPr/>
        </p:nvSpPr>
        <p:spPr>
          <a:xfrm>
            <a:off x="1024128" y="1417320"/>
            <a:ext cx="3291840" cy="365760"/>
          </a:xfrm>
          <a:prstGeom prst="rect">
            <a:avLst/>
          </a:prstGeom>
          <a:noFill/>
          <a:ln/>
        </p:spPr>
        <p:txBody>
          <a:bodyPr wrap="square" lIns="0" tIns="0" rIns="0" bIns="0" rtlCol="0" anchor="ctr"/>
          <a:lstStyle/>
          <a:p>
            <a:pPr marL="0" indent="0">
              <a:buNone/>
            </a:pPr>
            <a:r>
              <a:rPr lang="en-US" sz="1050" b="1" kern="0" spc="100" dirty="0">
                <a:solidFill>
                  <a:srgbClr val="00704A"/>
                </a:solidFill>
                <a:latin typeface="Calibri" pitchFamily="34" charset="0"/>
                <a:ea typeface="Calibri" pitchFamily="34" charset="-122"/>
                <a:cs typeface="Calibri" pitchFamily="34" charset="-120"/>
              </a:rPr>
              <a:t>À EXIGER AU CAHIER DES CHARGES</a:t>
            </a:r>
            <a:endParaRPr lang="en-US" sz="1050" dirty="0"/>
          </a:p>
        </p:txBody>
      </p:sp>
      <p:pic>
        <p:nvPicPr>
          <p:cNvPr id="22" name="Image 1" descr="preencoded.png"/>
          <p:cNvPicPr>
            <a:picLocks noChangeAspect="1"/>
          </p:cNvPicPr>
          <p:nvPr/>
        </p:nvPicPr>
        <p:blipFill>
          <a:blip r:embed="rId4"/>
          <a:stretch>
            <a:fillRect/>
          </a:stretch>
        </p:blipFill>
        <p:spPr>
          <a:xfrm>
            <a:off x="621792" y="1929384"/>
            <a:ext cx="137160" cy="137160"/>
          </a:xfrm>
          <a:prstGeom prst="rect">
            <a:avLst/>
          </a:prstGeom>
        </p:spPr>
      </p:pic>
      <p:sp>
        <p:nvSpPr>
          <p:cNvPr id="23" name="Text 18"/>
          <p:cNvSpPr txBox="1"/>
          <p:nvPr/>
        </p:nvSpPr>
        <p:spPr>
          <a:xfrm>
            <a:off x="832104" y="1901952"/>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Mémoire GPU par carte et totale, selon les modèles visés</a:t>
            </a:r>
            <a:endParaRPr lang="en-US" sz="900" dirty="0"/>
          </a:p>
        </p:txBody>
      </p:sp>
      <p:pic>
        <p:nvPicPr>
          <p:cNvPr id="24" name="Image 2" descr="preencoded.png"/>
          <p:cNvPicPr>
            <a:picLocks noChangeAspect="1"/>
          </p:cNvPicPr>
          <p:nvPr/>
        </p:nvPicPr>
        <p:blipFill>
          <a:blip r:embed="rId4"/>
          <a:stretch>
            <a:fillRect/>
          </a:stretch>
        </p:blipFill>
        <p:spPr>
          <a:xfrm>
            <a:off x="621792" y="2212848"/>
            <a:ext cx="137160" cy="137160"/>
          </a:xfrm>
          <a:prstGeom prst="rect">
            <a:avLst/>
          </a:prstGeom>
        </p:spPr>
      </p:pic>
      <p:sp>
        <p:nvSpPr>
          <p:cNvPr id="25" name="Text 19"/>
          <p:cNvSpPr txBox="1"/>
          <p:nvPr/>
        </p:nvSpPr>
        <p:spPr>
          <a:xfrm>
            <a:off x="832104" y="2185416"/>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Compatibilité avec vos logiciels (ex. CUDA, ROCm)</a:t>
            </a:r>
            <a:endParaRPr lang="en-US" sz="900" dirty="0"/>
          </a:p>
        </p:txBody>
      </p:sp>
      <p:pic>
        <p:nvPicPr>
          <p:cNvPr id="26" name="Image 3" descr="preencoded.png"/>
          <p:cNvPicPr>
            <a:picLocks noChangeAspect="1"/>
          </p:cNvPicPr>
          <p:nvPr/>
        </p:nvPicPr>
        <p:blipFill>
          <a:blip r:embed="rId4"/>
          <a:stretch>
            <a:fillRect/>
          </a:stretch>
        </p:blipFill>
        <p:spPr>
          <a:xfrm>
            <a:off x="621792" y="2496312"/>
            <a:ext cx="137160" cy="137160"/>
          </a:xfrm>
          <a:prstGeom prst="rect">
            <a:avLst/>
          </a:prstGeom>
        </p:spPr>
      </p:pic>
      <p:sp>
        <p:nvSpPr>
          <p:cNvPr id="27" name="Text 20"/>
          <p:cNvSpPr txBox="1"/>
          <p:nvPr/>
        </p:nvSpPr>
        <p:spPr>
          <a:xfrm>
            <a:off x="832104" y="2468880"/>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Puissance par serveur et type de refroidissement (air ou liquide)</a:t>
            </a:r>
            <a:endParaRPr lang="en-US" sz="900" dirty="0"/>
          </a:p>
        </p:txBody>
      </p:sp>
      <p:pic>
        <p:nvPicPr>
          <p:cNvPr id="28" name="Image 4" descr="preencoded.png"/>
          <p:cNvPicPr>
            <a:picLocks noChangeAspect="1"/>
          </p:cNvPicPr>
          <p:nvPr/>
        </p:nvPicPr>
        <p:blipFill>
          <a:blip r:embed="rId4"/>
          <a:stretch>
            <a:fillRect/>
          </a:stretch>
        </p:blipFill>
        <p:spPr>
          <a:xfrm>
            <a:off x="621792" y="2779776"/>
            <a:ext cx="137160" cy="137160"/>
          </a:xfrm>
          <a:prstGeom prst="rect">
            <a:avLst/>
          </a:prstGeom>
        </p:spPr>
      </p:pic>
      <p:sp>
        <p:nvSpPr>
          <p:cNvPr id="29" name="Text 21"/>
          <p:cNvSpPr txBox="1"/>
          <p:nvPr/>
        </p:nvSpPr>
        <p:spPr>
          <a:xfrm>
            <a:off x="832104" y="2752344"/>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Garantie et support sur place, délais des pièces détachées</a:t>
            </a:r>
            <a:endParaRPr lang="en-US" sz="900" dirty="0"/>
          </a:p>
        </p:txBody>
      </p:sp>
      <p:pic>
        <p:nvPicPr>
          <p:cNvPr id="30" name="Image 5" descr="preencoded.png"/>
          <p:cNvPicPr>
            <a:picLocks noChangeAspect="1"/>
          </p:cNvPicPr>
          <p:nvPr/>
        </p:nvPicPr>
        <p:blipFill>
          <a:blip r:embed="rId4"/>
          <a:stretch>
            <a:fillRect/>
          </a:stretch>
        </p:blipFill>
        <p:spPr>
          <a:xfrm>
            <a:off x="621792" y="3063240"/>
            <a:ext cx="137160" cy="137160"/>
          </a:xfrm>
          <a:prstGeom prst="rect">
            <a:avLst/>
          </a:prstGeom>
        </p:spPr>
      </p:pic>
      <p:sp>
        <p:nvSpPr>
          <p:cNvPr id="31" name="Text 22"/>
          <p:cNvSpPr txBox="1"/>
          <p:nvPr/>
        </p:nvSpPr>
        <p:spPr>
          <a:xfrm>
            <a:off x="832104" y="3035808"/>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Mémoire à correction d'erreurs (ECC) et gestion à distance</a:t>
            </a:r>
            <a:endParaRPr lang="en-US" sz="900" dirty="0"/>
          </a:p>
        </p:txBody>
      </p:sp>
      <p:pic>
        <p:nvPicPr>
          <p:cNvPr id="32" name="Image 6" descr="preencoded.png"/>
          <p:cNvPicPr>
            <a:picLocks noChangeAspect="1"/>
          </p:cNvPicPr>
          <p:nvPr/>
        </p:nvPicPr>
        <p:blipFill>
          <a:blip r:embed="rId4"/>
          <a:stretch>
            <a:fillRect/>
          </a:stretch>
        </p:blipFill>
        <p:spPr>
          <a:xfrm>
            <a:off x="621792" y="3346704"/>
            <a:ext cx="137160" cy="137160"/>
          </a:xfrm>
          <a:prstGeom prst="rect">
            <a:avLst/>
          </a:prstGeom>
        </p:spPr>
      </p:pic>
      <p:sp>
        <p:nvSpPr>
          <p:cNvPr id="33" name="Text 23"/>
          <p:cNvSpPr txBox="1"/>
          <p:nvPr/>
        </p:nvSpPr>
        <p:spPr>
          <a:xfrm>
            <a:off x="832104" y="3319272"/>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Mises à jour de sécurité du micrologiciel pendant au moins cinq ans</a:t>
            </a:r>
            <a:endParaRPr lang="en-US" sz="900" dirty="0"/>
          </a:p>
        </p:txBody>
      </p:sp>
      <p:pic>
        <p:nvPicPr>
          <p:cNvPr id="34" name="Image 7" descr="preencoded.png"/>
          <p:cNvPicPr>
            <a:picLocks noChangeAspect="1"/>
          </p:cNvPicPr>
          <p:nvPr/>
        </p:nvPicPr>
        <p:blipFill>
          <a:blip r:embed="rId4"/>
          <a:stretch>
            <a:fillRect/>
          </a:stretch>
        </p:blipFill>
        <p:spPr>
          <a:xfrm>
            <a:off x="621792" y="3630168"/>
            <a:ext cx="137160" cy="137160"/>
          </a:xfrm>
          <a:prstGeom prst="rect">
            <a:avLst/>
          </a:prstGeom>
        </p:spPr>
      </p:pic>
      <p:sp>
        <p:nvSpPr>
          <p:cNvPr id="35" name="Text 24"/>
          <p:cNvSpPr txBox="1"/>
          <p:nvPr/>
        </p:nvSpPr>
        <p:spPr>
          <a:xfrm>
            <a:off x="832104" y="3602736"/>
            <a:ext cx="35387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Conditions de licence d'exportation et de livraison confirmées</a:t>
            </a:r>
            <a:endParaRPr lang="en-US" sz="900" dirty="0"/>
          </a:p>
        </p:txBody>
      </p:sp>
      <p:sp>
        <p:nvSpPr>
          <p:cNvPr id="36" name="Shape 25"/>
          <p:cNvSpPr/>
          <p:nvPr/>
        </p:nvSpPr>
        <p:spPr>
          <a:xfrm>
            <a:off x="4663440" y="1325880"/>
            <a:ext cx="4023360" cy="2651760"/>
          </a:xfrm>
          <a:prstGeom prst="roundRect">
            <a:avLst>
              <a:gd name="adj" fmla="val 2759"/>
            </a:avLst>
          </a:prstGeom>
          <a:solidFill>
            <a:srgbClr val="FBF0EE"/>
          </a:solidFill>
          <a:ln w="9525">
            <a:solidFill>
              <a:srgbClr val="B83B2E"/>
            </a:solidFill>
            <a:prstDash val="solid"/>
          </a:ln>
        </p:spPr>
      </p:sp>
      <p:sp>
        <p:nvSpPr>
          <p:cNvPr id="37" name="Shape 26"/>
          <p:cNvSpPr/>
          <p:nvPr/>
        </p:nvSpPr>
        <p:spPr>
          <a:xfrm>
            <a:off x="4773168" y="1417320"/>
            <a:ext cx="365760" cy="365760"/>
          </a:xfrm>
          <a:prstGeom prst="ellipse">
            <a:avLst/>
          </a:prstGeom>
          <a:solidFill>
            <a:srgbClr val="B83B2E"/>
          </a:solidFill>
          <a:ln/>
        </p:spPr>
      </p:sp>
      <p:pic>
        <p:nvPicPr>
          <p:cNvPr id="38" name="Image 8" descr="preencoded.png"/>
          <p:cNvPicPr>
            <a:picLocks noChangeAspect="1"/>
          </p:cNvPicPr>
          <p:nvPr/>
        </p:nvPicPr>
        <p:blipFill>
          <a:blip r:embed="rId5"/>
          <a:stretch>
            <a:fillRect/>
          </a:stretch>
        </p:blipFill>
        <p:spPr>
          <a:xfrm>
            <a:off x="4860950" y="1505102"/>
            <a:ext cx="190195" cy="190195"/>
          </a:xfrm>
          <a:prstGeom prst="rect">
            <a:avLst/>
          </a:prstGeom>
        </p:spPr>
      </p:pic>
      <p:sp>
        <p:nvSpPr>
          <p:cNvPr id="39" name="Text 27"/>
          <p:cNvSpPr txBox="1"/>
          <p:nvPr/>
        </p:nvSpPr>
        <p:spPr>
          <a:xfrm>
            <a:off x="5230368" y="1417320"/>
            <a:ext cx="3291840" cy="365760"/>
          </a:xfrm>
          <a:prstGeom prst="rect">
            <a:avLst/>
          </a:prstGeom>
          <a:noFill/>
          <a:ln/>
        </p:spPr>
        <p:txBody>
          <a:bodyPr wrap="square" lIns="0" tIns="0" rIns="0" bIns="0" rtlCol="0" anchor="ctr"/>
          <a:lstStyle/>
          <a:p>
            <a:pPr marL="0" indent="0">
              <a:buNone/>
            </a:pPr>
            <a:r>
              <a:rPr lang="en-US" sz="1050" b="1" kern="0" spc="100" dirty="0">
                <a:solidFill>
                  <a:srgbClr val="B83B2E"/>
                </a:solidFill>
                <a:latin typeface="Calibri" pitchFamily="34" charset="0"/>
                <a:ea typeface="Calibri" pitchFamily="34" charset="-122"/>
                <a:cs typeface="Calibri" pitchFamily="34" charset="-120"/>
              </a:rPr>
              <a:t>À ÉVITER</a:t>
            </a:r>
            <a:endParaRPr lang="en-US" sz="1050" dirty="0"/>
          </a:p>
        </p:txBody>
      </p:sp>
      <p:pic>
        <p:nvPicPr>
          <p:cNvPr id="40" name="Image 9" descr="preencoded.png"/>
          <p:cNvPicPr>
            <a:picLocks noChangeAspect="1"/>
          </p:cNvPicPr>
          <p:nvPr/>
        </p:nvPicPr>
        <p:blipFill>
          <a:blip r:embed="rId6"/>
          <a:stretch>
            <a:fillRect/>
          </a:stretch>
        </p:blipFill>
        <p:spPr>
          <a:xfrm>
            <a:off x="4828032" y="1929384"/>
            <a:ext cx="137160" cy="137160"/>
          </a:xfrm>
          <a:prstGeom prst="rect">
            <a:avLst/>
          </a:prstGeom>
        </p:spPr>
      </p:pic>
      <p:sp>
        <p:nvSpPr>
          <p:cNvPr id="41" name="Text 28"/>
          <p:cNvSpPr txBox="1"/>
          <p:nvPr/>
        </p:nvSpPr>
        <p:spPr>
          <a:xfrm>
            <a:off x="5038344" y="1901952"/>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Acheter le dernier haut de gamme « pour être tranquille »</a:t>
            </a:r>
            <a:endParaRPr lang="en-US" sz="900" dirty="0"/>
          </a:p>
        </p:txBody>
      </p:sp>
      <p:pic>
        <p:nvPicPr>
          <p:cNvPr id="42" name="Image 10" descr="preencoded.png"/>
          <p:cNvPicPr>
            <a:picLocks noChangeAspect="1"/>
          </p:cNvPicPr>
          <p:nvPr/>
        </p:nvPicPr>
        <p:blipFill>
          <a:blip r:embed="rId6"/>
          <a:stretch>
            <a:fillRect/>
          </a:stretch>
        </p:blipFill>
        <p:spPr>
          <a:xfrm>
            <a:off x="4828032" y="2231136"/>
            <a:ext cx="137160" cy="137160"/>
          </a:xfrm>
          <a:prstGeom prst="rect">
            <a:avLst/>
          </a:prstGeom>
        </p:spPr>
      </p:pic>
      <p:sp>
        <p:nvSpPr>
          <p:cNvPr id="43" name="Text 29"/>
          <p:cNvSpPr txBox="1"/>
          <p:nvPr/>
        </p:nvSpPr>
        <p:spPr>
          <a:xfrm>
            <a:off x="5038344" y="2203704"/>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Des cartes grand public de jeu en production</a:t>
            </a:r>
            <a:endParaRPr lang="en-US" sz="900" dirty="0"/>
          </a:p>
        </p:txBody>
      </p:sp>
      <p:pic>
        <p:nvPicPr>
          <p:cNvPr id="44" name="Image 11" descr="preencoded.png"/>
          <p:cNvPicPr>
            <a:picLocks noChangeAspect="1"/>
          </p:cNvPicPr>
          <p:nvPr/>
        </p:nvPicPr>
        <p:blipFill>
          <a:blip r:embed="rId6"/>
          <a:stretch>
            <a:fillRect/>
          </a:stretch>
        </p:blipFill>
        <p:spPr>
          <a:xfrm>
            <a:off x="4828032" y="2532888"/>
            <a:ext cx="137160" cy="137160"/>
          </a:xfrm>
          <a:prstGeom prst="rect">
            <a:avLst/>
          </a:prstGeom>
        </p:spPr>
      </p:pic>
      <p:sp>
        <p:nvSpPr>
          <p:cNvPr id="45" name="Text 30"/>
          <p:cNvSpPr txBox="1"/>
          <p:nvPr/>
        </p:nvSpPr>
        <p:spPr>
          <a:xfrm>
            <a:off x="5038344" y="2505456"/>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Du marché gris ou du reconditionné sans garantie</a:t>
            </a:r>
            <a:endParaRPr lang="en-US" sz="900" dirty="0"/>
          </a:p>
        </p:txBody>
      </p:sp>
      <p:pic>
        <p:nvPicPr>
          <p:cNvPr id="46" name="Image 12" descr="preencoded.png"/>
          <p:cNvPicPr>
            <a:picLocks noChangeAspect="1"/>
          </p:cNvPicPr>
          <p:nvPr/>
        </p:nvPicPr>
        <p:blipFill>
          <a:blip r:embed="rId6"/>
          <a:stretch>
            <a:fillRect/>
          </a:stretch>
        </p:blipFill>
        <p:spPr>
          <a:xfrm>
            <a:off x="4828032" y="2834640"/>
            <a:ext cx="137160" cy="137160"/>
          </a:xfrm>
          <a:prstGeom prst="rect">
            <a:avLst/>
          </a:prstGeom>
        </p:spPr>
      </p:pic>
      <p:sp>
        <p:nvSpPr>
          <p:cNvPr id="47" name="Text 31"/>
          <p:cNvSpPr txBox="1"/>
          <p:nvPr/>
        </p:nvSpPr>
        <p:spPr>
          <a:xfrm>
            <a:off x="5038344" y="2807208"/>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Spécifier le matériel avant l'audit électrique</a:t>
            </a:r>
            <a:endParaRPr lang="en-US" sz="900" dirty="0"/>
          </a:p>
        </p:txBody>
      </p:sp>
      <p:pic>
        <p:nvPicPr>
          <p:cNvPr id="48" name="Image 13" descr="preencoded.png"/>
          <p:cNvPicPr>
            <a:picLocks noChangeAspect="1"/>
          </p:cNvPicPr>
          <p:nvPr/>
        </p:nvPicPr>
        <p:blipFill>
          <a:blip r:embed="rId6"/>
          <a:stretch>
            <a:fillRect/>
          </a:stretch>
        </p:blipFill>
        <p:spPr>
          <a:xfrm>
            <a:off x="4828032" y="3136392"/>
            <a:ext cx="137160" cy="137160"/>
          </a:xfrm>
          <a:prstGeom prst="rect">
            <a:avLst/>
          </a:prstGeom>
        </p:spPr>
      </p:pic>
      <p:sp>
        <p:nvSpPr>
          <p:cNvPr id="49" name="Text 32"/>
          <p:cNvSpPr txBox="1"/>
          <p:nvPr/>
        </p:nvSpPr>
        <p:spPr>
          <a:xfrm>
            <a:off x="5038344" y="3108960"/>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Des logiciels propriétaires qui enferment chez un fournisseur</a:t>
            </a:r>
            <a:endParaRPr lang="en-US" sz="900" dirty="0"/>
          </a:p>
        </p:txBody>
      </p:sp>
      <p:pic>
        <p:nvPicPr>
          <p:cNvPr id="50" name="Image 14" descr="preencoded.png"/>
          <p:cNvPicPr>
            <a:picLocks noChangeAspect="1"/>
          </p:cNvPicPr>
          <p:nvPr/>
        </p:nvPicPr>
        <p:blipFill>
          <a:blip r:embed="rId6"/>
          <a:stretch>
            <a:fillRect/>
          </a:stretch>
        </p:blipFill>
        <p:spPr>
          <a:xfrm>
            <a:off x="4828032" y="3438144"/>
            <a:ext cx="137160" cy="137160"/>
          </a:xfrm>
          <a:prstGeom prst="rect">
            <a:avLst/>
          </a:prstGeom>
        </p:spPr>
      </p:pic>
      <p:sp>
        <p:nvSpPr>
          <p:cNvPr id="51" name="Text 33"/>
          <p:cNvSpPr txBox="1"/>
          <p:nvPr/>
        </p:nvSpPr>
        <p:spPr>
          <a:xfrm>
            <a:off x="5038344" y="3410712"/>
            <a:ext cx="3538728" cy="30175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Aucun budget pour renouvellement, fin de vie et déchets</a:t>
            </a:r>
            <a:endParaRPr lang="en-US" sz="900" dirty="0"/>
          </a:p>
        </p:txBody>
      </p:sp>
      <p:sp>
        <p:nvSpPr>
          <p:cNvPr id="52" name="Shape 34"/>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53" name="Shape 35"/>
          <p:cNvSpPr/>
          <p:nvPr/>
        </p:nvSpPr>
        <p:spPr>
          <a:xfrm>
            <a:off x="566928" y="4206240"/>
            <a:ext cx="292608" cy="292608"/>
          </a:xfrm>
          <a:prstGeom prst="ellipse">
            <a:avLst/>
          </a:prstGeom>
          <a:solidFill>
            <a:srgbClr val="00A86A">
              <a:alpha val="22000"/>
            </a:srgbClr>
          </a:solidFill>
          <a:ln/>
        </p:spPr>
      </p:sp>
      <p:pic>
        <p:nvPicPr>
          <p:cNvPr id="54" name="Image 15" descr="preencoded.png"/>
          <p:cNvPicPr>
            <a:picLocks noChangeAspect="1"/>
          </p:cNvPicPr>
          <p:nvPr/>
        </p:nvPicPr>
        <p:blipFill>
          <a:blip r:embed="rId7"/>
          <a:stretch>
            <a:fillRect/>
          </a:stretch>
        </p:blipFill>
        <p:spPr>
          <a:xfrm>
            <a:off x="637154" y="4276466"/>
            <a:ext cx="152156" cy="152156"/>
          </a:xfrm>
          <a:prstGeom prst="rect">
            <a:avLst/>
          </a:prstGeom>
        </p:spPr>
      </p:pic>
      <p:sp>
        <p:nvSpPr>
          <p:cNvPr id="55" name="Text 36"/>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RÈGLE D'OR   </a:t>
            </a:r>
            <a:r>
              <a:rPr lang="en-US" sz="1000" dirty="0">
                <a:solidFill>
                  <a:srgbClr val="231F20"/>
                </a:solidFill>
                <a:latin typeface="Calibri" pitchFamily="34" charset="0"/>
                <a:ea typeface="Calibri" pitchFamily="34" charset="-122"/>
                <a:cs typeface="Calibri" pitchFamily="34" charset="-120"/>
              </a:rPr>
              <a:t>Louer avant d'acheter : menez le pilote sur des GPU loués ou mutualisés pendant 3 à 6 mois, mesurez l'utilisation réelle, puis décidez.</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1 · INFRASTRUCTURE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Les goulots d'étranglement discrets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Rarement dans le dossier d'investissement — et souvent la cause de mois de retard</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8" name="Shape 15"/>
          <p:cNvSpPr/>
          <p:nvPr/>
        </p:nvSpPr>
        <p:spPr>
          <a:xfrm>
            <a:off x="457200" y="1371600"/>
            <a:ext cx="2651760" cy="1531620"/>
          </a:xfrm>
          <a:prstGeom prst="roundRect">
            <a:avLst>
              <a:gd name="adj" fmla="val 4776"/>
            </a:avLst>
          </a:prstGeom>
          <a:solidFill>
            <a:srgbClr val="F4F7F5"/>
          </a:solidFill>
          <a:ln w="9525">
            <a:solidFill>
              <a:srgbClr val="D5DED9"/>
            </a:solidFill>
            <a:prstDash val="solid"/>
          </a:ln>
        </p:spPr>
      </p:sp>
      <p:sp>
        <p:nvSpPr>
          <p:cNvPr id="19" name="Shape 16"/>
          <p:cNvSpPr/>
          <p:nvPr/>
        </p:nvSpPr>
        <p:spPr>
          <a:xfrm>
            <a:off x="585216" y="1499616"/>
            <a:ext cx="384048" cy="384048"/>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77388" y="1591788"/>
            <a:ext cx="199705" cy="199705"/>
          </a:xfrm>
          <a:prstGeom prst="rect">
            <a:avLst/>
          </a:prstGeom>
        </p:spPr>
      </p:pic>
      <p:sp>
        <p:nvSpPr>
          <p:cNvPr id="21" name="Text 17"/>
          <p:cNvSpPr txBox="1"/>
          <p:nvPr/>
        </p:nvSpPr>
        <p:spPr>
          <a:xfrm>
            <a:off x="2697480" y="148132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01</a:t>
            </a:r>
            <a:endParaRPr lang="en-US" sz="900" dirty="0"/>
          </a:p>
        </p:txBody>
      </p:sp>
      <p:sp>
        <p:nvSpPr>
          <p:cNvPr id="22" name="Text 18"/>
          <p:cNvSpPr txBox="1"/>
          <p:nvPr/>
        </p:nvSpPr>
        <p:spPr>
          <a:xfrm>
            <a:off x="1078992" y="149961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Hiérarchie de stockage</a:t>
            </a:r>
            <a:endParaRPr lang="en-US" sz="1200" dirty="0"/>
          </a:p>
        </p:txBody>
      </p:sp>
      <p:sp>
        <p:nvSpPr>
          <p:cNvPr id="23" name="Text 19"/>
          <p:cNvSpPr txBox="1"/>
          <p:nvPr/>
        </p:nvSpPr>
        <p:spPr>
          <a:xfrm>
            <a:off x="585216" y="193852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NVMe rapide pour les données actives, stockage objet pour les archives. Prévoir 3 à 5 fois le volume brut pour les points de reprise et fichiers intermédiaires.</a:t>
            </a:r>
            <a:endParaRPr lang="en-US" sz="1000" dirty="0"/>
          </a:p>
        </p:txBody>
      </p:sp>
      <p:sp>
        <p:nvSpPr>
          <p:cNvPr id="24" name="Shape 20"/>
          <p:cNvSpPr/>
          <p:nvPr/>
        </p:nvSpPr>
        <p:spPr>
          <a:xfrm>
            <a:off x="3246120" y="1371600"/>
            <a:ext cx="2651760" cy="1531620"/>
          </a:xfrm>
          <a:prstGeom prst="roundRect">
            <a:avLst>
              <a:gd name="adj" fmla="val 4776"/>
            </a:avLst>
          </a:prstGeom>
          <a:solidFill>
            <a:srgbClr val="F4F7F5"/>
          </a:solidFill>
          <a:ln w="9525">
            <a:solidFill>
              <a:srgbClr val="D5DED9"/>
            </a:solidFill>
            <a:prstDash val="solid"/>
          </a:ln>
        </p:spPr>
      </p:sp>
      <p:sp>
        <p:nvSpPr>
          <p:cNvPr id="25" name="Shape 21"/>
          <p:cNvSpPr/>
          <p:nvPr/>
        </p:nvSpPr>
        <p:spPr>
          <a:xfrm>
            <a:off x="3374136" y="1499616"/>
            <a:ext cx="384048" cy="384048"/>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3466308" y="1591788"/>
            <a:ext cx="199705" cy="199705"/>
          </a:xfrm>
          <a:prstGeom prst="rect">
            <a:avLst/>
          </a:prstGeom>
        </p:spPr>
      </p:pic>
      <p:sp>
        <p:nvSpPr>
          <p:cNvPr id="27" name="Text 22"/>
          <p:cNvSpPr txBox="1"/>
          <p:nvPr/>
        </p:nvSpPr>
        <p:spPr>
          <a:xfrm>
            <a:off x="5486400" y="148132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02</a:t>
            </a:r>
            <a:endParaRPr lang="en-US" sz="900" dirty="0"/>
          </a:p>
        </p:txBody>
      </p:sp>
      <p:sp>
        <p:nvSpPr>
          <p:cNvPr id="28" name="Text 23"/>
          <p:cNvSpPr txBox="1"/>
          <p:nvPr/>
        </p:nvSpPr>
        <p:spPr>
          <a:xfrm>
            <a:off x="3867912" y="149961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Réseau interne</a:t>
            </a:r>
            <a:endParaRPr lang="en-US" sz="1200" dirty="0"/>
          </a:p>
        </p:txBody>
      </p:sp>
      <p:sp>
        <p:nvSpPr>
          <p:cNvPr id="29" name="Text 24"/>
          <p:cNvSpPr txBox="1"/>
          <p:nvPr/>
        </p:nvSpPr>
        <p:spPr>
          <a:xfrm>
            <a:off x="3374136" y="193852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10 GbE au minimum ; 25 à 100 GbE pour l'entraînement multi-nœuds. Un réseau lent transforme un GPU coûteux en GPU inactif.</a:t>
            </a:r>
            <a:endParaRPr lang="en-US" sz="1000" dirty="0"/>
          </a:p>
        </p:txBody>
      </p:sp>
      <p:sp>
        <p:nvSpPr>
          <p:cNvPr id="30" name="Shape 25"/>
          <p:cNvSpPr/>
          <p:nvPr/>
        </p:nvSpPr>
        <p:spPr>
          <a:xfrm>
            <a:off x="6035040" y="1371600"/>
            <a:ext cx="2651760" cy="1531620"/>
          </a:xfrm>
          <a:prstGeom prst="roundRect">
            <a:avLst>
              <a:gd name="adj" fmla="val 4776"/>
            </a:avLst>
          </a:prstGeom>
          <a:solidFill>
            <a:srgbClr val="E8F5EF"/>
          </a:solidFill>
          <a:ln w="15875">
            <a:solidFill>
              <a:srgbClr val="D49A00"/>
            </a:solidFill>
            <a:prstDash val="solid"/>
          </a:ln>
        </p:spPr>
      </p:sp>
      <p:sp>
        <p:nvSpPr>
          <p:cNvPr id="31" name="Shape 26"/>
          <p:cNvSpPr/>
          <p:nvPr/>
        </p:nvSpPr>
        <p:spPr>
          <a:xfrm>
            <a:off x="6163056" y="1499616"/>
            <a:ext cx="384048" cy="384048"/>
          </a:xfrm>
          <a:prstGeom prst="ellipse">
            <a:avLst/>
          </a:prstGeom>
          <a:solidFill>
            <a:srgbClr val="D49A00">
              <a:alpha val="22000"/>
            </a:srgbClr>
          </a:solidFill>
          <a:ln/>
        </p:spPr>
      </p:sp>
      <p:pic>
        <p:nvPicPr>
          <p:cNvPr id="32" name="Image 2" descr="preencoded.png"/>
          <p:cNvPicPr>
            <a:picLocks noChangeAspect="1"/>
          </p:cNvPicPr>
          <p:nvPr/>
        </p:nvPicPr>
        <p:blipFill>
          <a:blip r:embed="rId5"/>
          <a:stretch>
            <a:fillRect/>
          </a:stretch>
        </p:blipFill>
        <p:spPr>
          <a:xfrm>
            <a:off x="6255228" y="1591788"/>
            <a:ext cx="199705" cy="199705"/>
          </a:xfrm>
          <a:prstGeom prst="rect">
            <a:avLst/>
          </a:prstGeom>
        </p:spPr>
      </p:pic>
      <p:sp>
        <p:nvSpPr>
          <p:cNvPr id="33" name="Text 27"/>
          <p:cNvSpPr txBox="1"/>
          <p:nvPr/>
        </p:nvSpPr>
        <p:spPr>
          <a:xfrm>
            <a:off x="8275320" y="1481328"/>
            <a:ext cx="292608" cy="182880"/>
          </a:xfrm>
          <a:prstGeom prst="rect">
            <a:avLst/>
          </a:prstGeom>
          <a:noFill/>
          <a:ln/>
        </p:spPr>
        <p:txBody>
          <a:bodyPr wrap="square" lIns="0" tIns="0" rIns="0" bIns="0" rtlCol="0" anchor="t"/>
          <a:lstStyle/>
          <a:p>
            <a:pPr marL="0" indent="0" algn="r">
              <a:buNone/>
            </a:pPr>
            <a:r>
              <a:rPr lang="en-US" sz="900" b="1" dirty="0">
                <a:solidFill>
                  <a:srgbClr val="D49A00"/>
                </a:solidFill>
                <a:latin typeface="Calibri" pitchFamily="34" charset="0"/>
                <a:ea typeface="Calibri" pitchFamily="34" charset="-122"/>
                <a:cs typeface="Calibri" pitchFamily="34" charset="-120"/>
              </a:rPr>
              <a:t>03</a:t>
            </a:r>
            <a:endParaRPr lang="en-US" sz="900" dirty="0"/>
          </a:p>
        </p:txBody>
      </p:sp>
      <p:sp>
        <p:nvSpPr>
          <p:cNvPr id="34" name="Text 28"/>
          <p:cNvSpPr txBox="1"/>
          <p:nvPr/>
        </p:nvSpPr>
        <p:spPr>
          <a:xfrm>
            <a:off x="6656832" y="149961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Énergie et refroidissement</a:t>
            </a:r>
            <a:endParaRPr lang="en-US" sz="1200" dirty="0"/>
          </a:p>
        </p:txBody>
      </p:sp>
      <p:sp>
        <p:nvSpPr>
          <p:cNvPr id="35" name="Text 29"/>
          <p:cNvSpPr txBox="1"/>
          <p:nvPr/>
        </p:nvSpPr>
        <p:spPr>
          <a:xfrm>
            <a:off x="6163056" y="193852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Un nœud dense à 8 GPU peut consommer environ 6 à 10 kW, alors que beaucoup de salles sont conçues pour 3 à 5 kW par baie. C'est un budget d'infrastructure, pas informatique.</a:t>
            </a:r>
            <a:endParaRPr lang="en-US" sz="1000" dirty="0"/>
          </a:p>
        </p:txBody>
      </p:sp>
      <p:sp>
        <p:nvSpPr>
          <p:cNvPr id="36" name="Shape 30"/>
          <p:cNvSpPr/>
          <p:nvPr/>
        </p:nvSpPr>
        <p:spPr>
          <a:xfrm>
            <a:off x="457200" y="3040380"/>
            <a:ext cx="2651760" cy="1531620"/>
          </a:xfrm>
          <a:prstGeom prst="roundRect">
            <a:avLst>
              <a:gd name="adj" fmla="val 4776"/>
            </a:avLst>
          </a:prstGeom>
          <a:solidFill>
            <a:srgbClr val="F4F7F5"/>
          </a:solidFill>
          <a:ln w="9525">
            <a:solidFill>
              <a:srgbClr val="D5DED9"/>
            </a:solidFill>
            <a:prstDash val="solid"/>
          </a:ln>
        </p:spPr>
      </p:sp>
      <p:sp>
        <p:nvSpPr>
          <p:cNvPr id="37" name="Shape 31"/>
          <p:cNvSpPr/>
          <p:nvPr/>
        </p:nvSpPr>
        <p:spPr>
          <a:xfrm>
            <a:off x="585216" y="3168396"/>
            <a:ext cx="384048" cy="384048"/>
          </a:xfrm>
          <a:prstGeom prst="ellipse">
            <a:avLst/>
          </a:prstGeom>
          <a:solidFill>
            <a:srgbClr val="00A86A">
              <a:alpha val="22000"/>
            </a:srgbClr>
          </a:solidFill>
          <a:ln/>
        </p:spPr>
      </p:sp>
      <p:pic>
        <p:nvPicPr>
          <p:cNvPr id="38" name="Image 3" descr="preencoded.png"/>
          <p:cNvPicPr>
            <a:picLocks noChangeAspect="1"/>
          </p:cNvPicPr>
          <p:nvPr/>
        </p:nvPicPr>
        <p:blipFill>
          <a:blip r:embed="rId6"/>
          <a:stretch>
            <a:fillRect/>
          </a:stretch>
        </p:blipFill>
        <p:spPr>
          <a:xfrm>
            <a:off x="677388" y="3260568"/>
            <a:ext cx="199705" cy="199705"/>
          </a:xfrm>
          <a:prstGeom prst="rect">
            <a:avLst/>
          </a:prstGeom>
        </p:spPr>
      </p:pic>
      <p:sp>
        <p:nvSpPr>
          <p:cNvPr id="39" name="Text 32"/>
          <p:cNvSpPr txBox="1"/>
          <p:nvPr/>
        </p:nvSpPr>
        <p:spPr>
          <a:xfrm>
            <a:off x="269748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04</a:t>
            </a:r>
            <a:endParaRPr lang="en-US" sz="900" dirty="0"/>
          </a:p>
        </p:txBody>
      </p:sp>
      <p:sp>
        <p:nvSpPr>
          <p:cNvPr id="40" name="Text 33"/>
          <p:cNvSpPr txBox="1"/>
          <p:nvPr/>
        </p:nvSpPr>
        <p:spPr>
          <a:xfrm>
            <a:off x="1078992" y="316839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Sauvegarde et reprise</a:t>
            </a:r>
            <a:endParaRPr lang="en-US" sz="1200" dirty="0"/>
          </a:p>
        </p:txBody>
      </p:sp>
      <p:sp>
        <p:nvSpPr>
          <p:cNvPr id="41" name="Text 34"/>
          <p:cNvSpPr txBox="1"/>
          <p:nvPr/>
        </p:nvSpPr>
        <p:spPr>
          <a:xfrm>
            <a:off x="585216" y="360730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Instantanés d'entraînement, poids des modèles et registre doivent être sauvegardés et testés. Ils sont souvent hors du plan de reprise existant.</a:t>
            </a:r>
            <a:endParaRPr lang="en-US" sz="1000" dirty="0"/>
          </a:p>
        </p:txBody>
      </p:sp>
      <p:sp>
        <p:nvSpPr>
          <p:cNvPr id="42" name="Shape 35"/>
          <p:cNvSpPr/>
          <p:nvPr/>
        </p:nvSpPr>
        <p:spPr>
          <a:xfrm>
            <a:off x="3246120" y="3040380"/>
            <a:ext cx="2651760" cy="1531620"/>
          </a:xfrm>
          <a:prstGeom prst="roundRect">
            <a:avLst>
              <a:gd name="adj" fmla="val 4776"/>
            </a:avLst>
          </a:prstGeom>
          <a:solidFill>
            <a:srgbClr val="F4F7F5"/>
          </a:solidFill>
          <a:ln w="9525">
            <a:solidFill>
              <a:srgbClr val="D5DED9"/>
            </a:solidFill>
            <a:prstDash val="solid"/>
          </a:ln>
        </p:spPr>
      </p:sp>
      <p:sp>
        <p:nvSpPr>
          <p:cNvPr id="43" name="Shape 36"/>
          <p:cNvSpPr/>
          <p:nvPr/>
        </p:nvSpPr>
        <p:spPr>
          <a:xfrm>
            <a:off x="3374136" y="3168396"/>
            <a:ext cx="384048" cy="384048"/>
          </a:xfrm>
          <a:prstGeom prst="ellipse">
            <a:avLst/>
          </a:prstGeom>
          <a:solidFill>
            <a:srgbClr val="00A86A">
              <a:alpha val="22000"/>
            </a:srgbClr>
          </a:solidFill>
          <a:ln/>
        </p:spPr>
      </p:sp>
      <p:pic>
        <p:nvPicPr>
          <p:cNvPr id="44" name="Image 4" descr="preencoded.png"/>
          <p:cNvPicPr>
            <a:picLocks noChangeAspect="1"/>
          </p:cNvPicPr>
          <p:nvPr/>
        </p:nvPicPr>
        <p:blipFill>
          <a:blip r:embed="rId7"/>
          <a:stretch>
            <a:fillRect/>
          </a:stretch>
        </p:blipFill>
        <p:spPr>
          <a:xfrm>
            <a:off x="3466308" y="3260568"/>
            <a:ext cx="199705" cy="199705"/>
          </a:xfrm>
          <a:prstGeom prst="rect">
            <a:avLst/>
          </a:prstGeom>
        </p:spPr>
      </p:pic>
      <p:sp>
        <p:nvSpPr>
          <p:cNvPr id="45" name="Text 37"/>
          <p:cNvSpPr txBox="1"/>
          <p:nvPr/>
        </p:nvSpPr>
        <p:spPr>
          <a:xfrm>
            <a:off x="548640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05</a:t>
            </a:r>
            <a:endParaRPr lang="en-US" sz="900" dirty="0"/>
          </a:p>
        </p:txBody>
      </p:sp>
      <p:sp>
        <p:nvSpPr>
          <p:cNvPr id="46" name="Text 38"/>
          <p:cNvSpPr txBox="1"/>
          <p:nvPr/>
        </p:nvSpPr>
        <p:spPr>
          <a:xfrm>
            <a:off x="3867912" y="316839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Sortie des données</a:t>
            </a:r>
            <a:endParaRPr lang="en-US" sz="1200" dirty="0"/>
          </a:p>
        </p:txBody>
      </p:sp>
      <p:sp>
        <p:nvSpPr>
          <p:cNvPr id="47" name="Text 39"/>
          <p:cNvSpPr txBox="1"/>
          <p:nvPr/>
        </p:nvSpPr>
        <p:spPr>
          <a:xfrm>
            <a:off x="3374136" y="360730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Dans le cloud, l'entrée des données est souvent gratuite, pas leur sortie. Les allers-retours de microdonnées deviennent un coût récurrent et non plafonné.</a:t>
            </a:r>
            <a:endParaRPr lang="en-US" sz="1000" dirty="0"/>
          </a:p>
        </p:txBody>
      </p:sp>
      <p:sp>
        <p:nvSpPr>
          <p:cNvPr id="48" name="Shape 40"/>
          <p:cNvSpPr/>
          <p:nvPr/>
        </p:nvSpPr>
        <p:spPr>
          <a:xfrm>
            <a:off x="6035040" y="3040380"/>
            <a:ext cx="2651760" cy="1531620"/>
          </a:xfrm>
          <a:prstGeom prst="roundRect">
            <a:avLst>
              <a:gd name="adj" fmla="val 4776"/>
            </a:avLst>
          </a:prstGeom>
          <a:solidFill>
            <a:srgbClr val="F4F7F5"/>
          </a:solidFill>
          <a:ln w="9525">
            <a:solidFill>
              <a:srgbClr val="D5DED9"/>
            </a:solidFill>
            <a:prstDash val="solid"/>
          </a:ln>
        </p:spPr>
      </p:sp>
      <p:sp>
        <p:nvSpPr>
          <p:cNvPr id="49" name="Shape 41"/>
          <p:cNvSpPr/>
          <p:nvPr/>
        </p:nvSpPr>
        <p:spPr>
          <a:xfrm>
            <a:off x="6163056" y="3168396"/>
            <a:ext cx="384048" cy="384048"/>
          </a:xfrm>
          <a:prstGeom prst="ellipse">
            <a:avLst/>
          </a:prstGeom>
          <a:solidFill>
            <a:srgbClr val="00A86A">
              <a:alpha val="22000"/>
            </a:srgbClr>
          </a:solidFill>
          <a:ln/>
        </p:spPr>
      </p:sp>
      <p:pic>
        <p:nvPicPr>
          <p:cNvPr id="50" name="Image 5" descr="preencoded.png"/>
          <p:cNvPicPr>
            <a:picLocks noChangeAspect="1"/>
          </p:cNvPicPr>
          <p:nvPr/>
        </p:nvPicPr>
        <p:blipFill>
          <a:blip r:embed="rId8"/>
          <a:stretch>
            <a:fillRect/>
          </a:stretch>
        </p:blipFill>
        <p:spPr>
          <a:xfrm>
            <a:off x="6255228" y="3260568"/>
            <a:ext cx="199705" cy="199705"/>
          </a:xfrm>
          <a:prstGeom prst="rect">
            <a:avLst/>
          </a:prstGeom>
        </p:spPr>
      </p:pic>
      <p:sp>
        <p:nvSpPr>
          <p:cNvPr id="51" name="Text 42"/>
          <p:cNvSpPr txBox="1"/>
          <p:nvPr/>
        </p:nvSpPr>
        <p:spPr>
          <a:xfrm>
            <a:off x="8275320" y="3150108"/>
            <a:ext cx="292608" cy="182880"/>
          </a:xfrm>
          <a:prstGeom prst="rect">
            <a:avLst/>
          </a:prstGeom>
          <a:noFill/>
          <a:ln/>
        </p:spPr>
        <p:txBody>
          <a:bodyPr wrap="square" lIns="0" tIns="0" rIns="0" bIns="0" rtlCol="0" anchor="t"/>
          <a:lstStyle/>
          <a:p>
            <a:pPr marL="0" indent="0" algn="r">
              <a:buNone/>
            </a:pPr>
            <a:r>
              <a:rPr lang="en-US" sz="900" b="1" dirty="0">
                <a:solidFill>
                  <a:srgbClr val="00A86A"/>
                </a:solidFill>
                <a:latin typeface="Calibri" pitchFamily="34" charset="0"/>
                <a:ea typeface="Calibri" pitchFamily="34" charset="-122"/>
                <a:cs typeface="Calibri" pitchFamily="34" charset="-120"/>
              </a:rPr>
              <a:t>06</a:t>
            </a:r>
            <a:endParaRPr lang="en-US" sz="900" dirty="0"/>
          </a:p>
        </p:txBody>
      </p:sp>
      <p:sp>
        <p:nvSpPr>
          <p:cNvPr id="52" name="Text 43"/>
          <p:cNvSpPr txBox="1"/>
          <p:nvPr/>
        </p:nvSpPr>
        <p:spPr>
          <a:xfrm>
            <a:off x="6656832" y="3168396"/>
            <a:ext cx="1645920" cy="384048"/>
          </a:xfrm>
          <a:prstGeom prst="rect">
            <a:avLst/>
          </a:prstGeom>
          <a:noFill/>
          <a:ln/>
        </p:spPr>
        <p:txBody>
          <a:bodyPr wrap="square" lIns="0" tIns="0" rIns="0" bIns="0" rtlCol="0" anchor="ctr">
            <a:normAutofit/>
          </a:bodyPr>
          <a:lstStyle/>
          <a:p>
            <a:pPr marL="0" indent="0">
              <a:buNone/>
            </a:pPr>
            <a:r>
              <a:rPr lang="en-US" sz="1200" b="1" dirty="0">
                <a:solidFill>
                  <a:srgbClr val="231F20"/>
                </a:solidFill>
                <a:latin typeface="Calibri" pitchFamily="34" charset="0"/>
                <a:ea typeface="Calibri" pitchFamily="34" charset="-122"/>
                <a:cs typeface="Calibri" pitchFamily="34" charset="-120"/>
              </a:rPr>
              <a:t>Intégration des identités</a:t>
            </a:r>
            <a:endParaRPr lang="en-US" sz="1200" dirty="0"/>
          </a:p>
        </p:txBody>
      </p:sp>
      <p:sp>
        <p:nvSpPr>
          <p:cNvPr id="53" name="Text 44"/>
          <p:cNvSpPr txBox="1"/>
          <p:nvPr/>
        </p:nvSpPr>
        <p:spPr>
          <a:xfrm>
            <a:off x="6163056" y="3607308"/>
            <a:ext cx="2395728" cy="909828"/>
          </a:xfrm>
          <a:prstGeom prst="rect">
            <a:avLst/>
          </a:prstGeom>
          <a:noFill/>
          <a:ln/>
        </p:spPr>
        <p:txBody>
          <a:bodyPr wrap="square" lIns="0" tIns="0" rIns="0" bIns="0" rtlCol="0" anchor="t"/>
          <a:lstStyle/>
          <a:p>
            <a:pPr marL="0" indent="0">
              <a:lnSpc>
                <a:spcPct val="105000"/>
              </a:lnSpc>
              <a:buNone/>
            </a:pPr>
            <a:r>
              <a:rPr lang="en-US" sz="1000" dirty="0">
                <a:solidFill>
                  <a:srgbClr val="5E6964"/>
                </a:solidFill>
                <a:latin typeface="Calibri" pitchFamily="34" charset="0"/>
                <a:ea typeface="Calibri" pitchFamily="34" charset="-122"/>
                <a:cs typeface="Calibri" pitchFamily="34" charset="-120"/>
              </a:rPr>
              <a:t>Serveurs GPU et passerelles doivent utiliser l'annuaire de l'institut dès le départ. Ajouter l'authentification unique plus tard coûte bien plus cher.</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1 · RÉSILIENCE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fontScale="92500"/>
          </a:bodyPr>
          <a:lstStyle/>
          <a:p>
            <a:pPr marL="0" indent="0">
              <a:buNone/>
            </a:pPr>
            <a:r>
              <a:rPr lang="en-US" sz="2800" b="1" dirty="0">
                <a:solidFill>
                  <a:srgbClr val="231F20"/>
                </a:solidFill>
                <a:latin typeface="Calibri" pitchFamily="34" charset="0"/>
                <a:ea typeface="Calibri" pitchFamily="34" charset="-122"/>
                <a:cs typeface="Calibri" pitchFamily="34" charset="-120"/>
              </a:rPr>
              <a:t>Concevoir malgré une énergie et une connexion instables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Des pratiques qui maintiennent les traitements IA là où le réseau électrique et internet ne sont pas garantis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8" name="Shape 15"/>
          <p:cNvSpPr/>
          <p:nvPr/>
        </p:nvSpPr>
        <p:spPr>
          <a:xfrm>
            <a:off x="457200" y="1371600"/>
            <a:ext cx="2651760" cy="1257300"/>
          </a:xfrm>
          <a:prstGeom prst="roundRect">
            <a:avLst>
              <a:gd name="adj" fmla="val 5818"/>
            </a:avLst>
          </a:prstGeom>
          <a:solidFill>
            <a:srgbClr val="F4F7F5"/>
          </a:solidFill>
          <a:ln w="9525">
            <a:solidFill>
              <a:srgbClr val="D5DED9"/>
            </a:solidFill>
            <a:prstDash val="solid"/>
          </a:ln>
        </p:spPr>
      </p:sp>
      <p:sp>
        <p:nvSpPr>
          <p:cNvPr id="19" name="Shape 16"/>
          <p:cNvSpPr/>
          <p:nvPr/>
        </p:nvSpPr>
        <p:spPr>
          <a:xfrm>
            <a:off x="585216" y="1499616"/>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8609" y="1583009"/>
            <a:ext cx="180685" cy="180685"/>
          </a:xfrm>
          <a:prstGeom prst="rect">
            <a:avLst/>
          </a:prstGeom>
        </p:spPr>
      </p:pic>
      <p:sp>
        <p:nvSpPr>
          <p:cNvPr id="21" name="Text 17"/>
          <p:cNvSpPr txBox="1"/>
          <p:nvPr/>
        </p:nvSpPr>
        <p:spPr>
          <a:xfrm>
            <a:off x="1042416" y="149961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Connaître son enveloppe énergétique</a:t>
            </a:r>
            <a:endParaRPr lang="en-US" sz="1050" dirty="0"/>
          </a:p>
        </p:txBody>
      </p:sp>
      <p:sp>
        <p:nvSpPr>
          <p:cNvPr id="22" name="Text 18"/>
          <p:cNvSpPr txBox="1"/>
          <p:nvPr/>
        </p:nvSpPr>
        <p:spPr>
          <a:xfrm>
            <a:off x="58521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Mesurer les kW par baie et l'autonomie de secours (en heures) avant de spécifier le matériel.</a:t>
            </a:r>
            <a:endParaRPr lang="en-US" sz="950" dirty="0"/>
          </a:p>
        </p:txBody>
      </p:sp>
      <p:sp>
        <p:nvSpPr>
          <p:cNvPr id="23" name="Shape 19"/>
          <p:cNvSpPr/>
          <p:nvPr/>
        </p:nvSpPr>
        <p:spPr>
          <a:xfrm>
            <a:off x="3246120" y="1371600"/>
            <a:ext cx="2651760" cy="1257300"/>
          </a:xfrm>
          <a:prstGeom prst="roundRect">
            <a:avLst>
              <a:gd name="adj" fmla="val 5818"/>
            </a:avLst>
          </a:prstGeom>
          <a:solidFill>
            <a:srgbClr val="F4F7F5"/>
          </a:solidFill>
          <a:ln w="9525">
            <a:solidFill>
              <a:srgbClr val="D5DED9"/>
            </a:solidFill>
            <a:prstDash val="solid"/>
          </a:ln>
        </p:spPr>
      </p:sp>
      <p:sp>
        <p:nvSpPr>
          <p:cNvPr id="24" name="Shape 20"/>
          <p:cNvSpPr/>
          <p:nvPr/>
        </p:nvSpPr>
        <p:spPr>
          <a:xfrm>
            <a:off x="3374136" y="1499616"/>
            <a:ext cx="347472" cy="347472"/>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3457529" y="1583009"/>
            <a:ext cx="180685" cy="180685"/>
          </a:xfrm>
          <a:prstGeom prst="rect">
            <a:avLst/>
          </a:prstGeom>
        </p:spPr>
      </p:pic>
      <p:sp>
        <p:nvSpPr>
          <p:cNvPr id="26" name="Text 21"/>
          <p:cNvSpPr txBox="1"/>
          <p:nvPr/>
        </p:nvSpPr>
        <p:spPr>
          <a:xfrm>
            <a:off x="3831336" y="149961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Protéger chaque traitement</a:t>
            </a:r>
            <a:endParaRPr lang="en-US" sz="1050" dirty="0"/>
          </a:p>
        </p:txBody>
      </p:sp>
      <p:sp>
        <p:nvSpPr>
          <p:cNvPr id="27" name="Text 22"/>
          <p:cNvSpPr txBox="1"/>
          <p:nvPr/>
        </p:nvSpPr>
        <p:spPr>
          <a:xfrm>
            <a:off x="337413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Onduleur pour un arrêt propre, groupe ou hybride solaire pour l'autonomie ; points de reprise.</a:t>
            </a:r>
            <a:endParaRPr lang="en-US" sz="950" dirty="0"/>
          </a:p>
        </p:txBody>
      </p:sp>
      <p:sp>
        <p:nvSpPr>
          <p:cNvPr id="28" name="Shape 23"/>
          <p:cNvSpPr/>
          <p:nvPr/>
        </p:nvSpPr>
        <p:spPr>
          <a:xfrm>
            <a:off x="6035040" y="1371600"/>
            <a:ext cx="2651760" cy="1257300"/>
          </a:xfrm>
          <a:prstGeom prst="roundRect">
            <a:avLst>
              <a:gd name="adj" fmla="val 5818"/>
            </a:avLst>
          </a:prstGeom>
          <a:solidFill>
            <a:srgbClr val="F4F7F5"/>
          </a:solidFill>
          <a:ln w="9525">
            <a:solidFill>
              <a:srgbClr val="D5DED9"/>
            </a:solidFill>
            <a:prstDash val="solid"/>
          </a:ln>
        </p:spPr>
      </p:sp>
      <p:sp>
        <p:nvSpPr>
          <p:cNvPr id="29" name="Shape 24"/>
          <p:cNvSpPr/>
          <p:nvPr/>
        </p:nvSpPr>
        <p:spPr>
          <a:xfrm>
            <a:off x="6163056" y="1499616"/>
            <a:ext cx="347472" cy="347472"/>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6246449" y="1583009"/>
            <a:ext cx="180685" cy="180685"/>
          </a:xfrm>
          <a:prstGeom prst="rect">
            <a:avLst/>
          </a:prstGeom>
        </p:spPr>
      </p:pic>
      <p:sp>
        <p:nvSpPr>
          <p:cNvPr id="31" name="Text 25"/>
          <p:cNvSpPr txBox="1"/>
          <p:nvPr/>
        </p:nvSpPr>
        <p:spPr>
          <a:xfrm>
            <a:off x="6620256" y="149961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Privilégier les modèles sobres</a:t>
            </a:r>
            <a:endParaRPr lang="en-US" sz="1050" dirty="0"/>
          </a:p>
        </p:txBody>
      </p:sp>
      <p:sp>
        <p:nvSpPr>
          <p:cNvPr id="32" name="Text 26"/>
          <p:cNvSpPr txBox="1"/>
          <p:nvPr/>
        </p:nvSpPr>
        <p:spPr>
          <a:xfrm>
            <a:off x="616305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Des modèles petits ou compressés sur CPU ou un GPU apportent l'essentiel pour une fraction de l'énergie.</a:t>
            </a:r>
            <a:endParaRPr lang="en-US" sz="950" dirty="0"/>
          </a:p>
        </p:txBody>
      </p:sp>
      <p:sp>
        <p:nvSpPr>
          <p:cNvPr id="33" name="Shape 27"/>
          <p:cNvSpPr/>
          <p:nvPr/>
        </p:nvSpPr>
        <p:spPr>
          <a:xfrm>
            <a:off x="457200" y="2766060"/>
            <a:ext cx="2651760" cy="1257300"/>
          </a:xfrm>
          <a:prstGeom prst="roundRect">
            <a:avLst>
              <a:gd name="adj" fmla="val 5818"/>
            </a:avLst>
          </a:prstGeom>
          <a:solidFill>
            <a:srgbClr val="F4F7F5"/>
          </a:solidFill>
          <a:ln w="9525">
            <a:solidFill>
              <a:srgbClr val="D5DED9"/>
            </a:solidFill>
            <a:prstDash val="solid"/>
          </a:ln>
        </p:spPr>
      </p:sp>
      <p:sp>
        <p:nvSpPr>
          <p:cNvPr id="34" name="Shape 28"/>
          <p:cNvSpPr/>
          <p:nvPr/>
        </p:nvSpPr>
        <p:spPr>
          <a:xfrm>
            <a:off x="585216" y="2894076"/>
            <a:ext cx="347472" cy="347472"/>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668609" y="2977469"/>
            <a:ext cx="180685" cy="180685"/>
          </a:xfrm>
          <a:prstGeom prst="rect">
            <a:avLst/>
          </a:prstGeom>
        </p:spPr>
      </p:pic>
      <p:sp>
        <p:nvSpPr>
          <p:cNvPr id="36" name="Text 29"/>
          <p:cNvSpPr txBox="1"/>
          <p:nvPr/>
        </p:nvSpPr>
        <p:spPr>
          <a:xfrm>
            <a:off x="1042416" y="289407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Travailler hors ligne d'abord</a:t>
            </a:r>
            <a:endParaRPr lang="en-US" sz="1050" dirty="0"/>
          </a:p>
        </p:txBody>
      </p:sp>
      <p:sp>
        <p:nvSpPr>
          <p:cNvPr id="37" name="Text 30"/>
          <p:cNvSpPr txBox="1"/>
          <p:nvPr/>
        </p:nvSpPr>
        <p:spPr>
          <a:xfrm>
            <a:off x="58521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Miroirs locaux des paquets, conteneurs et poids ; aucune installation ne dépend d'une liaison internationale.</a:t>
            </a:r>
            <a:endParaRPr lang="en-US" sz="950" dirty="0"/>
          </a:p>
        </p:txBody>
      </p:sp>
      <p:sp>
        <p:nvSpPr>
          <p:cNvPr id="38" name="Shape 31"/>
          <p:cNvSpPr/>
          <p:nvPr/>
        </p:nvSpPr>
        <p:spPr>
          <a:xfrm>
            <a:off x="3246120" y="2766060"/>
            <a:ext cx="2651760" cy="1257300"/>
          </a:xfrm>
          <a:prstGeom prst="roundRect">
            <a:avLst>
              <a:gd name="adj" fmla="val 5818"/>
            </a:avLst>
          </a:prstGeom>
          <a:solidFill>
            <a:srgbClr val="F4F7F5"/>
          </a:solidFill>
          <a:ln w="9525">
            <a:solidFill>
              <a:srgbClr val="D5DED9"/>
            </a:solidFill>
            <a:prstDash val="solid"/>
          </a:ln>
        </p:spPr>
      </p:sp>
      <p:sp>
        <p:nvSpPr>
          <p:cNvPr id="39" name="Shape 32"/>
          <p:cNvSpPr/>
          <p:nvPr/>
        </p:nvSpPr>
        <p:spPr>
          <a:xfrm>
            <a:off x="3374136" y="2894076"/>
            <a:ext cx="347472" cy="347472"/>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3457529" y="2977469"/>
            <a:ext cx="180685" cy="180685"/>
          </a:xfrm>
          <a:prstGeom prst="rect">
            <a:avLst/>
          </a:prstGeom>
        </p:spPr>
      </p:pic>
      <p:sp>
        <p:nvSpPr>
          <p:cNvPr id="41" name="Text 33"/>
          <p:cNvSpPr txBox="1"/>
          <p:nvPr/>
        </p:nvSpPr>
        <p:spPr>
          <a:xfrm>
            <a:off x="3831336" y="289407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Planifier les traitements</a:t>
            </a:r>
            <a:endParaRPr lang="en-US" sz="1050" dirty="0"/>
          </a:p>
        </p:txBody>
      </p:sp>
      <p:sp>
        <p:nvSpPr>
          <p:cNvPr id="42" name="Text 34"/>
          <p:cNvSpPr txBox="1"/>
          <p:nvPr/>
        </p:nvSpPr>
        <p:spPr>
          <a:xfrm>
            <a:off x="337413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Lancer les calculs lourds la nuit ou aux heures stables ; mettre en file plutôt que d'échouer.</a:t>
            </a:r>
            <a:endParaRPr lang="en-US" sz="950" dirty="0"/>
          </a:p>
        </p:txBody>
      </p:sp>
      <p:sp>
        <p:nvSpPr>
          <p:cNvPr id="43" name="Shape 35"/>
          <p:cNvSpPr/>
          <p:nvPr/>
        </p:nvSpPr>
        <p:spPr>
          <a:xfrm>
            <a:off x="6035040" y="2766060"/>
            <a:ext cx="2651760" cy="1257300"/>
          </a:xfrm>
          <a:prstGeom prst="roundRect">
            <a:avLst>
              <a:gd name="adj" fmla="val 5818"/>
            </a:avLst>
          </a:prstGeom>
          <a:solidFill>
            <a:srgbClr val="F4F7F5"/>
          </a:solidFill>
          <a:ln w="9525">
            <a:solidFill>
              <a:srgbClr val="D5DED9"/>
            </a:solidFill>
            <a:prstDash val="solid"/>
          </a:ln>
        </p:spPr>
      </p:sp>
      <p:sp>
        <p:nvSpPr>
          <p:cNvPr id="44" name="Shape 36"/>
          <p:cNvSpPr/>
          <p:nvPr/>
        </p:nvSpPr>
        <p:spPr>
          <a:xfrm>
            <a:off x="6163056" y="2894076"/>
            <a:ext cx="347472" cy="347472"/>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6246449" y="2977469"/>
            <a:ext cx="180685" cy="180685"/>
          </a:xfrm>
          <a:prstGeom prst="rect">
            <a:avLst/>
          </a:prstGeom>
        </p:spPr>
      </p:pic>
      <p:sp>
        <p:nvSpPr>
          <p:cNvPr id="46" name="Text 37"/>
          <p:cNvSpPr txBox="1"/>
          <p:nvPr/>
        </p:nvSpPr>
        <p:spPr>
          <a:xfrm>
            <a:off x="6620256" y="2894076"/>
            <a:ext cx="1956816" cy="347472"/>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Mutualiser la capacité</a:t>
            </a:r>
            <a:endParaRPr lang="en-US" sz="1050" dirty="0"/>
          </a:p>
        </p:txBody>
      </p:sp>
      <p:sp>
        <p:nvSpPr>
          <p:cNvPr id="47" name="Text 38"/>
          <p:cNvSpPr txBox="1"/>
          <p:nvPr/>
        </p:nvSpPr>
        <p:spPr>
          <a:xfrm>
            <a:off x="616305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Centres de données publics, centres universitaires ou pairs régionaux peuvent héberger ce qu'un institut seul ne peut pas.</a:t>
            </a:r>
            <a:endParaRPr lang="en-US" sz="950" dirty="0"/>
          </a:p>
        </p:txBody>
      </p:sp>
      <p:sp>
        <p:nvSpPr>
          <p:cNvPr id="48" name="Shape 39"/>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49" name="Shape 40"/>
          <p:cNvSpPr/>
          <p:nvPr/>
        </p:nvSpPr>
        <p:spPr>
          <a:xfrm>
            <a:off x="566928" y="4215384"/>
            <a:ext cx="292608" cy="292608"/>
          </a:xfrm>
          <a:prstGeom prst="ellipse">
            <a:avLst/>
          </a:prstGeom>
          <a:solidFill>
            <a:srgbClr val="00A86A">
              <a:alpha val="22000"/>
            </a:srgbClr>
          </a:solidFill>
          <a:ln/>
        </p:spPr>
      </p:sp>
      <p:pic>
        <p:nvPicPr>
          <p:cNvPr id="50"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51" name="Text 41"/>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CONTEXTE   </a:t>
            </a:r>
            <a:r>
              <a:rPr lang="en-US" sz="950" dirty="0">
                <a:solidFill>
                  <a:srgbClr val="231F20"/>
                </a:solidFill>
                <a:latin typeface="Calibri" pitchFamily="34" charset="0"/>
                <a:ea typeface="Calibri" pitchFamily="34" charset="-122"/>
                <a:cs typeface="Calibri" pitchFamily="34" charset="-120"/>
              </a:rPr>
              <a:t>Mission 300 — initiative du Groupe de la Banque mondiale et de la Banque africaine de développement — vise à raccorder 300 millions de personnes en Afrique subsaharienne d'ici 2030. Concevez pour le réseau d'aujourd'hui.</a:t>
            </a:r>
            <a:endParaRPr lang="en-US" sz="950" dirty="0"/>
          </a:p>
        </p:txBody>
      </p:sp>
      <p:sp>
        <p:nvSpPr>
          <p:cNvPr id="52" name="Text 4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 : Groupe de la Banque mondiale, Mission 300 (2024). Puissances des nœuds GPU indicatives ; vérifier les fiches des fabricants.</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2 · PLATEFORME DE DONNÉES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Pas d'IA sur des données introuvables ou peu fiables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Six capacités qui doivent exister avant qu'un modèle vaille la peine d'être entraîné</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8" name="Shape 15"/>
          <p:cNvSpPr/>
          <p:nvPr/>
        </p:nvSpPr>
        <p:spPr>
          <a:xfrm>
            <a:off x="457200" y="1371600"/>
            <a:ext cx="2651760" cy="1257300"/>
          </a:xfrm>
          <a:prstGeom prst="roundRect">
            <a:avLst>
              <a:gd name="adj" fmla="val 5818"/>
            </a:avLst>
          </a:prstGeom>
          <a:solidFill>
            <a:srgbClr val="F4F7F5"/>
          </a:solidFill>
          <a:ln w="9525">
            <a:solidFill>
              <a:srgbClr val="D5DED9"/>
            </a:solidFill>
            <a:prstDash val="solid"/>
          </a:ln>
        </p:spPr>
      </p:sp>
      <p:sp>
        <p:nvSpPr>
          <p:cNvPr id="19" name="Shape 16"/>
          <p:cNvSpPr/>
          <p:nvPr/>
        </p:nvSpPr>
        <p:spPr>
          <a:xfrm>
            <a:off x="585216" y="1499616"/>
            <a:ext cx="347472" cy="347472"/>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68609" y="1583009"/>
            <a:ext cx="180685" cy="180685"/>
          </a:xfrm>
          <a:prstGeom prst="rect">
            <a:avLst/>
          </a:prstGeom>
        </p:spPr>
      </p:pic>
      <p:sp>
        <p:nvSpPr>
          <p:cNvPr id="21" name="Text 17"/>
          <p:cNvSpPr txBox="1"/>
          <p:nvPr/>
        </p:nvSpPr>
        <p:spPr>
          <a:xfrm>
            <a:off x="1042416" y="149961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Une plateforme gouvernée</a:t>
            </a:r>
            <a:endParaRPr lang="en-US" sz="1100" dirty="0"/>
          </a:p>
        </p:txBody>
      </p:sp>
      <p:sp>
        <p:nvSpPr>
          <p:cNvPr id="22" name="Text 18"/>
          <p:cNvSpPr txBox="1"/>
          <p:nvPr/>
        </p:nvSpPr>
        <p:spPr>
          <a:xfrm>
            <a:off x="58521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Données d'enquête, administratives et alternatives sous un même modèle d'accès — pas des centaines d'extraits sur des lecteurs partagés.</a:t>
            </a:r>
            <a:endParaRPr lang="en-US" sz="950" dirty="0"/>
          </a:p>
        </p:txBody>
      </p:sp>
      <p:sp>
        <p:nvSpPr>
          <p:cNvPr id="23" name="Shape 19"/>
          <p:cNvSpPr/>
          <p:nvPr/>
        </p:nvSpPr>
        <p:spPr>
          <a:xfrm>
            <a:off x="3246120" y="1371600"/>
            <a:ext cx="2651760" cy="1257300"/>
          </a:xfrm>
          <a:prstGeom prst="roundRect">
            <a:avLst>
              <a:gd name="adj" fmla="val 5818"/>
            </a:avLst>
          </a:prstGeom>
          <a:solidFill>
            <a:srgbClr val="F4F7F5"/>
          </a:solidFill>
          <a:ln w="9525">
            <a:solidFill>
              <a:srgbClr val="D5DED9"/>
            </a:solidFill>
            <a:prstDash val="solid"/>
          </a:ln>
        </p:spPr>
      </p:sp>
      <p:sp>
        <p:nvSpPr>
          <p:cNvPr id="24" name="Shape 20"/>
          <p:cNvSpPr/>
          <p:nvPr/>
        </p:nvSpPr>
        <p:spPr>
          <a:xfrm>
            <a:off x="3374136" y="1499616"/>
            <a:ext cx="347472" cy="347472"/>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3457529" y="1583009"/>
            <a:ext cx="180685" cy="180685"/>
          </a:xfrm>
          <a:prstGeom prst="rect">
            <a:avLst/>
          </a:prstGeom>
        </p:spPr>
      </p:pic>
      <p:sp>
        <p:nvSpPr>
          <p:cNvPr id="26" name="Text 21"/>
          <p:cNvSpPr txBox="1"/>
          <p:nvPr/>
        </p:nvSpPr>
        <p:spPr>
          <a:xfrm>
            <a:off x="3831336" y="149961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Un catalogue de métadonnées</a:t>
            </a:r>
            <a:endParaRPr lang="en-US" sz="1100" dirty="0"/>
          </a:p>
        </p:txBody>
      </p:sp>
      <p:sp>
        <p:nvSpPr>
          <p:cNvPr id="27" name="Text 22"/>
          <p:cNvSpPr txBox="1"/>
          <p:nvPr/>
        </p:nvSpPr>
        <p:spPr>
          <a:xfrm>
            <a:off x="337413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Métadonnées consultables, alignées sur GSIM et SDMX. Si un analyste ne trouve pas une variable, il la recrée.</a:t>
            </a:r>
            <a:endParaRPr lang="en-US" sz="950" dirty="0"/>
          </a:p>
        </p:txBody>
      </p:sp>
      <p:sp>
        <p:nvSpPr>
          <p:cNvPr id="28" name="Shape 23"/>
          <p:cNvSpPr/>
          <p:nvPr/>
        </p:nvSpPr>
        <p:spPr>
          <a:xfrm>
            <a:off x="6035040" y="1371600"/>
            <a:ext cx="2651760" cy="1257300"/>
          </a:xfrm>
          <a:prstGeom prst="roundRect">
            <a:avLst>
              <a:gd name="adj" fmla="val 5818"/>
            </a:avLst>
          </a:prstGeom>
          <a:solidFill>
            <a:srgbClr val="F4F7F5"/>
          </a:solidFill>
          <a:ln w="9525">
            <a:solidFill>
              <a:srgbClr val="D5DED9"/>
            </a:solidFill>
            <a:prstDash val="solid"/>
          </a:ln>
        </p:spPr>
      </p:sp>
      <p:sp>
        <p:nvSpPr>
          <p:cNvPr id="29" name="Shape 24"/>
          <p:cNvSpPr/>
          <p:nvPr/>
        </p:nvSpPr>
        <p:spPr>
          <a:xfrm>
            <a:off x="6163056" y="1499616"/>
            <a:ext cx="347472" cy="347472"/>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6246449" y="1583009"/>
            <a:ext cx="180685" cy="180685"/>
          </a:xfrm>
          <a:prstGeom prst="rect">
            <a:avLst/>
          </a:prstGeom>
        </p:spPr>
      </p:pic>
      <p:sp>
        <p:nvSpPr>
          <p:cNvPr id="31" name="Text 25"/>
          <p:cNvSpPr txBox="1"/>
          <p:nvPr/>
        </p:nvSpPr>
        <p:spPr>
          <a:xfrm>
            <a:off x="6620256" y="149961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Traçabilité de bout en bout</a:t>
            </a:r>
            <a:endParaRPr lang="en-US" sz="1100" dirty="0"/>
          </a:p>
        </p:txBody>
      </p:sp>
      <p:sp>
        <p:nvSpPr>
          <p:cNvPr id="32" name="Text 26"/>
          <p:cNvSpPr txBox="1"/>
          <p:nvPr/>
        </p:nvSpPr>
        <p:spPr>
          <a:xfrm>
            <a:off x="6163056" y="190195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Quelle version des données, traitée par quelle version du code, a produit quel résultat.</a:t>
            </a:r>
            <a:endParaRPr lang="en-US" sz="950" dirty="0"/>
          </a:p>
        </p:txBody>
      </p:sp>
      <p:sp>
        <p:nvSpPr>
          <p:cNvPr id="33" name="Shape 27"/>
          <p:cNvSpPr/>
          <p:nvPr/>
        </p:nvSpPr>
        <p:spPr>
          <a:xfrm>
            <a:off x="457200" y="2766060"/>
            <a:ext cx="2651760" cy="1257300"/>
          </a:xfrm>
          <a:prstGeom prst="roundRect">
            <a:avLst>
              <a:gd name="adj" fmla="val 5818"/>
            </a:avLst>
          </a:prstGeom>
          <a:solidFill>
            <a:srgbClr val="F4F7F5"/>
          </a:solidFill>
          <a:ln w="9525">
            <a:solidFill>
              <a:srgbClr val="D5DED9"/>
            </a:solidFill>
            <a:prstDash val="solid"/>
          </a:ln>
        </p:spPr>
      </p:sp>
      <p:sp>
        <p:nvSpPr>
          <p:cNvPr id="34" name="Shape 28"/>
          <p:cNvSpPr/>
          <p:nvPr/>
        </p:nvSpPr>
        <p:spPr>
          <a:xfrm>
            <a:off x="585216" y="2894076"/>
            <a:ext cx="347472" cy="347472"/>
          </a:xfrm>
          <a:prstGeom prst="ellipse">
            <a:avLst/>
          </a:prstGeom>
          <a:solidFill>
            <a:srgbClr val="00A86A">
              <a:alpha val="22000"/>
            </a:srgbClr>
          </a:solidFill>
          <a:ln/>
        </p:spPr>
      </p:sp>
      <p:pic>
        <p:nvPicPr>
          <p:cNvPr id="35" name="Image 3" descr="preencoded.png"/>
          <p:cNvPicPr>
            <a:picLocks noChangeAspect="1"/>
          </p:cNvPicPr>
          <p:nvPr/>
        </p:nvPicPr>
        <p:blipFill>
          <a:blip r:embed="rId6"/>
          <a:stretch>
            <a:fillRect/>
          </a:stretch>
        </p:blipFill>
        <p:spPr>
          <a:xfrm>
            <a:off x="668609" y="2977469"/>
            <a:ext cx="180685" cy="180685"/>
          </a:xfrm>
          <a:prstGeom prst="rect">
            <a:avLst/>
          </a:prstGeom>
        </p:spPr>
      </p:pic>
      <p:sp>
        <p:nvSpPr>
          <p:cNvPr id="36" name="Text 29"/>
          <p:cNvSpPr txBox="1"/>
          <p:nvPr/>
        </p:nvSpPr>
        <p:spPr>
          <a:xfrm>
            <a:off x="1042416" y="289407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Contrôle d'accès fin</a:t>
            </a:r>
            <a:endParaRPr lang="en-US" sz="1100" dirty="0"/>
          </a:p>
        </p:txBody>
      </p:sp>
      <p:sp>
        <p:nvSpPr>
          <p:cNvPr id="37" name="Text 30"/>
          <p:cNvSpPr txBox="1"/>
          <p:nvPr/>
        </p:nvSpPr>
        <p:spPr>
          <a:xfrm>
            <a:off x="58521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Règles par ligne et par colonne liées aux niveaux de classification, appliquées par la plateforme.</a:t>
            </a:r>
            <a:endParaRPr lang="en-US" sz="950" dirty="0"/>
          </a:p>
        </p:txBody>
      </p:sp>
      <p:sp>
        <p:nvSpPr>
          <p:cNvPr id="38" name="Shape 31"/>
          <p:cNvSpPr/>
          <p:nvPr/>
        </p:nvSpPr>
        <p:spPr>
          <a:xfrm>
            <a:off x="3246120" y="2766060"/>
            <a:ext cx="2651760" cy="1257300"/>
          </a:xfrm>
          <a:prstGeom prst="roundRect">
            <a:avLst>
              <a:gd name="adj" fmla="val 5818"/>
            </a:avLst>
          </a:prstGeom>
          <a:solidFill>
            <a:srgbClr val="F4F7F5"/>
          </a:solidFill>
          <a:ln w="9525">
            <a:solidFill>
              <a:srgbClr val="D5DED9"/>
            </a:solidFill>
            <a:prstDash val="solid"/>
          </a:ln>
        </p:spPr>
      </p:sp>
      <p:sp>
        <p:nvSpPr>
          <p:cNvPr id="39" name="Shape 32"/>
          <p:cNvSpPr/>
          <p:nvPr/>
        </p:nvSpPr>
        <p:spPr>
          <a:xfrm>
            <a:off x="3374136" y="2894076"/>
            <a:ext cx="347472" cy="347472"/>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3457529" y="2977469"/>
            <a:ext cx="180685" cy="180685"/>
          </a:xfrm>
          <a:prstGeom prst="rect">
            <a:avLst/>
          </a:prstGeom>
        </p:spPr>
      </p:pic>
      <p:sp>
        <p:nvSpPr>
          <p:cNvPr id="41" name="Text 33"/>
          <p:cNvSpPr txBox="1"/>
          <p:nvPr/>
        </p:nvSpPr>
        <p:spPr>
          <a:xfrm>
            <a:off x="3831336" y="289407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Instantanés versionnés</a:t>
            </a:r>
            <a:endParaRPr lang="en-US" sz="1100" dirty="0"/>
          </a:p>
        </p:txBody>
      </p:sp>
      <p:sp>
        <p:nvSpPr>
          <p:cNvPr id="42" name="Text 34"/>
          <p:cNvSpPr txBox="1"/>
          <p:nvPr/>
        </p:nvSpPr>
        <p:spPr>
          <a:xfrm>
            <a:off x="337413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Copies datées et immuables des données exactes ayant servi à entraîner et tester chaque modèle.</a:t>
            </a:r>
            <a:endParaRPr lang="en-US" sz="950" dirty="0"/>
          </a:p>
        </p:txBody>
      </p:sp>
      <p:sp>
        <p:nvSpPr>
          <p:cNvPr id="43" name="Shape 35"/>
          <p:cNvSpPr/>
          <p:nvPr/>
        </p:nvSpPr>
        <p:spPr>
          <a:xfrm>
            <a:off x="6035040" y="2766060"/>
            <a:ext cx="2651760" cy="1257300"/>
          </a:xfrm>
          <a:prstGeom prst="roundRect">
            <a:avLst>
              <a:gd name="adj" fmla="val 5818"/>
            </a:avLst>
          </a:prstGeom>
          <a:solidFill>
            <a:srgbClr val="F4F7F5"/>
          </a:solidFill>
          <a:ln w="9525">
            <a:solidFill>
              <a:srgbClr val="D5DED9"/>
            </a:solidFill>
            <a:prstDash val="solid"/>
          </a:ln>
        </p:spPr>
      </p:sp>
      <p:sp>
        <p:nvSpPr>
          <p:cNvPr id="44" name="Shape 36"/>
          <p:cNvSpPr/>
          <p:nvPr/>
        </p:nvSpPr>
        <p:spPr>
          <a:xfrm>
            <a:off x="6163056" y="2894076"/>
            <a:ext cx="347472" cy="347472"/>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6246449" y="2977469"/>
            <a:ext cx="180685" cy="180685"/>
          </a:xfrm>
          <a:prstGeom prst="rect">
            <a:avLst/>
          </a:prstGeom>
        </p:spPr>
      </p:pic>
      <p:sp>
        <p:nvSpPr>
          <p:cNvPr id="46" name="Text 37"/>
          <p:cNvSpPr txBox="1"/>
          <p:nvPr/>
        </p:nvSpPr>
        <p:spPr>
          <a:xfrm>
            <a:off x="6620256" y="2894076"/>
            <a:ext cx="1956816" cy="347472"/>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Jeux de référence annotés</a:t>
            </a:r>
            <a:endParaRPr lang="en-US" sz="1100" dirty="0"/>
          </a:p>
        </p:txBody>
      </p:sp>
      <p:sp>
        <p:nvSpPr>
          <p:cNvPr id="47" name="Text 38"/>
          <p:cNvSpPr txBox="1"/>
          <p:nvPr/>
        </p:nvSpPr>
        <p:spPr>
          <a:xfrm>
            <a:off x="6163056" y="3296412"/>
            <a:ext cx="2395728" cy="672084"/>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Jeux d'entraînement et de test documentés, avec règles de codage et responsable désigné.</a:t>
            </a:r>
            <a:endParaRPr lang="en-US" sz="950" dirty="0"/>
          </a:p>
        </p:txBody>
      </p:sp>
      <p:sp>
        <p:nvSpPr>
          <p:cNvPr id="48" name="Shape 39"/>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49" name="Shape 40"/>
          <p:cNvSpPr/>
          <p:nvPr/>
        </p:nvSpPr>
        <p:spPr>
          <a:xfrm>
            <a:off x="566928" y="4215384"/>
            <a:ext cx="292608" cy="292608"/>
          </a:xfrm>
          <a:prstGeom prst="ellipse">
            <a:avLst/>
          </a:prstGeom>
          <a:solidFill>
            <a:srgbClr val="00A86A">
              <a:alpha val="22000"/>
            </a:srgbClr>
          </a:solidFill>
          <a:ln/>
        </p:spPr>
      </p:sp>
      <p:pic>
        <p:nvPicPr>
          <p:cNvPr id="50" name="Image 6" descr="preencoded.png"/>
          <p:cNvPicPr>
            <a:picLocks noChangeAspect="1"/>
          </p:cNvPicPr>
          <p:nvPr/>
        </p:nvPicPr>
        <p:blipFill>
          <a:blip r:embed="rId9"/>
          <a:stretch>
            <a:fillRect/>
          </a:stretch>
        </p:blipFill>
        <p:spPr>
          <a:xfrm>
            <a:off x="637154" y="4285610"/>
            <a:ext cx="152156" cy="152156"/>
          </a:xfrm>
          <a:prstGeom prst="rect">
            <a:avLst/>
          </a:prstGeom>
        </p:spPr>
      </p:pic>
      <p:sp>
        <p:nvSpPr>
          <p:cNvPr id="51" name="Text 41"/>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Si vous ne pouvez financer qu'une chose cette année, financez la plateforme de données : sa valeur ne dépend de la survie d'aucune technologie d'IA.</a:t>
            </a:r>
            <a:endParaRPr lang="en-US" sz="10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2 · DONNÉES ANNOTÉES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La vraie contrainte : les données annotées, pas les GPU</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 calcul se loue en un après-midi. Un jeu de référence défendable prend des mois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8" name="Shape 15"/>
          <p:cNvSpPr/>
          <p:nvPr/>
        </p:nvSpPr>
        <p:spPr>
          <a:xfrm>
            <a:off x="457200" y="1371600"/>
            <a:ext cx="3383280" cy="3200400"/>
          </a:xfrm>
          <a:prstGeom prst="roundRect">
            <a:avLst>
              <a:gd name="adj" fmla="val 2286"/>
            </a:avLst>
          </a:prstGeom>
          <a:solidFill>
            <a:srgbClr val="E8F5EF"/>
          </a:solidFill>
          <a:ln w="15875">
            <a:solidFill>
              <a:srgbClr val="00A86A"/>
            </a:solidFill>
            <a:prstDash val="solid"/>
          </a:ln>
        </p:spPr>
      </p:sp>
      <p:sp>
        <p:nvSpPr>
          <p:cNvPr id="19" name="Text 16"/>
          <p:cNvSpPr txBox="1"/>
          <p:nvPr/>
        </p:nvSpPr>
        <p:spPr>
          <a:xfrm>
            <a:off x="640080" y="1481328"/>
            <a:ext cx="301752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CE QUE VOUS POSSÉDEZ DÉJÀ</a:t>
            </a:r>
            <a:endParaRPr lang="en-US" sz="900" dirty="0"/>
          </a:p>
        </p:txBody>
      </p:sp>
      <p:sp>
        <p:nvSpPr>
          <p:cNvPr id="20" name="Text 17"/>
          <p:cNvSpPr txBox="1"/>
          <p:nvPr/>
        </p:nvSpPr>
        <p:spPr>
          <a:xfrm>
            <a:off x="640080" y="1691640"/>
            <a:ext cx="3017520"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Des années de réponses codées</a:t>
            </a:r>
            <a:endParaRPr lang="en-US" sz="1300" dirty="0"/>
          </a:p>
        </p:txBody>
      </p:sp>
      <p:pic>
        <p:nvPicPr>
          <p:cNvPr id="21" name="Image 0" descr="preencoded.png"/>
          <p:cNvPicPr>
            <a:picLocks noChangeAspect="1"/>
          </p:cNvPicPr>
          <p:nvPr/>
        </p:nvPicPr>
        <p:blipFill>
          <a:blip r:embed="rId3"/>
          <a:stretch>
            <a:fillRect/>
          </a:stretch>
        </p:blipFill>
        <p:spPr>
          <a:xfrm>
            <a:off x="640080" y="2084832"/>
            <a:ext cx="137160" cy="137160"/>
          </a:xfrm>
          <a:prstGeom prst="rect">
            <a:avLst/>
          </a:prstGeom>
        </p:spPr>
      </p:pic>
      <p:sp>
        <p:nvSpPr>
          <p:cNvPr id="22" name="Text 18"/>
          <p:cNvSpPr txBox="1"/>
          <p:nvPr/>
        </p:nvSpPr>
        <p:spPr>
          <a:xfrm>
            <a:off x="850392" y="2057400"/>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Codes de profession et d'activité des recensements et enquêtes</a:t>
            </a:r>
            <a:endParaRPr lang="en-US" sz="1000" dirty="0"/>
          </a:p>
        </p:txBody>
      </p:sp>
      <p:pic>
        <p:nvPicPr>
          <p:cNvPr id="23" name="Image 1" descr="preencoded.png"/>
          <p:cNvPicPr>
            <a:picLocks noChangeAspect="1"/>
          </p:cNvPicPr>
          <p:nvPr/>
        </p:nvPicPr>
        <p:blipFill>
          <a:blip r:embed="rId3"/>
          <a:stretch>
            <a:fillRect/>
          </a:stretch>
        </p:blipFill>
        <p:spPr>
          <a:xfrm>
            <a:off x="640080" y="2523744"/>
            <a:ext cx="137160" cy="137160"/>
          </a:xfrm>
          <a:prstGeom prst="rect">
            <a:avLst/>
          </a:prstGeom>
        </p:spPr>
      </p:pic>
      <p:sp>
        <p:nvSpPr>
          <p:cNvPr id="24" name="Text 19"/>
          <p:cNvSpPr txBox="1"/>
          <p:nvPr/>
        </p:nvSpPr>
        <p:spPr>
          <a:xfrm>
            <a:off x="850392" y="2496312"/>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Décisions de contrôle enregistrées en production</a:t>
            </a:r>
            <a:endParaRPr lang="en-US" sz="1000" dirty="0"/>
          </a:p>
        </p:txBody>
      </p:sp>
      <p:pic>
        <p:nvPicPr>
          <p:cNvPr id="25" name="Image 2" descr="preencoded.png"/>
          <p:cNvPicPr>
            <a:picLocks noChangeAspect="1"/>
          </p:cNvPicPr>
          <p:nvPr/>
        </p:nvPicPr>
        <p:blipFill>
          <a:blip r:embed="rId3"/>
          <a:stretch>
            <a:fillRect/>
          </a:stretch>
        </p:blipFill>
        <p:spPr>
          <a:xfrm>
            <a:off x="640080" y="2962656"/>
            <a:ext cx="137160" cy="137160"/>
          </a:xfrm>
          <a:prstGeom prst="rect">
            <a:avLst/>
          </a:prstGeom>
        </p:spPr>
      </p:pic>
      <p:sp>
        <p:nvSpPr>
          <p:cNvPr id="26" name="Text 20"/>
          <p:cNvSpPr txBox="1"/>
          <p:nvPr/>
        </p:nvSpPr>
        <p:spPr>
          <a:xfrm>
            <a:off x="850392" y="2935224"/>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Décisions d'appariement passées, y compris la revue manuelle</a:t>
            </a:r>
            <a:endParaRPr lang="en-US" sz="1000" dirty="0"/>
          </a:p>
        </p:txBody>
      </p:sp>
      <p:pic>
        <p:nvPicPr>
          <p:cNvPr id="27" name="Image 3" descr="preencoded.png"/>
          <p:cNvPicPr>
            <a:picLocks noChangeAspect="1"/>
          </p:cNvPicPr>
          <p:nvPr/>
        </p:nvPicPr>
        <p:blipFill>
          <a:blip r:embed="rId3"/>
          <a:stretch>
            <a:fillRect/>
          </a:stretch>
        </p:blipFill>
        <p:spPr>
          <a:xfrm>
            <a:off x="640080" y="3401568"/>
            <a:ext cx="137160" cy="137160"/>
          </a:xfrm>
          <a:prstGeom prst="rect">
            <a:avLst/>
          </a:prstGeom>
        </p:spPr>
      </p:pic>
      <p:sp>
        <p:nvSpPr>
          <p:cNvPr id="28" name="Text 21"/>
          <p:cNvSpPr txBox="1"/>
          <p:nvPr/>
        </p:nvSpPr>
        <p:spPr>
          <a:xfrm>
            <a:off x="850392" y="3374136"/>
            <a:ext cx="2807208" cy="438912"/>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Manuels de codage et rapports qualité qui expliquent les codes</a:t>
            </a:r>
            <a:endParaRPr lang="en-US" sz="1000" dirty="0"/>
          </a:p>
        </p:txBody>
      </p:sp>
      <p:sp>
        <p:nvSpPr>
          <p:cNvPr id="29" name="Text 22"/>
          <p:cNvSpPr txBox="1"/>
          <p:nvPr/>
        </p:nvSpPr>
        <p:spPr>
          <a:xfrm>
            <a:off x="640080" y="3886200"/>
            <a:ext cx="3017520" cy="548640"/>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Cette archive est votre principal actif IA. Localisez-la, décrivez-la et protégez-la en priorité.</a:t>
            </a:r>
            <a:endParaRPr lang="en-US" sz="1050" dirty="0"/>
          </a:p>
        </p:txBody>
      </p:sp>
      <p:sp>
        <p:nvSpPr>
          <p:cNvPr id="30" name="Shape 23"/>
          <p:cNvSpPr/>
          <p:nvPr/>
        </p:nvSpPr>
        <p:spPr>
          <a:xfrm>
            <a:off x="3913632" y="2971800"/>
            <a:ext cx="384048" cy="0"/>
          </a:xfrm>
          <a:prstGeom prst="line">
            <a:avLst/>
          </a:prstGeom>
          <a:noFill/>
          <a:ln w="15875">
            <a:solidFill>
              <a:srgbClr val="00A86A"/>
            </a:solidFill>
            <a:prstDash val="solid"/>
            <a:tailEnd type="triangle"/>
          </a:ln>
        </p:spPr>
      </p:sp>
      <p:sp>
        <p:nvSpPr>
          <p:cNvPr id="31" name="Text 24"/>
          <p:cNvSpPr txBox="1"/>
          <p:nvPr/>
        </p:nvSpPr>
        <p:spPr>
          <a:xfrm>
            <a:off x="4389120" y="1371600"/>
            <a:ext cx="41148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CE QU'IL RESTE À CONSTRUIRE</a:t>
            </a:r>
            <a:endParaRPr lang="en-US" sz="900" dirty="0"/>
          </a:p>
        </p:txBody>
      </p:sp>
      <p:sp>
        <p:nvSpPr>
          <p:cNvPr id="32" name="Shape 25"/>
          <p:cNvSpPr/>
          <p:nvPr/>
        </p:nvSpPr>
        <p:spPr>
          <a:xfrm>
            <a:off x="4389120" y="1627632"/>
            <a:ext cx="4297680" cy="521208"/>
          </a:xfrm>
          <a:prstGeom prst="roundRect">
            <a:avLst>
              <a:gd name="adj" fmla="val 14035"/>
            </a:avLst>
          </a:prstGeom>
          <a:solidFill>
            <a:srgbClr val="F4F7F5"/>
          </a:solidFill>
          <a:ln w="9525">
            <a:solidFill>
              <a:srgbClr val="D5DED9"/>
            </a:solidFill>
            <a:prstDash val="solid"/>
          </a:ln>
        </p:spPr>
      </p:sp>
      <p:sp>
        <p:nvSpPr>
          <p:cNvPr id="33" name="Shape 26"/>
          <p:cNvSpPr/>
          <p:nvPr/>
        </p:nvSpPr>
        <p:spPr>
          <a:xfrm>
            <a:off x="4498848" y="1737360"/>
            <a:ext cx="301752" cy="301752"/>
          </a:xfrm>
          <a:prstGeom prst="ellipse">
            <a:avLst/>
          </a:prstGeom>
          <a:solidFill>
            <a:srgbClr val="00704A"/>
          </a:solidFill>
          <a:ln/>
        </p:spPr>
      </p:sp>
      <p:sp>
        <p:nvSpPr>
          <p:cNvPr id="34" name="Text 27"/>
          <p:cNvSpPr txBox="1"/>
          <p:nvPr/>
        </p:nvSpPr>
        <p:spPr>
          <a:xfrm>
            <a:off x="4498848" y="173736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Text 28"/>
          <p:cNvSpPr txBox="1"/>
          <p:nvPr/>
        </p:nvSpPr>
        <p:spPr>
          <a:xfrm>
            <a:off x="4910328" y="1673352"/>
            <a:ext cx="370332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Figer d'abord le jeu de test</a:t>
            </a:r>
            <a:endParaRPr lang="en-US" sz="1100" dirty="0"/>
          </a:p>
        </p:txBody>
      </p:sp>
      <p:sp>
        <p:nvSpPr>
          <p:cNvPr id="36" name="Text 29"/>
          <p:cNvSpPr txBox="1"/>
          <p:nvPr/>
        </p:nvSpPr>
        <p:spPr>
          <a:xfrm>
            <a:off x="4910328" y="1892808"/>
            <a:ext cx="370332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Avant toute modélisation, sinon chaque mesure de précision est biaisée.</a:t>
            </a:r>
            <a:endParaRPr lang="en-US" sz="900" dirty="0"/>
          </a:p>
        </p:txBody>
      </p:sp>
      <p:sp>
        <p:nvSpPr>
          <p:cNvPr id="37" name="Shape 30"/>
          <p:cNvSpPr/>
          <p:nvPr/>
        </p:nvSpPr>
        <p:spPr>
          <a:xfrm>
            <a:off x="4389120" y="2221992"/>
            <a:ext cx="4297680" cy="521208"/>
          </a:xfrm>
          <a:prstGeom prst="roundRect">
            <a:avLst>
              <a:gd name="adj" fmla="val 14035"/>
            </a:avLst>
          </a:prstGeom>
          <a:solidFill>
            <a:srgbClr val="F4F7F5"/>
          </a:solidFill>
          <a:ln w="9525">
            <a:solidFill>
              <a:srgbClr val="D5DED9"/>
            </a:solidFill>
            <a:prstDash val="solid"/>
          </a:ln>
        </p:spPr>
      </p:sp>
      <p:sp>
        <p:nvSpPr>
          <p:cNvPr id="38" name="Shape 31"/>
          <p:cNvSpPr/>
          <p:nvPr/>
        </p:nvSpPr>
        <p:spPr>
          <a:xfrm>
            <a:off x="4498848" y="2331720"/>
            <a:ext cx="301752" cy="301752"/>
          </a:xfrm>
          <a:prstGeom prst="ellipse">
            <a:avLst/>
          </a:prstGeom>
          <a:solidFill>
            <a:srgbClr val="00704A"/>
          </a:solidFill>
          <a:ln/>
        </p:spPr>
      </p:sp>
      <p:sp>
        <p:nvSpPr>
          <p:cNvPr id="39" name="Text 32"/>
          <p:cNvSpPr txBox="1"/>
          <p:nvPr/>
        </p:nvSpPr>
        <p:spPr>
          <a:xfrm>
            <a:off x="4498848" y="233172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0" name="Text 33"/>
          <p:cNvSpPr txBox="1"/>
          <p:nvPr/>
        </p:nvSpPr>
        <p:spPr>
          <a:xfrm>
            <a:off x="4910328" y="2267712"/>
            <a:ext cx="370332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Budgéter l'annotation comme un vrai travail</a:t>
            </a:r>
            <a:endParaRPr lang="en-US" sz="1100" dirty="0"/>
          </a:p>
        </p:txBody>
      </p:sp>
      <p:sp>
        <p:nvSpPr>
          <p:cNvPr id="41" name="Text 34"/>
          <p:cNvSpPr txBox="1"/>
          <p:nvPr/>
        </p:nvSpPr>
        <p:spPr>
          <a:xfrm>
            <a:off x="4910328" y="2487168"/>
            <a:ext cx="370332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Temps des codeurs, consignes, arbitrage, accord mesuré.</a:t>
            </a:r>
            <a:endParaRPr lang="en-US" sz="900" dirty="0"/>
          </a:p>
        </p:txBody>
      </p:sp>
      <p:sp>
        <p:nvSpPr>
          <p:cNvPr id="42" name="Shape 35"/>
          <p:cNvSpPr/>
          <p:nvPr/>
        </p:nvSpPr>
        <p:spPr>
          <a:xfrm>
            <a:off x="4389120" y="2816352"/>
            <a:ext cx="4297680" cy="521208"/>
          </a:xfrm>
          <a:prstGeom prst="roundRect">
            <a:avLst>
              <a:gd name="adj" fmla="val 14035"/>
            </a:avLst>
          </a:prstGeom>
          <a:solidFill>
            <a:srgbClr val="F4F7F5"/>
          </a:solidFill>
          <a:ln w="9525">
            <a:solidFill>
              <a:srgbClr val="D5DED9"/>
            </a:solidFill>
            <a:prstDash val="solid"/>
          </a:ln>
        </p:spPr>
      </p:sp>
      <p:sp>
        <p:nvSpPr>
          <p:cNvPr id="43" name="Shape 36"/>
          <p:cNvSpPr/>
          <p:nvPr/>
        </p:nvSpPr>
        <p:spPr>
          <a:xfrm>
            <a:off x="4498848" y="2926080"/>
            <a:ext cx="301752" cy="301752"/>
          </a:xfrm>
          <a:prstGeom prst="ellipse">
            <a:avLst/>
          </a:prstGeom>
          <a:solidFill>
            <a:srgbClr val="00704A"/>
          </a:solidFill>
          <a:ln/>
        </p:spPr>
      </p:sp>
      <p:sp>
        <p:nvSpPr>
          <p:cNvPr id="44" name="Text 37"/>
          <p:cNvSpPr txBox="1"/>
          <p:nvPr/>
        </p:nvSpPr>
        <p:spPr>
          <a:xfrm>
            <a:off x="4498848" y="292608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38"/>
          <p:cNvSpPr txBox="1"/>
          <p:nvPr/>
        </p:nvSpPr>
        <p:spPr>
          <a:xfrm>
            <a:off x="4910328" y="2862072"/>
            <a:ext cx="370332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Mesurer la performance humaine</a:t>
            </a:r>
            <a:endParaRPr lang="en-US" sz="1100" dirty="0"/>
          </a:p>
        </p:txBody>
      </p:sp>
      <p:sp>
        <p:nvSpPr>
          <p:cNvPr id="46" name="Text 39"/>
          <p:cNvSpPr txBox="1"/>
          <p:nvPr/>
        </p:nvSpPr>
        <p:spPr>
          <a:xfrm>
            <a:off x="4910328" y="3081528"/>
            <a:ext cx="370332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codeurs ne sont pas parfaits ; leur précision est la barre à franchir.</a:t>
            </a:r>
            <a:endParaRPr lang="en-US" sz="900" dirty="0"/>
          </a:p>
        </p:txBody>
      </p:sp>
      <p:sp>
        <p:nvSpPr>
          <p:cNvPr id="47" name="Shape 40"/>
          <p:cNvSpPr/>
          <p:nvPr/>
        </p:nvSpPr>
        <p:spPr>
          <a:xfrm>
            <a:off x="4389120" y="3410712"/>
            <a:ext cx="4297680" cy="521208"/>
          </a:xfrm>
          <a:prstGeom prst="roundRect">
            <a:avLst>
              <a:gd name="adj" fmla="val 14035"/>
            </a:avLst>
          </a:prstGeom>
          <a:solidFill>
            <a:srgbClr val="F4F7F5"/>
          </a:solidFill>
          <a:ln w="9525">
            <a:solidFill>
              <a:srgbClr val="D5DED9"/>
            </a:solidFill>
            <a:prstDash val="solid"/>
          </a:ln>
        </p:spPr>
      </p:sp>
      <p:sp>
        <p:nvSpPr>
          <p:cNvPr id="48" name="Shape 41"/>
          <p:cNvSpPr/>
          <p:nvPr/>
        </p:nvSpPr>
        <p:spPr>
          <a:xfrm>
            <a:off x="4498848" y="3520440"/>
            <a:ext cx="301752" cy="301752"/>
          </a:xfrm>
          <a:prstGeom prst="ellipse">
            <a:avLst/>
          </a:prstGeom>
          <a:solidFill>
            <a:srgbClr val="00704A"/>
          </a:solidFill>
          <a:ln/>
        </p:spPr>
      </p:sp>
      <p:sp>
        <p:nvSpPr>
          <p:cNvPr id="49" name="Text 42"/>
          <p:cNvSpPr txBox="1"/>
          <p:nvPr/>
        </p:nvSpPr>
        <p:spPr>
          <a:xfrm>
            <a:off x="4498848" y="352044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0" name="Text 43"/>
          <p:cNvSpPr txBox="1"/>
          <p:nvPr/>
        </p:nvSpPr>
        <p:spPr>
          <a:xfrm>
            <a:off x="4910328" y="3456432"/>
            <a:ext cx="370332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Stratifier pour les catégories rares</a:t>
            </a:r>
            <a:endParaRPr lang="en-US" sz="1100" dirty="0"/>
          </a:p>
        </p:txBody>
      </p:sp>
      <p:sp>
        <p:nvSpPr>
          <p:cNvPr id="51" name="Text 44"/>
          <p:cNvSpPr txBox="1"/>
          <p:nvPr/>
        </p:nvSpPr>
        <p:spPr>
          <a:xfrm>
            <a:off x="4910328" y="3675888"/>
            <a:ext cx="370332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 précision globale masque les échecs sur de petits groupes clés.</a:t>
            </a:r>
            <a:endParaRPr lang="en-US" sz="900" dirty="0"/>
          </a:p>
        </p:txBody>
      </p:sp>
      <p:sp>
        <p:nvSpPr>
          <p:cNvPr id="52" name="Shape 45"/>
          <p:cNvSpPr/>
          <p:nvPr/>
        </p:nvSpPr>
        <p:spPr>
          <a:xfrm>
            <a:off x="4389120" y="4005072"/>
            <a:ext cx="4297680" cy="521208"/>
          </a:xfrm>
          <a:prstGeom prst="roundRect">
            <a:avLst>
              <a:gd name="adj" fmla="val 14035"/>
            </a:avLst>
          </a:prstGeom>
          <a:solidFill>
            <a:srgbClr val="F4F7F5"/>
          </a:solidFill>
          <a:ln w="9525">
            <a:solidFill>
              <a:srgbClr val="D5DED9"/>
            </a:solidFill>
            <a:prstDash val="solid"/>
          </a:ln>
        </p:spPr>
      </p:sp>
      <p:sp>
        <p:nvSpPr>
          <p:cNvPr id="53" name="Shape 46"/>
          <p:cNvSpPr/>
          <p:nvPr/>
        </p:nvSpPr>
        <p:spPr>
          <a:xfrm>
            <a:off x="4498848" y="4114800"/>
            <a:ext cx="301752" cy="301752"/>
          </a:xfrm>
          <a:prstGeom prst="ellipse">
            <a:avLst/>
          </a:prstGeom>
          <a:solidFill>
            <a:srgbClr val="00704A"/>
          </a:solidFill>
          <a:ln/>
        </p:spPr>
      </p:sp>
      <p:sp>
        <p:nvSpPr>
          <p:cNvPr id="54" name="Text 47"/>
          <p:cNvSpPr txBox="1"/>
          <p:nvPr/>
        </p:nvSpPr>
        <p:spPr>
          <a:xfrm>
            <a:off x="4498848" y="4114800"/>
            <a:ext cx="301752"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5" name="Text 48"/>
          <p:cNvSpPr txBox="1"/>
          <p:nvPr/>
        </p:nvSpPr>
        <p:spPr>
          <a:xfrm>
            <a:off x="4910328" y="4050792"/>
            <a:ext cx="370332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Maintenir lors des révisions</a:t>
            </a:r>
            <a:endParaRPr lang="en-US" sz="1100" dirty="0"/>
          </a:p>
        </p:txBody>
      </p:sp>
      <p:sp>
        <p:nvSpPr>
          <p:cNvPr id="56" name="Text 49"/>
          <p:cNvSpPr txBox="1"/>
          <p:nvPr/>
        </p:nvSpPr>
        <p:spPr>
          <a:xfrm>
            <a:off x="4910328" y="4270248"/>
            <a:ext cx="3703320" cy="21945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jeu lié à une nomenclature périmée expire en silence.</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NOTION CLÉ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Comment fonctionne la génération augmentée (RAG)</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La méthode la plus courante pour qu'un modèle de langage réponde à partir de vos documents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8" name="Text 15"/>
          <p:cNvSpPr txBox="1"/>
          <p:nvPr/>
        </p:nvSpPr>
        <p:spPr>
          <a:xfrm>
            <a:off x="457200" y="1325880"/>
            <a:ext cx="36576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RÉPONDRE À UNE QUESTION</a:t>
            </a:r>
            <a:endParaRPr lang="en-US" sz="900" dirty="0"/>
          </a:p>
        </p:txBody>
      </p:sp>
      <p:sp>
        <p:nvSpPr>
          <p:cNvPr id="19" name="Shape 16"/>
          <p:cNvSpPr/>
          <p:nvPr/>
        </p:nvSpPr>
        <p:spPr>
          <a:xfrm>
            <a:off x="457200" y="1572768"/>
            <a:ext cx="1874520" cy="749808"/>
          </a:xfrm>
          <a:prstGeom prst="roundRect">
            <a:avLst>
              <a:gd name="adj" fmla="val 7317"/>
            </a:avLst>
          </a:prstGeom>
          <a:solidFill>
            <a:srgbClr val="FFFFFF"/>
          </a:solidFill>
          <a:ln w="15875">
            <a:solidFill>
              <a:srgbClr val="00A86A"/>
            </a:solidFill>
            <a:prstDash val="solid"/>
          </a:ln>
        </p:spPr>
      </p:sp>
      <p:sp>
        <p:nvSpPr>
          <p:cNvPr id="20" name="Shape 17"/>
          <p:cNvSpPr/>
          <p:nvPr/>
        </p:nvSpPr>
        <p:spPr>
          <a:xfrm>
            <a:off x="548640" y="1792224"/>
            <a:ext cx="310896" cy="310896"/>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623255" y="1866839"/>
            <a:ext cx="161666" cy="161666"/>
          </a:xfrm>
          <a:prstGeom prst="rect">
            <a:avLst/>
          </a:prstGeom>
        </p:spPr>
      </p:pic>
      <p:sp>
        <p:nvSpPr>
          <p:cNvPr id="22" name="Text 18"/>
          <p:cNvSpPr txBox="1"/>
          <p:nvPr/>
        </p:nvSpPr>
        <p:spPr>
          <a:xfrm>
            <a:off x="91440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1  Question</a:t>
            </a:r>
            <a:endParaRPr lang="en-US" sz="1050" dirty="0"/>
          </a:p>
        </p:txBody>
      </p:sp>
      <p:sp>
        <p:nvSpPr>
          <p:cNvPr id="23" name="Text 19"/>
          <p:cNvSpPr txBox="1"/>
          <p:nvPr/>
        </p:nvSpPr>
        <p:spPr>
          <a:xfrm>
            <a:off x="914400" y="1856232"/>
            <a:ext cx="1362456" cy="420624"/>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 Comment l'emploi informel est-il défini dans notre EEF ? »</a:t>
            </a:r>
            <a:endParaRPr lang="en-US" sz="800" dirty="0"/>
          </a:p>
        </p:txBody>
      </p:sp>
      <p:sp>
        <p:nvSpPr>
          <p:cNvPr id="24" name="Shape 20"/>
          <p:cNvSpPr/>
          <p:nvPr/>
        </p:nvSpPr>
        <p:spPr>
          <a:xfrm>
            <a:off x="2359152" y="1947672"/>
            <a:ext cx="188976" cy="0"/>
          </a:xfrm>
          <a:prstGeom prst="line">
            <a:avLst/>
          </a:prstGeom>
          <a:noFill/>
          <a:ln w="15875">
            <a:solidFill>
              <a:srgbClr val="5E6964"/>
            </a:solidFill>
            <a:prstDash val="solid"/>
            <a:tailEnd type="triangle"/>
          </a:ln>
        </p:spPr>
      </p:sp>
      <p:sp>
        <p:nvSpPr>
          <p:cNvPr id="25" name="Shape 21"/>
          <p:cNvSpPr/>
          <p:nvPr/>
        </p:nvSpPr>
        <p:spPr>
          <a:xfrm>
            <a:off x="2575560" y="1572768"/>
            <a:ext cx="1874520" cy="749808"/>
          </a:xfrm>
          <a:prstGeom prst="roundRect">
            <a:avLst>
              <a:gd name="adj" fmla="val 7317"/>
            </a:avLst>
          </a:prstGeom>
          <a:solidFill>
            <a:srgbClr val="FFFFFF"/>
          </a:solidFill>
          <a:ln w="15875">
            <a:solidFill>
              <a:srgbClr val="00A86A"/>
            </a:solidFill>
            <a:prstDash val="solid"/>
          </a:ln>
        </p:spPr>
      </p:sp>
      <p:sp>
        <p:nvSpPr>
          <p:cNvPr id="26" name="Shape 22"/>
          <p:cNvSpPr/>
          <p:nvPr/>
        </p:nvSpPr>
        <p:spPr>
          <a:xfrm>
            <a:off x="2667000" y="1792224"/>
            <a:ext cx="310896" cy="310896"/>
          </a:xfrm>
          <a:prstGeom prst="ellipse">
            <a:avLst/>
          </a:prstGeom>
          <a:solidFill>
            <a:srgbClr val="00A86A">
              <a:alpha val="22000"/>
            </a:srgbClr>
          </a:solidFill>
          <a:ln/>
        </p:spPr>
      </p:sp>
      <p:pic>
        <p:nvPicPr>
          <p:cNvPr id="27" name="Image 1" descr="preencoded.png"/>
          <p:cNvPicPr>
            <a:picLocks noChangeAspect="1"/>
          </p:cNvPicPr>
          <p:nvPr/>
        </p:nvPicPr>
        <p:blipFill>
          <a:blip r:embed="rId4"/>
          <a:stretch>
            <a:fillRect/>
          </a:stretch>
        </p:blipFill>
        <p:spPr>
          <a:xfrm>
            <a:off x="2741615" y="1866839"/>
            <a:ext cx="161666" cy="161666"/>
          </a:xfrm>
          <a:prstGeom prst="rect">
            <a:avLst/>
          </a:prstGeom>
        </p:spPr>
      </p:pic>
      <p:sp>
        <p:nvSpPr>
          <p:cNvPr id="28" name="Text 23"/>
          <p:cNvSpPr txBox="1"/>
          <p:nvPr/>
        </p:nvSpPr>
        <p:spPr>
          <a:xfrm>
            <a:off x="303276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2  Recherche</a:t>
            </a:r>
            <a:endParaRPr lang="en-US" sz="1050" dirty="0"/>
          </a:p>
        </p:txBody>
      </p:sp>
      <p:sp>
        <p:nvSpPr>
          <p:cNvPr id="29" name="Text 24"/>
          <p:cNvSpPr txBox="1"/>
          <p:nvPr/>
        </p:nvSpPr>
        <p:spPr>
          <a:xfrm>
            <a:off x="3032760" y="1856232"/>
            <a:ext cx="1362456" cy="420624"/>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Trouver les passages proches que l'utilisateur a le droit de voir</a:t>
            </a:r>
            <a:endParaRPr lang="en-US" sz="800" dirty="0"/>
          </a:p>
        </p:txBody>
      </p:sp>
      <p:sp>
        <p:nvSpPr>
          <p:cNvPr id="30" name="Shape 25"/>
          <p:cNvSpPr/>
          <p:nvPr/>
        </p:nvSpPr>
        <p:spPr>
          <a:xfrm>
            <a:off x="4477512" y="1947672"/>
            <a:ext cx="188976" cy="0"/>
          </a:xfrm>
          <a:prstGeom prst="line">
            <a:avLst/>
          </a:prstGeom>
          <a:noFill/>
          <a:ln w="15875">
            <a:solidFill>
              <a:srgbClr val="5E6964"/>
            </a:solidFill>
            <a:prstDash val="solid"/>
            <a:tailEnd type="triangle"/>
          </a:ln>
        </p:spPr>
      </p:sp>
      <p:sp>
        <p:nvSpPr>
          <p:cNvPr id="31" name="Shape 26"/>
          <p:cNvSpPr/>
          <p:nvPr/>
        </p:nvSpPr>
        <p:spPr>
          <a:xfrm>
            <a:off x="4693920" y="1572768"/>
            <a:ext cx="1874520" cy="749808"/>
          </a:xfrm>
          <a:prstGeom prst="roundRect">
            <a:avLst>
              <a:gd name="adj" fmla="val 7317"/>
            </a:avLst>
          </a:prstGeom>
          <a:solidFill>
            <a:srgbClr val="E8F5EF"/>
          </a:solidFill>
          <a:ln w="15875">
            <a:solidFill>
              <a:srgbClr val="00A86A"/>
            </a:solidFill>
            <a:prstDash val="solid"/>
          </a:ln>
        </p:spPr>
      </p:sp>
      <p:sp>
        <p:nvSpPr>
          <p:cNvPr id="32" name="Shape 27"/>
          <p:cNvSpPr/>
          <p:nvPr/>
        </p:nvSpPr>
        <p:spPr>
          <a:xfrm>
            <a:off x="4785360" y="1792224"/>
            <a:ext cx="310896" cy="310896"/>
          </a:xfrm>
          <a:prstGeom prst="ellipse">
            <a:avLst/>
          </a:prstGeom>
          <a:solidFill>
            <a:srgbClr val="00A86A">
              <a:alpha val="22000"/>
            </a:srgbClr>
          </a:solidFill>
          <a:ln/>
        </p:spPr>
      </p:sp>
      <p:pic>
        <p:nvPicPr>
          <p:cNvPr id="33" name="Image 2" descr="preencoded.png"/>
          <p:cNvPicPr>
            <a:picLocks noChangeAspect="1"/>
          </p:cNvPicPr>
          <p:nvPr/>
        </p:nvPicPr>
        <p:blipFill>
          <a:blip r:embed="rId5"/>
          <a:stretch>
            <a:fillRect/>
          </a:stretch>
        </p:blipFill>
        <p:spPr>
          <a:xfrm>
            <a:off x="4859975" y="1866839"/>
            <a:ext cx="161666" cy="161666"/>
          </a:xfrm>
          <a:prstGeom prst="rect">
            <a:avLst/>
          </a:prstGeom>
        </p:spPr>
      </p:pic>
      <p:sp>
        <p:nvSpPr>
          <p:cNvPr id="34" name="Text 28"/>
          <p:cNvSpPr txBox="1"/>
          <p:nvPr/>
        </p:nvSpPr>
        <p:spPr>
          <a:xfrm>
            <a:off x="515112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3  Génération</a:t>
            </a:r>
            <a:endParaRPr lang="en-US" sz="1050" dirty="0"/>
          </a:p>
        </p:txBody>
      </p:sp>
      <p:sp>
        <p:nvSpPr>
          <p:cNvPr id="35" name="Text 29"/>
          <p:cNvSpPr txBox="1"/>
          <p:nvPr/>
        </p:nvSpPr>
        <p:spPr>
          <a:xfrm>
            <a:off x="5151120" y="1856232"/>
            <a:ext cx="1362456" cy="420624"/>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Le LLM rédige une réponse à partir de ces seuls passages</a:t>
            </a:r>
            <a:endParaRPr lang="en-US" sz="800" dirty="0"/>
          </a:p>
        </p:txBody>
      </p:sp>
      <p:sp>
        <p:nvSpPr>
          <p:cNvPr id="36" name="Shape 30"/>
          <p:cNvSpPr/>
          <p:nvPr/>
        </p:nvSpPr>
        <p:spPr>
          <a:xfrm>
            <a:off x="6595872" y="1947672"/>
            <a:ext cx="188976" cy="0"/>
          </a:xfrm>
          <a:prstGeom prst="line">
            <a:avLst/>
          </a:prstGeom>
          <a:noFill/>
          <a:ln w="15875">
            <a:solidFill>
              <a:srgbClr val="5E6964"/>
            </a:solidFill>
            <a:prstDash val="solid"/>
            <a:tailEnd type="triangle"/>
          </a:ln>
        </p:spPr>
      </p:sp>
      <p:sp>
        <p:nvSpPr>
          <p:cNvPr id="37" name="Shape 31"/>
          <p:cNvSpPr/>
          <p:nvPr/>
        </p:nvSpPr>
        <p:spPr>
          <a:xfrm>
            <a:off x="6812280" y="1572768"/>
            <a:ext cx="1874520" cy="749808"/>
          </a:xfrm>
          <a:prstGeom prst="roundRect">
            <a:avLst>
              <a:gd name="adj" fmla="val 7317"/>
            </a:avLst>
          </a:prstGeom>
          <a:solidFill>
            <a:srgbClr val="FFFFFF"/>
          </a:solidFill>
          <a:ln w="15875">
            <a:solidFill>
              <a:srgbClr val="00A86A"/>
            </a:solidFill>
            <a:prstDash val="solid"/>
          </a:ln>
        </p:spPr>
      </p:sp>
      <p:sp>
        <p:nvSpPr>
          <p:cNvPr id="38" name="Shape 32"/>
          <p:cNvSpPr/>
          <p:nvPr/>
        </p:nvSpPr>
        <p:spPr>
          <a:xfrm>
            <a:off x="6903720" y="1792224"/>
            <a:ext cx="310896" cy="310896"/>
          </a:xfrm>
          <a:prstGeom prst="ellipse">
            <a:avLst/>
          </a:prstGeom>
          <a:solidFill>
            <a:srgbClr val="00A86A">
              <a:alpha val="22000"/>
            </a:srgbClr>
          </a:solidFill>
          <a:ln/>
        </p:spPr>
      </p:sp>
      <p:pic>
        <p:nvPicPr>
          <p:cNvPr id="39" name="Image 3" descr="preencoded.png"/>
          <p:cNvPicPr>
            <a:picLocks noChangeAspect="1"/>
          </p:cNvPicPr>
          <p:nvPr/>
        </p:nvPicPr>
        <p:blipFill>
          <a:blip r:embed="rId6"/>
          <a:stretch>
            <a:fillRect/>
          </a:stretch>
        </p:blipFill>
        <p:spPr>
          <a:xfrm>
            <a:off x="6978335" y="1866839"/>
            <a:ext cx="161666" cy="161666"/>
          </a:xfrm>
          <a:prstGeom prst="rect">
            <a:avLst/>
          </a:prstGeom>
        </p:spPr>
      </p:pic>
      <p:sp>
        <p:nvSpPr>
          <p:cNvPr id="40" name="Text 33"/>
          <p:cNvSpPr txBox="1"/>
          <p:nvPr/>
        </p:nvSpPr>
        <p:spPr>
          <a:xfrm>
            <a:off x="7269480" y="1636776"/>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4  Réponse</a:t>
            </a:r>
            <a:endParaRPr lang="en-US" sz="1050" dirty="0"/>
          </a:p>
        </p:txBody>
      </p:sp>
      <p:sp>
        <p:nvSpPr>
          <p:cNvPr id="41" name="Text 34"/>
          <p:cNvSpPr txBox="1"/>
          <p:nvPr/>
        </p:nvSpPr>
        <p:spPr>
          <a:xfrm>
            <a:off x="7269480" y="1856232"/>
            <a:ext cx="1362456" cy="420624"/>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Réponse avec citation des documents sources</a:t>
            </a:r>
            <a:endParaRPr lang="en-US" sz="800" dirty="0"/>
          </a:p>
        </p:txBody>
      </p:sp>
      <p:sp>
        <p:nvSpPr>
          <p:cNvPr id="42" name="Text 35"/>
          <p:cNvSpPr txBox="1"/>
          <p:nvPr/>
        </p:nvSpPr>
        <p:spPr>
          <a:xfrm>
            <a:off x="457200" y="2505456"/>
            <a:ext cx="1828800" cy="182880"/>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PRÉPARÉ À L'AVANCE</a:t>
            </a:r>
            <a:endParaRPr lang="en-US" sz="900" dirty="0"/>
          </a:p>
        </p:txBody>
      </p:sp>
      <p:sp>
        <p:nvSpPr>
          <p:cNvPr id="43" name="Shape 36"/>
          <p:cNvSpPr/>
          <p:nvPr/>
        </p:nvSpPr>
        <p:spPr>
          <a:xfrm>
            <a:off x="457200" y="2724912"/>
            <a:ext cx="1874520" cy="713232"/>
          </a:xfrm>
          <a:prstGeom prst="roundRect">
            <a:avLst>
              <a:gd name="adj" fmla="val 7692"/>
            </a:avLst>
          </a:prstGeom>
          <a:solidFill>
            <a:srgbClr val="FFFFFF"/>
          </a:solidFill>
          <a:ln w="15875">
            <a:solidFill>
              <a:srgbClr val="0E7C86"/>
            </a:solidFill>
            <a:prstDash val="solid"/>
          </a:ln>
        </p:spPr>
      </p:sp>
      <p:sp>
        <p:nvSpPr>
          <p:cNvPr id="44" name="Shape 37"/>
          <p:cNvSpPr/>
          <p:nvPr/>
        </p:nvSpPr>
        <p:spPr>
          <a:xfrm>
            <a:off x="548640" y="2926080"/>
            <a:ext cx="310896" cy="310896"/>
          </a:xfrm>
          <a:prstGeom prst="ellipse">
            <a:avLst/>
          </a:prstGeom>
          <a:solidFill>
            <a:srgbClr val="0E7C86">
              <a:alpha val="22000"/>
            </a:srgbClr>
          </a:solidFill>
          <a:ln/>
        </p:spPr>
      </p:sp>
      <p:pic>
        <p:nvPicPr>
          <p:cNvPr id="45" name="Image 4" descr="preencoded.png"/>
          <p:cNvPicPr>
            <a:picLocks noChangeAspect="1"/>
          </p:cNvPicPr>
          <p:nvPr/>
        </p:nvPicPr>
        <p:blipFill>
          <a:blip r:embed="rId7"/>
          <a:stretch>
            <a:fillRect/>
          </a:stretch>
        </p:blipFill>
        <p:spPr>
          <a:xfrm>
            <a:off x="623255" y="3000695"/>
            <a:ext cx="161666" cy="161666"/>
          </a:xfrm>
          <a:prstGeom prst="rect">
            <a:avLst/>
          </a:prstGeom>
        </p:spPr>
      </p:pic>
      <p:sp>
        <p:nvSpPr>
          <p:cNvPr id="46" name="Text 38"/>
          <p:cNvSpPr txBox="1"/>
          <p:nvPr/>
        </p:nvSpPr>
        <p:spPr>
          <a:xfrm>
            <a:off x="91440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Documents</a:t>
            </a:r>
            <a:endParaRPr lang="en-US" sz="1050" dirty="0"/>
          </a:p>
        </p:txBody>
      </p:sp>
      <p:sp>
        <p:nvSpPr>
          <p:cNvPr id="47" name="Text 39"/>
          <p:cNvSpPr txBox="1"/>
          <p:nvPr/>
        </p:nvSpPr>
        <p:spPr>
          <a:xfrm>
            <a:off x="914400" y="3008376"/>
            <a:ext cx="1362456" cy="384048"/>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Manuels, métadonnées, publications passées</a:t>
            </a:r>
            <a:endParaRPr lang="en-US" sz="800" dirty="0"/>
          </a:p>
        </p:txBody>
      </p:sp>
      <p:sp>
        <p:nvSpPr>
          <p:cNvPr id="48" name="Shape 40"/>
          <p:cNvSpPr/>
          <p:nvPr/>
        </p:nvSpPr>
        <p:spPr>
          <a:xfrm>
            <a:off x="2359152" y="3081528"/>
            <a:ext cx="188976" cy="0"/>
          </a:xfrm>
          <a:prstGeom prst="line">
            <a:avLst/>
          </a:prstGeom>
          <a:noFill/>
          <a:ln w="15875">
            <a:solidFill>
              <a:srgbClr val="5E6964"/>
            </a:solidFill>
            <a:prstDash val="solid"/>
            <a:tailEnd type="triangle"/>
          </a:ln>
        </p:spPr>
      </p:sp>
      <p:sp>
        <p:nvSpPr>
          <p:cNvPr id="49" name="Shape 41"/>
          <p:cNvSpPr/>
          <p:nvPr/>
        </p:nvSpPr>
        <p:spPr>
          <a:xfrm>
            <a:off x="2575560" y="2724912"/>
            <a:ext cx="1874520" cy="713232"/>
          </a:xfrm>
          <a:prstGeom prst="roundRect">
            <a:avLst>
              <a:gd name="adj" fmla="val 7692"/>
            </a:avLst>
          </a:prstGeom>
          <a:solidFill>
            <a:srgbClr val="FFFFFF"/>
          </a:solidFill>
          <a:ln w="15875">
            <a:solidFill>
              <a:srgbClr val="0E7C86"/>
            </a:solidFill>
            <a:prstDash val="solid"/>
          </a:ln>
        </p:spPr>
      </p:sp>
      <p:sp>
        <p:nvSpPr>
          <p:cNvPr id="50" name="Shape 42"/>
          <p:cNvSpPr/>
          <p:nvPr/>
        </p:nvSpPr>
        <p:spPr>
          <a:xfrm>
            <a:off x="2667000" y="2926080"/>
            <a:ext cx="310896" cy="310896"/>
          </a:xfrm>
          <a:prstGeom prst="ellipse">
            <a:avLst/>
          </a:prstGeom>
          <a:solidFill>
            <a:srgbClr val="0E7C86">
              <a:alpha val="22000"/>
            </a:srgbClr>
          </a:solidFill>
          <a:ln/>
        </p:spPr>
      </p:sp>
      <p:pic>
        <p:nvPicPr>
          <p:cNvPr id="51" name="Image 5" descr="preencoded.png"/>
          <p:cNvPicPr>
            <a:picLocks noChangeAspect="1"/>
          </p:cNvPicPr>
          <p:nvPr/>
        </p:nvPicPr>
        <p:blipFill>
          <a:blip r:embed="rId8"/>
          <a:stretch>
            <a:fillRect/>
          </a:stretch>
        </p:blipFill>
        <p:spPr>
          <a:xfrm>
            <a:off x="2741615" y="3000695"/>
            <a:ext cx="161666" cy="161666"/>
          </a:xfrm>
          <a:prstGeom prst="rect">
            <a:avLst/>
          </a:prstGeom>
        </p:spPr>
      </p:pic>
      <p:sp>
        <p:nvSpPr>
          <p:cNvPr id="52" name="Text 43"/>
          <p:cNvSpPr txBox="1"/>
          <p:nvPr/>
        </p:nvSpPr>
        <p:spPr>
          <a:xfrm>
            <a:off x="303276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Découpage</a:t>
            </a:r>
            <a:endParaRPr lang="en-US" sz="1050" dirty="0"/>
          </a:p>
        </p:txBody>
      </p:sp>
      <p:sp>
        <p:nvSpPr>
          <p:cNvPr id="53" name="Text 44"/>
          <p:cNvSpPr txBox="1"/>
          <p:nvPr/>
        </p:nvSpPr>
        <p:spPr>
          <a:xfrm>
            <a:off x="3032760" y="3008376"/>
            <a:ext cx="1362456" cy="384048"/>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En courts passages</a:t>
            </a:r>
            <a:endParaRPr lang="en-US" sz="800" dirty="0"/>
          </a:p>
        </p:txBody>
      </p:sp>
      <p:sp>
        <p:nvSpPr>
          <p:cNvPr id="54" name="Shape 45"/>
          <p:cNvSpPr/>
          <p:nvPr/>
        </p:nvSpPr>
        <p:spPr>
          <a:xfrm>
            <a:off x="4477512" y="3081528"/>
            <a:ext cx="188976" cy="0"/>
          </a:xfrm>
          <a:prstGeom prst="line">
            <a:avLst/>
          </a:prstGeom>
          <a:noFill/>
          <a:ln w="15875">
            <a:solidFill>
              <a:srgbClr val="5E6964"/>
            </a:solidFill>
            <a:prstDash val="solid"/>
            <a:tailEnd type="triangle"/>
          </a:ln>
        </p:spPr>
      </p:sp>
      <p:sp>
        <p:nvSpPr>
          <p:cNvPr id="55" name="Shape 46"/>
          <p:cNvSpPr/>
          <p:nvPr/>
        </p:nvSpPr>
        <p:spPr>
          <a:xfrm>
            <a:off x="4693920" y="2724912"/>
            <a:ext cx="1874520" cy="713232"/>
          </a:xfrm>
          <a:prstGeom prst="roundRect">
            <a:avLst>
              <a:gd name="adj" fmla="val 7692"/>
            </a:avLst>
          </a:prstGeom>
          <a:solidFill>
            <a:srgbClr val="FFFFFF"/>
          </a:solidFill>
          <a:ln w="15875">
            <a:solidFill>
              <a:srgbClr val="0E7C86"/>
            </a:solidFill>
            <a:prstDash val="solid"/>
          </a:ln>
        </p:spPr>
      </p:sp>
      <p:sp>
        <p:nvSpPr>
          <p:cNvPr id="56" name="Shape 47"/>
          <p:cNvSpPr/>
          <p:nvPr/>
        </p:nvSpPr>
        <p:spPr>
          <a:xfrm>
            <a:off x="4785360" y="2926080"/>
            <a:ext cx="310896" cy="310896"/>
          </a:xfrm>
          <a:prstGeom prst="ellipse">
            <a:avLst/>
          </a:prstGeom>
          <a:solidFill>
            <a:srgbClr val="0E7C86">
              <a:alpha val="22000"/>
            </a:srgbClr>
          </a:solidFill>
          <a:ln/>
        </p:spPr>
      </p:sp>
      <p:pic>
        <p:nvPicPr>
          <p:cNvPr id="57" name="Image 6" descr="preencoded.png"/>
          <p:cNvPicPr>
            <a:picLocks noChangeAspect="1"/>
          </p:cNvPicPr>
          <p:nvPr/>
        </p:nvPicPr>
        <p:blipFill>
          <a:blip r:embed="rId9"/>
          <a:stretch>
            <a:fillRect/>
          </a:stretch>
        </p:blipFill>
        <p:spPr>
          <a:xfrm>
            <a:off x="4859975" y="3000695"/>
            <a:ext cx="161666" cy="161666"/>
          </a:xfrm>
          <a:prstGeom prst="rect">
            <a:avLst/>
          </a:prstGeom>
        </p:spPr>
      </p:pic>
      <p:sp>
        <p:nvSpPr>
          <p:cNvPr id="58" name="Text 48"/>
          <p:cNvSpPr txBox="1"/>
          <p:nvPr/>
        </p:nvSpPr>
        <p:spPr>
          <a:xfrm>
            <a:off x="515112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Vectorisation</a:t>
            </a:r>
            <a:endParaRPr lang="en-US" sz="1050" dirty="0"/>
          </a:p>
        </p:txBody>
      </p:sp>
      <p:sp>
        <p:nvSpPr>
          <p:cNvPr id="59" name="Text 49"/>
          <p:cNvSpPr txBox="1"/>
          <p:nvPr/>
        </p:nvSpPr>
        <p:spPr>
          <a:xfrm>
            <a:off x="5151120" y="3008376"/>
            <a:ext cx="1362456" cy="384048"/>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Chaque passage devient des nombres qui en capturent le sens</a:t>
            </a:r>
            <a:endParaRPr lang="en-US" sz="800" dirty="0"/>
          </a:p>
        </p:txBody>
      </p:sp>
      <p:sp>
        <p:nvSpPr>
          <p:cNvPr id="60" name="Shape 50"/>
          <p:cNvSpPr/>
          <p:nvPr/>
        </p:nvSpPr>
        <p:spPr>
          <a:xfrm>
            <a:off x="6595872" y="3081528"/>
            <a:ext cx="188976" cy="0"/>
          </a:xfrm>
          <a:prstGeom prst="line">
            <a:avLst/>
          </a:prstGeom>
          <a:noFill/>
          <a:ln w="15875">
            <a:solidFill>
              <a:srgbClr val="5E6964"/>
            </a:solidFill>
            <a:prstDash val="solid"/>
            <a:tailEnd type="triangle"/>
          </a:ln>
        </p:spPr>
      </p:sp>
      <p:sp>
        <p:nvSpPr>
          <p:cNvPr id="61" name="Shape 51"/>
          <p:cNvSpPr/>
          <p:nvPr/>
        </p:nvSpPr>
        <p:spPr>
          <a:xfrm>
            <a:off x="6812280" y="2724912"/>
            <a:ext cx="1874520" cy="713232"/>
          </a:xfrm>
          <a:prstGeom prst="roundRect">
            <a:avLst>
              <a:gd name="adj" fmla="val 7692"/>
            </a:avLst>
          </a:prstGeom>
          <a:solidFill>
            <a:srgbClr val="FFFFFF"/>
          </a:solidFill>
          <a:ln w="15875">
            <a:solidFill>
              <a:srgbClr val="0E7C86"/>
            </a:solidFill>
            <a:prstDash val="solid"/>
          </a:ln>
        </p:spPr>
      </p:sp>
      <p:sp>
        <p:nvSpPr>
          <p:cNvPr id="62" name="Shape 52"/>
          <p:cNvSpPr/>
          <p:nvPr/>
        </p:nvSpPr>
        <p:spPr>
          <a:xfrm>
            <a:off x="6903720" y="2926080"/>
            <a:ext cx="310896" cy="310896"/>
          </a:xfrm>
          <a:prstGeom prst="ellipse">
            <a:avLst/>
          </a:prstGeom>
          <a:solidFill>
            <a:srgbClr val="0E7C86">
              <a:alpha val="22000"/>
            </a:srgbClr>
          </a:solidFill>
          <a:ln/>
        </p:spPr>
      </p:sp>
      <p:pic>
        <p:nvPicPr>
          <p:cNvPr id="63" name="Image 7" descr="preencoded.png"/>
          <p:cNvPicPr>
            <a:picLocks noChangeAspect="1"/>
          </p:cNvPicPr>
          <p:nvPr/>
        </p:nvPicPr>
        <p:blipFill>
          <a:blip r:embed="rId10"/>
          <a:stretch>
            <a:fillRect/>
          </a:stretch>
        </p:blipFill>
        <p:spPr>
          <a:xfrm>
            <a:off x="6978335" y="3000695"/>
            <a:ext cx="161666" cy="161666"/>
          </a:xfrm>
          <a:prstGeom prst="rect">
            <a:avLst/>
          </a:prstGeom>
        </p:spPr>
      </p:pic>
      <p:sp>
        <p:nvSpPr>
          <p:cNvPr id="64" name="Text 53"/>
          <p:cNvSpPr txBox="1"/>
          <p:nvPr/>
        </p:nvSpPr>
        <p:spPr>
          <a:xfrm>
            <a:off x="7269480" y="2788920"/>
            <a:ext cx="1362456"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Index vectoriel</a:t>
            </a:r>
            <a:endParaRPr lang="en-US" sz="1050" dirty="0"/>
          </a:p>
        </p:txBody>
      </p:sp>
      <p:sp>
        <p:nvSpPr>
          <p:cNvPr id="65" name="Text 54"/>
          <p:cNvSpPr txBox="1"/>
          <p:nvPr/>
        </p:nvSpPr>
        <p:spPr>
          <a:xfrm>
            <a:off x="7269480" y="3008376"/>
            <a:ext cx="1362456" cy="384048"/>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Base interrogeable — une copie de vos données</a:t>
            </a:r>
            <a:endParaRPr lang="en-US" sz="800" dirty="0"/>
          </a:p>
        </p:txBody>
      </p:sp>
      <p:sp>
        <p:nvSpPr>
          <p:cNvPr id="66" name="Shape 55"/>
          <p:cNvSpPr/>
          <p:nvPr/>
        </p:nvSpPr>
        <p:spPr>
          <a:xfrm>
            <a:off x="7749540" y="2432304"/>
            <a:ext cx="0" cy="292608"/>
          </a:xfrm>
          <a:prstGeom prst="line">
            <a:avLst/>
          </a:prstGeom>
          <a:noFill/>
          <a:ln w="15875">
            <a:solidFill>
              <a:srgbClr val="0E7C86"/>
            </a:solidFill>
            <a:prstDash val="dash"/>
          </a:ln>
        </p:spPr>
      </p:sp>
      <p:sp>
        <p:nvSpPr>
          <p:cNvPr id="67" name="Shape 56"/>
          <p:cNvSpPr/>
          <p:nvPr/>
        </p:nvSpPr>
        <p:spPr>
          <a:xfrm>
            <a:off x="3512820" y="2432304"/>
            <a:ext cx="4236720" cy="0"/>
          </a:xfrm>
          <a:prstGeom prst="line">
            <a:avLst/>
          </a:prstGeom>
          <a:noFill/>
          <a:ln w="15875">
            <a:solidFill>
              <a:srgbClr val="0E7C86"/>
            </a:solidFill>
            <a:prstDash val="dash"/>
          </a:ln>
        </p:spPr>
      </p:sp>
      <p:sp>
        <p:nvSpPr>
          <p:cNvPr id="68" name="Shape 57"/>
          <p:cNvSpPr/>
          <p:nvPr/>
        </p:nvSpPr>
        <p:spPr>
          <a:xfrm>
            <a:off x="3512820" y="2340864"/>
            <a:ext cx="0" cy="91440"/>
          </a:xfrm>
          <a:prstGeom prst="line">
            <a:avLst/>
          </a:prstGeom>
          <a:noFill/>
          <a:ln w="15875">
            <a:solidFill>
              <a:srgbClr val="0E7C86"/>
            </a:solidFill>
            <a:prstDash val="solid"/>
            <a:headEnd type="triangle"/>
          </a:ln>
        </p:spPr>
      </p:sp>
      <p:sp>
        <p:nvSpPr>
          <p:cNvPr id="69" name="Text 58"/>
          <p:cNvSpPr txBox="1"/>
          <p:nvPr/>
        </p:nvSpPr>
        <p:spPr>
          <a:xfrm>
            <a:off x="3604260" y="2459736"/>
            <a:ext cx="1828800" cy="164592"/>
          </a:xfrm>
          <a:prstGeom prst="rect">
            <a:avLst/>
          </a:prstGeom>
          <a:noFill/>
          <a:ln/>
        </p:spPr>
        <p:txBody>
          <a:bodyPr wrap="square" lIns="0" tIns="0" rIns="0" bIns="0" rtlCol="0" anchor="t"/>
          <a:lstStyle/>
          <a:p>
            <a:pPr marL="0" indent="0">
              <a:buNone/>
            </a:pPr>
            <a:r>
              <a:rPr lang="en-US" sz="800" i="1" dirty="0">
                <a:solidFill>
                  <a:srgbClr val="0E7C86"/>
                </a:solidFill>
                <a:latin typeface="Calibri" pitchFamily="34" charset="0"/>
                <a:ea typeface="Calibri" pitchFamily="34" charset="-122"/>
                <a:cs typeface="Calibri" pitchFamily="34" charset="-120"/>
              </a:rPr>
              <a:t>la recherche utilise l'index</a:t>
            </a:r>
            <a:endParaRPr lang="en-US" sz="800" dirty="0"/>
          </a:p>
        </p:txBody>
      </p:sp>
      <p:sp>
        <p:nvSpPr>
          <p:cNvPr id="70" name="Shape 59"/>
          <p:cNvSpPr/>
          <p:nvPr/>
        </p:nvSpPr>
        <p:spPr>
          <a:xfrm>
            <a:off x="457200" y="3703320"/>
            <a:ext cx="4023360" cy="896112"/>
          </a:xfrm>
          <a:prstGeom prst="roundRect">
            <a:avLst>
              <a:gd name="adj" fmla="val 8163"/>
            </a:avLst>
          </a:prstGeom>
          <a:solidFill>
            <a:srgbClr val="E8F5EF"/>
          </a:solidFill>
          <a:ln w="15875">
            <a:solidFill>
              <a:srgbClr val="00A86A"/>
            </a:solidFill>
            <a:prstDash val="solid"/>
          </a:ln>
        </p:spPr>
      </p:sp>
      <p:sp>
        <p:nvSpPr>
          <p:cNvPr id="71" name="Shape 60"/>
          <p:cNvSpPr/>
          <p:nvPr/>
        </p:nvSpPr>
        <p:spPr>
          <a:xfrm>
            <a:off x="566928" y="3813048"/>
            <a:ext cx="292608" cy="292608"/>
          </a:xfrm>
          <a:prstGeom prst="ellipse">
            <a:avLst/>
          </a:prstGeom>
          <a:solidFill>
            <a:srgbClr val="00A86A">
              <a:alpha val="22000"/>
            </a:srgbClr>
          </a:solidFill>
          <a:ln/>
        </p:spPr>
      </p:sp>
      <p:pic>
        <p:nvPicPr>
          <p:cNvPr id="72" name="Image 8" descr="preencoded.png"/>
          <p:cNvPicPr>
            <a:picLocks noChangeAspect="1"/>
          </p:cNvPicPr>
          <p:nvPr/>
        </p:nvPicPr>
        <p:blipFill>
          <a:blip r:embed="rId6"/>
          <a:stretch>
            <a:fillRect/>
          </a:stretch>
        </p:blipFill>
        <p:spPr>
          <a:xfrm>
            <a:off x="637154" y="3883274"/>
            <a:ext cx="152156" cy="152156"/>
          </a:xfrm>
          <a:prstGeom prst="rect">
            <a:avLst/>
          </a:prstGeom>
        </p:spPr>
      </p:pic>
      <p:sp>
        <p:nvSpPr>
          <p:cNvPr id="73" name="Text 61"/>
          <p:cNvSpPr txBox="1"/>
          <p:nvPr/>
        </p:nvSpPr>
        <p:spPr>
          <a:xfrm>
            <a:off x="950976" y="3794760"/>
            <a:ext cx="33832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Pourquoi c'est utile</a:t>
            </a:r>
            <a:endParaRPr lang="en-US" sz="1100" dirty="0"/>
          </a:p>
        </p:txBody>
      </p:sp>
      <p:sp>
        <p:nvSpPr>
          <p:cNvPr id="74" name="Text 62"/>
          <p:cNvSpPr txBox="1"/>
          <p:nvPr/>
        </p:nvSpPr>
        <p:spPr>
          <a:xfrm>
            <a:off x="950976" y="4023360"/>
            <a:ext cx="3456432" cy="54864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réponses s'appuient sur votre méthodologie, les sources sont citées et aucun réentraînement n'est nécessaire quand les documents changent.</a:t>
            </a:r>
            <a:endParaRPr lang="en-US" sz="900" dirty="0"/>
          </a:p>
        </p:txBody>
      </p:sp>
      <p:sp>
        <p:nvSpPr>
          <p:cNvPr id="75" name="Shape 63"/>
          <p:cNvSpPr/>
          <p:nvPr/>
        </p:nvSpPr>
        <p:spPr>
          <a:xfrm>
            <a:off x="4663440" y="3703320"/>
            <a:ext cx="4023360" cy="896112"/>
          </a:xfrm>
          <a:prstGeom prst="roundRect">
            <a:avLst>
              <a:gd name="adj" fmla="val 6122"/>
            </a:avLst>
          </a:prstGeom>
          <a:solidFill>
            <a:srgbClr val="D49A00">
              <a:alpha val="13000"/>
            </a:srgbClr>
          </a:solidFill>
          <a:ln w="12700">
            <a:solidFill>
              <a:srgbClr val="D49A00"/>
            </a:solidFill>
            <a:prstDash val="solid"/>
          </a:ln>
        </p:spPr>
      </p:sp>
      <p:sp>
        <p:nvSpPr>
          <p:cNvPr id="76" name="Shape 64"/>
          <p:cNvSpPr/>
          <p:nvPr/>
        </p:nvSpPr>
        <p:spPr>
          <a:xfrm>
            <a:off x="4773168" y="4005072"/>
            <a:ext cx="292608" cy="292608"/>
          </a:xfrm>
          <a:prstGeom prst="ellipse">
            <a:avLst/>
          </a:prstGeom>
          <a:solidFill>
            <a:srgbClr val="D49A00">
              <a:alpha val="22000"/>
            </a:srgbClr>
          </a:solidFill>
          <a:ln/>
        </p:spPr>
      </p:sp>
      <p:pic>
        <p:nvPicPr>
          <p:cNvPr id="77" name="Image 9" descr="preencoded.png"/>
          <p:cNvPicPr>
            <a:picLocks noChangeAspect="1"/>
          </p:cNvPicPr>
          <p:nvPr/>
        </p:nvPicPr>
        <p:blipFill>
          <a:blip r:embed="rId11"/>
          <a:stretch>
            <a:fillRect/>
          </a:stretch>
        </p:blipFill>
        <p:spPr>
          <a:xfrm>
            <a:off x="4843394" y="4075298"/>
            <a:ext cx="152156" cy="152156"/>
          </a:xfrm>
          <a:prstGeom prst="rect">
            <a:avLst/>
          </a:prstGeom>
        </p:spPr>
      </p:pic>
      <p:sp>
        <p:nvSpPr>
          <p:cNvPr id="78" name="Text 65"/>
          <p:cNvSpPr txBox="1"/>
          <p:nvPr/>
        </p:nvSpPr>
        <p:spPr>
          <a:xfrm>
            <a:off x="5166360" y="3703320"/>
            <a:ext cx="3383280" cy="896112"/>
          </a:xfrm>
          <a:prstGeom prst="rect">
            <a:avLst/>
          </a:prstGeom>
          <a:noFill/>
          <a:ln/>
        </p:spPr>
        <p:txBody>
          <a:bodyPr wrap="square" lIns="0" tIns="0" rIns="0" bIns="0" rtlCol="0" anchor="ctr"/>
          <a:lstStyle/>
          <a:p>
            <a:pPr marL="0" indent="0">
              <a:buNone/>
            </a:pPr>
            <a:r>
              <a:rPr lang="en-US" sz="900" b="1" dirty="0">
                <a:solidFill>
                  <a:srgbClr val="8A6400"/>
                </a:solidFill>
                <a:latin typeface="Calibri" pitchFamily="34" charset="0"/>
                <a:ea typeface="Calibri" pitchFamily="34" charset="-122"/>
                <a:cs typeface="Calibri" pitchFamily="34" charset="-120"/>
              </a:rPr>
              <a:t>Attention :  </a:t>
            </a:r>
            <a:r>
              <a:rPr lang="en-US" sz="900" dirty="0">
                <a:solidFill>
                  <a:srgbClr val="231F20"/>
                </a:solidFill>
                <a:latin typeface="Calibri" pitchFamily="34" charset="0"/>
                <a:ea typeface="Calibri" pitchFamily="34" charset="-122"/>
                <a:cs typeface="Calibri" pitchFamily="34" charset="-120"/>
              </a:rPr>
              <a:t>l'index est une seconde copie des données. Classifiez-le, filtrez les résultats selon les droits de chaque utilisateur et versionnez-le avec le modèle.</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3 · MLOPS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Du notebook à la production en sept étapes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Chaque étape a un responsable et un livrable. Un pilote qui saute les étapes 2 à 5 ne peut pas être promu</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8" name="Shape 15"/>
          <p:cNvSpPr/>
          <p:nvPr/>
        </p:nvSpPr>
        <p:spPr>
          <a:xfrm>
            <a:off x="457200" y="1371600"/>
            <a:ext cx="1078992" cy="1920240"/>
          </a:xfrm>
          <a:prstGeom prst="roundRect">
            <a:avLst>
              <a:gd name="adj" fmla="val 6780"/>
            </a:avLst>
          </a:prstGeom>
          <a:solidFill>
            <a:srgbClr val="F4F7F5"/>
          </a:solidFill>
          <a:ln w="9525">
            <a:solidFill>
              <a:srgbClr val="D5DED9"/>
            </a:solidFill>
            <a:prstDash val="solid"/>
          </a:ln>
        </p:spPr>
      </p:sp>
      <p:sp>
        <p:nvSpPr>
          <p:cNvPr id="19" name="Shape 16"/>
          <p:cNvSpPr/>
          <p:nvPr/>
        </p:nvSpPr>
        <p:spPr>
          <a:xfrm>
            <a:off x="804672" y="1481328"/>
            <a:ext cx="384048" cy="384048"/>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896844" y="1573500"/>
            <a:ext cx="199705" cy="199705"/>
          </a:xfrm>
          <a:prstGeom prst="rect">
            <a:avLst/>
          </a:prstGeom>
        </p:spPr>
      </p:pic>
      <p:sp>
        <p:nvSpPr>
          <p:cNvPr id="21" name="Text 17"/>
          <p:cNvSpPr txBox="1"/>
          <p:nvPr/>
        </p:nvSpPr>
        <p:spPr>
          <a:xfrm>
            <a:off x="493776"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1. Expérimenter</a:t>
            </a:r>
            <a:endParaRPr lang="en-US" sz="1000" dirty="0"/>
          </a:p>
        </p:txBody>
      </p:sp>
      <p:sp>
        <p:nvSpPr>
          <p:cNvPr id="22" name="Text 18"/>
          <p:cNvSpPr txBox="1"/>
          <p:nvPr/>
        </p:nvSpPr>
        <p:spPr>
          <a:xfrm>
            <a:off x="521208"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Notebooks, exploration</a:t>
            </a:r>
            <a:endParaRPr lang="en-US" sz="850" dirty="0"/>
          </a:p>
        </p:txBody>
      </p:sp>
      <p:sp>
        <p:nvSpPr>
          <p:cNvPr id="23" name="Shape 19"/>
          <p:cNvSpPr/>
          <p:nvPr/>
        </p:nvSpPr>
        <p:spPr>
          <a:xfrm>
            <a:off x="594360" y="2788920"/>
            <a:ext cx="804672" cy="0"/>
          </a:xfrm>
          <a:prstGeom prst="line">
            <a:avLst/>
          </a:prstGeom>
          <a:noFill/>
          <a:ln w="6350">
            <a:solidFill>
              <a:srgbClr val="D5DED9"/>
            </a:solidFill>
            <a:prstDash val="solid"/>
          </a:ln>
        </p:spPr>
      </p:sp>
      <p:sp>
        <p:nvSpPr>
          <p:cNvPr id="24" name="Text 20"/>
          <p:cNvSpPr txBox="1"/>
          <p:nvPr/>
        </p:nvSpPr>
        <p:spPr>
          <a:xfrm>
            <a:off x="502920"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Dépôt de code</a:t>
            </a:r>
            <a:endParaRPr lang="en-US" sz="800" dirty="0"/>
          </a:p>
        </p:txBody>
      </p:sp>
      <p:sp>
        <p:nvSpPr>
          <p:cNvPr id="25" name="Shape 21"/>
          <p:cNvSpPr/>
          <p:nvPr/>
        </p:nvSpPr>
        <p:spPr>
          <a:xfrm>
            <a:off x="1540764" y="2011680"/>
            <a:ext cx="103632" cy="0"/>
          </a:xfrm>
          <a:prstGeom prst="line">
            <a:avLst/>
          </a:prstGeom>
          <a:noFill/>
          <a:ln w="15875">
            <a:solidFill>
              <a:srgbClr val="5E6964"/>
            </a:solidFill>
            <a:prstDash val="solid"/>
            <a:tailEnd type="triangle"/>
          </a:ln>
        </p:spPr>
      </p:sp>
      <p:sp>
        <p:nvSpPr>
          <p:cNvPr id="26" name="Shape 22"/>
          <p:cNvSpPr/>
          <p:nvPr/>
        </p:nvSpPr>
        <p:spPr>
          <a:xfrm>
            <a:off x="1648968" y="1371600"/>
            <a:ext cx="1078992" cy="1920240"/>
          </a:xfrm>
          <a:prstGeom prst="roundRect">
            <a:avLst>
              <a:gd name="adj" fmla="val 6780"/>
            </a:avLst>
          </a:prstGeom>
          <a:solidFill>
            <a:srgbClr val="F4F7F5"/>
          </a:solidFill>
          <a:ln w="9525">
            <a:solidFill>
              <a:srgbClr val="D5DED9"/>
            </a:solidFill>
            <a:prstDash val="solid"/>
          </a:ln>
        </p:spPr>
      </p:sp>
      <p:sp>
        <p:nvSpPr>
          <p:cNvPr id="27" name="Shape 23"/>
          <p:cNvSpPr/>
          <p:nvPr/>
        </p:nvSpPr>
        <p:spPr>
          <a:xfrm>
            <a:off x="1996440" y="1481328"/>
            <a:ext cx="384048" cy="384048"/>
          </a:xfrm>
          <a:prstGeom prst="ellipse">
            <a:avLst/>
          </a:prstGeom>
          <a:solidFill>
            <a:srgbClr val="00704A">
              <a:alpha val="22000"/>
            </a:srgbClr>
          </a:solidFill>
          <a:ln/>
        </p:spPr>
      </p:sp>
      <p:pic>
        <p:nvPicPr>
          <p:cNvPr id="28" name="Image 1" descr="preencoded.png"/>
          <p:cNvPicPr>
            <a:picLocks noChangeAspect="1"/>
          </p:cNvPicPr>
          <p:nvPr/>
        </p:nvPicPr>
        <p:blipFill>
          <a:blip r:embed="rId4"/>
          <a:stretch>
            <a:fillRect/>
          </a:stretch>
        </p:blipFill>
        <p:spPr>
          <a:xfrm>
            <a:off x="2088612" y="1573500"/>
            <a:ext cx="199705" cy="199705"/>
          </a:xfrm>
          <a:prstGeom prst="rect">
            <a:avLst/>
          </a:prstGeom>
        </p:spPr>
      </p:pic>
      <p:sp>
        <p:nvSpPr>
          <p:cNvPr id="29" name="Text 24"/>
          <p:cNvSpPr txBox="1"/>
          <p:nvPr/>
        </p:nvSpPr>
        <p:spPr>
          <a:xfrm>
            <a:off x="1685544"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2. Versionner</a:t>
            </a:r>
            <a:endParaRPr lang="en-US" sz="1000" dirty="0"/>
          </a:p>
        </p:txBody>
      </p:sp>
      <p:sp>
        <p:nvSpPr>
          <p:cNvPr id="30" name="Text 25"/>
          <p:cNvSpPr txBox="1"/>
          <p:nvPr/>
        </p:nvSpPr>
        <p:spPr>
          <a:xfrm>
            <a:off x="1712976"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Données, code, paramètres, poids</a:t>
            </a:r>
            <a:endParaRPr lang="en-US" sz="850" dirty="0"/>
          </a:p>
        </p:txBody>
      </p:sp>
      <p:sp>
        <p:nvSpPr>
          <p:cNvPr id="31" name="Shape 26"/>
          <p:cNvSpPr/>
          <p:nvPr/>
        </p:nvSpPr>
        <p:spPr>
          <a:xfrm>
            <a:off x="1786128" y="2788920"/>
            <a:ext cx="804672" cy="0"/>
          </a:xfrm>
          <a:prstGeom prst="line">
            <a:avLst/>
          </a:prstGeom>
          <a:noFill/>
          <a:ln w="6350">
            <a:solidFill>
              <a:srgbClr val="D5DED9"/>
            </a:solidFill>
            <a:prstDash val="solid"/>
          </a:ln>
        </p:spPr>
      </p:sp>
      <p:sp>
        <p:nvSpPr>
          <p:cNvPr id="32" name="Text 27"/>
          <p:cNvSpPr txBox="1"/>
          <p:nvPr/>
        </p:nvSpPr>
        <p:spPr>
          <a:xfrm>
            <a:off x="1694688"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Suivi des expériences</a:t>
            </a:r>
            <a:endParaRPr lang="en-US" sz="800" dirty="0"/>
          </a:p>
        </p:txBody>
      </p:sp>
      <p:sp>
        <p:nvSpPr>
          <p:cNvPr id="33" name="Shape 28"/>
          <p:cNvSpPr/>
          <p:nvPr/>
        </p:nvSpPr>
        <p:spPr>
          <a:xfrm>
            <a:off x="2732532" y="2011680"/>
            <a:ext cx="103632" cy="0"/>
          </a:xfrm>
          <a:prstGeom prst="line">
            <a:avLst/>
          </a:prstGeom>
          <a:noFill/>
          <a:ln w="15875">
            <a:solidFill>
              <a:srgbClr val="5E6964"/>
            </a:solidFill>
            <a:prstDash val="solid"/>
            <a:tailEnd type="triangle"/>
          </a:ln>
        </p:spPr>
      </p:sp>
      <p:sp>
        <p:nvSpPr>
          <p:cNvPr id="34" name="Shape 29"/>
          <p:cNvSpPr/>
          <p:nvPr/>
        </p:nvSpPr>
        <p:spPr>
          <a:xfrm>
            <a:off x="2840736" y="1371600"/>
            <a:ext cx="1078992" cy="1920240"/>
          </a:xfrm>
          <a:prstGeom prst="roundRect">
            <a:avLst>
              <a:gd name="adj" fmla="val 6780"/>
            </a:avLst>
          </a:prstGeom>
          <a:solidFill>
            <a:srgbClr val="F4F7F5"/>
          </a:solidFill>
          <a:ln w="9525">
            <a:solidFill>
              <a:srgbClr val="D5DED9"/>
            </a:solidFill>
            <a:prstDash val="solid"/>
          </a:ln>
        </p:spPr>
      </p:sp>
      <p:sp>
        <p:nvSpPr>
          <p:cNvPr id="35" name="Shape 30"/>
          <p:cNvSpPr/>
          <p:nvPr/>
        </p:nvSpPr>
        <p:spPr>
          <a:xfrm>
            <a:off x="3188208" y="1481328"/>
            <a:ext cx="384048" cy="384048"/>
          </a:xfrm>
          <a:prstGeom prst="ellipse">
            <a:avLst/>
          </a:prstGeom>
          <a:solidFill>
            <a:srgbClr val="00704A">
              <a:alpha val="22000"/>
            </a:srgbClr>
          </a:solidFill>
          <a:ln/>
        </p:spPr>
      </p:sp>
      <p:pic>
        <p:nvPicPr>
          <p:cNvPr id="36" name="Image 2" descr="preencoded.png"/>
          <p:cNvPicPr>
            <a:picLocks noChangeAspect="1"/>
          </p:cNvPicPr>
          <p:nvPr/>
        </p:nvPicPr>
        <p:blipFill>
          <a:blip r:embed="rId5"/>
          <a:stretch>
            <a:fillRect/>
          </a:stretch>
        </p:blipFill>
        <p:spPr>
          <a:xfrm>
            <a:off x="3280380" y="1573500"/>
            <a:ext cx="199705" cy="199705"/>
          </a:xfrm>
          <a:prstGeom prst="rect">
            <a:avLst/>
          </a:prstGeom>
        </p:spPr>
      </p:pic>
      <p:sp>
        <p:nvSpPr>
          <p:cNvPr id="37" name="Text 31"/>
          <p:cNvSpPr txBox="1"/>
          <p:nvPr/>
        </p:nvSpPr>
        <p:spPr>
          <a:xfrm>
            <a:off x="2877312"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3. Empaqueter</a:t>
            </a:r>
            <a:endParaRPr lang="en-US" sz="1000" dirty="0"/>
          </a:p>
        </p:txBody>
      </p:sp>
      <p:sp>
        <p:nvSpPr>
          <p:cNvPr id="38" name="Text 32"/>
          <p:cNvSpPr txBox="1"/>
          <p:nvPr/>
        </p:nvSpPr>
        <p:spPr>
          <a:xfrm>
            <a:off x="2904744"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Conteneur reproductible</a:t>
            </a:r>
            <a:endParaRPr lang="en-US" sz="850" dirty="0"/>
          </a:p>
        </p:txBody>
      </p:sp>
      <p:sp>
        <p:nvSpPr>
          <p:cNvPr id="39" name="Shape 33"/>
          <p:cNvSpPr/>
          <p:nvPr/>
        </p:nvSpPr>
        <p:spPr>
          <a:xfrm>
            <a:off x="2977896" y="2788920"/>
            <a:ext cx="804672" cy="0"/>
          </a:xfrm>
          <a:prstGeom prst="line">
            <a:avLst/>
          </a:prstGeom>
          <a:noFill/>
          <a:ln w="6350">
            <a:solidFill>
              <a:srgbClr val="D5DED9"/>
            </a:solidFill>
            <a:prstDash val="solid"/>
          </a:ln>
        </p:spPr>
      </p:sp>
      <p:sp>
        <p:nvSpPr>
          <p:cNvPr id="40" name="Text 34"/>
          <p:cNvSpPr txBox="1"/>
          <p:nvPr/>
        </p:nvSpPr>
        <p:spPr>
          <a:xfrm>
            <a:off x="2886456"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Registre d'images</a:t>
            </a:r>
            <a:endParaRPr lang="en-US" sz="800" dirty="0"/>
          </a:p>
        </p:txBody>
      </p:sp>
      <p:sp>
        <p:nvSpPr>
          <p:cNvPr id="41" name="Shape 35"/>
          <p:cNvSpPr/>
          <p:nvPr/>
        </p:nvSpPr>
        <p:spPr>
          <a:xfrm>
            <a:off x="3924300" y="2011680"/>
            <a:ext cx="103632" cy="0"/>
          </a:xfrm>
          <a:prstGeom prst="line">
            <a:avLst/>
          </a:prstGeom>
          <a:noFill/>
          <a:ln w="15875">
            <a:solidFill>
              <a:srgbClr val="5E6964"/>
            </a:solidFill>
            <a:prstDash val="solid"/>
            <a:tailEnd type="triangle"/>
          </a:ln>
        </p:spPr>
      </p:sp>
      <p:sp>
        <p:nvSpPr>
          <p:cNvPr id="42" name="Shape 36"/>
          <p:cNvSpPr/>
          <p:nvPr/>
        </p:nvSpPr>
        <p:spPr>
          <a:xfrm>
            <a:off x="4032504" y="1371600"/>
            <a:ext cx="1078992" cy="1920240"/>
          </a:xfrm>
          <a:prstGeom prst="roundRect">
            <a:avLst>
              <a:gd name="adj" fmla="val 6780"/>
            </a:avLst>
          </a:prstGeom>
          <a:solidFill>
            <a:srgbClr val="E8F5EF"/>
          </a:solidFill>
          <a:ln w="15875">
            <a:solidFill>
              <a:srgbClr val="00704A"/>
            </a:solidFill>
            <a:prstDash val="solid"/>
          </a:ln>
        </p:spPr>
      </p:sp>
      <p:sp>
        <p:nvSpPr>
          <p:cNvPr id="43" name="Shape 37"/>
          <p:cNvSpPr/>
          <p:nvPr/>
        </p:nvSpPr>
        <p:spPr>
          <a:xfrm>
            <a:off x="4379976" y="1481328"/>
            <a:ext cx="384048" cy="384048"/>
          </a:xfrm>
          <a:prstGeom prst="ellipse">
            <a:avLst/>
          </a:prstGeom>
          <a:solidFill>
            <a:srgbClr val="00704A">
              <a:alpha val="22000"/>
            </a:srgbClr>
          </a:solidFill>
          <a:ln/>
        </p:spPr>
      </p:sp>
      <p:pic>
        <p:nvPicPr>
          <p:cNvPr id="44" name="Image 3" descr="preencoded.png"/>
          <p:cNvPicPr>
            <a:picLocks noChangeAspect="1"/>
          </p:cNvPicPr>
          <p:nvPr/>
        </p:nvPicPr>
        <p:blipFill>
          <a:blip r:embed="rId6"/>
          <a:stretch>
            <a:fillRect/>
          </a:stretch>
        </p:blipFill>
        <p:spPr>
          <a:xfrm>
            <a:off x="4472148" y="1573500"/>
            <a:ext cx="199705" cy="199705"/>
          </a:xfrm>
          <a:prstGeom prst="rect">
            <a:avLst/>
          </a:prstGeom>
        </p:spPr>
      </p:pic>
      <p:sp>
        <p:nvSpPr>
          <p:cNvPr id="45" name="Text 38"/>
          <p:cNvSpPr txBox="1"/>
          <p:nvPr/>
        </p:nvSpPr>
        <p:spPr>
          <a:xfrm>
            <a:off x="4069080"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4. Évaluer</a:t>
            </a:r>
            <a:endParaRPr lang="en-US" sz="1000" dirty="0"/>
          </a:p>
        </p:txBody>
      </p:sp>
      <p:sp>
        <p:nvSpPr>
          <p:cNvPr id="46" name="Text 39"/>
          <p:cNvSpPr txBox="1"/>
          <p:nvPr/>
        </p:nvSpPr>
        <p:spPr>
          <a:xfrm>
            <a:off x="4096512"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Jeu de référence, classes rares, performance humaine</a:t>
            </a:r>
            <a:endParaRPr lang="en-US" sz="850" dirty="0"/>
          </a:p>
        </p:txBody>
      </p:sp>
      <p:sp>
        <p:nvSpPr>
          <p:cNvPr id="47" name="Shape 40"/>
          <p:cNvSpPr/>
          <p:nvPr/>
        </p:nvSpPr>
        <p:spPr>
          <a:xfrm>
            <a:off x="4169664" y="2788920"/>
            <a:ext cx="804672" cy="0"/>
          </a:xfrm>
          <a:prstGeom prst="line">
            <a:avLst/>
          </a:prstGeom>
          <a:noFill/>
          <a:ln w="6350">
            <a:solidFill>
              <a:srgbClr val="D5DED9"/>
            </a:solidFill>
            <a:prstDash val="solid"/>
          </a:ln>
        </p:spPr>
      </p:sp>
      <p:sp>
        <p:nvSpPr>
          <p:cNvPr id="48" name="Text 41"/>
          <p:cNvSpPr txBox="1"/>
          <p:nvPr/>
        </p:nvSpPr>
        <p:spPr>
          <a:xfrm>
            <a:off x="4078224"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Rapport d'évaluation</a:t>
            </a:r>
            <a:endParaRPr lang="en-US" sz="800" dirty="0"/>
          </a:p>
        </p:txBody>
      </p:sp>
      <p:sp>
        <p:nvSpPr>
          <p:cNvPr id="49" name="Shape 42"/>
          <p:cNvSpPr/>
          <p:nvPr/>
        </p:nvSpPr>
        <p:spPr>
          <a:xfrm>
            <a:off x="5116068" y="2011680"/>
            <a:ext cx="103632" cy="0"/>
          </a:xfrm>
          <a:prstGeom prst="line">
            <a:avLst/>
          </a:prstGeom>
          <a:noFill/>
          <a:ln w="15875">
            <a:solidFill>
              <a:srgbClr val="5E6964"/>
            </a:solidFill>
            <a:prstDash val="solid"/>
            <a:tailEnd type="triangle"/>
          </a:ln>
        </p:spPr>
      </p:sp>
      <p:sp>
        <p:nvSpPr>
          <p:cNvPr id="50" name="Shape 43"/>
          <p:cNvSpPr/>
          <p:nvPr/>
        </p:nvSpPr>
        <p:spPr>
          <a:xfrm>
            <a:off x="4105656" y="1243584"/>
            <a:ext cx="932688" cy="182880"/>
          </a:xfrm>
          <a:prstGeom prst="roundRect">
            <a:avLst>
              <a:gd name="adj" fmla="val 50000"/>
            </a:avLst>
          </a:prstGeom>
          <a:solidFill>
            <a:srgbClr val="D49A00"/>
          </a:solidFill>
          <a:ln w="9525">
            <a:solidFill>
              <a:srgbClr val="D49A00"/>
            </a:solidFill>
            <a:prstDash val="solid"/>
          </a:ln>
        </p:spPr>
      </p:sp>
      <p:sp>
        <p:nvSpPr>
          <p:cNvPr id="51" name="Text 44"/>
          <p:cNvSpPr txBox="1"/>
          <p:nvPr/>
        </p:nvSpPr>
        <p:spPr>
          <a:xfrm>
            <a:off x="4105656" y="1243584"/>
            <a:ext cx="93268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PROPRE À UN INS</a:t>
            </a:r>
            <a:endParaRPr lang="en-US" sz="700" dirty="0"/>
          </a:p>
        </p:txBody>
      </p:sp>
      <p:sp>
        <p:nvSpPr>
          <p:cNvPr id="52" name="Shape 45"/>
          <p:cNvSpPr/>
          <p:nvPr/>
        </p:nvSpPr>
        <p:spPr>
          <a:xfrm>
            <a:off x="5224272" y="1371600"/>
            <a:ext cx="1078992" cy="1920240"/>
          </a:xfrm>
          <a:prstGeom prst="roundRect">
            <a:avLst>
              <a:gd name="adj" fmla="val 6780"/>
            </a:avLst>
          </a:prstGeom>
          <a:solidFill>
            <a:srgbClr val="E8F5EF"/>
          </a:solidFill>
          <a:ln w="15875">
            <a:solidFill>
              <a:srgbClr val="00704A"/>
            </a:solidFill>
            <a:prstDash val="solid"/>
          </a:ln>
        </p:spPr>
      </p:sp>
      <p:sp>
        <p:nvSpPr>
          <p:cNvPr id="53" name="Shape 46"/>
          <p:cNvSpPr/>
          <p:nvPr/>
        </p:nvSpPr>
        <p:spPr>
          <a:xfrm>
            <a:off x="5571744" y="1481328"/>
            <a:ext cx="384048" cy="384048"/>
          </a:xfrm>
          <a:prstGeom prst="ellipse">
            <a:avLst/>
          </a:prstGeom>
          <a:solidFill>
            <a:srgbClr val="00704A">
              <a:alpha val="22000"/>
            </a:srgbClr>
          </a:solidFill>
          <a:ln/>
        </p:spPr>
      </p:sp>
      <p:pic>
        <p:nvPicPr>
          <p:cNvPr id="54" name="Image 4" descr="preencoded.png"/>
          <p:cNvPicPr>
            <a:picLocks noChangeAspect="1"/>
          </p:cNvPicPr>
          <p:nvPr/>
        </p:nvPicPr>
        <p:blipFill>
          <a:blip r:embed="rId7"/>
          <a:stretch>
            <a:fillRect/>
          </a:stretch>
        </p:blipFill>
        <p:spPr>
          <a:xfrm>
            <a:off x="5663916" y="1573500"/>
            <a:ext cx="199705" cy="199705"/>
          </a:xfrm>
          <a:prstGeom prst="rect">
            <a:avLst/>
          </a:prstGeom>
        </p:spPr>
      </p:pic>
      <p:sp>
        <p:nvSpPr>
          <p:cNvPr id="55" name="Text 47"/>
          <p:cNvSpPr txBox="1"/>
          <p:nvPr/>
        </p:nvSpPr>
        <p:spPr>
          <a:xfrm>
            <a:off x="5260848"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5. Valider</a:t>
            </a:r>
            <a:endParaRPr lang="en-US" sz="1000" dirty="0"/>
          </a:p>
        </p:txBody>
      </p:sp>
      <p:sp>
        <p:nvSpPr>
          <p:cNvPr id="56" name="Text 48"/>
          <p:cNvSpPr txBox="1"/>
          <p:nvPr/>
        </p:nvSpPr>
        <p:spPr>
          <a:xfrm>
            <a:off x="5288280"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Accord méthodologie et sécurité</a:t>
            </a:r>
            <a:endParaRPr lang="en-US" sz="850" dirty="0"/>
          </a:p>
        </p:txBody>
      </p:sp>
      <p:sp>
        <p:nvSpPr>
          <p:cNvPr id="57" name="Shape 49"/>
          <p:cNvSpPr/>
          <p:nvPr/>
        </p:nvSpPr>
        <p:spPr>
          <a:xfrm>
            <a:off x="5361432" y="2788920"/>
            <a:ext cx="804672" cy="0"/>
          </a:xfrm>
          <a:prstGeom prst="line">
            <a:avLst/>
          </a:prstGeom>
          <a:noFill/>
          <a:ln w="6350">
            <a:solidFill>
              <a:srgbClr val="D5DED9"/>
            </a:solidFill>
            <a:prstDash val="solid"/>
          </a:ln>
        </p:spPr>
      </p:sp>
      <p:sp>
        <p:nvSpPr>
          <p:cNvPr id="58" name="Text 50"/>
          <p:cNvSpPr txBox="1"/>
          <p:nvPr/>
        </p:nvSpPr>
        <p:spPr>
          <a:xfrm>
            <a:off x="5269992"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Entrée au registre des modèles</a:t>
            </a:r>
            <a:endParaRPr lang="en-US" sz="800" dirty="0"/>
          </a:p>
        </p:txBody>
      </p:sp>
      <p:sp>
        <p:nvSpPr>
          <p:cNvPr id="59" name="Shape 51"/>
          <p:cNvSpPr/>
          <p:nvPr/>
        </p:nvSpPr>
        <p:spPr>
          <a:xfrm>
            <a:off x="6307836" y="2011680"/>
            <a:ext cx="103632" cy="0"/>
          </a:xfrm>
          <a:prstGeom prst="line">
            <a:avLst/>
          </a:prstGeom>
          <a:noFill/>
          <a:ln w="15875">
            <a:solidFill>
              <a:srgbClr val="5E6964"/>
            </a:solidFill>
            <a:prstDash val="solid"/>
            <a:tailEnd type="triangle"/>
          </a:ln>
        </p:spPr>
      </p:sp>
      <p:sp>
        <p:nvSpPr>
          <p:cNvPr id="60" name="Shape 52"/>
          <p:cNvSpPr/>
          <p:nvPr/>
        </p:nvSpPr>
        <p:spPr>
          <a:xfrm>
            <a:off x="5297424" y="1243584"/>
            <a:ext cx="932688" cy="182880"/>
          </a:xfrm>
          <a:prstGeom prst="roundRect">
            <a:avLst>
              <a:gd name="adj" fmla="val 50000"/>
            </a:avLst>
          </a:prstGeom>
          <a:solidFill>
            <a:srgbClr val="D49A00"/>
          </a:solidFill>
          <a:ln w="9525">
            <a:solidFill>
              <a:srgbClr val="D49A00"/>
            </a:solidFill>
            <a:prstDash val="solid"/>
          </a:ln>
        </p:spPr>
      </p:sp>
      <p:sp>
        <p:nvSpPr>
          <p:cNvPr id="61" name="Text 53"/>
          <p:cNvSpPr txBox="1"/>
          <p:nvPr/>
        </p:nvSpPr>
        <p:spPr>
          <a:xfrm>
            <a:off x="5297424" y="1243584"/>
            <a:ext cx="932688"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PROPRE À UN INS</a:t>
            </a:r>
            <a:endParaRPr lang="en-US" sz="700" dirty="0"/>
          </a:p>
        </p:txBody>
      </p:sp>
      <p:sp>
        <p:nvSpPr>
          <p:cNvPr id="62" name="Shape 54"/>
          <p:cNvSpPr/>
          <p:nvPr/>
        </p:nvSpPr>
        <p:spPr>
          <a:xfrm>
            <a:off x="6416040" y="1371600"/>
            <a:ext cx="1078992" cy="1920240"/>
          </a:xfrm>
          <a:prstGeom prst="roundRect">
            <a:avLst>
              <a:gd name="adj" fmla="val 6780"/>
            </a:avLst>
          </a:prstGeom>
          <a:solidFill>
            <a:srgbClr val="F4F7F5"/>
          </a:solidFill>
          <a:ln w="9525">
            <a:solidFill>
              <a:srgbClr val="D5DED9"/>
            </a:solidFill>
            <a:prstDash val="solid"/>
          </a:ln>
        </p:spPr>
      </p:sp>
      <p:sp>
        <p:nvSpPr>
          <p:cNvPr id="63" name="Shape 55"/>
          <p:cNvSpPr/>
          <p:nvPr/>
        </p:nvSpPr>
        <p:spPr>
          <a:xfrm>
            <a:off x="6763512" y="1481328"/>
            <a:ext cx="384048" cy="384048"/>
          </a:xfrm>
          <a:prstGeom prst="ellipse">
            <a:avLst/>
          </a:prstGeom>
          <a:solidFill>
            <a:srgbClr val="00704A">
              <a:alpha val="22000"/>
            </a:srgbClr>
          </a:solidFill>
          <a:ln/>
        </p:spPr>
      </p:sp>
      <p:pic>
        <p:nvPicPr>
          <p:cNvPr id="64" name="Image 5" descr="preencoded.png"/>
          <p:cNvPicPr>
            <a:picLocks noChangeAspect="1"/>
          </p:cNvPicPr>
          <p:nvPr/>
        </p:nvPicPr>
        <p:blipFill>
          <a:blip r:embed="rId8"/>
          <a:stretch>
            <a:fillRect/>
          </a:stretch>
        </p:blipFill>
        <p:spPr>
          <a:xfrm>
            <a:off x="6855684" y="1573500"/>
            <a:ext cx="199705" cy="199705"/>
          </a:xfrm>
          <a:prstGeom prst="rect">
            <a:avLst/>
          </a:prstGeom>
        </p:spPr>
      </p:pic>
      <p:sp>
        <p:nvSpPr>
          <p:cNvPr id="65" name="Text 56"/>
          <p:cNvSpPr txBox="1"/>
          <p:nvPr/>
        </p:nvSpPr>
        <p:spPr>
          <a:xfrm>
            <a:off x="6452616"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6. Servir</a:t>
            </a:r>
            <a:endParaRPr lang="en-US" sz="1000" dirty="0"/>
          </a:p>
        </p:txBody>
      </p:sp>
      <p:sp>
        <p:nvSpPr>
          <p:cNvPr id="66" name="Text 57"/>
          <p:cNvSpPr txBox="1"/>
          <p:nvPr/>
        </p:nvSpPr>
        <p:spPr>
          <a:xfrm>
            <a:off x="6480048"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Lot ou API, versionné</a:t>
            </a:r>
            <a:endParaRPr lang="en-US" sz="850" dirty="0"/>
          </a:p>
        </p:txBody>
      </p:sp>
      <p:sp>
        <p:nvSpPr>
          <p:cNvPr id="67" name="Shape 58"/>
          <p:cNvSpPr/>
          <p:nvPr/>
        </p:nvSpPr>
        <p:spPr>
          <a:xfrm>
            <a:off x="6553200" y="2788920"/>
            <a:ext cx="804672" cy="0"/>
          </a:xfrm>
          <a:prstGeom prst="line">
            <a:avLst/>
          </a:prstGeom>
          <a:noFill/>
          <a:ln w="6350">
            <a:solidFill>
              <a:srgbClr val="D5DED9"/>
            </a:solidFill>
            <a:prstDash val="solid"/>
          </a:ln>
        </p:spPr>
      </p:sp>
      <p:sp>
        <p:nvSpPr>
          <p:cNvPr id="68" name="Text 59"/>
          <p:cNvSpPr txBox="1"/>
          <p:nvPr/>
        </p:nvSpPr>
        <p:spPr>
          <a:xfrm>
            <a:off x="6461760"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Chaîne orchestrée</a:t>
            </a:r>
            <a:endParaRPr lang="en-US" sz="800" dirty="0"/>
          </a:p>
        </p:txBody>
      </p:sp>
      <p:sp>
        <p:nvSpPr>
          <p:cNvPr id="69" name="Shape 60"/>
          <p:cNvSpPr/>
          <p:nvPr/>
        </p:nvSpPr>
        <p:spPr>
          <a:xfrm>
            <a:off x="7499604" y="2011680"/>
            <a:ext cx="103632" cy="0"/>
          </a:xfrm>
          <a:prstGeom prst="line">
            <a:avLst/>
          </a:prstGeom>
          <a:noFill/>
          <a:ln w="15875">
            <a:solidFill>
              <a:srgbClr val="5E6964"/>
            </a:solidFill>
            <a:prstDash val="solid"/>
            <a:tailEnd type="triangle"/>
          </a:ln>
        </p:spPr>
      </p:sp>
      <p:sp>
        <p:nvSpPr>
          <p:cNvPr id="70" name="Shape 61"/>
          <p:cNvSpPr/>
          <p:nvPr/>
        </p:nvSpPr>
        <p:spPr>
          <a:xfrm>
            <a:off x="7607808" y="1371600"/>
            <a:ext cx="1078992" cy="1920240"/>
          </a:xfrm>
          <a:prstGeom prst="roundRect">
            <a:avLst>
              <a:gd name="adj" fmla="val 6780"/>
            </a:avLst>
          </a:prstGeom>
          <a:solidFill>
            <a:srgbClr val="F4F7F5"/>
          </a:solidFill>
          <a:ln w="9525">
            <a:solidFill>
              <a:srgbClr val="D5DED9"/>
            </a:solidFill>
            <a:prstDash val="solid"/>
          </a:ln>
        </p:spPr>
      </p:sp>
      <p:sp>
        <p:nvSpPr>
          <p:cNvPr id="71" name="Shape 62"/>
          <p:cNvSpPr/>
          <p:nvPr/>
        </p:nvSpPr>
        <p:spPr>
          <a:xfrm>
            <a:off x="7955280" y="1481328"/>
            <a:ext cx="384048" cy="384048"/>
          </a:xfrm>
          <a:prstGeom prst="ellipse">
            <a:avLst/>
          </a:prstGeom>
          <a:solidFill>
            <a:srgbClr val="00704A">
              <a:alpha val="22000"/>
            </a:srgbClr>
          </a:solidFill>
          <a:ln/>
        </p:spPr>
      </p:sp>
      <p:pic>
        <p:nvPicPr>
          <p:cNvPr id="72" name="Image 6" descr="preencoded.png"/>
          <p:cNvPicPr>
            <a:picLocks noChangeAspect="1"/>
          </p:cNvPicPr>
          <p:nvPr/>
        </p:nvPicPr>
        <p:blipFill>
          <a:blip r:embed="rId9"/>
          <a:stretch>
            <a:fillRect/>
          </a:stretch>
        </p:blipFill>
        <p:spPr>
          <a:xfrm>
            <a:off x="8047452" y="1573500"/>
            <a:ext cx="199705" cy="199705"/>
          </a:xfrm>
          <a:prstGeom prst="rect">
            <a:avLst/>
          </a:prstGeom>
        </p:spPr>
      </p:pic>
      <p:sp>
        <p:nvSpPr>
          <p:cNvPr id="73" name="Text 63"/>
          <p:cNvSpPr txBox="1"/>
          <p:nvPr/>
        </p:nvSpPr>
        <p:spPr>
          <a:xfrm>
            <a:off x="7644384" y="1920240"/>
            <a:ext cx="1005840" cy="228600"/>
          </a:xfrm>
          <a:prstGeom prst="rect">
            <a:avLst/>
          </a:prstGeom>
          <a:noFill/>
          <a:ln/>
        </p:spPr>
        <p:txBody>
          <a:bodyPr wrap="square" lIns="0" tIns="0" rIns="0" bIns="0" rtlCol="0" anchor="t">
            <a:normAutofit/>
          </a:bodyPr>
          <a:lstStyle/>
          <a:p>
            <a:pPr marL="0" indent="0" algn="ctr">
              <a:buNone/>
            </a:pPr>
            <a:r>
              <a:rPr lang="en-US" sz="1000" b="1" dirty="0">
                <a:solidFill>
                  <a:srgbClr val="231F20"/>
                </a:solidFill>
                <a:latin typeface="Calibri" pitchFamily="34" charset="0"/>
                <a:ea typeface="Calibri" pitchFamily="34" charset="-122"/>
                <a:cs typeface="Calibri" pitchFamily="34" charset="-120"/>
              </a:rPr>
              <a:t>7. Surveiller</a:t>
            </a:r>
            <a:endParaRPr lang="en-US" sz="1000" dirty="0"/>
          </a:p>
        </p:txBody>
      </p:sp>
      <p:sp>
        <p:nvSpPr>
          <p:cNvPr id="74" name="Text 64"/>
          <p:cNvSpPr txBox="1"/>
          <p:nvPr/>
        </p:nvSpPr>
        <p:spPr>
          <a:xfrm>
            <a:off x="7671816" y="2176272"/>
            <a:ext cx="950976" cy="585216"/>
          </a:xfrm>
          <a:prstGeom prst="rect">
            <a:avLst/>
          </a:prstGeom>
          <a:noFill/>
          <a:ln/>
        </p:spPr>
        <p:txBody>
          <a:bodyPr wrap="square" lIns="0" tIns="0" rIns="0" bIns="0" rtlCol="0" anchor="t"/>
          <a:lstStyle/>
          <a:p>
            <a:pPr marL="0" indent="0" algn="ctr">
              <a:buNone/>
            </a:pPr>
            <a:r>
              <a:rPr lang="en-US" sz="850" dirty="0">
                <a:solidFill>
                  <a:srgbClr val="5E6964"/>
                </a:solidFill>
                <a:latin typeface="Calibri" pitchFamily="34" charset="0"/>
                <a:ea typeface="Calibri" pitchFamily="34" charset="-122"/>
                <a:cs typeface="Calibri" pitchFamily="34" charset="-120"/>
              </a:rPr>
              <a:t>Dérive, sorties, latence, coût</a:t>
            </a:r>
            <a:endParaRPr lang="en-US" sz="850" dirty="0"/>
          </a:p>
        </p:txBody>
      </p:sp>
      <p:sp>
        <p:nvSpPr>
          <p:cNvPr id="75" name="Shape 65"/>
          <p:cNvSpPr/>
          <p:nvPr/>
        </p:nvSpPr>
        <p:spPr>
          <a:xfrm>
            <a:off x="7744968" y="2788920"/>
            <a:ext cx="804672" cy="0"/>
          </a:xfrm>
          <a:prstGeom prst="line">
            <a:avLst/>
          </a:prstGeom>
          <a:noFill/>
          <a:ln w="6350">
            <a:solidFill>
              <a:srgbClr val="D5DED9"/>
            </a:solidFill>
            <a:prstDash val="solid"/>
          </a:ln>
        </p:spPr>
      </p:sp>
      <p:sp>
        <p:nvSpPr>
          <p:cNvPr id="76" name="Text 66"/>
          <p:cNvSpPr txBox="1"/>
          <p:nvPr/>
        </p:nvSpPr>
        <p:spPr>
          <a:xfrm>
            <a:off x="7653528" y="2834640"/>
            <a:ext cx="987552" cy="38404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Tableaux de bord et alertes</a:t>
            </a:r>
            <a:endParaRPr lang="en-US" sz="800" dirty="0"/>
          </a:p>
        </p:txBody>
      </p:sp>
      <p:sp>
        <p:nvSpPr>
          <p:cNvPr id="77" name="Shape 67"/>
          <p:cNvSpPr/>
          <p:nvPr/>
        </p:nvSpPr>
        <p:spPr>
          <a:xfrm>
            <a:off x="8147304" y="3291840"/>
            <a:ext cx="0" cy="228600"/>
          </a:xfrm>
          <a:prstGeom prst="line">
            <a:avLst/>
          </a:prstGeom>
          <a:noFill/>
          <a:ln w="19050">
            <a:solidFill>
              <a:srgbClr val="00A86A"/>
            </a:solidFill>
            <a:prstDash val="solid"/>
          </a:ln>
        </p:spPr>
      </p:sp>
      <p:sp>
        <p:nvSpPr>
          <p:cNvPr id="78" name="Shape 68"/>
          <p:cNvSpPr/>
          <p:nvPr/>
        </p:nvSpPr>
        <p:spPr>
          <a:xfrm>
            <a:off x="2188464" y="3520440"/>
            <a:ext cx="5958840" cy="0"/>
          </a:xfrm>
          <a:prstGeom prst="line">
            <a:avLst/>
          </a:prstGeom>
          <a:noFill/>
          <a:ln w="19050">
            <a:solidFill>
              <a:srgbClr val="00A86A"/>
            </a:solidFill>
            <a:prstDash val="solid"/>
          </a:ln>
        </p:spPr>
      </p:sp>
      <p:sp>
        <p:nvSpPr>
          <p:cNvPr id="79" name="Shape 69"/>
          <p:cNvSpPr/>
          <p:nvPr/>
        </p:nvSpPr>
        <p:spPr>
          <a:xfrm>
            <a:off x="2188464" y="3310128"/>
            <a:ext cx="0" cy="210312"/>
          </a:xfrm>
          <a:prstGeom prst="line">
            <a:avLst/>
          </a:prstGeom>
          <a:noFill/>
          <a:ln w="19050">
            <a:solidFill>
              <a:srgbClr val="00A86A"/>
            </a:solidFill>
            <a:prstDash val="solid"/>
            <a:headEnd type="triangle"/>
          </a:ln>
        </p:spPr>
      </p:sp>
      <p:sp>
        <p:nvSpPr>
          <p:cNvPr id="80" name="Text 70"/>
          <p:cNvSpPr txBox="1"/>
          <p:nvPr/>
        </p:nvSpPr>
        <p:spPr>
          <a:xfrm>
            <a:off x="2325624" y="3566160"/>
            <a:ext cx="5943600" cy="201168"/>
          </a:xfrm>
          <a:prstGeom prst="rect">
            <a:avLst/>
          </a:prstGeom>
          <a:noFill/>
          <a:ln/>
        </p:spPr>
        <p:txBody>
          <a:bodyPr wrap="square" lIns="0" tIns="0" rIns="0" bIns="0" rtlCol="0" anchor="t"/>
          <a:lstStyle/>
          <a:p>
            <a:pPr marL="0" indent="0">
              <a:buNone/>
            </a:pPr>
            <a:r>
              <a:rPr lang="en-US" sz="900" i="1" dirty="0">
                <a:solidFill>
                  <a:srgbClr val="00704A"/>
                </a:solidFill>
                <a:latin typeface="Calibri" pitchFamily="34" charset="0"/>
                <a:ea typeface="Calibri" pitchFamily="34" charset="-122"/>
                <a:cs typeface="Calibri" pitchFamily="34" charset="-120"/>
              </a:rPr>
              <a:t>Boucle de réentraînement : le suivi renvoie de nouveaux cas annotés vers l'étape 2 selon un calendrier documenté</a:t>
            </a:r>
            <a:endParaRPr lang="en-US" sz="900" dirty="0"/>
          </a:p>
        </p:txBody>
      </p:sp>
      <p:sp>
        <p:nvSpPr>
          <p:cNvPr id="81" name="Shape 71"/>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82" name="Shape 72"/>
          <p:cNvSpPr/>
          <p:nvPr/>
        </p:nvSpPr>
        <p:spPr>
          <a:xfrm>
            <a:off x="566928" y="4215384"/>
            <a:ext cx="292608" cy="292608"/>
          </a:xfrm>
          <a:prstGeom prst="ellipse">
            <a:avLst/>
          </a:prstGeom>
          <a:solidFill>
            <a:srgbClr val="00A86A">
              <a:alpha val="22000"/>
            </a:srgbClr>
          </a:solidFill>
          <a:ln/>
        </p:spPr>
      </p:sp>
      <p:pic>
        <p:nvPicPr>
          <p:cNvPr id="83" name="Image 7" descr="preencoded.png"/>
          <p:cNvPicPr>
            <a:picLocks noChangeAspect="1"/>
          </p:cNvPicPr>
          <p:nvPr/>
        </p:nvPicPr>
        <p:blipFill>
          <a:blip r:embed="rId10"/>
          <a:stretch>
            <a:fillRect/>
          </a:stretch>
        </p:blipFill>
        <p:spPr>
          <a:xfrm>
            <a:off x="637154" y="4285610"/>
            <a:ext cx="152156" cy="152156"/>
          </a:xfrm>
          <a:prstGeom prst="rect">
            <a:avLst/>
          </a:prstGeom>
        </p:spPr>
      </p:pic>
      <p:sp>
        <p:nvSpPr>
          <p:cNvPr id="84" name="Text 73"/>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Les étapes 4 et 5 ne s'empruntent pas à l'industrie : c'est la méthodologie, et non l'ingénierie, qui tient la plume.</a:t>
            </a:r>
            <a:endParaRPr lang="en-US" sz="10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3 · ENVIRONNEMENTS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Environnements et chemin de promotion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Quelles données sont visibles où — ce schéma règle la plupart des désaccords entre analystes et sécurité</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8" name="Shape 15"/>
          <p:cNvSpPr/>
          <p:nvPr/>
        </p:nvSpPr>
        <p:spPr>
          <a:xfrm>
            <a:off x="457200" y="1371600"/>
            <a:ext cx="2514600" cy="2331720"/>
          </a:xfrm>
          <a:prstGeom prst="roundRect">
            <a:avLst>
              <a:gd name="adj" fmla="val 3137"/>
            </a:avLst>
          </a:prstGeom>
          <a:solidFill>
            <a:srgbClr val="F4F7F5"/>
          </a:solidFill>
          <a:ln w="9525">
            <a:solidFill>
              <a:srgbClr val="D5DED9"/>
            </a:solidFill>
            <a:prstDash val="solid"/>
          </a:ln>
        </p:spPr>
      </p:sp>
      <p:sp>
        <p:nvSpPr>
          <p:cNvPr id="19" name="Shape 16"/>
          <p:cNvSpPr/>
          <p:nvPr/>
        </p:nvSpPr>
        <p:spPr>
          <a:xfrm>
            <a:off x="594360" y="1490472"/>
            <a:ext cx="822960" cy="329184"/>
          </a:xfrm>
          <a:prstGeom prst="roundRect">
            <a:avLst>
              <a:gd name="adj" fmla="val 16667"/>
            </a:avLst>
          </a:prstGeom>
          <a:solidFill>
            <a:srgbClr val="0E7C86"/>
          </a:solidFill>
          <a:ln/>
        </p:spPr>
      </p:sp>
      <p:sp>
        <p:nvSpPr>
          <p:cNvPr id="20" name="Text 17"/>
          <p:cNvSpPr txBox="1"/>
          <p:nvPr/>
        </p:nvSpPr>
        <p:spPr>
          <a:xfrm>
            <a:off x="5943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DEV</a:t>
            </a:r>
            <a:endParaRPr lang="en-US" sz="1300" dirty="0"/>
          </a:p>
        </p:txBody>
      </p:sp>
      <p:sp>
        <p:nvSpPr>
          <p:cNvPr id="21" name="Text 18"/>
          <p:cNvSpPr txBox="1"/>
          <p:nvPr/>
        </p:nvSpPr>
        <p:spPr>
          <a:xfrm>
            <a:off x="1508760" y="1490472"/>
            <a:ext cx="141732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Expérimentation</a:t>
            </a:r>
            <a:endParaRPr lang="en-US" sz="1150" dirty="0"/>
          </a:p>
        </p:txBody>
      </p:sp>
      <p:pic>
        <p:nvPicPr>
          <p:cNvPr id="22" name="Image 0" descr="preencoded.png"/>
          <p:cNvPicPr>
            <a:picLocks noChangeAspect="1"/>
          </p:cNvPicPr>
          <p:nvPr/>
        </p:nvPicPr>
        <p:blipFill>
          <a:blip r:embed="rId3"/>
          <a:stretch>
            <a:fillRect/>
          </a:stretch>
        </p:blipFill>
        <p:spPr>
          <a:xfrm>
            <a:off x="594360" y="1965960"/>
            <a:ext cx="137160" cy="137160"/>
          </a:xfrm>
          <a:prstGeom prst="rect">
            <a:avLst/>
          </a:prstGeom>
        </p:spPr>
      </p:pic>
      <p:sp>
        <p:nvSpPr>
          <p:cNvPr id="23" name="Text 19"/>
          <p:cNvSpPr txBox="1"/>
          <p:nvPr/>
        </p:nvSpPr>
        <p:spPr>
          <a:xfrm>
            <a:off x="804672" y="1938528"/>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Données synthétiques ou publiées</a:t>
            </a:r>
            <a:endParaRPr lang="en-US" sz="900" dirty="0"/>
          </a:p>
        </p:txBody>
      </p:sp>
      <p:pic>
        <p:nvPicPr>
          <p:cNvPr id="24" name="Image 1" descr="preencoded.png"/>
          <p:cNvPicPr>
            <a:picLocks noChangeAspect="1"/>
          </p:cNvPicPr>
          <p:nvPr/>
        </p:nvPicPr>
        <p:blipFill>
          <a:blip r:embed="rId3"/>
          <a:stretch>
            <a:fillRect/>
          </a:stretch>
        </p:blipFill>
        <p:spPr>
          <a:xfrm>
            <a:off x="594360" y="2276856"/>
            <a:ext cx="137160" cy="137160"/>
          </a:xfrm>
          <a:prstGeom prst="rect">
            <a:avLst/>
          </a:prstGeom>
        </p:spPr>
      </p:pic>
      <p:sp>
        <p:nvSpPr>
          <p:cNvPr id="25" name="Text 20"/>
          <p:cNvSpPr txBox="1"/>
          <p:nvPr/>
        </p:nvSpPr>
        <p:spPr>
          <a:xfrm>
            <a:off x="804672" y="2249424"/>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Installation libre de paquets</a:t>
            </a:r>
            <a:endParaRPr lang="en-US" sz="900" dirty="0"/>
          </a:p>
        </p:txBody>
      </p:sp>
      <p:pic>
        <p:nvPicPr>
          <p:cNvPr id="26" name="Image 2" descr="preencoded.png"/>
          <p:cNvPicPr>
            <a:picLocks noChangeAspect="1"/>
          </p:cNvPicPr>
          <p:nvPr/>
        </p:nvPicPr>
        <p:blipFill>
          <a:blip r:embed="rId3"/>
          <a:stretch>
            <a:fillRect/>
          </a:stretch>
        </p:blipFill>
        <p:spPr>
          <a:xfrm>
            <a:off x="594360" y="2587752"/>
            <a:ext cx="137160" cy="137160"/>
          </a:xfrm>
          <a:prstGeom prst="rect">
            <a:avLst/>
          </a:prstGeom>
        </p:spPr>
      </p:pic>
      <p:sp>
        <p:nvSpPr>
          <p:cNvPr id="27" name="Text 21"/>
          <p:cNvSpPr txBox="1"/>
          <p:nvPr/>
        </p:nvSpPr>
        <p:spPr>
          <a:xfrm>
            <a:off x="804672" y="2560320"/>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Comptes individuels, pas de secret partagé</a:t>
            </a:r>
            <a:endParaRPr lang="en-US" sz="900" dirty="0"/>
          </a:p>
        </p:txBody>
      </p:sp>
      <p:pic>
        <p:nvPicPr>
          <p:cNvPr id="28" name="Image 3" descr="preencoded.png"/>
          <p:cNvPicPr>
            <a:picLocks noChangeAspect="1"/>
          </p:cNvPicPr>
          <p:nvPr/>
        </p:nvPicPr>
        <p:blipFill>
          <a:blip r:embed="rId3"/>
          <a:stretch>
            <a:fillRect/>
          </a:stretch>
        </p:blipFill>
        <p:spPr>
          <a:xfrm>
            <a:off x="594360" y="2898648"/>
            <a:ext cx="137160" cy="137160"/>
          </a:xfrm>
          <a:prstGeom prst="rect">
            <a:avLst/>
          </a:prstGeom>
        </p:spPr>
      </p:pic>
      <p:sp>
        <p:nvSpPr>
          <p:cNvPr id="29" name="Text 22"/>
          <p:cNvSpPr txBox="1"/>
          <p:nvPr/>
        </p:nvSpPr>
        <p:spPr>
          <a:xfrm>
            <a:off x="804672" y="2871216"/>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Aucun accès à la production</a:t>
            </a:r>
            <a:endParaRPr lang="en-US" sz="900" dirty="0"/>
          </a:p>
        </p:txBody>
      </p:sp>
      <p:sp>
        <p:nvSpPr>
          <p:cNvPr id="30" name="Shape 23"/>
          <p:cNvSpPr/>
          <p:nvPr/>
        </p:nvSpPr>
        <p:spPr>
          <a:xfrm>
            <a:off x="594360" y="3218688"/>
            <a:ext cx="2240280" cy="0"/>
          </a:xfrm>
          <a:prstGeom prst="line">
            <a:avLst/>
          </a:prstGeom>
          <a:noFill/>
          <a:ln w="6350">
            <a:solidFill>
              <a:srgbClr val="D5DED9"/>
            </a:solidFill>
            <a:prstDash val="solid"/>
          </a:ln>
        </p:spPr>
      </p:sp>
      <p:sp>
        <p:nvSpPr>
          <p:cNvPr id="31" name="Text 24"/>
          <p:cNvSpPr txBox="1"/>
          <p:nvPr/>
        </p:nvSpPr>
        <p:spPr>
          <a:xfrm>
            <a:off x="594360" y="3255264"/>
            <a:ext cx="2240280"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approuvée par
</a:t>
            </a:r>
            <a:r>
              <a:rPr lang="en-US" sz="950" b="1" dirty="0">
                <a:solidFill>
                  <a:srgbClr val="231F20"/>
                </a:solidFill>
                <a:latin typeface="Calibri" pitchFamily="34" charset="0"/>
                <a:ea typeface="Calibri" pitchFamily="34" charset="-122"/>
                <a:cs typeface="Calibri" pitchFamily="34" charset="-120"/>
              </a:rPr>
              <a:t>Analyste ou data scientist</a:t>
            </a:r>
            <a:endParaRPr lang="en-US" sz="950" dirty="0"/>
          </a:p>
        </p:txBody>
      </p:sp>
      <p:sp>
        <p:nvSpPr>
          <p:cNvPr id="32" name="Shape 25"/>
          <p:cNvSpPr/>
          <p:nvPr/>
        </p:nvSpPr>
        <p:spPr>
          <a:xfrm>
            <a:off x="2999232" y="2514600"/>
            <a:ext cx="288036" cy="0"/>
          </a:xfrm>
          <a:prstGeom prst="line">
            <a:avLst/>
          </a:prstGeom>
          <a:noFill/>
          <a:ln w="15875">
            <a:solidFill>
              <a:srgbClr val="5E6964"/>
            </a:solidFill>
            <a:prstDash val="solid"/>
            <a:tailEnd type="triangle"/>
          </a:ln>
        </p:spPr>
      </p:sp>
      <p:sp>
        <p:nvSpPr>
          <p:cNvPr id="33" name="Shape 26"/>
          <p:cNvSpPr/>
          <p:nvPr/>
        </p:nvSpPr>
        <p:spPr>
          <a:xfrm>
            <a:off x="3314700" y="1371600"/>
            <a:ext cx="2514600" cy="2331720"/>
          </a:xfrm>
          <a:prstGeom prst="roundRect">
            <a:avLst>
              <a:gd name="adj" fmla="val 3137"/>
            </a:avLst>
          </a:prstGeom>
          <a:solidFill>
            <a:srgbClr val="F4F7F5"/>
          </a:solidFill>
          <a:ln w="9525">
            <a:solidFill>
              <a:srgbClr val="D5DED9"/>
            </a:solidFill>
            <a:prstDash val="solid"/>
          </a:ln>
        </p:spPr>
      </p:sp>
      <p:sp>
        <p:nvSpPr>
          <p:cNvPr id="34" name="Shape 27"/>
          <p:cNvSpPr/>
          <p:nvPr/>
        </p:nvSpPr>
        <p:spPr>
          <a:xfrm>
            <a:off x="3451860" y="1490472"/>
            <a:ext cx="822960" cy="329184"/>
          </a:xfrm>
          <a:prstGeom prst="roundRect">
            <a:avLst>
              <a:gd name="adj" fmla="val 16667"/>
            </a:avLst>
          </a:prstGeom>
          <a:solidFill>
            <a:srgbClr val="D49A00"/>
          </a:solidFill>
          <a:ln/>
        </p:spPr>
      </p:sp>
      <p:sp>
        <p:nvSpPr>
          <p:cNvPr id="35" name="Text 28"/>
          <p:cNvSpPr txBox="1"/>
          <p:nvPr/>
        </p:nvSpPr>
        <p:spPr>
          <a:xfrm>
            <a:off x="34518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36" name="Text 29"/>
          <p:cNvSpPr txBox="1"/>
          <p:nvPr/>
        </p:nvSpPr>
        <p:spPr>
          <a:xfrm>
            <a:off x="4366260" y="1490472"/>
            <a:ext cx="141732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Pré-production</a:t>
            </a:r>
            <a:endParaRPr lang="en-US" sz="1150" dirty="0"/>
          </a:p>
        </p:txBody>
      </p:sp>
      <p:pic>
        <p:nvPicPr>
          <p:cNvPr id="37" name="Image 4" descr="preencoded.png"/>
          <p:cNvPicPr>
            <a:picLocks noChangeAspect="1"/>
          </p:cNvPicPr>
          <p:nvPr/>
        </p:nvPicPr>
        <p:blipFill>
          <a:blip r:embed="rId4"/>
          <a:stretch>
            <a:fillRect/>
          </a:stretch>
        </p:blipFill>
        <p:spPr>
          <a:xfrm>
            <a:off x="3451860" y="1965960"/>
            <a:ext cx="137160" cy="137160"/>
          </a:xfrm>
          <a:prstGeom prst="rect">
            <a:avLst/>
          </a:prstGeom>
        </p:spPr>
      </p:pic>
      <p:sp>
        <p:nvSpPr>
          <p:cNvPr id="38" name="Text 30"/>
          <p:cNvSpPr txBox="1"/>
          <p:nvPr/>
        </p:nvSpPr>
        <p:spPr>
          <a:xfrm>
            <a:off x="3662172" y="1938528"/>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Données réelles anonymisées</a:t>
            </a:r>
            <a:endParaRPr lang="en-US" sz="900" dirty="0"/>
          </a:p>
        </p:txBody>
      </p:sp>
      <p:pic>
        <p:nvPicPr>
          <p:cNvPr id="39" name="Image 5" descr="preencoded.png"/>
          <p:cNvPicPr>
            <a:picLocks noChangeAspect="1"/>
          </p:cNvPicPr>
          <p:nvPr/>
        </p:nvPicPr>
        <p:blipFill>
          <a:blip r:embed="rId4"/>
          <a:stretch>
            <a:fillRect/>
          </a:stretch>
        </p:blipFill>
        <p:spPr>
          <a:xfrm>
            <a:off x="3451860" y="2276856"/>
            <a:ext cx="137160" cy="137160"/>
          </a:xfrm>
          <a:prstGeom prst="rect">
            <a:avLst/>
          </a:prstGeom>
        </p:spPr>
      </p:pic>
      <p:sp>
        <p:nvSpPr>
          <p:cNvPr id="40" name="Text 31"/>
          <p:cNvSpPr txBox="1"/>
          <p:nvPr/>
        </p:nvSpPr>
        <p:spPr>
          <a:xfrm>
            <a:off x="3662172" y="2249424"/>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Miroir de paquets validé</a:t>
            </a:r>
            <a:endParaRPr lang="en-US" sz="900" dirty="0"/>
          </a:p>
        </p:txBody>
      </p:sp>
      <p:pic>
        <p:nvPicPr>
          <p:cNvPr id="41" name="Image 6" descr="preencoded.png"/>
          <p:cNvPicPr>
            <a:picLocks noChangeAspect="1"/>
          </p:cNvPicPr>
          <p:nvPr/>
        </p:nvPicPr>
        <p:blipFill>
          <a:blip r:embed="rId4"/>
          <a:stretch>
            <a:fillRect/>
          </a:stretch>
        </p:blipFill>
        <p:spPr>
          <a:xfrm>
            <a:off x="3451860" y="2587752"/>
            <a:ext cx="137160" cy="137160"/>
          </a:xfrm>
          <a:prstGeom prst="rect">
            <a:avLst/>
          </a:prstGeom>
        </p:spPr>
      </p:pic>
      <p:sp>
        <p:nvSpPr>
          <p:cNvPr id="42" name="Text 32"/>
          <p:cNvSpPr txBox="1"/>
          <p:nvPr/>
        </p:nvSpPr>
        <p:spPr>
          <a:xfrm>
            <a:off x="3662172" y="2560320"/>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Accès nominatif et limité dans le temps</a:t>
            </a:r>
            <a:endParaRPr lang="en-US" sz="900" dirty="0"/>
          </a:p>
        </p:txBody>
      </p:sp>
      <p:pic>
        <p:nvPicPr>
          <p:cNvPr id="43" name="Image 7" descr="preencoded.png"/>
          <p:cNvPicPr>
            <a:picLocks noChangeAspect="1"/>
          </p:cNvPicPr>
          <p:nvPr/>
        </p:nvPicPr>
        <p:blipFill>
          <a:blip r:embed="rId4"/>
          <a:stretch>
            <a:fillRect/>
          </a:stretch>
        </p:blipFill>
        <p:spPr>
          <a:xfrm>
            <a:off x="3451860" y="2898648"/>
            <a:ext cx="137160" cy="137160"/>
          </a:xfrm>
          <a:prstGeom prst="rect">
            <a:avLst/>
          </a:prstGeom>
        </p:spPr>
      </p:pic>
      <p:sp>
        <p:nvSpPr>
          <p:cNvPr id="44" name="Text 33"/>
          <p:cNvSpPr txBox="1"/>
          <p:nvPr/>
        </p:nvSpPr>
        <p:spPr>
          <a:xfrm>
            <a:off x="3662172" y="2871216"/>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Configuration identique à la production</a:t>
            </a:r>
            <a:endParaRPr lang="en-US" sz="900" dirty="0"/>
          </a:p>
        </p:txBody>
      </p:sp>
      <p:sp>
        <p:nvSpPr>
          <p:cNvPr id="45" name="Shape 34"/>
          <p:cNvSpPr/>
          <p:nvPr/>
        </p:nvSpPr>
        <p:spPr>
          <a:xfrm>
            <a:off x="3451860" y="3218688"/>
            <a:ext cx="2240280" cy="0"/>
          </a:xfrm>
          <a:prstGeom prst="line">
            <a:avLst/>
          </a:prstGeom>
          <a:noFill/>
          <a:ln w="6350">
            <a:solidFill>
              <a:srgbClr val="D5DED9"/>
            </a:solidFill>
            <a:prstDash val="solid"/>
          </a:ln>
        </p:spPr>
      </p:sp>
      <p:sp>
        <p:nvSpPr>
          <p:cNvPr id="46" name="Text 35"/>
          <p:cNvSpPr txBox="1"/>
          <p:nvPr/>
        </p:nvSpPr>
        <p:spPr>
          <a:xfrm>
            <a:off x="3451860" y="3255264"/>
            <a:ext cx="2240280"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approuvée par
</a:t>
            </a:r>
            <a:r>
              <a:rPr lang="en-US" sz="950" b="1" dirty="0">
                <a:solidFill>
                  <a:srgbClr val="231F20"/>
                </a:solidFill>
                <a:latin typeface="Calibri" pitchFamily="34" charset="0"/>
                <a:ea typeface="Calibri" pitchFamily="34" charset="-122"/>
                <a:cs typeface="Calibri" pitchFamily="34" charset="-120"/>
              </a:rPr>
              <a:t>Chef d'équipe + propriétaire des données</a:t>
            </a:r>
            <a:endParaRPr lang="en-US" sz="950" dirty="0"/>
          </a:p>
        </p:txBody>
      </p:sp>
      <p:sp>
        <p:nvSpPr>
          <p:cNvPr id="47" name="Shape 36"/>
          <p:cNvSpPr/>
          <p:nvPr/>
        </p:nvSpPr>
        <p:spPr>
          <a:xfrm>
            <a:off x="5856732" y="2514600"/>
            <a:ext cx="288036" cy="0"/>
          </a:xfrm>
          <a:prstGeom prst="line">
            <a:avLst/>
          </a:prstGeom>
          <a:noFill/>
          <a:ln w="15875">
            <a:solidFill>
              <a:srgbClr val="5E6964"/>
            </a:solidFill>
            <a:prstDash val="solid"/>
            <a:tailEnd type="triangle"/>
          </a:ln>
        </p:spPr>
      </p:sp>
      <p:sp>
        <p:nvSpPr>
          <p:cNvPr id="48" name="Shape 37"/>
          <p:cNvSpPr/>
          <p:nvPr/>
        </p:nvSpPr>
        <p:spPr>
          <a:xfrm>
            <a:off x="6172200" y="1371600"/>
            <a:ext cx="2514600" cy="2331720"/>
          </a:xfrm>
          <a:prstGeom prst="roundRect">
            <a:avLst>
              <a:gd name="adj" fmla="val 3137"/>
            </a:avLst>
          </a:prstGeom>
          <a:solidFill>
            <a:srgbClr val="F4F7F5"/>
          </a:solidFill>
          <a:ln w="9525">
            <a:solidFill>
              <a:srgbClr val="D5DED9"/>
            </a:solidFill>
            <a:prstDash val="solid"/>
          </a:ln>
        </p:spPr>
      </p:sp>
      <p:sp>
        <p:nvSpPr>
          <p:cNvPr id="49" name="Shape 38"/>
          <p:cNvSpPr/>
          <p:nvPr/>
        </p:nvSpPr>
        <p:spPr>
          <a:xfrm>
            <a:off x="6309360" y="1490472"/>
            <a:ext cx="822960" cy="329184"/>
          </a:xfrm>
          <a:prstGeom prst="roundRect">
            <a:avLst>
              <a:gd name="adj" fmla="val 16667"/>
            </a:avLst>
          </a:prstGeom>
          <a:solidFill>
            <a:srgbClr val="B83B2E"/>
          </a:solidFill>
          <a:ln/>
        </p:spPr>
      </p:sp>
      <p:sp>
        <p:nvSpPr>
          <p:cNvPr id="50" name="Text 39"/>
          <p:cNvSpPr txBox="1"/>
          <p:nvPr/>
        </p:nvSpPr>
        <p:spPr>
          <a:xfrm>
            <a:off x="6309360" y="1490472"/>
            <a:ext cx="82296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PROD</a:t>
            </a:r>
            <a:endParaRPr lang="en-US" sz="1300" dirty="0"/>
          </a:p>
        </p:txBody>
      </p:sp>
      <p:sp>
        <p:nvSpPr>
          <p:cNvPr id="51" name="Text 40"/>
          <p:cNvSpPr txBox="1"/>
          <p:nvPr/>
        </p:nvSpPr>
        <p:spPr>
          <a:xfrm>
            <a:off x="7223760" y="1490472"/>
            <a:ext cx="1417320"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Production</a:t>
            </a:r>
            <a:endParaRPr lang="en-US" sz="1150" dirty="0"/>
          </a:p>
        </p:txBody>
      </p:sp>
      <p:pic>
        <p:nvPicPr>
          <p:cNvPr id="52" name="Image 8" descr="preencoded.png"/>
          <p:cNvPicPr>
            <a:picLocks noChangeAspect="1"/>
          </p:cNvPicPr>
          <p:nvPr/>
        </p:nvPicPr>
        <p:blipFill>
          <a:blip r:embed="rId5"/>
          <a:stretch>
            <a:fillRect/>
          </a:stretch>
        </p:blipFill>
        <p:spPr>
          <a:xfrm>
            <a:off x="6309360" y="1965960"/>
            <a:ext cx="137160" cy="137160"/>
          </a:xfrm>
          <a:prstGeom prst="rect">
            <a:avLst/>
          </a:prstGeom>
        </p:spPr>
      </p:pic>
      <p:sp>
        <p:nvSpPr>
          <p:cNvPr id="53" name="Text 41"/>
          <p:cNvSpPr txBox="1"/>
          <p:nvPr/>
        </p:nvSpPr>
        <p:spPr>
          <a:xfrm>
            <a:off x="6519672" y="1938528"/>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Microdonnées réelles, volume complet</a:t>
            </a:r>
            <a:endParaRPr lang="en-US" sz="900" dirty="0"/>
          </a:p>
        </p:txBody>
      </p:sp>
      <p:pic>
        <p:nvPicPr>
          <p:cNvPr id="54" name="Image 9" descr="preencoded.png"/>
          <p:cNvPicPr>
            <a:picLocks noChangeAspect="1"/>
          </p:cNvPicPr>
          <p:nvPr/>
        </p:nvPicPr>
        <p:blipFill>
          <a:blip r:embed="rId5"/>
          <a:stretch>
            <a:fillRect/>
          </a:stretch>
        </p:blipFill>
        <p:spPr>
          <a:xfrm>
            <a:off x="6309360" y="2276856"/>
            <a:ext cx="137160" cy="137160"/>
          </a:xfrm>
          <a:prstGeom prst="rect">
            <a:avLst/>
          </a:prstGeom>
        </p:spPr>
      </p:pic>
      <p:sp>
        <p:nvSpPr>
          <p:cNvPr id="55" name="Text 42"/>
          <p:cNvSpPr txBox="1"/>
          <p:nvPr/>
        </p:nvSpPr>
        <p:spPr>
          <a:xfrm>
            <a:off x="6519672" y="2249424"/>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Pas d'accès interactif ; chaînes seules</a:t>
            </a:r>
            <a:endParaRPr lang="en-US" sz="900" dirty="0"/>
          </a:p>
        </p:txBody>
      </p:sp>
      <p:pic>
        <p:nvPicPr>
          <p:cNvPr id="56" name="Image 10" descr="preencoded.png"/>
          <p:cNvPicPr>
            <a:picLocks noChangeAspect="1"/>
          </p:cNvPicPr>
          <p:nvPr/>
        </p:nvPicPr>
        <p:blipFill>
          <a:blip r:embed="rId5"/>
          <a:stretch>
            <a:fillRect/>
          </a:stretch>
        </p:blipFill>
        <p:spPr>
          <a:xfrm>
            <a:off x="6309360" y="2587752"/>
            <a:ext cx="137160" cy="137160"/>
          </a:xfrm>
          <a:prstGeom prst="rect">
            <a:avLst/>
          </a:prstGeom>
        </p:spPr>
      </p:pic>
      <p:sp>
        <p:nvSpPr>
          <p:cNvPr id="57" name="Text 43"/>
          <p:cNvSpPr txBox="1"/>
          <p:nvPr/>
        </p:nvSpPr>
        <p:spPr>
          <a:xfrm>
            <a:off x="6519672" y="2560320"/>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Gestion des changements et journaux</a:t>
            </a:r>
            <a:endParaRPr lang="en-US" sz="900" dirty="0"/>
          </a:p>
        </p:txBody>
      </p:sp>
      <p:pic>
        <p:nvPicPr>
          <p:cNvPr id="58" name="Image 11" descr="preencoded.png"/>
          <p:cNvPicPr>
            <a:picLocks noChangeAspect="1"/>
          </p:cNvPicPr>
          <p:nvPr/>
        </p:nvPicPr>
        <p:blipFill>
          <a:blip r:embed="rId5"/>
          <a:stretch>
            <a:fillRect/>
          </a:stretch>
        </p:blipFill>
        <p:spPr>
          <a:xfrm>
            <a:off x="6309360" y="2898648"/>
            <a:ext cx="137160" cy="137160"/>
          </a:xfrm>
          <a:prstGeom prst="rect">
            <a:avLst/>
          </a:prstGeom>
        </p:spPr>
      </p:pic>
      <p:sp>
        <p:nvSpPr>
          <p:cNvPr id="59" name="Text 44"/>
          <p:cNvSpPr txBox="1"/>
          <p:nvPr/>
        </p:nvSpPr>
        <p:spPr>
          <a:xfrm>
            <a:off x="6519672" y="2871216"/>
            <a:ext cx="2029968" cy="310896"/>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Modèles signés et enregistrés seulement</a:t>
            </a:r>
            <a:endParaRPr lang="en-US" sz="900" dirty="0"/>
          </a:p>
        </p:txBody>
      </p:sp>
      <p:sp>
        <p:nvSpPr>
          <p:cNvPr id="60" name="Shape 45"/>
          <p:cNvSpPr/>
          <p:nvPr/>
        </p:nvSpPr>
        <p:spPr>
          <a:xfrm>
            <a:off x="6309360" y="3218688"/>
            <a:ext cx="2240280" cy="0"/>
          </a:xfrm>
          <a:prstGeom prst="line">
            <a:avLst/>
          </a:prstGeom>
          <a:noFill/>
          <a:ln w="6350">
            <a:solidFill>
              <a:srgbClr val="D5DED9"/>
            </a:solidFill>
            <a:prstDash val="solid"/>
          </a:ln>
        </p:spPr>
      </p:sp>
      <p:sp>
        <p:nvSpPr>
          <p:cNvPr id="61" name="Text 46"/>
          <p:cNvSpPr txBox="1"/>
          <p:nvPr/>
        </p:nvSpPr>
        <p:spPr>
          <a:xfrm>
            <a:off x="6309360" y="3255264"/>
            <a:ext cx="2240280" cy="42062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Promotion approuvée par
</a:t>
            </a:r>
            <a:r>
              <a:rPr lang="en-US" sz="950" b="1" dirty="0">
                <a:solidFill>
                  <a:srgbClr val="231F20"/>
                </a:solidFill>
                <a:latin typeface="Calibri" pitchFamily="34" charset="0"/>
                <a:ea typeface="Calibri" pitchFamily="34" charset="-122"/>
                <a:cs typeface="Calibri" pitchFamily="34" charset="-120"/>
              </a:rPr>
              <a:t>Comité des changements + méthodologie</a:t>
            </a:r>
            <a:endParaRPr lang="en-US" sz="950" dirty="0"/>
          </a:p>
        </p:txBody>
      </p:sp>
      <p:sp>
        <p:nvSpPr>
          <p:cNvPr id="62" name="Shape 47"/>
          <p:cNvSpPr/>
          <p:nvPr/>
        </p:nvSpPr>
        <p:spPr>
          <a:xfrm>
            <a:off x="457200" y="3840480"/>
            <a:ext cx="8229600" cy="749808"/>
          </a:xfrm>
          <a:prstGeom prst="roundRect">
            <a:avLst>
              <a:gd name="adj" fmla="val 9756"/>
            </a:avLst>
          </a:prstGeom>
          <a:solidFill>
            <a:srgbClr val="E8F5EF"/>
          </a:solidFill>
          <a:ln w="15875">
            <a:solidFill>
              <a:srgbClr val="00704A"/>
            </a:solidFill>
            <a:prstDash val="solid"/>
          </a:ln>
        </p:spPr>
      </p:sp>
      <p:sp>
        <p:nvSpPr>
          <p:cNvPr id="63" name="Shape 48"/>
          <p:cNvSpPr/>
          <p:nvPr/>
        </p:nvSpPr>
        <p:spPr>
          <a:xfrm>
            <a:off x="594360" y="4014216"/>
            <a:ext cx="402336" cy="402336"/>
          </a:xfrm>
          <a:prstGeom prst="ellipse">
            <a:avLst/>
          </a:prstGeom>
          <a:solidFill>
            <a:srgbClr val="00704A">
              <a:alpha val="22000"/>
            </a:srgbClr>
          </a:solidFill>
          <a:ln/>
        </p:spPr>
      </p:sp>
      <p:pic>
        <p:nvPicPr>
          <p:cNvPr id="64" name="Image 12" descr="preencoded.png"/>
          <p:cNvPicPr>
            <a:picLocks noChangeAspect="1"/>
          </p:cNvPicPr>
          <p:nvPr/>
        </p:nvPicPr>
        <p:blipFill>
          <a:blip r:embed="rId6"/>
          <a:stretch>
            <a:fillRect/>
          </a:stretch>
        </p:blipFill>
        <p:spPr>
          <a:xfrm>
            <a:off x="690921" y="4110777"/>
            <a:ext cx="209215" cy="209215"/>
          </a:xfrm>
          <a:prstGeom prst="rect">
            <a:avLst/>
          </a:prstGeom>
        </p:spPr>
      </p:pic>
      <p:sp>
        <p:nvSpPr>
          <p:cNvPr id="65" name="Text 49"/>
          <p:cNvSpPr txBox="1"/>
          <p:nvPr/>
        </p:nvSpPr>
        <p:spPr>
          <a:xfrm>
            <a:off x="1143000" y="3895344"/>
            <a:ext cx="72237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En plus : la zone de recherche sécurisée</a:t>
            </a:r>
            <a:endParaRPr lang="en-US" sz="1200" dirty="0"/>
          </a:p>
        </p:txBody>
      </p:sp>
      <p:sp>
        <p:nvSpPr>
          <p:cNvPr id="66" name="Text 50"/>
          <p:cNvSpPr txBox="1"/>
          <p:nvPr/>
        </p:nvSpPr>
        <p:spPr>
          <a:xfrm>
            <a:off x="1143000" y="4133088"/>
            <a:ext cx="7406640" cy="42062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enclave distincte pour les microdonnées identifiantes : pas de réseau sortant, sorties contrôlées avant diffusion, activité journalisée. C'est un quatrième environnement avec sa propre liste de modèles autorisés — jamais une extension de DEV.</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COUCHE 3 · REPRODUCTIBILITÉ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31836" y="278892"/>
            <a:ext cx="118872" cy="118872"/>
          </a:xfrm>
          <a:prstGeom prst="ellipse">
            <a:avLst/>
          </a:prstGeom>
          <a:solidFill>
            <a:srgbClr val="00704A"/>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La reproductibilité est une obligation statistique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On peut vous demander de reproduire un chiffre publié des années après — l'IA générative complique la tâche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8" name="Text 15"/>
          <p:cNvSpPr txBox="1"/>
          <p:nvPr/>
        </p:nvSpPr>
        <p:spPr>
          <a:xfrm>
            <a:off x="457200" y="1325880"/>
            <a:ext cx="64008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SIX ÉLÉMENTS À FIGER ENSEMBLE POUR CHAQUE RÉSULTAT PUBLIÉ</a:t>
            </a:r>
            <a:endParaRPr lang="en-US" sz="900" dirty="0"/>
          </a:p>
        </p:txBody>
      </p:sp>
      <p:sp>
        <p:nvSpPr>
          <p:cNvPr id="19" name="Shape 16"/>
          <p:cNvSpPr/>
          <p:nvPr/>
        </p:nvSpPr>
        <p:spPr>
          <a:xfrm>
            <a:off x="457200" y="1572768"/>
            <a:ext cx="1188720" cy="868680"/>
          </a:xfrm>
          <a:prstGeom prst="roundRect">
            <a:avLst>
              <a:gd name="adj" fmla="val 8421"/>
            </a:avLst>
          </a:prstGeom>
          <a:solidFill>
            <a:srgbClr val="E8F5EF"/>
          </a:solidFill>
          <a:ln w="15875">
            <a:solidFill>
              <a:srgbClr val="00A86A"/>
            </a:solidFill>
            <a:prstDash val="solid"/>
          </a:ln>
        </p:spPr>
      </p:sp>
      <p:sp>
        <p:nvSpPr>
          <p:cNvPr id="20" name="Shape 17"/>
          <p:cNvSpPr/>
          <p:nvPr/>
        </p:nvSpPr>
        <p:spPr>
          <a:xfrm>
            <a:off x="877824" y="1645920"/>
            <a:ext cx="347472" cy="347472"/>
          </a:xfrm>
          <a:prstGeom prst="ellipse">
            <a:avLst/>
          </a:prstGeom>
          <a:solidFill>
            <a:srgbClr val="00A86A">
              <a:alpha val="22000"/>
            </a:srgbClr>
          </a:solidFill>
          <a:ln/>
        </p:spPr>
      </p:sp>
      <p:pic>
        <p:nvPicPr>
          <p:cNvPr id="21" name="Image 0" descr="preencoded.png"/>
          <p:cNvPicPr>
            <a:picLocks noChangeAspect="1"/>
          </p:cNvPicPr>
          <p:nvPr/>
        </p:nvPicPr>
        <p:blipFill>
          <a:blip r:embed="rId3"/>
          <a:stretch>
            <a:fillRect/>
          </a:stretch>
        </p:blipFill>
        <p:spPr>
          <a:xfrm>
            <a:off x="961217" y="1729313"/>
            <a:ext cx="180685" cy="180685"/>
          </a:xfrm>
          <a:prstGeom prst="rect">
            <a:avLst/>
          </a:prstGeom>
        </p:spPr>
      </p:pic>
      <p:sp>
        <p:nvSpPr>
          <p:cNvPr id="22" name="Text 18"/>
          <p:cNvSpPr txBox="1"/>
          <p:nvPr/>
        </p:nvSpPr>
        <p:spPr>
          <a:xfrm>
            <a:off x="502920"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Identifiant des données</a:t>
            </a:r>
            <a:endParaRPr lang="en-US" sz="950" dirty="0"/>
          </a:p>
        </p:txBody>
      </p:sp>
      <p:sp>
        <p:nvSpPr>
          <p:cNvPr id="23" name="Text 19"/>
          <p:cNvSpPr txBox="1"/>
          <p:nvPr/>
        </p:nvSpPr>
        <p:spPr>
          <a:xfrm>
            <a:off x="1645920"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24" name="Shape 20"/>
          <p:cNvSpPr/>
          <p:nvPr/>
        </p:nvSpPr>
        <p:spPr>
          <a:xfrm>
            <a:off x="1865376" y="1572768"/>
            <a:ext cx="1188720" cy="868680"/>
          </a:xfrm>
          <a:prstGeom prst="roundRect">
            <a:avLst>
              <a:gd name="adj" fmla="val 8421"/>
            </a:avLst>
          </a:prstGeom>
          <a:solidFill>
            <a:srgbClr val="E8F5EF"/>
          </a:solidFill>
          <a:ln w="15875">
            <a:solidFill>
              <a:srgbClr val="00A86A"/>
            </a:solidFill>
            <a:prstDash val="solid"/>
          </a:ln>
        </p:spPr>
      </p:sp>
      <p:sp>
        <p:nvSpPr>
          <p:cNvPr id="25" name="Shape 21"/>
          <p:cNvSpPr/>
          <p:nvPr/>
        </p:nvSpPr>
        <p:spPr>
          <a:xfrm>
            <a:off x="2286000" y="1645920"/>
            <a:ext cx="347472" cy="347472"/>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2369393" y="1729313"/>
            <a:ext cx="180685" cy="180685"/>
          </a:xfrm>
          <a:prstGeom prst="rect">
            <a:avLst/>
          </a:prstGeom>
        </p:spPr>
      </p:pic>
      <p:sp>
        <p:nvSpPr>
          <p:cNvPr id="27" name="Text 22"/>
          <p:cNvSpPr txBox="1"/>
          <p:nvPr/>
        </p:nvSpPr>
        <p:spPr>
          <a:xfrm>
            <a:off x="1911096"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Version du code</a:t>
            </a:r>
            <a:endParaRPr lang="en-US" sz="950" dirty="0"/>
          </a:p>
        </p:txBody>
      </p:sp>
      <p:sp>
        <p:nvSpPr>
          <p:cNvPr id="28" name="Text 23"/>
          <p:cNvSpPr txBox="1"/>
          <p:nvPr/>
        </p:nvSpPr>
        <p:spPr>
          <a:xfrm>
            <a:off x="3054096"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29" name="Shape 24"/>
          <p:cNvSpPr/>
          <p:nvPr/>
        </p:nvSpPr>
        <p:spPr>
          <a:xfrm>
            <a:off x="3273552" y="1572768"/>
            <a:ext cx="1188720" cy="868680"/>
          </a:xfrm>
          <a:prstGeom prst="roundRect">
            <a:avLst>
              <a:gd name="adj" fmla="val 8421"/>
            </a:avLst>
          </a:prstGeom>
          <a:solidFill>
            <a:srgbClr val="E8F5EF"/>
          </a:solidFill>
          <a:ln w="15875">
            <a:solidFill>
              <a:srgbClr val="00A86A"/>
            </a:solidFill>
            <a:prstDash val="solid"/>
          </a:ln>
        </p:spPr>
      </p:sp>
      <p:sp>
        <p:nvSpPr>
          <p:cNvPr id="30" name="Shape 25"/>
          <p:cNvSpPr/>
          <p:nvPr/>
        </p:nvSpPr>
        <p:spPr>
          <a:xfrm>
            <a:off x="3694176" y="1645920"/>
            <a:ext cx="347472" cy="347472"/>
          </a:xfrm>
          <a:prstGeom prst="ellipse">
            <a:avLst/>
          </a:prstGeom>
          <a:solidFill>
            <a:srgbClr val="00A86A">
              <a:alpha val="22000"/>
            </a:srgbClr>
          </a:solidFill>
          <a:ln/>
        </p:spPr>
      </p:sp>
      <p:pic>
        <p:nvPicPr>
          <p:cNvPr id="31" name="Image 2" descr="preencoded.png"/>
          <p:cNvPicPr>
            <a:picLocks noChangeAspect="1"/>
          </p:cNvPicPr>
          <p:nvPr/>
        </p:nvPicPr>
        <p:blipFill>
          <a:blip r:embed="rId5"/>
          <a:stretch>
            <a:fillRect/>
          </a:stretch>
        </p:blipFill>
        <p:spPr>
          <a:xfrm>
            <a:off x="3777569" y="1729313"/>
            <a:ext cx="180685" cy="180685"/>
          </a:xfrm>
          <a:prstGeom prst="rect">
            <a:avLst/>
          </a:prstGeom>
        </p:spPr>
      </p:pic>
      <p:sp>
        <p:nvSpPr>
          <p:cNvPr id="32" name="Text 26"/>
          <p:cNvSpPr txBox="1"/>
          <p:nvPr/>
        </p:nvSpPr>
        <p:spPr>
          <a:xfrm>
            <a:off x="3319272"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Poids du modèle</a:t>
            </a:r>
            <a:endParaRPr lang="en-US" sz="950" dirty="0"/>
          </a:p>
        </p:txBody>
      </p:sp>
      <p:sp>
        <p:nvSpPr>
          <p:cNvPr id="33" name="Text 27"/>
          <p:cNvSpPr txBox="1"/>
          <p:nvPr/>
        </p:nvSpPr>
        <p:spPr>
          <a:xfrm>
            <a:off x="4462272"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34" name="Shape 28"/>
          <p:cNvSpPr/>
          <p:nvPr/>
        </p:nvSpPr>
        <p:spPr>
          <a:xfrm>
            <a:off x="4681728" y="1572768"/>
            <a:ext cx="1188720" cy="868680"/>
          </a:xfrm>
          <a:prstGeom prst="roundRect">
            <a:avLst>
              <a:gd name="adj" fmla="val 8421"/>
            </a:avLst>
          </a:prstGeom>
          <a:solidFill>
            <a:srgbClr val="E8F5EF"/>
          </a:solidFill>
          <a:ln w="15875">
            <a:solidFill>
              <a:srgbClr val="00A86A"/>
            </a:solidFill>
            <a:prstDash val="solid"/>
          </a:ln>
        </p:spPr>
      </p:sp>
      <p:sp>
        <p:nvSpPr>
          <p:cNvPr id="35" name="Shape 29"/>
          <p:cNvSpPr/>
          <p:nvPr/>
        </p:nvSpPr>
        <p:spPr>
          <a:xfrm>
            <a:off x="5102352" y="1645920"/>
            <a:ext cx="347472" cy="347472"/>
          </a:xfrm>
          <a:prstGeom prst="ellipse">
            <a:avLst/>
          </a:prstGeom>
          <a:solidFill>
            <a:srgbClr val="00A86A">
              <a:alpha val="22000"/>
            </a:srgbClr>
          </a:solidFill>
          <a:ln/>
        </p:spPr>
      </p:sp>
      <p:pic>
        <p:nvPicPr>
          <p:cNvPr id="36" name="Image 3" descr="preencoded.png"/>
          <p:cNvPicPr>
            <a:picLocks noChangeAspect="1"/>
          </p:cNvPicPr>
          <p:nvPr/>
        </p:nvPicPr>
        <p:blipFill>
          <a:blip r:embed="rId6"/>
          <a:stretch>
            <a:fillRect/>
          </a:stretch>
        </p:blipFill>
        <p:spPr>
          <a:xfrm>
            <a:off x="5185745" y="1729313"/>
            <a:ext cx="180685" cy="180685"/>
          </a:xfrm>
          <a:prstGeom prst="rect">
            <a:avLst/>
          </a:prstGeom>
        </p:spPr>
      </p:pic>
      <p:sp>
        <p:nvSpPr>
          <p:cNvPr id="37" name="Text 30"/>
          <p:cNvSpPr txBox="1"/>
          <p:nvPr/>
        </p:nvSpPr>
        <p:spPr>
          <a:xfrm>
            <a:off x="4727448"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Configuration</a:t>
            </a:r>
            <a:endParaRPr lang="en-US" sz="950" dirty="0"/>
          </a:p>
        </p:txBody>
      </p:sp>
      <p:sp>
        <p:nvSpPr>
          <p:cNvPr id="38" name="Text 31"/>
          <p:cNvSpPr txBox="1"/>
          <p:nvPr/>
        </p:nvSpPr>
        <p:spPr>
          <a:xfrm>
            <a:off x="5870448"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39" name="Shape 32"/>
          <p:cNvSpPr/>
          <p:nvPr/>
        </p:nvSpPr>
        <p:spPr>
          <a:xfrm>
            <a:off x="6089904" y="1572768"/>
            <a:ext cx="1188720" cy="868680"/>
          </a:xfrm>
          <a:prstGeom prst="roundRect">
            <a:avLst>
              <a:gd name="adj" fmla="val 8421"/>
            </a:avLst>
          </a:prstGeom>
          <a:solidFill>
            <a:srgbClr val="E8F5EF"/>
          </a:solidFill>
          <a:ln w="15875">
            <a:solidFill>
              <a:srgbClr val="00A86A"/>
            </a:solidFill>
            <a:prstDash val="solid"/>
          </a:ln>
        </p:spPr>
      </p:sp>
      <p:sp>
        <p:nvSpPr>
          <p:cNvPr id="40" name="Shape 33"/>
          <p:cNvSpPr/>
          <p:nvPr/>
        </p:nvSpPr>
        <p:spPr>
          <a:xfrm>
            <a:off x="6510528" y="1645920"/>
            <a:ext cx="347472" cy="347472"/>
          </a:xfrm>
          <a:prstGeom prst="ellipse">
            <a:avLst/>
          </a:prstGeom>
          <a:solidFill>
            <a:srgbClr val="00A86A">
              <a:alpha val="22000"/>
            </a:srgbClr>
          </a:solidFill>
          <a:ln/>
        </p:spPr>
      </p:sp>
      <p:pic>
        <p:nvPicPr>
          <p:cNvPr id="41" name="Image 4" descr="preencoded.png"/>
          <p:cNvPicPr>
            <a:picLocks noChangeAspect="1"/>
          </p:cNvPicPr>
          <p:nvPr/>
        </p:nvPicPr>
        <p:blipFill>
          <a:blip r:embed="rId7"/>
          <a:stretch>
            <a:fillRect/>
          </a:stretch>
        </p:blipFill>
        <p:spPr>
          <a:xfrm>
            <a:off x="6593921" y="1729313"/>
            <a:ext cx="180685" cy="180685"/>
          </a:xfrm>
          <a:prstGeom prst="rect">
            <a:avLst/>
          </a:prstGeom>
        </p:spPr>
      </p:pic>
      <p:sp>
        <p:nvSpPr>
          <p:cNvPr id="42" name="Text 34"/>
          <p:cNvSpPr txBox="1"/>
          <p:nvPr/>
        </p:nvSpPr>
        <p:spPr>
          <a:xfrm>
            <a:off x="6135624"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Image d'environnement</a:t>
            </a:r>
            <a:endParaRPr lang="en-US" sz="950" dirty="0"/>
          </a:p>
        </p:txBody>
      </p:sp>
      <p:sp>
        <p:nvSpPr>
          <p:cNvPr id="43" name="Text 35"/>
          <p:cNvSpPr txBox="1"/>
          <p:nvPr/>
        </p:nvSpPr>
        <p:spPr>
          <a:xfrm>
            <a:off x="7278624" y="1783080"/>
            <a:ext cx="219456" cy="411480"/>
          </a:xfrm>
          <a:prstGeom prst="rect">
            <a:avLst/>
          </a:prstGeom>
          <a:noFill/>
          <a:ln/>
        </p:spPr>
        <p:txBody>
          <a:bodyPr wrap="square" lIns="0" tIns="0" rIns="0" bIns="0" rtlCol="0" anchor="ctr"/>
          <a:lstStyle/>
          <a:p>
            <a:pPr marL="0" indent="0" algn="ctr">
              <a:buNone/>
            </a:pPr>
            <a:r>
              <a:rPr lang="en-US" sz="1800" b="1" dirty="0">
                <a:solidFill>
                  <a:srgbClr val="00A86A"/>
                </a:solidFill>
                <a:latin typeface="Calibri" pitchFamily="34" charset="0"/>
                <a:ea typeface="Calibri" pitchFamily="34" charset="-122"/>
                <a:cs typeface="Calibri" pitchFamily="34" charset="-120"/>
              </a:rPr>
              <a:t>+</a:t>
            </a:r>
            <a:endParaRPr lang="en-US" sz="1800" dirty="0"/>
          </a:p>
        </p:txBody>
      </p:sp>
      <p:sp>
        <p:nvSpPr>
          <p:cNvPr id="44" name="Shape 36"/>
          <p:cNvSpPr/>
          <p:nvPr/>
        </p:nvSpPr>
        <p:spPr>
          <a:xfrm>
            <a:off x="7498080" y="1572768"/>
            <a:ext cx="1188720" cy="868680"/>
          </a:xfrm>
          <a:prstGeom prst="roundRect">
            <a:avLst>
              <a:gd name="adj" fmla="val 8421"/>
            </a:avLst>
          </a:prstGeom>
          <a:solidFill>
            <a:srgbClr val="E8F5EF"/>
          </a:solidFill>
          <a:ln w="15875">
            <a:solidFill>
              <a:srgbClr val="00A86A"/>
            </a:solidFill>
            <a:prstDash val="solid"/>
          </a:ln>
        </p:spPr>
      </p:sp>
      <p:sp>
        <p:nvSpPr>
          <p:cNvPr id="45" name="Shape 37"/>
          <p:cNvSpPr/>
          <p:nvPr/>
        </p:nvSpPr>
        <p:spPr>
          <a:xfrm>
            <a:off x="7918704" y="1645920"/>
            <a:ext cx="347472" cy="347472"/>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8002097" y="1729313"/>
            <a:ext cx="180685" cy="180685"/>
          </a:xfrm>
          <a:prstGeom prst="rect">
            <a:avLst/>
          </a:prstGeom>
        </p:spPr>
      </p:pic>
      <p:sp>
        <p:nvSpPr>
          <p:cNvPr id="47" name="Text 38"/>
          <p:cNvSpPr txBox="1"/>
          <p:nvPr/>
        </p:nvSpPr>
        <p:spPr>
          <a:xfrm>
            <a:off x="7543800" y="2029968"/>
            <a:ext cx="1097280" cy="365760"/>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Résultats d'évaluation</a:t>
            </a:r>
            <a:endParaRPr lang="en-US" sz="950" dirty="0"/>
          </a:p>
        </p:txBody>
      </p:sp>
      <p:sp>
        <p:nvSpPr>
          <p:cNvPr id="48" name="Text 39"/>
          <p:cNvSpPr txBox="1"/>
          <p:nvPr/>
        </p:nvSpPr>
        <p:spPr>
          <a:xfrm>
            <a:off x="457200" y="2606040"/>
            <a:ext cx="5486400" cy="182880"/>
          </a:xfrm>
          <a:prstGeom prst="rect">
            <a:avLst/>
          </a:prstGeom>
          <a:noFill/>
          <a:ln/>
        </p:spPr>
        <p:txBody>
          <a:bodyPr wrap="square" lIns="0" tIns="0" rIns="0" bIns="0" rtlCol="0" anchor="t"/>
          <a:lstStyle/>
          <a:p>
            <a:pPr marL="0" indent="0">
              <a:buNone/>
            </a:pPr>
            <a:r>
              <a:rPr lang="en-US" sz="900" b="1" kern="0" spc="200" dirty="0">
                <a:solidFill>
                  <a:srgbClr val="8A6400"/>
                </a:solidFill>
                <a:latin typeface="Calibri" pitchFamily="34" charset="0"/>
                <a:ea typeface="Calibri" pitchFamily="34" charset="-122"/>
                <a:cs typeface="Calibri" pitchFamily="34" charset="-120"/>
              </a:rPr>
              <a:t>LES RISQUES PROPRES AUX MODÈLES GÉNÉRATIFS</a:t>
            </a:r>
            <a:endParaRPr lang="en-US" sz="900" dirty="0"/>
          </a:p>
        </p:txBody>
      </p:sp>
      <p:sp>
        <p:nvSpPr>
          <p:cNvPr id="49" name="Shape 40"/>
          <p:cNvSpPr/>
          <p:nvPr/>
        </p:nvSpPr>
        <p:spPr>
          <a:xfrm>
            <a:off x="457200" y="2834640"/>
            <a:ext cx="1975104" cy="1188720"/>
          </a:xfrm>
          <a:prstGeom prst="roundRect">
            <a:avLst>
              <a:gd name="adj" fmla="val 6154"/>
            </a:avLst>
          </a:prstGeom>
          <a:solidFill>
            <a:srgbClr val="F4F7F5"/>
          </a:solidFill>
          <a:ln w="9525">
            <a:solidFill>
              <a:srgbClr val="D5DED9"/>
            </a:solidFill>
            <a:prstDash val="solid"/>
          </a:ln>
        </p:spPr>
      </p:sp>
      <p:sp>
        <p:nvSpPr>
          <p:cNvPr id="50" name="Shape 41"/>
          <p:cNvSpPr/>
          <p:nvPr/>
        </p:nvSpPr>
        <p:spPr>
          <a:xfrm>
            <a:off x="585216" y="2962656"/>
            <a:ext cx="292608" cy="292608"/>
          </a:xfrm>
          <a:prstGeom prst="ellipse">
            <a:avLst/>
          </a:prstGeom>
          <a:solidFill>
            <a:srgbClr val="D49A00">
              <a:alpha val="22000"/>
            </a:srgbClr>
          </a:solidFill>
          <a:ln/>
        </p:spPr>
      </p:sp>
      <p:pic>
        <p:nvPicPr>
          <p:cNvPr id="51" name="Image 6" descr="preencoded.png"/>
          <p:cNvPicPr>
            <a:picLocks noChangeAspect="1"/>
          </p:cNvPicPr>
          <p:nvPr/>
        </p:nvPicPr>
        <p:blipFill>
          <a:blip r:embed="rId9"/>
          <a:stretch>
            <a:fillRect/>
          </a:stretch>
        </p:blipFill>
        <p:spPr>
          <a:xfrm>
            <a:off x="655442" y="3032882"/>
            <a:ext cx="152156" cy="152156"/>
          </a:xfrm>
          <a:prstGeom prst="rect">
            <a:avLst/>
          </a:prstGeom>
        </p:spPr>
      </p:pic>
      <p:sp>
        <p:nvSpPr>
          <p:cNvPr id="52" name="Text 42"/>
          <p:cNvSpPr txBox="1"/>
          <p:nvPr/>
        </p:nvSpPr>
        <p:spPr>
          <a:xfrm>
            <a:off x="987552" y="2962656"/>
            <a:ext cx="1335024" cy="292608"/>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Non-déterminisme</a:t>
            </a:r>
            <a:endParaRPr lang="en-US" sz="1050" dirty="0"/>
          </a:p>
        </p:txBody>
      </p:sp>
      <p:sp>
        <p:nvSpPr>
          <p:cNvPr id="53" name="Text 43"/>
          <p:cNvSpPr txBox="1"/>
          <p:nvPr/>
        </p:nvSpPr>
        <p:spPr>
          <a:xfrm>
            <a:off x="585216" y="3310128"/>
            <a:ext cx="1719072" cy="658368"/>
          </a:xfrm>
          <a:prstGeom prst="rect">
            <a:avLst/>
          </a:prstGeom>
          <a:noFill/>
          <a:ln/>
        </p:spPr>
        <p:txBody>
          <a:bodyPr wrap="square" lIns="0" tIns="0" rIns="0" bIns="0" rtlCol="0" anchor="t"/>
          <a:lstStyle/>
          <a:p>
            <a:pPr marL="0" indent="0">
              <a:lnSpc>
                <a:spcPct val="105000"/>
              </a:lnSpc>
              <a:buNone/>
            </a:pPr>
            <a:r>
              <a:rPr lang="en-US" sz="850" dirty="0">
                <a:solidFill>
                  <a:srgbClr val="5E6964"/>
                </a:solidFill>
                <a:latin typeface="Calibri" pitchFamily="34" charset="0"/>
                <a:ea typeface="Calibri" pitchFamily="34" charset="-122"/>
                <a:cs typeface="Calibri" pitchFamily="34" charset="-120"/>
              </a:rPr>
              <a:t>Une même requête peut donner des sorties différentes. Température à zéro, graines fixées, et vérifier.</a:t>
            </a:r>
            <a:endParaRPr lang="en-US" sz="850" dirty="0"/>
          </a:p>
        </p:txBody>
      </p:sp>
      <p:sp>
        <p:nvSpPr>
          <p:cNvPr id="54" name="Shape 44"/>
          <p:cNvSpPr/>
          <p:nvPr/>
        </p:nvSpPr>
        <p:spPr>
          <a:xfrm>
            <a:off x="2542032" y="2834640"/>
            <a:ext cx="1975104" cy="1188720"/>
          </a:xfrm>
          <a:prstGeom prst="roundRect">
            <a:avLst>
              <a:gd name="adj" fmla="val 6154"/>
            </a:avLst>
          </a:prstGeom>
          <a:solidFill>
            <a:srgbClr val="F4F7F5"/>
          </a:solidFill>
          <a:ln w="9525">
            <a:solidFill>
              <a:srgbClr val="D5DED9"/>
            </a:solidFill>
            <a:prstDash val="solid"/>
          </a:ln>
        </p:spPr>
      </p:sp>
      <p:sp>
        <p:nvSpPr>
          <p:cNvPr id="55" name="Shape 45"/>
          <p:cNvSpPr/>
          <p:nvPr/>
        </p:nvSpPr>
        <p:spPr>
          <a:xfrm>
            <a:off x="2670048" y="2962656"/>
            <a:ext cx="292608" cy="292608"/>
          </a:xfrm>
          <a:prstGeom prst="ellipse">
            <a:avLst/>
          </a:prstGeom>
          <a:solidFill>
            <a:srgbClr val="D49A00">
              <a:alpha val="22000"/>
            </a:srgbClr>
          </a:solidFill>
          <a:ln/>
        </p:spPr>
      </p:sp>
      <p:pic>
        <p:nvPicPr>
          <p:cNvPr id="56" name="Image 7" descr="preencoded.png"/>
          <p:cNvPicPr>
            <a:picLocks noChangeAspect="1"/>
          </p:cNvPicPr>
          <p:nvPr/>
        </p:nvPicPr>
        <p:blipFill>
          <a:blip r:embed="rId10"/>
          <a:stretch>
            <a:fillRect/>
          </a:stretch>
        </p:blipFill>
        <p:spPr>
          <a:xfrm>
            <a:off x="2740274" y="3032882"/>
            <a:ext cx="152156" cy="152156"/>
          </a:xfrm>
          <a:prstGeom prst="rect">
            <a:avLst/>
          </a:prstGeom>
        </p:spPr>
      </p:pic>
      <p:sp>
        <p:nvSpPr>
          <p:cNvPr id="57" name="Text 46"/>
          <p:cNvSpPr txBox="1"/>
          <p:nvPr/>
        </p:nvSpPr>
        <p:spPr>
          <a:xfrm>
            <a:off x="3072384" y="2962656"/>
            <a:ext cx="1335024" cy="292608"/>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Mises à jour silencieuses</a:t>
            </a:r>
            <a:endParaRPr lang="en-US" sz="1050" dirty="0"/>
          </a:p>
        </p:txBody>
      </p:sp>
      <p:sp>
        <p:nvSpPr>
          <p:cNvPr id="58" name="Text 47"/>
          <p:cNvSpPr txBox="1"/>
          <p:nvPr/>
        </p:nvSpPr>
        <p:spPr>
          <a:xfrm>
            <a:off x="2670048" y="3310128"/>
            <a:ext cx="1719072" cy="658368"/>
          </a:xfrm>
          <a:prstGeom prst="rect">
            <a:avLst/>
          </a:prstGeom>
          <a:noFill/>
          <a:ln/>
        </p:spPr>
        <p:txBody>
          <a:bodyPr wrap="square" lIns="0" tIns="0" rIns="0" bIns="0" rtlCol="0" anchor="t"/>
          <a:lstStyle/>
          <a:p>
            <a:pPr marL="0" indent="0">
              <a:lnSpc>
                <a:spcPct val="105000"/>
              </a:lnSpc>
              <a:buNone/>
            </a:pPr>
            <a:r>
              <a:rPr lang="en-US" sz="850" dirty="0">
                <a:solidFill>
                  <a:srgbClr val="5E6964"/>
                </a:solidFill>
                <a:latin typeface="Calibri" pitchFamily="34" charset="0"/>
                <a:ea typeface="Calibri" pitchFamily="34" charset="-122"/>
                <a:cs typeface="Calibri" pitchFamily="34" charset="-120"/>
              </a:rPr>
              <a:t>Un modèle géré peut changer sous un même nom et modifier votre série sans explication.</a:t>
            </a:r>
            <a:endParaRPr lang="en-US" sz="850" dirty="0"/>
          </a:p>
        </p:txBody>
      </p:sp>
      <p:sp>
        <p:nvSpPr>
          <p:cNvPr id="59" name="Shape 48"/>
          <p:cNvSpPr/>
          <p:nvPr/>
        </p:nvSpPr>
        <p:spPr>
          <a:xfrm>
            <a:off x="4626864" y="2834640"/>
            <a:ext cx="1975104" cy="1188720"/>
          </a:xfrm>
          <a:prstGeom prst="roundRect">
            <a:avLst>
              <a:gd name="adj" fmla="val 6154"/>
            </a:avLst>
          </a:prstGeom>
          <a:solidFill>
            <a:srgbClr val="F4F7F5"/>
          </a:solidFill>
          <a:ln w="9525">
            <a:solidFill>
              <a:srgbClr val="D5DED9"/>
            </a:solidFill>
            <a:prstDash val="solid"/>
          </a:ln>
        </p:spPr>
      </p:sp>
      <p:sp>
        <p:nvSpPr>
          <p:cNvPr id="60" name="Shape 49"/>
          <p:cNvSpPr/>
          <p:nvPr/>
        </p:nvSpPr>
        <p:spPr>
          <a:xfrm>
            <a:off x="4754880" y="2962656"/>
            <a:ext cx="292608" cy="292608"/>
          </a:xfrm>
          <a:prstGeom prst="ellipse">
            <a:avLst/>
          </a:prstGeom>
          <a:solidFill>
            <a:srgbClr val="D49A00">
              <a:alpha val="22000"/>
            </a:srgbClr>
          </a:solidFill>
          <a:ln/>
        </p:spPr>
      </p:sp>
      <p:pic>
        <p:nvPicPr>
          <p:cNvPr id="61" name="Image 8" descr="preencoded.png"/>
          <p:cNvPicPr>
            <a:picLocks noChangeAspect="1"/>
          </p:cNvPicPr>
          <p:nvPr/>
        </p:nvPicPr>
        <p:blipFill>
          <a:blip r:embed="rId11"/>
          <a:stretch>
            <a:fillRect/>
          </a:stretch>
        </p:blipFill>
        <p:spPr>
          <a:xfrm>
            <a:off x="4825106" y="3032882"/>
            <a:ext cx="152156" cy="152156"/>
          </a:xfrm>
          <a:prstGeom prst="rect">
            <a:avLst/>
          </a:prstGeom>
        </p:spPr>
      </p:pic>
      <p:sp>
        <p:nvSpPr>
          <p:cNvPr id="62" name="Text 50"/>
          <p:cNvSpPr txBox="1"/>
          <p:nvPr/>
        </p:nvSpPr>
        <p:spPr>
          <a:xfrm>
            <a:off x="5157216" y="2962656"/>
            <a:ext cx="1335024" cy="292608"/>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Dérive des requêtes</a:t>
            </a:r>
            <a:endParaRPr lang="en-US" sz="1050" dirty="0"/>
          </a:p>
        </p:txBody>
      </p:sp>
      <p:sp>
        <p:nvSpPr>
          <p:cNvPr id="63" name="Text 51"/>
          <p:cNvSpPr txBox="1"/>
          <p:nvPr/>
        </p:nvSpPr>
        <p:spPr>
          <a:xfrm>
            <a:off x="4754880" y="3310128"/>
            <a:ext cx="1719072" cy="658368"/>
          </a:xfrm>
          <a:prstGeom prst="rect">
            <a:avLst/>
          </a:prstGeom>
          <a:noFill/>
          <a:ln/>
        </p:spPr>
        <p:txBody>
          <a:bodyPr wrap="square" lIns="0" tIns="0" rIns="0" bIns="0" rtlCol="0" anchor="t"/>
          <a:lstStyle/>
          <a:p>
            <a:pPr marL="0" indent="0">
              <a:lnSpc>
                <a:spcPct val="105000"/>
              </a:lnSpc>
              <a:buNone/>
            </a:pPr>
            <a:r>
              <a:rPr lang="en-US" sz="850" dirty="0">
                <a:solidFill>
                  <a:srgbClr val="5E6964"/>
                </a:solidFill>
                <a:latin typeface="Calibri" pitchFamily="34" charset="0"/>
                <a:ea typeface="Calibri" pitchFamily="34" charset="-122"/>
                <a:cs typeface="Calibri" pitchFamily="34" charset="-120"/>
              </a:rPr>
              <a:t>Les prompts sont du code : versionnez-les, relisez-les, ne les modifiez jamais hors procédure.</a:t>
            </a:r>
            <a:endParaRPr lang="en-US" sz="850" dirty="0"/>
          </a:p>
        </p:txBody>
      </p:sp>
      <p:sp>
        <p:nvSpPr>
          <p:cNvPr id="64" name="Shape 52"/>
          <p:cNvSpPr/>
          <p:nvPr/>
        </p:nvSpPr>
        <p:spPr>
          <a:xfrm>
            <a:off x="6711696" y="2834640"/>
            <a:ext cx="1975104" cy="1188720"/>
          </a:xfrm>
          <a:prstGeom prst="roundRect">
            <a:avLst>
              <a:gd name="adj" fmla="val 6154"/>
            </a:avLst>
          </a:prstGeom>
          <a:solidFill>
            <a:srgbClr val="F4F7F5"/>
          </a:solidFill>
          <a:ln w="9525">
            <a:solidFill>
              <a:srgbClr val="D5DED9"/>
            </a:solidFill>
            <a:prstDash val="solid"/>
          </a:ln>
        </p:spPr>
      </p:sp>
      <p:sp>
        <p:nvSpPr>
          <p:cNvPr id="65" name="Shape 53"/>
          <p:cNvSpPr/>
          <p:nvPr/>
        </p:nvSpPr>
        <p:spPr>
          <a:xfrm>
            <a:off x="6839712" y="2962656"/>
            <a:ext cx="292608" cy="292608"/>
          </a:xfrm>
          <a:prstGeom prst="ellipse">
            <a:avLst/>
          </a:prstGeom>
          <a:solidFill>
            <a:srgbClr val="D49A00">
              <a:alpha val="22000"/>
            </a:srgbClr>
          </a:solidFill>
          <a:ln/>
        </p:spPr>
      </p:sp>
      <p:pic>
        <p:nvPicPr>
          <p:cNvPr id="66" name="Image 9" descr="preencoded.png"/>
          <p:cNvPicPr>
            <a:picLocks noChangeAspect="1"/>
          </p:cNvPicPr>
          <p:nvPr/>
        </p:nvPicPr>
        <p:blipFill>
          <a:blip r:embed="rId12"/>
          <a:stretch>
            <a:fillRect/>
          </a:stretch>
        </p:blipFill>
        <p:spPr>
          <a:xfrm>
            <a:off x="6909938" y="3032882"/>
            <a:ext cx="152156" cy="152156"/>
          </a:xfrm>
          <a:prstGeom prst="rect">
            <a:avLst/>
          </a:prstGeom>
        </p:spPr>
      </p:pic>
      <p:sp>
        <p:nvSpPr>
          <p:cNvPr id="67" name="Text 54"/>
          <p:cNvSpPr txBox="1"/>
          <p:nvPr/>
        </p:nvSpPr>
        <p:spPr>
          <a:xfrm>
            <a:off x="7242048" y="2962656"/>
            <a:ext cx="1335024" cy="292608"/>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Instabilité du RAG</a:t>
            </a:r>
            <a:endParaRPr lang="en-US" sz="1050" dirty="0"/>
          </a:p>
        </p:txBody>
      </p:sp>
      <p:sp>
        <p:nvSpPr>
          <p:cNvPr id="68" name="Text 55"/>
          <p:cNvSpPr txBox="1"/>
          <p:nvPr/>
        </p:nvSpPr>
        <p:spPr>
          <a:xfrm>
            <a:off x="6839712" y="3310128"/>
            <a:ext cx="1719072" cy="658368"/>
          </a:xfrm>
          <a:prstGeom prst="rect">
            <a:avLst/>
          </a:prstGeom>
          <a:noFill/>
          <a:ln/>
        </p:spPr>
        <p:txBody>
          <a:bodyPr wrap="square" lIns="0" tIns="0" rIns="0" bIns="0" rtlCol="0" anchor="t"/>
          <a:lstStyle/>
          <a:p>
            <a:pPr marL="0" indent="0">
              <a:lnSpc>
                <a:spcPct val="105000"/>
              </a:lnSpc>
              <a:buNone/>
            </a:pPr>
            <a:r>
              <a:rPr lang="en-US" sz="850" dirty="0">
                <a:solidFill>
                  <a:srgbClr val="5E6964"/>
                </a:solidFill>
                <a:latin typeface="Calibri" pitchFamily="34" charset="0"/>
                <a:ea typeface="Calibri" pitchFamily="34" charset="-122"/>
                <a:cs typeface="Calibri" pitchFamily="34" charset="-120"/>
              </a:rPr>
              <a:t>Dans un système RAG, l'index fait partie du modèle. Versionnez-le avec les poids.</a:t>
            </a:r>
            <a:endParaRPr lang="en-US" sz="850" dirty="0"/>
          </a:p>
        </p:txBody>
      </p:sp>
      <p:sp>
        <p:nvSpPr>
          <p:cNvPr id="69" name="Shape 56"/>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70" name="Shape 57"/>
          <p:cNvSpPr/>
          <p:nvPr/>
        </p:nvSpPr>
        <p:spPr>
          <a:xfrm>
            <a:off x="566928" y="4215384"/>
            <a:ext cx="292608" cy="292608"/>
          </a:xfrm>
          <a:prstGeom prst="ellipse">
            <a:avLst/>
          </a:prstGeom>
          <a:solidFill>
            <a:srgbClr val="00A86A">
              <a:alpha val="22000"/>
            </a:srgbClr>
          </a:solidFill>
          <a:ln/>
        </p:spPr>
      </p:sp>
      <p:pic>
        <p:nvPicPr>
          <p:cNvPr id="71" name="Image 10" descr="preencoded.png"/>
          <p:cNvPicPr>
            <a:picLocks noChangeAspect="1"/>
          </p:cNvPicPr>
          <p:nvPr/>
        </p:nvPicPr>
        <p:blipFill>
          <a:blip r:embed="rId13"/>
          <a:stretch>
            <a:fillRect/>
          </a:stretch>
        </p:blipFill>
        <p:spPr>
          <a:xfrm>
            <a:off x="637154" y="4285610"/>
            <a:ext cx="152156" cy="152156"/>
          </a:xfrm>
          <a:prstGeom prst="rect">
            <a:avLst/>
          </a:prstGeom>
        </p:spPr>
      </p:pic>
      <p:sp>
        <p:nvSpPr>
          <p:cNvPr id="72" name="Text 58"/>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Quand un chiffre doit être reproductible sur demande, utilisez un modèle à poids ouverts hébergé chez vous — ou tenez l'IA générative hors du chemin critique.</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03</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Choix de déploiement</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Où chaque traitement doit-il s'exécuter — et qui en décide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Quatre modèles d'hébergement</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Une grille de décision</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Sur site : la facture complète</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Les pièges du cloud public</a:t>
            </a:r>
            <a:endParaRPr lang="en-US" sz="1000" dirty="0"/>
          </a:p>
        </p:txBody>
      </p:sp>
      <p:sp>
        <p:nvSpPr>
          <p:cNvPr id="12" name="Text 10"/>
          <p:cNvSpPr txBox="1"/>
          <p:nvPr/>
        </p:nvSpPr>
        <p:spPr>
          <a:xfrm>
            <a:off x="548640" y="4480560"/>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Héberger en Afrique</a:t>
            </a:r>
            <a:endParaRPr lang="en-US" sz="1000" dirty="0"/>
          </a:p>
        </p:txBody>
      </p:sp>
      <p:sp>
        <p:nvSpPr>
          <p:cNvPr id="13" name="Text 11"/>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 modèle hybride</a:t>
            </a:r>
            <a:endParaRPr lang="en-US" sz="1000" dirty="0"/>
          </a:p>
        </p:txBody>
      </p:sp>
      <p:sp>
        <p:nvSpPr>
          <p:cNvPr id="14" name="Text 12"/>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Faire ou acheter</a:t>
            </a:r>
            <a:endParaRPr lang="en-US" sz="1000" dirty="0"/>
          </a:p>
        </p:txBody>
      </p:sp>
      <p:sp>
        <p:nvSpPr>
          <p:cNvPr id="15" name="Text 13"/>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Modèles ouverts ou propriétaires</a:t>
            </a:r>
            <a:endParaRPr lang="en-US" sz="1000" dirty="0"/>
          </a:p>
        </p:txBody>
      </p:sp>
      <p:sp>
        <p:nvSpPr>
          <p:cNvPr id="16" name="Text 14"/>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Exercice</a:t>
            </a:r>
            <a:endParaRPr lang="en-US" sz="1000" dirty="0"/>
          </a:p>
        </p:txBody>
      </p:sp>
      <p:sp>
        <p:nvSpPr>
          <p:cNvPr id="17" name="Shape 15"/>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8" name="Shape 16"/>
          <p:cNvSpPr/>
          <p:nvPr/>
        </p:nvSpPr>
        <p:spPr>
          <a:xfrm>
            <a:off x="6355080" y="1325880"/>
            <a:ext cx="1920240" cy="1920240"/>
          </a:xfrm>
          <a:prstGeom prst="ellipse">
            <a:avLst/>
          </a:prstGeom>
          <a:solidFill>
            <a:srgbClr val="FFFFFF">
              <a:alpha val="18000"/>
            </a:srgbClr>
          </a:solidFill>
          <a:ln/>
        </p:spPr>
      </p:sp>
      <p:sp>
        <p:nvSpPr>
          <p:cNvPr id="19" name="Shape 17"/>
          <p:cNvSpPr/>
          <p:nvPr/>
        </p:nvSpPr>
        <p:spPr>
          <a:xfrm>
            <a:off x="6720840" y="1691640"/>
            <a:ext cx="1188720" cy="1188720"/>
          </a:xfrm>
          <a:prstGeom prst="ellipse">
            <a:avLst/>
          </a:prstGeom>
          <a:solidFill>
            <a:srgbClr val="FFFFFF"/>
          </a:solidFill>
          <a:ln/>
        </p:spPr>
      </p:sp>
      <p:pic>
        <p:nvPicPr>
          <p:cNvPr id="20"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1" name="Shape 18"/>
          <p:cNvSpPr/>
          <p:nvPr/>
        </p:nvSpPr>
        <p:spPr>
          <a:xfrm>
            <a:off x="6510528" y="4014216"/>
            <a:ext cx="109728" cy="109728"/>
          </a:xfrm>
          <a:prstGeom prst="ellipse">
            <a:avLst/>
          </a:prstGeom>
          <a:solidFill>
            <a:srgbClr val="FFFFFF">
              <a:alpha val="40000"/>
            </a:srgbClr>
          </a:solidFill>
          <a:ln/>
        </p:spPr>
      </p:sp>
      <p:sp>
        <p:nvSpPr>
          <p:cNvPr id="22" name="Shape 19"/>
          <p:cNvSpPr/>
          <p:nvPr/>
        </p:nvSpPr>
        <p:spPr>
          <a:xfrm>
            <a:off x="6784848" y="4014216"/>
            <a:ext cx="109728" cy="109728"/>
          </a:xfrm>
          <a:prstGeom prst="ellipse">
            <a:avLst/>
          </a:prstGeom>
          <a:solidFill>
            <a:srgbClr val="FFFFFF">
              <a:alpha val="40000"/>
            </a:srgbClr>
          </a:solidFill>
          <a:ln/>
        </p:spPr>
      </p:sp>
      <p:sp>
        <p:nvSpPr>
          <p:cNvPr id="23" name="Shape 20"/>
          <p:cNvSpPr/>
          <p:nvPr/>
        </p:nvSpPr>
        <p:spPr>
          <a:xfrm>
            <a:off x="7040880" y="3995928"/>
            <a:ext cx="146304" cy="146304"/>
          </a:xfrm>
          <a:prstGeom prst="ellipse">
            <a:avLst/>
          </a:prstGeom>
          <a:solidFill>
            <a:srgbClr val="F5C242"/>
          </a:solidFill>
          <a:ln/>
        </p:spPr>
      </p:sp>
      <p:sp>
        <p:nvSpPr>
          <p:cNvPr id="24" name="Shape 21"/>
          <p:cNvSpPr/>
          <p:nvPr/>
        </p:nvSpPr>
        <p:spPr>
          <a:xfrm>
            <a:off x="7333488" y="4014216"/>
            <a:ext cx="109728" cy="109728"/>
          </a:xfrm>
          <a:prstGeom prst="ellipse">
            <a:avLst/>
          </a:prstGeom>
          <a:solidFill>
            <a:srgbClr val="FFFFFF">
              <a:alpha val="40000"/>
            </a:srgbClr>
          </a:solidFill>
          <a:ln/>
        </p:spPr>
      </p:sp>
      <p:sp>
        <p:nvSpPr>
          <p:cNvPr id="25" name="Shape 22"/>
          <p:cNvSpPr/>
          <p:nvPr/>
        </p:nvSpPr>
        <p:spPr>
          <a:xfrm>
            <a:off x="7607808" y="4014216"/>
            <a:ext cx="109728" cy="109728"/>
          </a:xfrm>
          <a:prstGeom prst="ellipse">
            <a:avLst/>
          </a:prstGeom>
          <a:solidFill>
            <a:srgbClr val="FFFFFF">
              <a:alpha val="40000"/>
            </a:srgbClr>
          </a:solidFill>
          <a:ln/>
        </p:spPr>
      </p:sp>
      <p:sp>
        <p:nvSpPr>
          <p:cNvPr id="26" name="Shape 23"/>
          <p:cNvSpPr/>
          <p:nvPr/>
        </p:nvSpPr>
        <p:spPr>
          <a:xfrm>
            <a:off x="7882128" y="4014216"/>
            <a:ext cx="109728" cy="109728"/>
          </a:xfrm>
          <a:prstGeom prst="ellipse">
            <a:avLst/>
          </a:prstGeom>
          <a:solidFill>
            <a:srgbClr val="FFFFFF">
              <a:alpha val="40000"/>
            </a:srgbClr>
          </a:solidFill>
          <a:ln/>
        </p:spPr>
      </p:sp>
      <p:sp>
        <p:nvSpPr>
          <p:cNvPr id="27" name="Text 24"/>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28</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MODÈLES D'HÉBERGEMENT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Quatre modèles de déploiement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Du plus de contrôle au démarrage le plus rapide. La plupart des instituts en combinent plusieurs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8" name="Shape 15"/>
          <p:cNvSpPr/>
          <p:nvPr/>
        </p:nvSpPr>
        <p:spPr>
          <a:xfrm>
            <a:off x="548640" y="1417320"/>
            <a:ext cx="8046720" cy="0"/>
          </a:xfrm>
          <a:prstGeom prst="line">
            <a:avLst/>
          </a:prstGeom>
          <a:noFill/>
          <a:ln w="15875">
            <a:solidFill>
              <a:srgbClr val="5E6964"/>
            </a:solidFill>
            <a:prstDash val="solid"/>
            <a:headEnd type="triangle"/>
            <a:tailEnd type="triangle"/>
          </a:ln>
        </p:spPr>
      </p:sp>
      <p:sp>
        <p:nvSpPr>
          <p:cNvPr id="19" name="Text 16"/>
          <p:cNvSpPr txBox="1"/>
          <p:nvPr/>
        </p:nvSpPr>
        <p:spPr>
          <a:xfrm>
            <a:off x="548640" y="1463040"/>
            <a:ext cx="2286000" cy="164592"/>
          </a:xfrm>
          <a:prstGeom prst="rect">
            <a:avLst/>
          </a:prstGeom>
          <a:noFill/>
          <a:ln/>
        </p:spPr>
        <p:txBody>
          <a:bodyPr wrap="square" lIns="0" tIns="0" rIns="0" bIns="0" rtlCol="0" anchor="t"/>
          <a:lstStyle/>
          <a:p>
            <a:pPr marL="0" indent="0">
              <a:buNone/>
            </a:pPr>
            <a:r>
              <a:rPr lang="en-US" sz="800" b="1" kern="0" spc="150" dirty="0">
                <a:solidFill>
                  <a:srgbClr val="5E6964"/>
                </a:solidFill>
                <a:latin typeface="Calibri" pitchFamily="34" charset="0"/>
                <a:ea typeface="Calibri" pitchFamily="34" charset="-122"/>
                <a:cs typeface="Calibri" pitchFamily="34" charset="-120"/>
              </a:rPr>
              <a:t>PLUS DE CONTRÔLE</a:t>
            </a:r>
            <a:endParaRPr lang="en-US" sz="800" dirty="0"/>
          </a:p>
        </p:txBody>
      </p:sp>
      <p:sp>
        <p:nvSpPr>
          <p:cNvPr id="20" name="Text 17"/>
          <p:cNvSpPr txBox="1"/>
          <p:nvPr/>
        </p:nvSpPr>
        <p:spPr>
          <a:xfrm>
            <a:off x="6309360" y="1463040"/>
            <a:ext cx="2286000" cy="164592"/>
          </a:xfrm>
          <a:prstGeom prst="rect">
            <a:avLst/>
          </a:prstGeom>
          <a:noFill/>
          <a:ln/>
        </p:spPr>
        <p:txBody>
          <a:bodyPr wrap="square" lIns="0" tIns="0" rIns="0" bIns="0" rtlCol="0" anchor="t"/>
          <a:lstStyle/>
          <a:p>
            <a:pPr marL="0" indent="0" algn="r">
              <a:buNone/>
            </a:pPr>
            <a:r>
              <a:rPr lang="en-US" sz="800" b="1" kern="0" spc="150" dirty="0">
                <a:solidFill>
                  <a:srgbClr val="5E6964"/>
                </a:solidFill>
                <a:latin typeface="Calibri" pitchFamily="34" charset="0"/>
                <a:ea typeface="Calibri" pitchFamily="34" charset="-122"/>
                <a:cs typeface="Calibri" pitchFamily="34" charset="-120"/>
              </a:rPr>
              <a:t>DÉMARRAGE PLUS RAPIDE</a:t>
            </a:r>
            <a:endParaRPr lang="en-US" sz="800" dirty="0"/>
          </a:p>
        </p:txBody>
      </p:sp>
      <p:sp>
        <p:nvSpPr>
          <p:cNvPr id="21" name="Shape 18"/>
          <p:cNvSpPr/>
          <p:nvPr/>
        </p:nvSpPr>
        <p:spPr>
          <a:xfrm>
            <a:off x="457200" y="1719072"/>
            <a:ext cx="1954530" cy="2331720"/>
          </a:xfrm>
          <a:prstGeom prst="roundRect">
            <a:avLst>
              <a:gd name="adj" fmla="val 3743"/>
            </a:avLst>
          </a:prstGeom>
          <a:solidFill>
            <a:srgbClr val="F4F7F5"/>
          </a:solidFill>
          <a:ln w="9525">
            <a:solidFill>
              <a:srgbClr val="D5DED9"/>
            </a:solidFill>
            <a:prstDash val="solid"/>
          </a:ln>
        </p:spPr>
      </p:sp>
      <p:sp>
        <p:nvSpPr>
          <p:cNvPr id="22" name="Shape 19"/>
          <p:cNvSpPr/>
          <p:nvPr/>
        </p:nvSpPr>
        <p:spPr>
          <a:xfrm>
            <a:off x="566928" y="1828800"/>
            <a:ext cx="384048" cy="384048"/>
          </a:xfrm>
          <a:prstGeom prst="ellipse">
            <a:avLst/>
          </a:prstGeom>
          <a:solidFill>
            <a:srgbClr val="00553A"/>
          </a:solidFill>
          <a:ln/>
        </p:spPr>
      </p:sp>
      <p:sp>
        <p:nvSpPr>
          <p:cNvPr id="23" name="Text 20"/>
          <p:cNvSpPr txBox="1"/>
          <p:nvPr/>
        </p:nvSpPr>
        <p:spPr>
          <a:xfrm>
            <a:off x="56692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pic>
        <p:nvPicPr>
          <p:cNvPr id="24" name="Image 0" descr="preencoded.png"/>
          <p:cNvPicPr>
            <a:picLocks noChangeAspect="1"/>
          </p:cNvPicPr>
          <p:nvPr/>
        </p:nvPicPr>
        <p:blipFill>
          <a:blip r:embed="rId3"/>
          <a:stretch>
            <a:fillRect/>
          </a:stretch>
        </p:blipFill>
        <p:spPr>
          <a:xfrm>
            <a:off x="2027682" y="1883664"/>
            <a:ext cx="256032" cy="256032"/>
          </a:xfrm>
          <a:prstGeom prst="rect">
            <a:avLst/>
          </a:prstGeom>
        </p:spPr>
      </p:pic>
      <p:sp>
        <p:nvSpPr>
          <p:cNvPr id="25" name="Text 21"/>
          <p:cNvSpPr txBox="1"/>
          <p:nvPr/>
        </p:nvSpPr>
        <p:spPr>
          <a:xfrm>
            <a:off x="566928" y="2267712"/>
            <a:ext cx="1735074" cy="329184"/>
          </a:xfrm>
          <a:prstGeom prst="rect">
            <a:avLst/>
          </a:prstGeom>
          <a:noFill/>
          <a:ln/>
        </p:spPr>
        <p:txBody>
          <a:bodyPr wrap="square" lIns="0" tIns="0" rIns="0" bIns="0" rtlCol="0" anchor="t">
            <a:normAutofit/>
          </a:bodyPr>
          <a:lstStyle/>
          <a:p>
            <a:pPr marL="0" indent="0">
              <a:buNone/>
            </a:pPr>
            <a:r>
              <a:rPr lang="en-US" sz="1150" b="1" dirty="0">
                <a:solidFill>
                  <a:srgbClr val="231F20"/>
                </a:solidFill>
                <a:latin typeface="Calibri" pitchFamily="34" charset="0"/>
                <a:ea typeface="Calibri" pitchFamily="34" charset="-122"/>
                <a:cs typeface="Calibri" pitchFamily="34" charset="-120"/>
              </a:rPr>
              <a:t>Sur site</a:t>
            </a:r>
            <a:endParaRPr lang="en-US" sz="1150" dirty="0"/>
          </a:p>
        </p:txBody>
      </p:sp>
      <p:sp>
        <p:nvSpPr>
          <p:cNvPr id="26" name="Text 22"/>
          <p:cNvSpPr txBox="1"/>
          <p:nvPr/>
        </p:nvSpPr>
        <p:spPr>
          <a:xfrm>
            <a:off x="566928" y="2596896"/>
            <a:ext cx="1735074"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Votre matériel, votre salle serveurs, votre personnel.</a:t>
            </a:r>
            <a:endParaRPr lang="en-US" sz="850" dirty="0"/>
          </a:p>
        </p:txBody>
      </p:sp>
      <p:sp>
        <p:nvSpPr>
          <p:cNvPr id="27" name="Text 23"/>
          <p:cNvSpPr txBox="1"/>
          <p:nvPr/>
        </p:nvSpPr>
        <p:spPr>
          <a:xfrm>
            <a:off x="566928" y="2962656"/>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CONTRÔLE</a:t>
            </a:r>
            <a:endParaRPr lang="en-US" sz="700" dirty="0"/>
          </a:p>
        </p:txBody>
      </p:sp>
      <p:sp>
        <p:nvSpPr>
          <p:cNvPr id="28" name="Text 24"/>
          <p:cNvSpPr txBox="1"/>
          <p:nvPr/>
        </p:nvSpPr>
        <p:spPr>
          <a:xfrm>
            <a:off x="56692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Maximal</a:t>
            </a:r>
            <a:endParaRPr lang="en-US" sz="950" dirty="0"/>
          </a:p>
        </p:txBody>
      </p:sp>
      <p:sp>
        <p:nvSpPr>
          <p:cNvPr id="29" name="Text 25"/>
          <p:cNvSpPr txBox="1"/>
          <p:nvPr/>
        </p:nvSpPr>
        <p:spPr>
          <a:xfrm>
            <a:off x="566928" y="3227832"/>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DÉLAI DE MISE EN ŒUVRE</a:t>
            </a:r>
            <a:endParaRPr lang="en-US" sz="700" dirty="0"/>
          </a:p>
        </p:txBody>
      </p:sp>
      <p:sp>
        <p:nvSpPr>
          <p:cNvPr id="30" name="Text 26"/>
          <p:cNvSpPr txBox="1"/>
          <p:nvPr/>
        </p:nvSpPr>
        <p:spPr>
          <a:xfrm>
            <a:off x="56692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6–18 mois</a:t>
            </a:r>
            <a:endParaRPr lang="en-US" sz="950" dirty="0"/>
          </a:p>
        </p:txBody>
      </p:sp>
      <p:sp>
        <p:nvSpPr>
          <p:cNvPr id="31" name="Text 27"/>
          <p:cNvSpPr txBox="1"/>
          <p:nvPr/>
        </p:nvSpPr>
        <p:spPr>
          <a:xfrm>
            <a:off x="566928" y="3493008"/>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PROFIL DE COÛT</a:t>
            </a:r>
            <a:endParaRPr lang="en-US" sz="700" dirty="0"/>
          </a:p>
        </p:txBody>
      </p:sp>
      <p:sp>
        <p:nvSpPr>
          <p:cNvPr id="32" name="Text 28"/>
          <p:cNvSpPr txBox="1"/>
          <p:nvPr/>
        </p:nvSpPr>
        <p:spPr>
          <a:xfrm>
            <a:off x="56692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Investissement, puis fixe</a:t>
            </a:r>
            <a:endParaRPr lang="en-US" sz="950" dirty="0"/>
          </a:p>
        </p:txBody>
      </p:sp>
      <p:sp>
        <p:nvSpPr>
          <p:cNvPr id="33" name="Text 29"/>
          <p:cNvSpPr txBox="1"/>
          <p:nvPr/>
        </p:nvSpPr>
        <p:spPr>
          <a:xfrm>
            <a:off x="566928" y="3758184"/>
            <a:ext cx="1735074" cy="109728"/>
          </a:xfrm>
          <a:prstGeom prst="rect">
            <a:avLst/>
          </a:prstGeom>
          <a:noFill/>
          <a:ln/>
        </p:spPr>
        <p:txBody>
          <a:bodyPr wrap="square" lIns="0" tIns="0" rIns="0" bIns="0" rtlCol="0" anchor="t"/>
          <a:lstStyle/>
          <a:p>
            <a:pPr marL="0" indent="0">
              <a:buNone/>
            </a:pPr>
            <a:r>
              <a:rPr lang="en-US" sz="700" b="1" kern="0" spc="100" dirty="0">
                <a:solidFill>
                  <a:srgbClr val="00553A"/>
                </a:solidFill>
                <a:latin typeface="Calibri" pitchFamily="34" charset="0"/>
                <a:ea typeface="Calibri" pitchFamily="34" charset="-122"/>
                <a:cs typeface="Calibri" pitchFamily="34" charset="-120"/>
              </a:rPr>
              <a:t>USAGE ADAPTÉ</a:t>
            </a:r>
            <a:endParaRPr lang="en-US" sz="700" dirty="0"/>
          </a:p>
        </p:txBody>
      </p:sp>
      <p:sp>
        <p:nvSpPr>
          <p:cNvPr id="34" name="Text 30"/>
          <p:cNvSpPr txBox="1"/>
          <p:nvPr/>
        </p:nvSpPr>
        <p:spPr>
          <a:xfrm>
            <a:off x="566928" y="3867912"/>
            <a:ext cx="1735074" cy="155448"/>
          </a:xfrm>
          <a:prstGeom prst="rect">
            <a:avLst/>
          </a:prstGeom>
          <a:noFill/>
          <a:ln/>
        </p:spPr>
        <p:txBody>
          <a:bodyPr wrap="square" lIns="0" tIns="0" rIns="0" bIns="0" rtlCol="0" anchor="t">
            <a:normAutofit fontScale="92500"/>
          </a:bodyPr>
          <a:lstStyle/>
          <a:p>
            <a:pPr marL="0" indent="0">
              <a:buNone/>
            </a:pPr>
            <a:r>
              <a:rPr lang="en-US" sz="800" dirty="0">
                <a:solidFill>
                  <a:srgbClr val="231F20"/>
                </a:solidFill>
                <a:latin typeface="Calibri" pitchFamily="34" charset="0"/>
                <a:ea typeface="Calibri" pitchFamily="34" charset="-122"/>
                <a:cs typeface="Calibri" pitchFamily="34" charset="-120"/>
              </a:rPr>
              <a:t>Microdonnées confidentielles ; charge élevée</a:t>
            </a:r>
            <a:endParaRPr lang="en-US" sz="800" dirty="0"/>
          </a:p>
        </p:txBody>
      </p:sp>
      <p:sp>
        <p:nvSpPr>
          <p:cNvPr id="35" name="Shape 31"/>
          <p:cNvSpPr/>
          <p:nvPr/>
        </p:nvSpPr>
        <p:spPr>
          <a:xfrm>
            <a:off x="2548890" y="1719072"/>
            <a:ext cx="1954530" cy="2331720"/>
          </a:xfrm>
          <a:prstGeom prst="roundRect">
            <a:avLst>
              <a:gd name="adj" fmla="val 3743"/>
            </a:avLst>
          </a:prstGeom>
          <a:solidFill>
            <a:srgbClr val="F4F7F5"/>
          </a:solidFill>
          <a:ln w="9525">
            <a:solidFill>
              <a:srgbClr val="D5DED9"/>
            </a:solidFill>
            <a:prstDash val="solid"/>
          </a:ln>
        </p:spPr>
      </p:sp>
      <p:sp>
        <p:nvSpPr>
          <p:cNvPr id="36" name="Shape 32"/>
          <p:cNvSpPr/>
          <p:nvPr/>
        </p:nvSpPr>
        <p:spPr>
          <a:xfrm>
            <a:off x="2658618" y="1828800"/>
            <a:ext cx="384048" cy="384048"/>
          </a:xfrm>
          <a:prstGeom prst="ellipse">
            <a:avLst/>
          </a:prstGeom>
          <a:solidFill>
            <a:srgbClr val="00704A"/>
          </a:solidFill>
          <a:ln/>
        </p:spPr>
      </p:sp>
      <p:sp>
        <p:nvSpPr>
          <p:cNvPr id="37" name="Text 33"/>
          <p:cNvSpPr txBox="1"/>
          <p:nvPr/>
        </p:nvSpPr>
        <p:spPr>
          <a:xfrm>
            <a:off x="265861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pic>
        <p:nvPicPr>
          <p:cNvPr id="38" name="Image 1" descr="preencoded.png"/>
          <p:cNvPicPr>
            <a:picLocks noChangeAspect="1"/>
          </p:cNvPicPr>
          <p:nvPr/>
        </p:nvPicPr>
        <p:blipFill>
          <a:blip r:embed="rId4"/>
          <a:stretch>
            <a:fillRect/>
          </a:stretch>
        </p:blipFill>
        <p:spPr>
          <a:xfrm>
            <a:off x="4119372" y="1883664"/>
            <a:ext cx="256032" cy="256032"/>
          </a:xfrm>
          <a:prstGeom prst="rect">
            <a:avLst/>
          </a:prstGeom>
        </p:spPr>
      </p:pic>
      <p:sp>
        <p:nvSpPr>
          <p:cNvPr id="39" name="Text 34"/>
          <p:cNvSpPr txBox="1"/>
          <p:nvPr/>
        </p:nvSpPr>
        <p:spPr>
          <a:xfrm>
            <a:off x="2658618" y="2267712"/>
            <a:ext cx="1735074" cy="329184"/>
          </a:xfrm>
          <a:prstGeom prst="rect">
            <a:avLst/>
          </a:prstGeom>
          <a:noFill/>
          <a:ln/>
        </p:spPr>
        <p:txBody>
          <a:bodyPr wrap="square" lIns="0" tIns="0" rIns="0" bIns="0" rtlCol="0" anchor="t">
            <a:normAutofit/>
          </a:bodyPr>
          <a:lstStyle/>
          <a:p>
            <a:pPr marL="0" indent="0">
              <a:buNone/>
            </a:pPr>
            <a:r>
              <a:rPr lang="en-US" sz="1150" b="1" dirty="0">
                <a:solidFill>
                  <a:srgbClr val="231F20"/>
                </a:solidFill>
                <a:latin typeface="Calibri" pitchFamily="34" charset="0"/>
                <a:ea typeface="Calibri" pitchFamily="34" charset="-122"/>
                <a:cs typeface="Calibri" pitchFamily="34" charset="-120"/>
              </a:rPr>
              <a:t>Cloud souverain</a:t>
            </a:r>
            <a:endParaRPr lang="en-US" sz="1150" dirty="0"/>
          </a:p>
        </p:txBody>
      </p:sp>
      <p:sp>
        <p:nvSpPr>
          <p:cNvPr id="40" name="Text 35"/>
          <p:cNvSpPr txBox="1"/>
          <p:nvPr/>
        </p:nvSpPr>
        <p:spPr>
          <a:xfrm>
            <a:off x="2658618" y="2596896"/>
            <a:ext cx="1735074"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Hébergement national ou public sous contrat administratif.</a:t>
            </a:r>
            <a:endParaRPr lang="en-US" sz="850" dirty="0"/>
          </a:p>
        </p:txBody>
      </p:sp>
      <p:sp>
        <p:nvSpPr>
          <p:cNvPr id="41" name="Text 36"/>
          <p:cNvSpPr txBox="1"/>
          <p:nvPr/>
        </p:nvSpPr>
        <p:spPr>
          <a:xfrm>
            <a:off x="2658618" y="2962656"/>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CONTRÔLE</a:t>
            </a:r>
            <a:endParaRPr lang="en-US" sz="700" dirty="0"/>
          </a:p>
        </p:txBody>
      </p:sp>
      <p:sp>
        <p:nvSpPr>
          <p:cNvPr id="42" name="Text 37"/>
          <p:cNvSpPr txBox="1"/>
          <p:nvPr/>
        </p:nvSpPr>
        <p:spPr>
          <a:xfrm>
            <a:off x="265861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Élevé, contractuel</a:t>
            </a:r>
            <a:endParaRPr lang="en-US" sz="950" dirty="0"/>
          </a:p>
        </p:txBody>
      </p:sp>
      <p:sp>
        <p:nvSpPr>
          <p:cNvPr id="43" name="Text 38"/>
          <p:cNvSpPr txBox="1"/>
          <p:nvPr/>
        </p:nvSpPr>
        <p:spPr>
          <a:xfrm>
            <a:off x="2658618" y="3227832"/>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DÉLAI DE MISE EN ŒUVRE</a:t>
            </a:r>
            <a:endParaRPr lang="en-US" sz="700" dirty="0"/>
          </a:p>
        </p:txBody>
      </p:sp>
      <p:sp>
        <p:nvSpPr>
          <p:cNvPr id="44" name="Text 39"/>
          <p:cNvSpPr txBox="1"/>
          <p:nvPr/>
        </p:nvSpPr>
        <p:spPr>
          <a:xfrm>
            <a:off x="265861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3–9 mois</a:t>
            </a:r>
            <a:endParaRPr lang="en-US" sz="950" dirty="0"/>
          </a:p>
        </p:txBody>
      </p:sp>
      <p:sp>
        <p:nvSpPr>
          <p:cNvPr id="45" name="Text 40"/>
          <p:cNvSpPr txBox="1"/>
          <p:nvPr/>
        </p:nvSpPr>
        <p:spPr>
          <a:xfrm>
            <a:off x="2658618" y="3493008"/>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PROFIL DE COÛT</a:t>
            </a:r>
            <a:endParaRPr lang="en-US" sz="700" dirty="0"/>
          </a:p>
        </p:txBody>
      </p:sp>
      <p:sp>
        <p:nvSpPr>
          <p:cNvPr id="46" name="Text 41"/>
          <p:cNvSpPr txBox="1"/>
          <p:nvPr/>
        </p:nvSpPr>
        <p:spPr>
          <a:xfrm>
            <a:off x="265861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Fonctionnement, engagé</a:t>
            </a:r>
            <a:endParaRPr lang="en-US" sz="950" dirty="0"/>
          </a:p>
        </p:txBody>
      </p:sp>
      <p:sp>
        <p:nvSpPr>
          <p:cNvPr id="47" name="Text 42"/>
          <p:cNvSpPr txBox="1"/>
          <p:nvPr/>
        </p:nvSpPr>
        <p:spPr>
          <a:xfrm>
            <a:off x="2658618" y="3758184"/>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USAGE ADAPTÉ</a:t>
            </a:r>
            <a:endParaRPr lang="en-US" sz="700" dirty="0"/>
          </a:p>
        </p:txBody>
      </p:sp>
      <p:sp>
        <p:nvSpPr>
          <p:cNvPr id="48" name="Text 43"/>
          <p:cNvSpPr txBox="1"/>
          <p:nvPr/>
        </p:nvSpPr>
        <p:spPr>
          <a:xfrm>
            <a:off x="2658618" y="3867912"/>
            <a:ext cx="1735074" cy="155448"/>
          </a:xfrm>
          <a:prstGeom prst="rect">
            <a:avLst/>
          </a:prstGeom>
          <a:noFill/>
          <a:ln/>
        </p:spPr>
        <p:txBody>
          <a:bodyPr wrap="square" lIns="0" tIns="0" rIns="0" bIns="0" rtlCol="0" anchor="t">
            <a:normAutofit/>
          </a:bodyPr>
          <a:lstStyle/>
          <a:p>
            <a:pPr marL="0" indent="0">
              <a:buNone/>
            </a:pPr>
            <a:r>
              <a:rPr lang="en-US" sz="800" dirty="0">
                <a:solidFill>
                  <a:srgbClr val="231F20"/>
                </a:solidFill>
                <a:latin typeface="Calibri" pitchFamily="34" charset="0"/>
                <a:ea typeface="Calibri" pitchFamily="34" charset="-122"/>
                <a:cs typeface="Calibri" pitchFamily="34" charset="-120"/>
              </a:rPr>
              <a:t>Données non publiques ; mutualisation</a:t>
            </a:r>
            <a:endParaRPr lang="en-US" sz="800" dirty="0"/>
          </a:p>
        </p:txBody>
      </p:sp>
      <p:sp>
        <p:nvSpPr>
          <p:cNvPr id="49" name="Shape 44"/>
          <p:cNvSpPr/>
          <p:nvPr/>
        </p:nvSpPr>
        <p:spPr>
          <a:xfrm>
            <a:off x="4640580" y="1719072"/>
            <a:ext cx="1954530" cy="2331720"/>
          </a:xfrm>
          <a:prstGeom prst="roundRect">
            <a:avLst>
              <a:gd name="adj" fmla="val 3743"/>
            </a:avLst>
          </a:prstGeom>
          <a:solidFill>
            <a:srgbClr val="F4F7F5"/>
          </a:solidFill>
          <a:ln w="9525">
            <a:solidFill>
              <a:srgbClr val="D5DED9"/>
            </a:solidFill>
            <a:prstDash val="solid"/>
          </a:ln>
        </p:spPr>
      </p:sp>
      <p:sp>
        <p:nvSpPr>
          <p:cNvPr id="50" name="Shape 45"/>
          <p:cNvSpPr/>
          <p:nvPr/>
        </p:nvSpPr>
        <p:spPr>
          <a:xfrm>
            <a:off x="4750308" y="1828800"/>
            <a:ext cx="384048" cy="384048"/>
          </a:xfrm>
          <a:prstGeom prst="ellipse">
            <a:avLst/>
          </a:prstGeom>
          <a:solidFill>
            <a:srgbClr val="0E7C86"/>
          </a:solidFill>
          <a:ln/>
        </p:spPr>
      </p:sp>
      <p:sp>
        <p:nvSpPr>
          <p:cNvPr id="51" name="Text 46"/>
          <p:cNvSpPr txBox="1"/>
          <p:nvPr/>
        </p:nvSpPr>
        <p:spPr>
          <a:xfrm>
            <a:off x="475030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pic>
        <p:nvPicPr>
          <p:cNvPr id="52" name="Image 2" descr="preencoded.png"/>
          <p:cNvPicPr>
            <a:picLocks noChangeAspect="1"/>
          </p:cNvPicPr>
          <p:nvPr/>
        </p:nvPicPr>
        <p:blipFill>
          <a:blip r:embed="rId5"/>
          <a:stretch>
            <a:fillRect/>
          </a:stretch>
        </p:blipFill>
        <p:spPr>
          <a:xfrm>
            <a:off x="6211062" y="1883664"/>
            <a:ext cx="256032" cy="256032"/>
          </a:xfrm>
          <a:prstGeom prst="rect">
            <a:avLst/>
          </a:prstGeom>
        </p:spPr>
      </p:pic>
      <p:sp>
        <p:nvSpPr>
          <p:cNvPr id="53" name="Text 47"/>
          <p:cNvSpPr txBox="1"/>
          <p:nvPr/>
        </p:nvSpPr>
        <p:spPr>
          <a:xfrm>
            <a:off x="4750308" y="2267712"/>
            <a:ext cx="1735074" cy="329184"/>
          </a:xfrm>
          <a:prstGeom prst="rect">
            <a:avLst/>
          </a:prstGeom>
          <a:noFill/>
          <a:ln/>
        </p:spPr>
        <p:txBody>
          <a:bodyPr wrap="square" lIns="0" tIns="0" rIns="0" bIns="0" rtlCol="0" anchor="t">
            <a:normAutofit/>
          </a:bodyPr>
          <a:lstStyle/>
          <a:p>
            <a:pPr marL="0" indent="0">
              <a:buNone/>
            </a:pPr>
            <a:r>
              <a:rPr lang="en-US" sz="1150" b="1" dirty="0">
                <a:solidFill>
                  <a:srgbClr val="231F20"/>
                </a:solidFill>
                <a:latin typeface="Calibri" pitchFamily="34" charset="0"/>
                <a:ea typeface="Calibri" pitchFamily="34" charset="-122"/>
                <a:cs typeface="Calibri" pitchFamily="34" charset="-120"/>
              </a:rPr>
              <a:t>Cloud public dédié</a:t>
            </a:r>
            <a:endParaRPr lang="en-US" sz="1150" dirty="0"/>
          </a:p>
        </p:txBody>
      </p:sp>
      <p:sp>
        <p:nvSpPr>
          <p:cNvPr id="54" name="Text 48"/>
          <p:cNvSpPr txBox="1"/>
          <p:nvPr/>
        </p:nvSpPr>
        <p:spPr>
          <a:xfrm>
            <a:off x="4750308" y="2596896"/>
            <a:ext cx="1735074"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Grand fournisseur avec résidence, réseau privé, isolement.</a:t>
            </a:r>
            <a:endParaRPr lang="en-US" sz="850" dirty="0"/>
          </a:p>
        </p:txBody>
      </p:sp>
      <p:sp>
        <p:nvSpPr>
          <p:cNvPr id="55" name="Text 49"/>
          <p:cNvSpPr txBox="1"/>
          <p:nvPr/>
        </p:nvSpPr>
        <p:spPr>
          <a:xfrm>
            <a:off x="4750308" y="2962656"/>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CONTRÔLE</a:t>
            </a:r>
            <a:endParaRPr lang="en-US" sz="700" dirty="0"/>
          </a:p>
        </p:txBody>
      </p:sp>
      <p:sp>
        <p:nvSpPr>
          <p:cNvPr id="56" name="Text 50"/>
          <p:cNvSpPr txBox="1"/>
          <p:nvPr/>
        </p:nvSpPr>
        <p:spPr>
          <a:xfrm>
            <a:off x="475030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Modéré</a:t>
            </a:r>
            <a:endParaRPr lang="en-US" sz="950" dirty="0"/>
          </a:p>
        </p:txBody>
      </p:sp>
      <p:sp>
        <p:nvSpPr>
          <p:cNvPr id="57" name="Text 51"/>
          <p:cNvSpPr txBox="1"/>
          <p:nvPr/>
        </p:nvSpPr>
        <p:spPr>
          <a:xfrm>
            <a:off x="4750308" y="3227832"/>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DÉLAI DE MISE EN ŒUVRE</a:t>
            </a:r>
            <a:endParaRPr lang="en-US" sz="700" dirty="0"/>
          </a:p>
        </p:txBody>
      </p:sp>
      <p:sp>
        <p:nvSpPr>
          <p:cNvPr id="58" name="Text 52"/>
          <p:cNvSpPr txBox="1"/>
          <p:nvPr/>
        </p:nvSpPr>
        <p:spPr>
          <a:xfrm>
            <a:off x="475030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4–12 semaines</a:t>
            </a:r>
            <a:endParaRPr lang="en-US" sz="950" dirty="0"/>
          </a:p>
        </p:txBody>
      </p:sp>
      <p:sp>
        <p:nvSpPr>
          <p:cNvPr id="59" name="Text 53"/>
          <p:cNvSpPr txBox="1"/>
          <p:nvPr/>
        </p:nvSpPr>
        <p:spPr>
          <a:xfrm>
            <a:off x="4750308" y="3493008"/>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PROFIL DE COÛT</a:t>
            </a:r>
            <a:endParaRPr lang="en-US" sz="700" dirty="0"/>
          </a:p>
        </p:txBody>
      </p:sp>
      <p:sp>
        <p:nvSpPr>
          <p:cNvPr id="60" name="Text 54"/>
          <p:cNvSpPr txBox="1"/>
          <p:nvPr/>
        </p:nvSpPr>
        <p:spPr>
          <a:xfrm>
            <a:off x="475030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Fonctionnement, élastique</a:t>
            </a:r>
            <a:endParaRPr lang="en-US" sz="950" dirty="0"/>
          </a:p>
        </p:txBody>
      </p:sp>
      <p:sp>
        <p:nvSpPr>
          <p:cNvPr id="61" name="Text 55"/>
          <p:cNvSpPr txBox="1"/>
          <p:nvPr/>
        </p:nvSpPr>
        <p:spPr>
          <a:xfrm>
            <a:off x="4750308" y="3758184"/>
            <a:ext cx="1735074" cy="109728"/>
          </a:xfrm>
          <a:prstGeom prst="rect">
            <a:avLst/>
          </a:prstGeom>
          <a:noFill/>
          <a:ln/>
        </p:spPr>
        <p:txBody>
          <a:bodyPr wrap="square" lIns="0" tIns="0" rIns="0" bIns="0" rtlCol="0" anchor="t"/>
          <a:lstStyle/>
          <a:p>
            <a:pPr marL="0" indent="0">
              <a:buNone/>
            </a:pPr>
            <a:r>
              <a:rPr lang="en-US" sz="700" b="1" kern="0" spc="100" dirty="0">
                <a:solidFill>
                  <a:srgbClr val="0E7C86"/>
                </a:solidFill>
                <a:latin typeface="Calibri" pitchFamily="34" charset="0"/>
                <a:ea typeface="Calibri" pitchFamily="34" charset="-122"/>
                <a:cs typeface="Calibri" pitchFamily="34" charset="-120"/>
              </a:rPr>
              <a:t>USAGE ADAPTÉ</a:t>
            </a:r>
            <a:endParaRPr lang="en-US" sz="700" dirty="0"/>
          </a:p>
        </p:txBody>
      </p:sp>
      <p:sp>
        <p:nvSpPr>
          <p:cNvPr id="62" name="Text 56"/>
          <p:cNvSpPr txBox="1"/>
          <p:nvPr/>
        </p:nvSpPr>
        <p:spPr>
          <a:xfrm>
            <a:off x="4750308" y="3867912"/>
            <a:ext cx="1735074" cy="155448"/>
          </a:xfrm>
          <a:prstGeom prst="rect">
            <a:avLst/>
          </a:prstGeom>
          <a:noFill/>
          <a:ln/>
        </p:spPr>
        <p:txBody>
          <a:bodyPr wrap="square" lIns="0" tIns="0" rIns="0" bIns="0" rtlCol="0" anchor="t">
            <a:normAutofit fontScale="92500"/>
          </a:bodyPr>
          <a:lstStyle/>
          <a:p>
            <a:pPr marL="0" indent="0">
              <a:buNone/>
            </a:pPr>
            <a:r>
              <a:rPr lang="en-US" sz="800" dirty="0">
                <a:solidFill>
                  <a:srgbClr val="231F20"/>
                </a:solidFill>
                <a:latin typeface="Calibri" pitchFamily="34" charset="0"/>
                <a:ea typeface="Calibri" pitchFamily="34" charset="-122"/>
                <a:cs typeface="Calibri" pitchFamily="34" charset="-120"/>
              </a:rPr>
              <a:t>Pics de charge ; recensement ; entraînement</a:t>
            </a:r>
            <a:endParaRPr lang="en-US" sz="800" dirty="0"/>
          </a:p>
        </p:txBody>
      </p:sp>
      <p:sp>
        <p:nvSpPr>
          <p:cNvPr id="63" name="Shape 57"/>
          <p:cNvSpPr/>
          <p:nvPr/>
        </p:nvSpPr>
        <p:spPr>
          <a:xfrm>
            <a:off x="6732270" y="1719072"/>
            <a:ext cx="1954530" cy="2331720"/>
          </a:xfrm>
          <a:prstGeom prst="roundRect">
            <a:avLst>
              <a:gd name="adj" fmla="val 3743"/>
            </a:avLst>
          </a:prstGeom>
          <a:solidFill>
            <a:srgbClr val="F4F7F5"/>
          </a:solidFill>
          <a:ln w="9525">
            <a:solidFill>
              <a:srgbClr val="D5DED9"/>
            </a:solidFill>
            <a:prstDash val="solid"/>
          </a:ln>
        </p:spPr>
      </p:sp>
      <p:sp>
        <p:nvSpPr>
          <p:cNvPr id="64" name="Shape 58"/>
          <p:cNvSpPr/>
          <p:nvPr/>
        </p:nvSpPr>
        <p:spPr>
          <a:xfrm>
            <a:off x="6841998" y="1828800"/>
            <a:ext cx="384048" cy="384048"/>
          </a:xfrm>
          <a:prstGeom prst="ellipse">
            <a:avLst/>
          </a:prstGeom>
          <a:solidFill>
            <a:srgbClr val="00A86A"/>
          </a:solidFill>
          <a:ln/>
        </p:spPr>
      </p:sp>
      <p:sp>
        <p:nvSpPr>
          <p:cNvPr id="65" name="Text 59"/>
          <p:cNvSpPr txBox="1"/>
          <p:nvPr/>
        </p:nvSpPr>
        <p:spPr>
          <a:xfrm>
            <a:off x="6841998" y="18288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pic>
        <p:nvPicPr>
          <p:cNvPr id="66" name="Image 3" descr="preencoded.png"/>
          <p:cNvPicPr>
            <a:picLocks noChangeAspect="1"/>
          </p:cNvPicPr>
          <p:nvPr/>
        </p:nvPicPr>
        <p:blipFill>
          <a:blip r:embed="rId6"/>
          <a:stretch>
            <a:fillRect/>
          </a:stretch>
        </p:blipFill>
        <p:spPr>
          <a:xfrm>
            <a:off x="8302752" y="1883664"/>
            <a:ext cx="256032" cy="256032"/>
          </a:xfrm>
          <a:prstGeom prst="rect">
            <a:avLst/>
          </a:prstGeom>
        </p:spPr>
      </p:pic>
      <p:sp>
        <p:nvSpPr>
          <p:cNvPr id="67" name="Text 60"/>
          <p:cNvSpPr txBox="1"/>
          <p:nvPr/>
        </p:nvSpPr>
        <p:spPr>
          <a:xfrm>
            <a:off x="6841998" y="2267712"/>
            <a:ext cx="1735074" cy="329184"/>
          </a:xfrm>
          <a:prstGeom prst="rect">
            <a:avLst/>
          </a:prstGeom>
          <a:noFill/>
          <a:ln/>
        </p:spPr>
        <p:txBody>
          <a:bodyPr wrap="square" lIns="0" tIns="0" rIns="0" bIns="0" rtlCol="0" anchor="t">
            <a:normAutofit/>
          </a:bodyPr>
          <a:lstStyle/>
          <a:p>
            <a:pPr marL="0" indent="0">
              <a:buNone/>
            </a:pPr>
            <a:r>
              <a:rPr lang="en-US" sz="1150" b="1" dirty="0">
                <a:solidFill>
                  <a:srgbClr val="231F20"/>
                </a:solidFill>
                <a:latin typeface="Calibri" pitchFamily="34" charset="0"/>
                <a:ea typeface="Calibri" pitchFamily="34" charset="-122"/>
                <a:cs typeface="Calibri" pitchFamily="34" charset="-120"/>
              </a:rPr>
              <a:t>Service IA géré / API</a:t>
            </a:r>
            <a:endParaRPr lang="en-US" sz="1150" dirty="0"/>
          </a:p>
        </p:txBody>
      </p:sp>
      <p:sp>
        <p:nvSpPr>
          <p:cNvPr id="68" name="Text 61"/>
          <p:cNvSpPr txBox="1"/>
          <p:nvPr/>
        </p:nvSpPr>
        <p:spPr>
          <a:xfrm>
            <a:off x="6841998" y="2596896"/>
            <a:ext cx="1735074"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Un fournisseur exécute le modèle ; vous envoyez les requêtes.</a:t>
            </a:r>
            <a:endParaRPr lang="en-US" sz="850" dirty="0"/>
          </a:p>
        </p:txBody>
      </p:sp>
      <p:sp>
        <p:nvSpPr>
          <p:cNvPr id="69" name="Text 62"/>
          <p:cNvSpPr txBox="1"/>
          <p:nvPr/>
        </p:nvSpPr>
        <p:spPr>
          <a:xfrm>
            <a:off x="6841998" y="2962656"/>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CONTRÔLE</a:t>
            </a:r>
            <a:endParaRPr lang="en-US" sz="700" dirty="0"/>
          </a:p>
        </p:txBody>
      </p:sp>
      <p:sp>
        <p:nvSpPr>
          <p:cNvPr id="70" name="Text 63"/>
          <p:cNvSpPr txBox="1"/>
          <p:nvPr/>
        </p:nvSpPr>
        <p:spPr>
          <a:xfrm>
            <a:off x="6841998" y="3072384"/>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Faible</a:t>
            </a:r>
            <a:endParaRPr lang="en-US" sz="950" dirty="0"/>
          </a:p>
        </p:txBody>
      </p:sp>
      <p:sp>
        <p:nvSpPr>
          <p:cNvPr id="71" name="Text 64"/>
          <p:cNvSpPr txBox="1"/>
          <p:nvPr/>
        </p:nvSpPr>
        <p:spPr>
          <a:xfrm>
            <a:off x="6841998" y="3227832"/>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DÉLAI DE MISE EN ŒUVRE</a:t>
            </a:r>
            <a:endParaRPr lang="en-US" sz="700" dirty="0"/>
          </a:p>
        </p:txBody>
      </p:sp>
      <p:sp>
        <p:nvSpPr>
          <p:cNvPr id="72" name="Text 65"/>
          <p:cNvSpPr txBox="1"/>
          <p:nvPr/>
        </p:nvSpPr>
        <p:spPr>
          <a:xfrm>
            <a:off x="6841998" y="3337560"/>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Quelques jours</a:t>
            </a:r>
            <a:endParaRPr lang="en-US" sz="950" dirty="0"/>
          </a:p>
        </p:txBody>
      </p:sp>
      <p:sp>
        <p:nvSpPr>
          <p:cNvPr id="73" name="Text 66"/>
          <p:cNvSpPr txBox="1"/>
          <p:nvPr/>
        </p:nvSpPr>
        <p:spPr>
          <a:xfrm>
            <a:off x="6841998" y="3493008"/>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PROFIL DE COÛT</a:t>
            </a:r>
            <a:endParaRPr lang="en-US" sz="700" dirty="0"/>
          </a:p>
        </p:txBody>
      </p:sp>
      <p:sp>
        <p:nvSpPr>
          <p:cNvPr id="74" name="Text 67"/>
          <p:cNvSpPr txBox="1"/>
          <p:nvPr/>
        </p:nvSpPr>
        <p:spPr>
          <a:xfrm>
            <a:off x="6841998" y="3602736"/>
            <a:ext cx="1735074" cy="155448"/>
          </a:xfrm>
          <a:prstGeom prst="rect">
            <a:avLst/>
          </a:prstGeom>
          <a:noFill/>
          <a:ln/>
        </p:spPr>
        <p:txBody>
          <a:bodyPr wrap="square" lIns="0" tIns="0" rIns="0" bIns="0" rtlCol="0" anchor="t">
            <a:normAutofit/>
          </a:bodyPr>
          <a:lstStyle/>
          <a:p>
            <a:pPr marL="0" indent="0">
              <a:buNone/>
            </a:pPr>
            <a:r>
              <a:rPr lang="en-US" sz="950" b="1" dirty="0">
                <a:solidFill>
                  <a:srgbClr val="231F20"/>
                </a:solidFill>
                <a:latin typeface="Calibri" pitchFamily="34" charset="0"/>
                <a:ea typeface="Calibri" pitchFamily="34" charset="-122"/>
                <a:cs typeface="Calibri" pitchFamily="34" charset="-120"/>
              </a:rPr>
              <a:t>Au jeton / à l'appel</a:t>
            </a:r>
            <a:endParaRPr lang="en-US" sz="950" dirty="0"/>
          </a:p>
        </p:txBody>
      </p:sp>
      <p:sp>
        <p:nvSpPr>
          <p:cNvPr id="75" name="Text 68"/>
          <p:cNvSpPr txBox="1"/>
          <p:nvPr/>
        </p:nvSpPr>
        <p:spPr>
          <a:xfrm>
            <a:off x="6841998" y="3758184"/>
            <a:ext cx="1735074" cy="109728"/>
          </a:xfrm>
          <a:prstGeom prst="rect">
            <a:avLst/>
          </a:prstGeom>
          <a:noFill/>
          <a:ln/>
        </p:spPr>
        <p:txBody>
          <a:bodyPr wrap="square" lIns="0" tIns="0" rIns="0" bIns="0" rtlCol="0" anchor="t"/>
          <a:lstStyle/>
          <a:p>
            <a:pPr marL="0" indent="0">
              <a:buNone/>
            </a:pPr>
            <a:r>
              <a:rPr lang="en-US" sz="700" b="1" kern="0" spc="100" dirty="0">
                <a:solidFill>
                  <a:srgbClr val="00704A"/>
                </a:solidFill>
                <a:latin typeface="Calibri" pitchFamily="34" charset="0"/>
                <a:ea typeface="Calibri" pitchFamily="34" charset="-122"/>
                <a:cs typeface="Calibri" pitchFamily="34" charset="-120"/>
              </a:rPr>
              <a:t>USAGE ADAPTÉ</a:t>
            </a:r>
            <a:endParaRPr lang="en-US" sz="700" dirty="0"/>
          </a:p>
        </p:txBody>
      </p:sp>
      <p:sp>
        <p:nvSpPr>
          <p:cNvPr id="76" name="Text 69"/>
          <p:cNvSpPr txBox="1"/>
          <p:nvPr/>
        </p:nvSpPr>
        <p:spPr>
          <a:xfrm>
            <a:off x="6841998" y="3867912"/>
            <a:ext cx="1735074" cy="155448"/>
          </a:xfrm>
          <a:prstGeom prst="rect">
            <a:avLst/>
          </a:prstGeom>
          <a:noFill/>
          <a:ln/>
        </p:spPr>
        <p:txBody>
          <a:bodyPr wrap="square" lIns="0" tIns="0" rIns="0" bIns="0" rtlCol="0" anchor="t">
            <a:normAutofit fontScale="92500"/>
          </a:bodyPr>
          <a:lstStyle/>
          <a:p>
            <a:pPr marL="0" indent="0">
              <a:buNone/>
            </a:pPr>
            <a:r>
              <a:rPr lang="en-US" sz="800" dirty="0">
                <a:solidFill>
                  <a:srgbClr val="231F20"/>
                </a:solidFill>
                <a:latin typeface="Calibri" pitchFamily="34" charset="0"/>
                <a:ea typeface="Calibri" pitchFamily="34" charset="-122"/>
                <a:cs typeface="Calibri" pitchFamily="34" charset="-120"/>
              </a:rPr>
              <a:t>Données publiques ; rédaction ; exploration</a:t>
            </a:r>
            <a:endParaRPr lang="en-US" sz="800" dirty="0"/>
          </a:p>
        </p:txBody>
      </p:sp>
      <p:sp>
        <p:nvSpPr>
          <p:cNvPr id="77" name="Shape 7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78" name="Shape 71"/>
          <p:cNvSpPr/>
          <p:nvPr/>
        </p:nvSpPr>
        <p:spPr>
          <a:xfrm>
            <a:off x="566928" y="4233672"/>
            <a:ext cx="292608" cy="292608"/>
          </a:xfrm>
          <a:prstGeom prst="ellipse">
            <a:avLst/>
          </a:prstGeom>
          <a:solidFill>
            <a:srgbClr val="00A86A">
              <a:alpha val="22000"/>
            </a:srgbClr>
          </a:solidFill>
          <a:ln/>
        </p:spPr>
      </p:sp>
      <p:pic>
        <p:nvPicPr>
          <p:cNvPr id="79" name="Image 4" descr="preencoded.png"/>
          <p:cNvPicPr>
            <a:picLocks noChangeAspect="1"/>
          </p:cNvPicPr>
          <p:nvPr/>
        </p:nvPicPr>
        <p:blipFill>
          <a:blip r:embed="rId7"/>
          <a:stretch>
            <a:fillRect/>
          </a:stretch>
        </p:blipFill>
        <p:spPr>
          <a:xfrm>
            <a:off x="637154" y="4303898"/>
            <a:ext cx="152156" cy="152156"/>
          </a:xfrm>
          <a:prstGeom prst="rect">
            <a:avLst/>
          </a:prstGeom>
        </p:spPr>
      </p:pic>
      <p:sp>
        <p:nvSpPr>
          <p:cNvPr id="80" name="Text 7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La question n'est jamais « lequel ? » mais « quel traitement va où ? » — et la classification des données tranche avant le coût.</a:t>
            </a:r>
            <a:endParaRPr lang="en-US" sz="10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GRILLE DE DÉCISION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Une grille de décision défendable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Évaluez honnêtement sept critères. En cas de conflit, la classification et le droit priment sur le coût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8" name="Text 15"/>
          <p:cNvSpPr txBox="1"/>
          <p:nvPr/>
        </p:nvSpPr>
        <p:spPr>
          <a:xfrm>
            <a:off x="548640" y="1298448"/>
            <a:ext cx="205740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CRITÈRE</a:t>
            </a:r>
            <a:endParaRPr lang="en-US" sz="900" dirty="0"/>
          </a:p>
        </p:txBody>
      </p:sp>
      <p:sp>
        <p:nvSpPr>
          <p:cNvPr id="19" name="Text 16"/>
          <p:cNvSpPr txBox="1"/>
          <p:nvPr/>
        </p:nvSpPr>
        <p:spPr>
          <a:xfrm>
            <a:off x="2788920" y="1298448"/>
            <a:ext cx="24688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EN FAVEUR DU SUR SITE / SOUVERAIN</a:t>
            </a:r>
            <a:endParaRPr lang="en-US" sz="900" dirty="0"/>
          </a:p>
        </p:txBody>
      </p:sp>
      <p:sp>
        <p:nvSpPr>
          <p:cNvPr id="20" name="Text 17"/>
          <p:cNvSpPr txBox="1"/>
          <p:nvPr/>
        </p:nvSpPr>
        <p:spPr>
          <a:xfrm>
            <a:off x="5440680" y="1298448"/>
            <a:ext cx="22402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EN FAVEUR DU CLOUD / GÉRÉ</a:t>
            </a:r>
            <a:endParaRPr lang="en-US" sz="900" dirty="0"/>
          </a:p>
        </p:txBody>
      </p:sp>
      <p:sp>
        <p:nvSpPr>
          <p:cNvPr id="21" name="Text 18"/>
          <p:cNvSpPr txBox="1"/>
          <p:nvPr/>
        </p:nvSpPr>
        <p:spPr>
          <a:xfrm>
            <a:off x="7863840" y="1298448"/>
            <a:ext cx="7315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POIDS</a:t>
            </a:r>
            <a:endParaRPr lang="en-US" sz="900" dirty="0"/>
          </a:p>
        </p:txBody>
      </p:sp>
      <p:sp>
        <p:nvSpPr>
          <p:cNvPr id="22" name="Shape 19"/>
          <p:cNvSpPr/>
          <p:nvPr/>
        </p:nvSpPr>
        <p:spPr>
          <a:xfrm>
            <a:off x="457200" y="1572768"/>
            <a:ext cx="8229600" cy="329184"/>
          </a:xfrm>
          <a:prstGeom prst="roundRect">
            <a:avLst>
              <a:gd name="adj" fmla="val 13889"/>
            </a:avLst>
          </a:prstGeom>
          <a:solidFill>
            <a:srgbClr val="F4F7F5"/>
          </a:solidFill>
          <a:ln w="9525">
            <a:solidFill>
              <a:srgbClr val="D5DED9"/>
            </a:solidFill>
            <a:prstDash val="solid"/>
          </a:ln>
        </p:spPr>
      </p:sp>
      <p:sp>
        <p:nvSpPr>
          <p:cNvPr id="23" name="Shape 20"/>
          <p:cNvSpPr/>
          <p:nvPr/>
        </p:nvSpPr>
        <p:spPr>
          <a:xfrm>
            <a:off x="548640" y="1600200"/>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666037"/>
            <a:ext cx="142646" cy="142646"/>
          </a:xfrm>
          <a:prstGeom prst="rect">
            <a:avLst/>
          </a:prstGeom>
        </p:spPr>
      </p:pic>
      <p:sp>
        <p:nvSpPr>
          <p:cNvPr id="25" name="Text 21"/>
          <p:cNvSpPr txBox="1"/>
          <p:nvPr/>
        </p:nvSpPr>
        <p:spPr>
          <a:xfrm>
            <a:off x="896112" y="1572768"/>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Classification des données</a:t>
            </a:r>
            <a:endParaRPr lang="en-US" sz="900" dirty="0"/>
          </a:p>
        </p:txBody>
      </p:sp>
      <p:sp>
        <p:nvSpPr>
          <p:cNvPr id="26" name="Text 22"/>
          <p:cNvSpPr txBox="1"/>
          <p:nvPr/>
        </p:nvSpPr>
        <p:spPr>
          <a:xfrm>
            <a:off x="2788920" y="1572768"/>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Microdonnées identifiantes sous secret statistique</a:t>
            </a:r>
            <a:endParaRPr lang="en-US" sz="900" dirty="0"/>
          </a:p>
        </p:txBody>
      </p:sp>
      <p:sp>
        <p:nvSpPr>
          <p:cNvPr id="27" name="Text 23"/>
          <p:cNvSpPr txBox="1"/>
          <p:nvPr/>
        </p:nvSpPr>
        <p:spPr>
          <a:xfrm>
            <a:off x="5440680" y="1572768"/>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Données publiées ou déjà publiques</a:t>
            </a:r>
            <a:endParaRPr lang="en-US" sz="900" dirty="0"/>
          </a:p>
        </p:txBody>
      </p:sp>
      <p:sp>
        <p:nvSpPr>
          <p:cNvPr id="28" name="Shape 24"/>
          <p:cNvSpPr/>
          <p:nvPr/>
        </p:nvSpPr>
        <p:spPr>
          <a:xfrm>
            <a:off x="7818120" y="1627632"/>
            <a:ext cx="822960" cy="219456"/>
          </a:xfrm>
          <a:prstGeom prst="roundRect">
            <a:avLst>
              <a:gd name="adj" fmla="val 50000"/>
            </a:avLst>
          </a:prstGeom>
          <a:solidFill>
            <a:srgbClr val="B83B2E">
              <a:alpha val="15000"/>
            </a:srgbClr>
          </a:solidFill>
          <a:ln w="9525">
            <a:solidFill>
              <a:srgbClr val="B83B2E"/>
            </a:solidFill>
            <a:prstDash val="solid"/>
          </a:ln>
        </p:spPr>
      </p:sp>
      <p:sp>
        <p:nvSpPr>
          <p:cNvPr id="29" name="Text 25"/>
          <p:cNvSpPr txBox="1"/>
          <p:nvPr/>
        </p:nvSpPr>
        <p:spPr>
          <a:xfrm>
            <a:off x="7818120" y="1627632"/>
            <a:ext cx="8229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Décisif</a:t>
            </a:r>
            <a:endParaRPr lang="en-US" sz="850" dirty="0"/>
          </a:p>
        </p:txBody>
      </p:sp>
      <p:sp>
        <p:nvSpPr>
          <p:cNvPr id="30" name="Shape 26"/>
          <p:cNvSpPr/>
          <p:nvPr/>
        </p:nvSpPr>
        <p:spPr>
          <a:xfrm>
            <a:off x="457200" y="1943100"/>
            <a:ext cx="8229600" cy="329184"/>
          </a:xfrm>
          <a:prstGeom prst="roundRect">
            <a:avLst>
              <a:gd name="adj" fmla="val 13889"/>
            </a:avLst>
          </a:prstGeom>
          <a:solidFill>
            <a:srgbClr val="F4F7F5"/>
          </a:solidFill>
          <a:ln w="9525">
            <a:solidFill>
              <a:srgbClr val="D5DED9"/>
            </a:solidFill>
            <a:prstDash val="solid"/>
          </a:ln>
        </p:spPr>
      </p:sp>
      <p:sp>
        <p:nvSpPr>
          <p:cNvPr id="31" name="Shape 27"/>
          <p:cNvSpPr/>
          <p:nvPr/>
        </p:nvSpPr>
        <p:spPr>
          <a:xfrm>
            <a:off x="548640" y="1970532"/>
            <a:ext cx="274320" cy="274320"/>
          </a:xfrm>
          <a:prstGeom prst="ellipse">
            <a:avLst/>
          </a:prstGeom>
          <a:solidFill>
            <a:srgbClr val="B83B2E">
              <a:alpha val="22000"/>
            </a:srgbClr>
          </a:solidFill>
          <a:ln/>
        </p:spPr>
      </p:sp>
      <p:pic>
        <p:nvPicPr>
          <p:cNvPr id="32" name="Image 1" descr="preencoded.png"/>
          <p:cNvPicPr>
            <a:picLocks noChangeAspect="1"/>
          </p:cNvPicPr>
          <p:nvPr/>
        </p:nvPicPr>
        <p:blipFill>
          <a:blip r:embed="rId4"/>
          <a:stretch>
            <a:fillRect/>
          </a:stretch>
        </p:blipFill>
        <p:spPr>
          <a:xfrm>
            <a:off x="614477" y="2036369"/>
            <a:ext cx="142646" cy="142646"/>
          </a:xfrm>
          <a:prstGeom prst="rect">
            <a:avLst/>
          </a:prstGeom>
        </p:spPr>
      </p:pic>
      <p:sp>
        <p:nvSpPr>
          <p:cNvPr id="33" name="Text 28"/>
          <p:cNvSpPr txBox="1"/>
          <p:nvPr/>
        </p:nvSpPr>
        <p:spPr>
          <a:xfrm>
            <a:off x="896112" y="1943100"/>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Base légale et juridiction</a:t>
            </a:r>
            <a:endParaRPr lang="en-US" sz="900" dirty="0"/>
          </a:p>
        </p:txBody>
      </p:sp>
      <p:sp>
        <p:nvSpPr>
          <p:cNvPr id="34" name="Text 29"/>
          <p:cNvSpPr txBox="1"/>
          <p:nvPr/>
        </p:nvSpPr>
        <p:spPr>
          <a:xfrm>
            <a:off x="2788920" y="1943100"/>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La loi limite où et par qui les données sont traitées</a:t>
            </a:r>
            <a:endParaRPr lang="en-US" sz="900" dirty="0"/>
          </a:p>
        </p:txBody>
      </p:sp>
      <p:sp>
        <p:nvSpPr>
          <p:cNvPr id="35" name="Text 30"/>
          <p:cNvSpPr txBox="1"/>
          <p:nvPr/>
        </p:nvSpPr>
        <p:spPr>
          <a:xfrm>
            <a:off x="5440680" y="1943100"/>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Aucune restriction ; contrat et résidence suffisent</a:t>
            </a:r>
            <a:endParaRPr lang="en-US" sz="900" dirty="0"/>
          </a:p>
        </p:txBody>
      </p:sp>
      <p:sp>
        <p:nvSpPr>
          <p:cNvPr id="36" name="Shape 31"/>
          <p:cNvSpPr/>
          <p:nvPr/>
        </p:nvSpPr>
        <p:spPr>
          <a:xfrm>
            <a:off x="7818120" y="1997964"/>
            <a:ext cx="822960" cy="219456"/>
          </a:xfrm>
          <a:prstGeom prst="roundRect">
            <a:avLst>
              <a:gd name="adj" fmla="val 50000"/>
            </a:avLst>
          </a:prstGeom>
          <a:solidFill>
            <a:srgbClr val="B83B2E">
              <a:alpha val="15000"/>
            </a:srgbClr>
          </a:solidFill>
          <a:ln w="9525">
            <a:solidFill>
              <a:srgbClr val="B83B2E"/>
            </a:solidFill>
            <a:prstDash val="solid"/>
          </a:ln>
        </p:spPr>
      </p:sp>
      <p:sp>
        <p:nvSpPr>
          <p:cNvPr id="37" name="Text 32"/>
          <p:cNvSpPr txBox="1"/>
          <p:nvPr/>
        </p:nvSpPr>
        <p:spPr>
          <a:xfrm>
            <a:off x="7818120" y="1997964"/>
            <a:ext cx="8229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Décisif</a:t>
            </a:r>
            <a:endParaRPr lang="en-US" sz="850" dirty="0"/>
          </a:p>
        </p:txBody>
      </p:sp>
      <p:sp>
        <p:nvSpPr>
          <p:cNvPr id="38" name="Shape 33"/>
          <p:cNvSpPr/>
          <p:nvPr/>
        </p:nvSpPr>
        <p:spPr>
          <a:xfrm>
            <a:off x="457200" y="2313432"/>
            <a:ext cx="8229600" cy="329184"/>
          </a:xfrm>
          <a:prstGeom prst="roundRect">
            <a:avLst>
              <a:gd name="adj" fmla="val 13889"/>
            </a:avLst>
          </a:prstGeom>
          <a:solidFill>
            <a:srgbClr val="F4F7F5"/>
          </a:solidFill>
          <a:ln w="9525">
            <a:solidFill>
              <a:srgbClr val="D5DED9"/>
            </a:solidFill>
            <a:prstDash val="solid"/>
          </a:ln>
        </p:spPr>
      </p:sp>
      <p:sp>
        <p:nvSpPr>
          <p:cNvPr id="39" name="Shape 34"/>
          <p:cNvSpPr/>
          <p:nvPr/>
        </p:nvSpPr>
        <p:spPr>
          <a:xfrm>
            <a:off x="548640" y="2340864"/>
            <a:ext cx="274320" cy="274320"/>
          </a:xfrm>
          <a:prstGeom prst="ellipse">
            <a:avLst/>
          </a:prstGeom>
          <a:solidFill>
            <a:srgbClr val="D49A00">
              <a:alpha val="22000"/>
            </a:srgbClr>
          </a:solidFill>
          <a:ln/>
        </p:spPr>
      </p:sp>
      <p:pic>
        <p:nvPicPr>
          <p:cNvPr id="40" name="Image 2" descr="preencoded.png"/>
          <p:cNvPicPr>
            <a:picLocks noChangeAspect="1"/>
          </p:cNvPicPr>
          <p:nvPr/>
        </p:nvPicPr>
        <p:blipFill>
          <a:blip r:embed="rId5"/>
          <a:stretch>
            <a:fillRect/>
          </a:stretch>
        </p:blipFill>
        <p:spPr>
          <a:xfrm>
            <a:off x="614477" y="2406701"/>
            <a:ext cx="142646" cy="142646"/>
          </a:xfrm>
          <a:prstGeom prst="rect">
            <a:avLst/>
          </a:prstGeom>
        </p:spPr>
      </p:pic>
      <p:sp>
        <p:nvSpPr>
          <p:cNvPr id="41" name="Text 35"/>
          <p:cNvSpPr txBox="1"/>
          <p:nvPr/>
        </p:nvSpPr>
        <p:spPr>
          <a:xfrm>
            <a:off x="896112" y="2313432"/>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Profil de charge</a:t>
            </a:r>
            <a:endParaRPr lang="en-US" sz="900" dirty="0"/>
          </a:p>
        </p:txBody>
      </p:sp>
      <p:sp>
        <p:nvSpPr>
          <p:cNvPr id="42" name="Text 36"/>
          <p:cNvSpPr txBox="1"/>
          <p:nvPr/>
        </p:nvSpPr>
        <p:spPr>
          <a:xfrm>
            <a:off x="2788920" y="2313432"/>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Stable, prévisible, utilisation élevée</a:t>
            </a:r>
            <a:endParaRPr lang="en-US" sz="900" dirty="0"/>
          </a:p>
        </p:txBody>
      </p:sp>
      <p:sp>
        <p:nvSpPr>
          <p:cNvPr id="43" name="Text 37"/>
          <p:cNvSpPr txBox="1"/>
          <p:nvPr/>
        </p:nvSpPr>
        <p:spPr>
          <a:xfrm>
            <a:off x="5440680" y="2313432"/>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Irrégulier ou saisonnier — recensement, entraînement</a:t>
            </a:r>
            <a:endParaRPr lang="en-US" sz="900" dirty="0"/>
          </a:p>
        </p:txBody>
      </p:sp>
      <p:sp>
        <p:nvSpPr>
          <p:cNvPr id="44" name="Shape 38"/>
          <p:cNvSpPr/>
          <p:nvPr/>
        </p:nvSpPr>
        <p:spPr>
          <a:xfrm>
            <a:off x="7818120" y="2368296"/>
            <a:ext cx="822960" cy="21945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7818120" y="2368296"/>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Élevé</a:t>
            </a:r>
            <a:endParaRPr lang="en-US" sz="850" dirty="0"/>
          </a:p>
        </p:txBody>
      </p:sp>
      <p:sp>
        <p:nvSpPr>
          <p:cNvPr id="46" name="Shape 40"/>
          <p:cNvSpPr/>
          <p:nvPr/>
        </p:nvSpPr>
        <p:spPr>
          <a:xfrm>
            <a:off x="457200" y="2683764"/>
            <a:ext cx="8229600" cy="329184"/>
          </a:xfrm>
          <a:prstGeom prst="roundRect">
            <a:avLst>
              <a:gd name="adj" fmla="val 13889"/>
            </a:avLst>
          </a:prstGeom>
          <a:solidFill>
            <a:srgbClr val="F4F7F5"/>
          </a:solidFill>
          <a:ln w="9525">
            <a:solidFill>
              <a:srgbClr val="D5DED9"/>
            </a:solidFill>
            <a:prstDash val="solid"/>
          </a:ln>
        </p:spPr>
      </p:sp>
      <p:sp>
        <p:nvSpPr>
          <p:cNvPr id="47" name="Shape 41"/>
          <p:cNvSpPr/>
          <p:nvPr/>
        </p:nvSpPr>
        <p:spPr>
          <a:xfrm>
            <a:off x="548640" y="2711196"/>
            <a:ext cx="274320" cy="274320"/>
          </a:xfrm>
          <a:prstGeom prst="ellipse">
            <a:avLst/>
          </a:prstGeom>
          <a:solidFill>
            <a:srgbClr val="D49A00">
              <a:alpha val="22000"/>
            </a:srgbClr>
          </a:solidFill>
          <a:ln/>
        </p:spPr>
      </p:sp>
      <p:pic>
        <p:nvPicPr>
          <p:cNvPr id="48" name="Image 3" descr="preencoded.png"/>
          <p:cNvPicPr>
            <a:picLocks noChangeAspect="1"/>
          </p:cNvPicPr>
          <p:nvPr/>
        </p:nvPicPr>
        <p:blipFill>
          <a:blip r:embed="rId6"/>
          <a:stretch>
            <a:fillRect/>
          </a:stretch>
        </p:blipFill>
        <p:spPr>
          <a:xfrm>
            <a:off x="614477" y="2777033"/>
            <a:ext cx="142646" cy="142646"/>
          </a:xfrm>
          <a:prstGeom prst="rect">
            <a:avLst/>
          </a:prstGeom>
        </p:spPr>
      </p:pic>
      <p:sp>
        <p:nvSpPr>
          <p:cNvPr id="49" name="Text 42"/>
          <p:cNvSpPr txBox="1"/>
          <p:nvPr/>
        </p:nvSpPr>
        <p:spPr>
          <a:xfrm>
            <a:off x="896112" y="2683764"/>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Délai de premier résultat</a:t>
            </a:r>
            <a:endParaRPr lang="en-US" sz="900" dirty="0"/>
          </a:p>
        </p:txBody>
      </p:sp>
      <p:sp>
        <p:nvSpPr>
          <p:cNvPr id="50" name="Text 43"/>
          <p:cNvSpPr txBox="1"/>
          <p:nvPr/>
        </p:nvSpPr>
        <p:spPr>
          <a:xfrm>
            <a:off x="2788920" y="2683764"/>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Vous pouvez attendre l'achat et la mise en place</a:t>
            </a:r>
            <a:endParaRPr lang="en-US" sz="900" dirty="0"/>
          </a:p>
        </p:txBody>
      </p:sp>
      <p:sp>
        <p:nvSpPr>
          <p:cNvPr id="51" name="Text 44"/>
          <p:cNvSpPr txBox="1"/>
          <p:nvPr/>
        </p:nvSpPr>
        <p:spPr>
          <a:xfrm>
            <a:off x="5440680" y="2683764"/>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Il faut un pilote opérationnel ce trimestre</a:t>
            </a:r>
            <a:endParaRPr lang="en-US" sz="900" dirty="0"/>
          </a:p>
        </p:txBody>
      </p:sp>
      <p:sp>
        <p:nvSpPr>
          <p:cNvPr id="52" name="Shape 45"/>
          <p:cNvSpPr/>
          <p:nvPr/>
        </p:nvSpPr>
        <p:spPr>
          <a:xfrm>
            <a:off x="7818120" y="2738628"/>
            <a:ext cx="822960" cy="219456"/>
          </a:xfrm>
          <a:prstGeom prst="roundRect">
            <a:avLst>
              <a:gd name="adj" fmla="val 50000"/>
            </a:avLst>
          </a:prstGeom>
          <a:solidFill>
            <a:srgbClr val="D49A00">
              <a:alpha val="15000"/>
            </a:srgbClr>
          </a:solidFill>
          <a:ln w="9525">
            <a:solidFill>
              <a:srgbClr val="D49A00"/>
            </a:solidFill>
            <a:prstDash val="solid"/>
          </a:ln>
        </p:spPr>
      </p:sp>
      <p:sp>
        <p:nvSpPr>
          <p:cNvPr id="53" name="Text 46"/>
          <p:cNvSpPr txBox="1"/>
          <p:nvPr/>
        </p:nvSpPr>
        <p:spPr>
          <a:xfrm>
            <a:off x="7818120" y="2738628"/>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Élevé</a:t>
            </a:r>
            <a:endParaRPr lang="en-US" sz="850" dirty="0"/>
          </a:p>
        </p:txBody>
      </p:sp>
      <p:sp>
        <p:nvSpPr>
          <p:cNvPr id="54" name="Shape 47"/>
          <p:cNvSpPr/>
          <p:nvPr/>
        </p:nvSpPr>
        <p:spPr>
          <a:xfrm>
            <a:off x="457200" y="3054096"/>
            <a:ext cx="8229600" cy="329184"/>
          </a:xfrm>
          <a:prstGeom prst="roundRect">
            <a:avLst>
              <a:gd name="adj" fmla="val 13889"/>
            </a:avLst>
          </a:prstGeom>
          <a:solidFill>
            <a:srgbClr val="F4F7F5"/>
          </a:solidFill>
          <a:ln w="9525">
            <a:solidFill>
              <a:srgbClr val="D5DED9"/>
            </a:solidFill>
            <a:prstDash val="solid"/>
          </a:ln>
        </p:spPr>
      </p:sp>
      <p:sp>
        <p:nvSpPr>
          <p:cNvPr id="55" name="Shape 48"/>
          <p:cNvSpPr/>
          <p:nvPr/>
        </p:nvSpPr>
        <p:spPr>
          <a:xfrm>
            <a:off x="548640" y="3081528"/>
            <a:ext cx="274320" cy="274320"/>
          </a:xfrm>
          <a:prstGeom prst="ellipse">
            <a:avLst/>
          </a:prstGeom>
          <a:solidFill>
            <a:srgbClr val="D49A00">
              <a:alpha val="22000"/>
            </a:srgbClr>
          </a:solidFill>
          <a:ln/>
        </p:spPr>
      </p:sp>
      <p:pic>
        <p:nvPicPr>
          <p:cNvPr id="56" name="Image 4" descr="preencoded.png"/>
          <p:cNvPicPr>
            <a:picLocks noChangeAspect="1"/>
          </p:cNvPicPr>
          <p:nvPr/>
        </p:nvPicPr>
        <p:blipFill>
          <a:blip r:embed="rId7"/>
          <a:stretch>
            <a:fillRect/>
          </a:stretch>
        </p:blipFill>
        <p:spPr>
          <a:xfrm>
            <a:off x="614477" y="3147365"/>
            <a:ext cx="142646" cy="142646"/>
          </a:xfrm>
          <a:prstGeom prst="rect">
            <a:avLst/>
          </a:prstGeom>
        </p:spPr>
      </p:pic>
      <p:sp>
        <p:nvSpPr>
          <p:cNvPr id="57" name="Text 49"/>
          <p:cNvSpPr txBox="1"/>
          <p:nvPr/>
        </p:nvSpPr>
        <p:spPr>
          <a:xfrm>
            <a:off x="896112" y="3054096"/>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Mécanismes budgétaires</a:t>
            </a:r>
            <a:endParaRPr lang="en-US" sz="900" dirty="0"/>
          </a:p>
        </p:txBody>
      </p:sp>
      <p:sp>
        <p:nvSpPr>
          <p:cNvPr id="58" name="Text 50"/>
          <p:cNvSpPr txBox="1"/>
          <p:nvPr/>
        </p:nvSpPr>
        <p:spPr>
          <a:xfrm>
            <a:off x="2788920" y="3054096"/>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Crédits d'investissement (ou bailleurs), peu de récurrent</a:t>
            </a:r>
            <a:endParaRPr lang="en-US" sz="900" dirty="0"/>
          </a:p>
        </p:txBody>
      </p:sp>
      <p:sp>
        <p:nvSpPr>
          <p:cNvPr id="59" name="Text 51"/>
          <p:cNvSpPr txBox="1"/>
          <p:nvPr/>
        </p:nvSpPr>
        <p:spPr>
          <a:xfrm>
            <a:off x="5440680" y="3054096"/>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Budget de fonctionnement stable d'une année à l'autre</a:t>
            </a:r>
            <a:endParaRPr lang="en-US" sz="900" dirty="0"/>
          </a:p>
        </p:txBody>
      </p:sp>
      <p:sp>
        <p:nvSpPr>
          <p:cNvPr id="60" name="Shape 52"/>
          <p:cNvSpPr/>
          <p:nvPr/>
        </p:nvSpPr>
        <p:spPr>
          <a:xfrm>
            <a:off x="7818120" y="3108960"/>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3"/>
          <p:cNvSpPr txBox="1"/>
          <p:nvPr/>
        </p:nvSpPr>
        <p:spPr>
          <a:xfrm>
            <a:off x="7818120" y="3108960"/>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Élevé</a:t>
            </a:r>
            <a:endParaRPr lang="en-US" sz="850" dirty="0"/>
          </a:p>
        </p:txBody>
      </p:sp>
      <p:sp>
        <p:nvSpPr>
          <p:cNvPr id="62" name="Shape 54"/>
          <p:cNvSpPr/>
          <p:nvPr/>
        </p:nvSpPr>
        <p:spPr>
          <a:xfrm>
            <a:off x="457200" y="3424428"/>
            <a:ext cx="8229600" cy="329184"/>
          </a:xfrm>
          <a:prstGeom prst="roundRect">
            <a:avLst>
              <a:gd name="adj" fmla="val 13889"/>
            </a:avLst>
          </a:prstGeom>
          <a:solidFill>
            <a:srgbClr val="F4F7F5"/>
          </a:solidFill>
          <a:ln w="9525">
            <a:solidFill>
              <a:srgbClr val="D5DED9"/>
            </a:solidFill>
            <a:prstDash val="solid"/>
          </a:ln>
        </p:spPr>
      </p:sp>
      <p:sp>
        <p:nvSpPr>
          <p:cNvPr id="63" name="Shape 55"/>
          <p:cNvSpPr/>
          <p:nvPr/>
        </p:nvSpPr>
        <p:spPr>
          <a:xfrm>
            <a:off x="548640" y="3451860"/>
            <a:ext cx="274320" cy="274320"/>
          </a:xfrm>
          <a:prstGeom prst="ellipse">
            <a:avLst/>
          </a:prstGeom>
          <a:solidFill>
            <a:srgbClr val="D49A00">
              <a:alpha val="22000"/>
            </a:srgbClr>
          </a:solidFill>
          <a:ln/>
        </p:spPr>
      </p:sp>
      <p:pic>
        <p:nvPicPr>
          <p:cNvPr id="64" name="Image 5" descr="preencoded.png"/>
          <p:cNvPicPr>
            <a:picLocks noChangeAspect="1"/>
          </p:cNvPicPr>
          <p:nvPr/>
        </p:nvPicPr>
        <p:blipFill>
          <a:blip r:embed="rId8"/>
          <a:stretch>
            <a:fillRect/>
          </a:stretch>
        </p:blipFill>
        <p:spPr>
          <a:xfrm>
            <a:off x="614477" y="3517697"/>
            <a:ext cx="142646" cy="142646"/>
          </a:xfrm>
          <a:prstGeom prst="rect">
            <a:avLst/>
          </a:prstGeom>
        </p:spPr>
      </p:pic>
      <p:sp>
        <p:nvSpPr>
          <p:cNvPr id="65" name="Text 56"/>
          <p:cNvSpPr txBox="1"/>
          <p:nvPr/>
        </p:nvSpPr>
        <p:spPr>
          <a:xfrm>
            <a:off x="896112" y="3424428"/>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Compétences plateforme</a:t>
            </a:r>
            <a:endParaRPr lang="en-US" sz="900" dirty="0"/>
          </a:p>
        </p:txBody>
      </p:sp>
      <p:sp>
        <p:nvSpPr>
          <p:cNvPr id="66" name="Text 57"/>
          <p:cNvSpPr txBox="1"/>
          <p:nvPr/>
        </p:nvSpPr>
        <p:spPr>
          <a:xfrm>
            <a:off x="2788920" y="3424428"/>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Vous pouvez recruter et garder des ingénieurs</a:t>
            </a:r>
            <a:endParaRPr lang="en-US" sz="900" dirty="0"/>
          </a:p>
        </p:txBody>
      </p:sp>
      <p:sp>
        <p:nvSpPr>
          <p:cNvPr id="67" name="Text 58"/>
          <p:cNvSpPr txBox="1"/>
          <p:nvPr/>
        </p:nvSpPr>
        <p:spPr>
          <a:xfrm>
            <a:off x="5440680" y="3424428"/>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Vous ne pouvez pas les recruter ni les retenir</a:t>
            </a:r>
            <a:endParaRPr lang="en-US" sz="900" dirty="0"/>
          </a:p>
        </p:txBody>
      </p:sp>
      <p:sp>
        <p:nvSpPr>
          <p:cNvPr id="68" name="Shape 59"/>
          <p:cNvSpPr/>
          <p:nvPr/>
        </p:nvSpPr>
        <p:spPr>
          <a:xfrm>
            <a:off x="7818120" y="3479292"/>
            <a:ext cx="822960" cy="219456"/>
          </a:xfrm>
          <a:prstGeom prst="roundRect">
            <a:avLst>
              <a:gd name="adj" fmla="val 50000"/>
            </a:avLst>
          </a:prstGeom>
          <a:solidFill>
            <a:srgbClr val="D49A00">
              <a:alpha val="15000"/>
            </a:srgbClr>
          </a:solidFill>
          <a:ln w="9525">
            <a:solidFill>
              <a:srgbClr val="D49A00"/>
            </a:solidFill>
            <a:prstDash val="solid"/>
          </a:ln>
        </p:spPr>
      </p:sp>
      <p:sp>
        <p:nvSpPr>
          <p:cNvPr id="69" name="Text 60"/>
          <p:cNvSpPr txBox="1"/>
          <p:nvPr/>
        </p:nvSpPr>
        <p:spPr>
          <a:xfrm>
            <a:off x="7818120" y="3479292"/>
            <a:ext cx="8229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Élevé</a:t>
            </a:r>
            <a:endParaRPr lang="en-US" sz="850" dirty="0"/>
          </a:p>
        </p:txBody>
      </p:sp>
      <p:sp>
        <p:nvSpPr>
          <p:cNvPr id="70" name="Shape 61"/>
          <p:cNvSpPr/>
          <p:nvPr/>
        </p:nvSpPr>
        <p:spPr>
          <a:xfrm>
            <a:off x="457200" y="3794760"/>
            <a:ext cx="8229600" cy="329184"/>
          </a:xfrm>
          <a:prstGeom prst="roundRect">
            <a:avLst>
              <a:gd name="adj" fmla="val 13889"/>
            </a:avLst>
          </a:prstGeom>
          <a:solidFill>
            <a:srgbClr val="F4F7F5"/>
          </a:solidFill>
          <a:ln w="9525">
            <a:solidFill>
              <a:srgbClr val="D5DED9"/>
            </a:solidFill>
            <a:prstDash val="solid"/>
          </a:ln>
        </p:spPr>
      </p:sp>
      <p:sp>
        <p:nvSpPr>
          <p:cNvPr id="71" name="Shape 62"/>
          <p:cNvSpPr/>
          <p:nvPr/>
        </p:nvSpPr>
        <p:spPr>
          <a:xfrm>
            <a:off x="548640" y="3822192"/>
            <a:ext cx="274320" cy="274320"/>
          </a:xfrm>
          <a:prstGeom prst="ellipse">
            <a:avLst/>
          </a:prstGeom>
          <a:solidFill>
            <a:srgbClr val="0E7C86">
              <a:alpha val="22000"/>
            </a:srgbClr>
          </a:solidFill>
          <a:ln/>
        </p:spPr>
      </p:sp>
      <p:pic>
        <p:nvPicPr>
          <p:cNvPr id="72" name="Image 6" descr="preencoded.png"/>
          <p:cNvPicPr>
            <a:picLocks noChangeAspect="1"/>
          </p:cNvPicPr>
          <p:nvPr/>
        </p:nvPicPr>
        <p:blipFill>
          <a:blip r:embed="rId9"/>
          <a:stretch>
            <a:fillRect/>
          </a:stretch>
        </p:blipFill>
        <p:spPr>
          <a:xfrm>
            <a:off x="614477" y="3888029"/>
            <a:ext cx="142646" cy="142646"/>
          </a:xfrm>
          <a:prstGeom prst="rect">
            <a:avLst/>
          </a:prstGeom>
        </p:spPr>
      </p:pic>
      <p:sp>
        <p:nvSpPr>
          <p:cNvPr id="73" name="Text 63"/>
          <p:cNvSpPr txBox="1"/>
          <p:nvPr/>
        </p:nvSpPr>
        <p:spPr>
          <a:xfrm>
            <a:off x="896112" y="3794760"/>
            <a:ext cx="1737360" cy="329184"/>
          </a:xfrm>
          <a:prstGeom prst="rect">
            <a:avLst/>
          </a:prstGeom>
          <a:noFill/>
          <a:ln/>
        </p:spPr>
        <p:txBody>
          <a:bodyPr wrap="square" lIns="0" tIns="0" rIns="0" bIns="0" rtlCol="0" anchor="ctr"/>
          <a:lstStyle/>
          <a:p>
            <a:pPr marL="0" indent="0">
              <a:buNone/>
            </a:pPr>
            <a:r>
              <a:rPr lang="en-US" sz="900" b="1" dirty="0">
                <a:solidFill>
                  <a:srgbClr val="231F20"/>
                </a:solidFill>
                <a:latin typeface="Calibri" pitchFamily="34" charset="0"/>
                <a:ea typeface="Calibri" pitchFamily="34" charset="-122"/>
                <a:cs typeface="Calibri" pitchFamily="34" charset="-120"/>
              </a:rPr>
              <a:t>Réversibilité</a:t>
            </a:r>
            <a:endParaRPr lang="en-US" sz="900" dirty="0"/>
          </a:p>
        </p:txBody>
      </p:sp>
      <p:sp>
        <p:nvSpPr>
          <p:cNvPr id="74" name="Text 64"/>
          <p:cNvSpPr txBox="1"/>
          <p:nvPr/>
        </p:nvSpPr>
        <p:spPr>
          <a:xfrm>
            <a:off x="2788920" y="3794760"/>
            <a:ext cx="24688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Capacité de long terme que vous voulez maîtriser</a:t>
            </a:r>
            <a:endParaRPr lang="en-US" sz="900" dirty="0"/>
          </a:p>
        </p:txBody>
      </p:sp>
      <p:sp>
        <p:nvSpPr>
          <p:cNvPr id="75" name="Text 65"/>
          <p:cNvSpPr txBox="1"/>
          <p:nvPr/>
        </p:nvSpPr>
        <p:spPr>
          <a:xfrm>
            <a:off x="5440680" y="3794760"/>
            <a:ext cx="2240280" cy="329184"/>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Engagement réversible, formats ouverts</a:t>
            </a:r>
            <a:endParaRPr lang="en-US" sz="900" dirty="0"/>
          </a:p>
        </p:txBody>
      </p:sp>
      <p:sp>
        <p:nvSpPr>
          <p:cNvPr id="76" name="Shape 66"/>
          <p:cNvSpPr/>
          <p:nvPr/>
        </p:nvSpPr>
        <p:spPr>
          <a:xfrm>
            <a:off x="7818120" y="3849624"/>
            <a:ext cx="822960" cy="219456"/>
          </a:xfrm>
          <a:prstGeom prst="roundRect">
            <a:avLst>
              <a:gd name="adj" fmla="val 50000"/>
            </a:avLst>
          </a:prstGeom>
          <a:solidFill>
            <a:srgbClr val="0E7C86">
              <a:alpha val="15000"/>
            </a:srgbClr>
          </a:solidFill>
          <a:ln w="9525">
            <a:solidFill>
              <a:srgbClr val="0E7C86"/>
            </a:solidFill>
            <a:prstDash val="solid"/>
          </a:ln>
        </p:spPr>
      </p:sp>
      <p:sp>
        <p:nvSpPr>
          <p:cNvPr id="77" name="Text 67"/>
          <p:cNvSpPr txBox="1"/>
          <p:nvPr/>
        </p:nvSpPr>
        <p:spPr>
          <a:xfrm>
            <a:off x="7818120" y="3849624"/>
            <a:ext cx="8229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Moyen</a:t>
            </a:r>
            <a:endParaRPr lang="en-US" sz="850" dirty="0"/>
          </a:p>
        </p:txBody>
      </p:sp>
      <p:sp>
        <p:nvSpPr>
          <p:cNvPr id="78" name="Shape 68"/>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79" name="Shape 69"/>
          <p:cNvSpPr/>
          <p:nvPr/>
        </p:nvSpPr>
        <p:spPr>
          <a:xfrm>
            <a:off x="566928" y="4233672"/>
            <a:ext cx="292608" cy="292608"/>
          </a:xfrm>
          <a:prstGeom prst="ellipse">
            <a:avLst/>
          </a:prstGeom>
          <a:solidFill>
            <a:srgbClr val="D49A00">
              <a:alpha val="22000"/>
            </a:srgbClr>
          </a:solidFill>
          <a:ln/>
        </p:spPr>
      </p:sp>
      <p:pic>
        <p:nvPicPr>
          <p:cNvPr id="80" name="Image 7" descr="preencoded.png"/>
          <p:cNvPicPr>
            <a:picLocks noChangeAspect="1"/>
          </p:cNvPicPr>
          <p:nvPr/>
        </p:nvPicPr>
        <p:blipFill>
          <a:blip r:embed="rId10"/>
          <a:stretch>
            <a:fillRect/>
          </a:stretch>
        </p:blipFill>
        <p:spPr>
          <a:xfrm>
            <a:off x="637154" y="4303898"/>
            <a:ext cx="152156" cy="152156"/>
          </a:xfrm>
          <a:prstGeom prst="rect">
            <a:avLst/>
          </a:prstGeom>
        </p:spPr>
      </p:pic>
      <p:sp>
        <p:nvSpPr>
          <p:cNvPr id="81" name="Text 7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Lisez d'abord les deux lignes décisives.  </a:t>
            </a:r>
            <a:r>
              <a:rPr lang="en-US" sz="950" dirty="0">
                <a:solidFill>
                  <a:srgbClr val="231F20"/>
                </a:solidFill>
                <a:latin typeface="Calibri" pitchFamily="34" charset="0"/>
                <a:ea typeface="Calibri" pitchFamily="34" charset="-122"/>
                <a:cs typeface="Calibri" pitchFamily="34" charset="-120"/>
              </a:rPr>
              <a:t>Si la classification ou la loi exclut une option, les cinq autres critères sont sans objet pour ce traitement. Documentez ce raisonnement une fois et réutilisez-le.</a:t>
            </a:r>
            <a:endParaRPr lang="en-US" sz="9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SUR SITE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Ce que « il suffit d'acheter un serveur » implique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La facture du matériel représente souvent moins de la moitié du coût sur cinq ans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8" name="Shape 15"/>
          <p:cNvSpPr/>
          <p:nvPr/>
        </p:nvSpPr>
        <p:spPr>
          <a:xfrm>
            <a:off x="457200" y="1371600"/>
            <a:ext cx="2103120" cy="2651760"/>
          </a:xfrm>
          <a:prstGeom prst="roundRect">
            <a:avLst>
              <a:gd name="adj" fmla="val 3478"/>
            </a:avLst>
          </a:prstGeom>
          <a:solidFill>
            <a:srgbClr val="E8F5EF"/>
          </a:solidFill>
          <a:ln w="15875">
            <a:solidFill>
              <a:srgbClr val="00A86A"/>
            </a:solidFill>
            <a:prstDash val="solid"/>
          </a:ln>
        </p:spPr>
      </p:sp>
      <p:sp>
        <p:nvSpPr>
          <p:cNvPr id="19" name="Text 16"/>
          <p:cNvSpPr txBox="1"/>
          <p:nvPr/>
        </p:nvSpPr>
        <p:spPr>
          <a:xfrm>
            <a:off x="594360" y="1508760"/>
            <a:ext cx="1828800" cy="640080"/>
          </a:xfrm>
          <a:prstGeom prst="rect">
            <a:avLst/>
          </a:prstGeom>
          <a:noFill/>
          <a:ln/>
        </p:spPr>
        <p:txBody>
          <a:bodyPr wrap="square" lIns="0" tIns="0" rIns="0" bIns="0" rtlCol="0" anchor="t"/>
          <a:lstStyle/>
          <a:p>
            <a:pPr marL="0" indent="0">
              <a:buNone/>
            </a:pPr>
            <a:r>
              <a:rPr lang="en-US" sz="3800" b="1" dirty="0">
                <a:solidFill>
                  <a:srgbClr val="00A86A"/>
                </a:solidFill>
                <a:latin typeface="Calibri" pitchFamily="34" charset="0"/>
                <a:ea typeface="Calibri" pitchFamily="34" charset="-122"/>
                <a:cs typeface="Calibri" pitchFamily="34" charset="-120"/>
              </a:rPr>
              <a:t>&lt; 50 %</a:t>
            </a:r>
            <a:endParaRPr lang="en-US" sz="3800" dirty="0"/>
          </a:p>
        </p:txBody>
      </p:sp>
      <p:sp>
        <p:nvSpPr>
          <p:cNvPr id="20" name="Text 17"/>
          <p:cNvSpPr txBox="1"/>
          <p:nvPr/>
        </p:nvSpPr>
        <p:spPr>
          <a:xfrm>
            <a:off x="594360" y="2148840"/>
            <a:ext cx="1828800" cy="594360"/>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du coût sur cinq ans correspond au matériel (ordre de grandeur)</a:t>
            </a:r>
            <a:endParaRPr lang="en-US" sz="1000" dirty="0"/>
          </a:p>
        </p:txBody>
      </p:sp>
      <p:sp>
        <p:nvSpPr>
          <p:cNvPr id="21" name="Text 18"/>
          <p:cNvSpPr txBox="1"/>
          <p:nvPr/>
        </p:nvSpPr>
        <p:spPr>
          <a:xfrm>
            <a:off x="594360" y="2834640"/>
            <a:ext cx="1828800" cy="822960"/>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Le reste : locaux, logiciels, exploitation, renouvellement — et personnel.</a:t>
            </a:r>
            <a:endParaRPr lang="en-US" sz="1000" dirty="0"/>
          </a:p>
        </p:txBody>
      </p:sp>
      <p:sp>
        <p:nvSpPr>
          <p:cNvPr id="22" name="Shape 19"/>
          <p:cNvSpPr/>
          <p:nvPr/>
        </p:nvSpPr>
        <p:spPr>
          <a:xfrm>
            <a:off x="2743200" y="1371600"/>
            <a:ext cx="1908048" cy="1271016"/>
          </a:xfrm>
          <a:prstGeom prst="roundRect">
            <a:avLst>
              <a:gd name="adj" fmla="val 5755"/>
            </a:avLst>
          </a:prstGeom>
          <a:solidFill>
            <a:srgbClr val="F4F7F5"/>
          </a:solidFill>
          <a:ln w="9525">
            <a:solidFill>
              <a:srgbClr val="D5DED9"/>
            </a:solidFill>
            <a:prstDash val="solid"/>
          </a:ln>
        </p:spPr>
      </p:sp>
      <p:sp>
        <p:nvSpPr>
          <p:cNvPr id="23" name="Shape 20"/>
          <p:cNvSpPr/>
          <p:nvPr/>
        </p:nvSpPr>
        <p:spPr>
          <a:xfrm>
            <a:off x="2871216" y="1499616"/>
            <a:ext cx="329184" cy="329184"/>
          </a:xfrm>
          <a:prstGeom prst="ellipse">
            <a:avLst/>
          </a:prstGeom>
          <a:solidFill>
            <a:srgbClr val="00A86A">
              <a:alpha val="22000"/>
            </a:srgbClr>
          </a:solidFill>
          <a:ln/>
        </p:spPr>
      </p:sp>
      <p:pic>
        <p:nvPicPr>
          <p:cNvPr id="24" name="Image 0" descr="preencoded.png"/>
          <p:cNvPicPr>
            <a:picLocks noChangeAspect="1"/>
          </p:cNvPicPr>
          <p:nvPr/>
        </p:nvPicPr>
        <p:blipFill>
          <a:blip r:embed="rId3"/>
          <a:stretch>
            <a:fillRect/>
          </a:stretch>
        </p:blipFill>
        <p:spPr>
          <a:xfrm>
            <a:off x="2950220" y="1578620"/>
            <a:ext cx="171176" cy="171176"/>
          </a:xfrm>
          <a:prstGeom prst="rect">
            <a:avLst/>
          </a:prstGeom>
        </p:spPr>
      </p:pic>
      <p:sp>
        <p:nvSpPr>
          <p:cNvPr id="25" name="Text 21"/>
          <p:cNvSpPr txBox="1"/>
          <p:nvPr/>
        </p:nvSpPr>
        <p:spPr>
          <a:xfrm>
            <a:off x="3310128" y="1499616"/>
            <a:ext cx="1231392"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Matériel</a:t>
            </a:r>
            <a:endParaRPr lang="en-US" sz="1100" dirty="0"/>
          </a:p>
        </p:txBody>
      </p:sp>
      <p:sp>
        <p:nvSpPr>
          <p:cNvPr id="26" name="Text 22"/>
          <p:cNvSpPr txBox="1"/>
          <p:nvPr/>
        </p:nvSpPr>
        <p:spPr>
          <a:xfrm>
            <a:off x="2871216" y="1883664"/>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Nœuds GPU, stockage rapide, réseau, baies. À dimensionner selon vos besoins réels.</a:t>
            </a:r>
            <a:endParaRPr lang="en-US" sz="900" dirty="0"/>
          </a:p>
        </p:txBody>
      </p:sp>
      <p:sp>
        <p:nvSpPr>
          <p:cNvPr id="27" name="Shape 23"/>
          <p:cNvSpPr/>
          <p:nvPr/>
        </p:nvSpPr>
        <p:spPr>
          <a:xfrm>
            <a:off x="4760976" y="1371600"/>
            <a:ext cx="1908048" cy="1271016"/>
          </a:xfrm>
          <a:prstGeom prst="roundRect">
            <a:avLst>
              <a:gd name="adj" fmla="val 5755"/>
            </a:avLst>
          </a:prstGeom>
          <a:solidFill>
            <a:srgbClr val="F4F7F5"/>
          </a:solidFill>
          <a:ln w="9525">
            <a:solidFill>
              <a:srgbClr val="D5DED9"/>
            </a:solidFill>
            <a:prstDash val="solid"/>
          </a:ln>
        </p:spPr>
      </p:sp>
      <p:sp>
        <p:nvSpPr>
          <p:cNvPr id="28" name="Shape 24"/>
          <p:cNvSpPr/>
          <p:nvPr/>
        </p:nvSpPr>
        <p:spPr>
          <a:xfrm>
            <a:off x="4888992" y="1499616"/>
            <a:ext cx="329184" cy="329184"/>
          </a:xfrm>
          <a:prstGeom prst="ellipse">
            <a:avLst/>
          </a:prstGeom>
          <a:solidFill>
            <a:srgbClr val="00A86A">
              <a:alpha val="22000"/>
            </a:srgbClr>
          </a:solidFill>
          <a:ln/>
        </p:spPr>
      </p:sp>
      <p:pic>
        <p:nvPicPr>
          <p:cNvPr id="29" name="Image 1" descr="preencoded.png"/>
          <p:cNvPicPr>
            <a:picLocks noChangeAspect="1"/>
          </p:cNvPicPr>
          <p:nvPr/>
        </p:nvPicPr>
        <p:blipFill>
          <a:blip r:embed="rId4"/>
          <a:stretch>
            <a:fillRect/>
          </a:stretch>
        </p:blipFill>
        <p:spPr>
          <a:xfrm>
            <a:off x="4967996" y="1578620"/>
            <a:ext cx="171176" cy="171176"/>
          </a:xfrm>
          <a:prstGeom prst="rect">
            <a:avLst/>
          </a:prstGeom>
        </p:spPr>
      </p:pic>
      <p:sp>
        <p:nvSpPr>
          <p:cNvPr id="30" name="Text 25"/>
          <p:cNvSpPr txBox="1"/>
          <p:nvPr/>
        </p:nvSpPr>
        <p:spPr>
          <a:xfrm>
            <a:off x="5327904" y="1499616"/>
            <a:ext cx="1231392"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Locaux techniques</a:t>
            </a:r>
            <a:endParaRPr lang="en-US" sz="1100" dirty="0"/>
          </a:p>
        </p:txBody>
      </p:sp>
      <p:sp>
        <p:nvSpPr>
          <p:cNvPr id="31" name="Text 26"/>
          <p:cNvSpPr txBox="1"/>
          <p:nvPr/>
        </p:nvSpPr>
        <p:spPr>
          <a:xfrm>
            <a:off x="4888992" y="1883664"/>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Électricité, onduleurs, groupe, climatisation, sécurité incendie. Souvent un autre budget.</a:t>
            </a:r>
            <a:endParaRPr lang="en-US" sz="900" dirty="0"/>
          </a:p>
        </p:txBody>
      </p:sp>
      <p:sp>
        <p:nvSpPr>
          <p:cNvPr id="32" name="Shape 27"/>
          <p:cNvSpPr/>
          <p:nvPr/>
        </p:nvSpPr>
        <p:spPr>
          <a:xfrm>
            <a:off x="6778752" y="1371600"/>
            <a:ext cx="1908048" cy="1271016"/>
          </a:xfrm>
          <a:prstGeom prst="roundRect">
            <a:avLst>
              <a:gd name="adj" fmla="val 5755"/>
            </a:avLst>
          </a:prstGeom>
          <a:solidFill>
            <a:srgbClr val="F4F7F5"/>
          </a:solidFill>
          <a:ln w="9525">
            <a:solidFill>
              <a:srgbClr val="D5DED9"/>
            </a:solidFill>
            <a:prstDash val="solid"/>
          </a:ln>
        </p:spPr>
      </p:sp>
      <p:sp>
        <p:nvSpPr>
          <p:cNvPr id="33" name="Shape 28"/>
          <p:cNvSpPr/>
          <p:nvPr/>
        </p:nvSpPr>
        <p:spPr>
          <a:xfrm>
            <a:off x="6906768" y="1499616"/>
            <a:ext cx="329184" cy="329184"/>
          </a:xfrm>
          <a:prstGeom prst="ellipse">
            <a:avLst/>
          </a:prstGeom>
          <a:solidFill>
            <a:srgbClr val="00A86A">
              <a:alpha val="22000"/>
            </a:srgbClr>
          </a:solidFill>
          <a:ln/>
        </p:spPr>
      </p:sp>
      <p:pic>
        <p:nvPicPr>
          <p:cNvPr id="34" name="Image 2" descr="preencoded.png"/>
          <p:cNvPicPr>
            <a:picLocks noChangeAspect="1"/>
          </p:cNvPicPr>
          <p:nvPr/>
        </p:nvPicPr>
        <p:blipFill>
          <a:blip r:embed="rId5"/>
          <a:stretch>
            <a:fillRect/>
          </a:stretch>
        </p:blipFill>
        <p:spPr>
          <a:xfrm>
            <a:off x="6985772" y="1578620"/>
            <a:ext cx="171176" cy="171176"/>
          </a:xfrm>
          <a:prstGeom prst="rect">
            <a:avLst/>
          </a:prstGeom>
        </p:spPr>
      </p:pic>
      <p:sp>
        <p:nvSpPr>
          <p:cNvPr id="35" name="Text 29"/>
          <p:cNvSpPr txBox="1"/>
          <p:nvPr/>
        </p:nvSpPr>
        <p:spPr>
          <a:xfrm>
            <a:off x="7345680" y="1499616"/>
            <a:ext cx="1231392" cy="329184"/>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Logiciels de plateforme</a:t>
            </a:r>
            <a:endParaRPr lang="en-US" sz="1100" dirty="0"/>
          </a:p>
        </p:txBody>
      </p:sp>
      <p:sp>
        <p:nvSpPr>
          <p:cNvPr id="36" name="Text 30"/>
          <p:cNvSpPr txBox="1"/>
          <p:nvPr/>
        </p:nvSpPr>
        <p:spPr>
          <a:xfrm>
            <a:off x="6906768" y="1883664"/>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Ordonnanceur, registre, stockage, identités, supervision, secrets, sauvegarde.</a:t>
            </a:r>
            <a:endParaRPr lang="en-US" sz="900" dirty="0"/>
          </a:p>
        </p:txBody>
      </p:sp>
      <p:sp>
        <p:nvSpPr>
          <p:cNvPr id="37" name="Shape 31"/>
          <p:cNvSpPr/>
          <p:nvPr/>
        </p:nvSpPr>
        <p:spPr>
          <a:xfrm>
            <a:off x="2743200" y="2752344"/>
            <a:ext cx="1908048" cy="1271016"/>
          </a:xfrm>
          <a:prstGeom prst="roundRect">
            <a:avLst>
              <a:gd name="adj" fmla="val 5755"/>
            </a:avLst>
          </a:prstGeom>
          <a:solidFill>
            <a:srgbClr val="F4F7F5"/>
          </a:solidFill>
          <a:ln w="9525">
            <a:solidFill>
              <a:srgbClr val="D5DED9"/>
            </a:solidFill>
            <a:prstDash val="solid"/>
          </a:ln>
        </p:spPr>
      </p:sp>
      <p:sp>
        <p:nvSpPr>
          <p:cNvPr id="38" name="Shape 32"/>
          <p:cNvSpPr/>
          <p:nvPr/>
        </p:nvSpPr>
        <p:spPr>
          <a:xfrm>
            <a:off x="2871216" y="2880360"/>
            <a:ext cx="329184" cy="329184"/>
          </a:xfrm>
          <a:prstGeom prst="ellipse">
            <a:avLst/>
          </a:prstGeom>
          <a:solidFill>
            <a:srgbClr val="00A86A">
              <a:alpha val="22000"/>
            </a:srgbClr>
          </a:solidFill>
          <a:ln/>
        </p:spPr>
      </p:sp>
      <p:pic>
        <p:nvPicPr>
          <p:cNvPr id="39" name="Image 3" descr="preencoded.png"/>
          <p:cNvPicPr>
            <a:picLocks noChangeAspect="1"/>
          </p:cNvPicPr>
          <p:nvPr/>
        </p:nvPicPr>
        <p:blipFill>
          <a:blip r:embed="rId6"/>
          <a:stretch>
            <a:fillRect/>
          </a:stretch>
        </p:blipFill>
        <p:spPr>
          <a:xfrm>
            <a:off x="2950220" y="2959364"/>
            <a:ext cx="171176" cy="171176"/>
          </a:xfrm>
          <a:prstGeom prst="rect">
            <a:avLst/>
          </a:prstGeom>
        </p:spPr>
      </p:pic>
      <p:sp>
        <p:nvSpPr>
          <p:cNvPr id="40" name="Text 33"/>
          <p:cNvSpPr txBox="1"/>
          <p:nvPr/>
        </p:nvSpPr>
        <p:spPr>
          <a:xfrm>
            <a:off x="3310128" y="2880360"/>
            <a:ext cx="1231392"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Exploitation</a:t>
            </a:r>
            <a:endParaRPr lang="en-US" sz="1100" dirty="0"/>
          </a:p>
        </p:txBody>
      </p:sp>
      <p:sp>
        <p:nvSpPr>
          <p:cNvPr id="41" name="Text 34"/>
          <p:cNvSpPr txBox="1"/>
          <p:nvPr/>
        </p:nvSpPr>
        <p:spPr>
          <a:xfrm>
            <a:off x="2871216" y="3264408"/>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Pilotes, correctifs, capacité, astreinte. Un travail continu, pas une installation.</a:t>
            </a:r>
            <a:endParaRPr lang="en-US" sz="900" dirty="0"/>
          </a:p>
        </p:txBody>
      </p:sp>
      <p:sp>
        <p:nvSpPr>
          <p:cNvPr id="42" name="Shape 35"/>
          <p:cNvSpPr/>
          <p:nvPr/>
        </p:nvSpPr>
        <p:spPr>
          <a:xfrm>
            <a:off x="4760976" y="2752344"/>
            <a:ext cx="1908048" cy="1271016"/>
          </a:xfrm>
          <a:prstGeom prst="roundRect">
            <a:avLst>
              <a:gd name="adj" fmla="val 5755"/>
            </a:avLst>
          </a:prstGeom>
          <a:solidFill>
            <a:srgbClr val="F4F7F5"/>
          </a:solidFill>
          <a:ln w="9525">
            <a:solidFill>
              <a:srgbClr val="D5DED9"/>
            </a:solidFill>
            <a:prstDash val="solid"/>
          </a:ln>
        </p:spPr>
      </p:sp>
      <p:sp>
        <p:nvSpPr>
          <p:cNvPr id="43" name="Shape 36"/>
          <p:cNvSpPr/>
          <p:nvPr/>
        </p:nvSpPr>
        <p:spPr>
          <a:xfrm>
            <a:off x="4888992" y="2880360"/>
            <a:ext cx="329184" cy="329184"/>
          </a:xfrm>
          <a:prstGeom prst="ellipse">
            <a:avLst/>
          </a:prstGeom>
          <a:solidFill>
            <a:srgbClr val="00A86A">
              <a:alpha val="22000"/>
            </a:srgbClr>
          </a:solidFill>
          <a:ln/>
        </p:spPr>
      </p:sp>
      <p:pic>
        <p:nvPicPr>
          <p:cNvPr id="44" name="Image 4" descr="preencoded.png"/>
          <p:cNvPicPr>
            <a:picLocks noChangeAspect="1"/>
          </p:cNvPicPr>
          <p:nvPr/>
        </p:nvPicPr>
        <p:blipFill>
          <a:blip r:embed="rId7"/>
          <a:stretch>
            <a:fillRect/>
          </a:stretch>
        </p:blipFill>
        <p:spPr>
          <a:xfrm>
            <a:off x="4967996" y="2959364"/>
            <a:ext cx="171176" cy="171176"/>
          </a:xfrm>
          <a:prstGeom prst="rect">
            <a:avLst/>
          </a:prstGeom>
        </p:spPr>
      </p:pic>
      <p:sp>
        <p:nvSpPr>
          <p:cNvPr id="45" name="Text 37"/>
          <p:cNvSpPr txBox="1"/>
          <p:nvPr/>
        </p:nvSpPr>
        <p:spPr>
          <a:xfrm>
            <a:off x="5327904" y="2880360"/>
            <a:ext cx="1231392"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Cycle de vie</a:t>
            </a:r>
            <a:endParaRPr lang="en-US" sz="1100" dirty="0"/>
          </a:p>
        </p:txBody>
      </p:sp>
      <p:sp>
        <p:nvSpPr>
          <p:cNvPr id="46" name="Text 38"/>
          <p:cNvSpPr txBox="1"/>
          <p:nvPr/>
        </p:nvSpPr>
        <p:spPr>
          <a:xfrm>
            <a:off x="4888992" y="3264408"/>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Renouvellement tous les 3 à 5 ans. Financez-le dès l'achat, pas la quatrième année.</a:t>
            </a:r>
            <a:endParaRPr lang="en-US" sz="900" dirty="0"/>
          </a:p>
        </p:txBody>
      </p:sp>
      <p:sp>
        <p:nvSpPr>
          <p:cNvPr id="47" name="Shape 39"/>
          <p:cNvSpPr/>
          <p:nvPr/>
        </p:nvSpPr>
        <p:spPr>
          <a:xfrm>
            <a:off x="6778752" y="2752344"/>
            <a:ext cx="1908048" cy="1271016"/>
          </a:xfrm>
          <a:prstGeom prst="roundRect">
            <a:avLst>
              <a:gd name="adj" fmla="val 5755"/>
            </a:avLst>
          </a:prstGeom>
          <a:solidFill>
            <a:srgbClr val="E8F5EF"/>
          </a:solidFill>
          <a:ln w="15875">
            <a:solidFill>
              <a:srgbClr val="00A86A"/>
            </a:solidFill>
            <a:prstDash val="solid"/>
          </a:ln>
        </p:spPr>
      </p:sp>
      <p:sp>
        <p:nvSpPr>
          <p:cNvPr id="48" name="Shape 40"/>
          <p:cNvSpPr/>
          <p:nvPr/>
        </p:nvSpPr>
        <p:spPr>
          <a:xfrm>
            <a:off x="6906768" y="2880360"/>
            <a:ext cx="329184" cy="329184"/>
          </a:xfrm>
          <a:prstGeom prst="ellipse">
            <a:avLst/>
          </a:prstGeom>
          <a:solidFill>
            <a:srgbClr val="00A86A">
              <a:alpha val="22000"/>
            </a:srgbClr>
          </a:solidFill>
          <a:ln/>
        </p:spPr>
      </p:sp>
      <p:pic>
        <p:nvPicPr>
          <p:cNvPr id="49" name="Image 5" descr="preencoded.png"/>
          <p:cNvPicPr>
            <a:picLocks noChangeAspect="1"/>
          </p:cNvPicPr>
          <p:nvPr/>
        </p:nvPicPr>
        <p:blipFill>
          <a:blip r:embed="rId8"/>
          <a:stretch>
            <a:fillRect/>
          </a:stretch>
        </p:blipFill>
        <p:spPr>
          <a:xfrm>
            <a:off x="6985772" y="2959364"/>
            <a:ext cx="171176" cy="171176"/>
          </a:xfrm>
          <a:prstGeom prst="rect">
            <a:avLst/>
          </a:prstGeom>
        </p:spPr>
      </p:pic>
      <p:sp>
        <p:nvSpPr>
          <p:cNvPr id="50" name="Text 41"/>
          <p:cNvSpPr txBox="1"/>
          <p:nvPr/>
        </p:nvSpPr>
        <p:spPr>
          <a:xfrm>
            <a:off x="7345680" y="2880360"/>
            <a:ext cx="1231392"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Personnel</a:t>
            </a:r>
            <a:endParaRPr lang="en-US" sz="1100" dirty="0"/>
          </a:p>
        </p:txBody>
      </p:sp>
      <p:sp>
        <p:nvSpPr>
          <p:cNvPr id="51" name="Text 42"/>
          <p:cNvSpPr txBox="1"/>
          <p:nvPr/>
        </p:nvSpPr>
        <p:spPr>
          <a:xfrm>
            <a:off x="6906768" y="3264408"/>
            <a:ext cx="1652016" cy="704088"/>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Environ 1,5 à 2 ingénieurs plateforme pour un petit parc GPU, plus sécurité et réseau.</a:t>
            </a:r>
            <a:endParaRPr lang="en-US" sz="900" dirty="0"/>
          </a:p>
        </p:txBody>
      </p:sp>
      <p:sp>
        <p:nvSpPr>
          <p:cNvPr id="52" name="Shape 43"/>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3" name="Shape 44"/>
          <p:cNvSpPr/>
          <p:nvPr/>
        </p:nvSpPr>
        <p:spPr>
          <a:xfrm>
            <a:off x="566928" y="4233672"/>
            <a:ext cx="292608" cy="292608"/>
          </a:xfrm>
          <a:prstGeom prst="ellipse">
            <a:avLst/>
          </a:prstGeom>
          <a:solidFill>
            <a:srgbClr val="D49A00">
              <a:alpha val="22000"/>
            </a:srgbClr>
          </a:solidFill>
          <a:ln/>
        </p:spPr>
      </p:sp>
      <p:pic>
        <p:nvPicPr>
          <p:cNvPr id="54" name="Image 6" descr="preencoded.png"/>
          <p:cNvPicPr>
            <a:picLocks noChangeAspect="1"/>
          </p:cNvPicPr>
          <p:nvPr/>
        </p:nvPicPr>
        <p:blipFill>
          <a:blip r:embed="rId9"/>
          <a:stretch>
            <a:fillRect/>
          </a:stretch>
        </p:blipFill>
        <p:spPr>
          <a:xfrm>
            <a:off x="637154" y="4303898"/>
            <a:ext cx="152156" cy="152156"/>
          </a:xfrm>
          <a:prstGeom prst="rect">
            <a:avLst/>
          </a:prstGeom>
        </p:spPr>
      </p:pic>
      <p:sp>
        <p:nvSpPr>
          <p:cNvPr id="55" name="Text 45"/>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Le délai des marchés :  </a:t>
            </a:r>
            <a:r>
              <a:rPr lang="en-US" sz="950" dirty="0">
                <a:solidFill>
                  <a:srgbClr val="231F20"/>
                </a:solidFill>
                <a:latin typeface="Calibri" pitchFamily="34" charset="0"/>
                <a:ea typeface="Calibri" pitchFamily="34" charset="-122"/>
                <a:cs typeface="Calibri" pitchFamily="34" charset="-120"/>
              </a:rPr>
              <a:t>cahier des charges, appel d'offres, attribution, livraison, installation et réception prennent souvent 6 à 18 mois. Lancez l'achat en parallèle du pilote, pas après.</a:t>
            </a:r>
            <a:endParaRPr lang="en-US" sz="9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CLOUD PUBLIC</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Cloud public : les pièges que personne ne budgète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Pas des raisons d'éviter le cloud — des raisons de les inscrire au dossier dès le premier jour</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8" name="Shape 15"/>
          <p:cNvSpPr/>
          <p:nvPr/>
        </p:nvSpPr>
        <p:spPr>
          <a:xfrm>
            <a:off x="457200" y="1371600"/>
            <a:ext cx="1975104" cy="1271016"/>
          </a:xfrm>
          <a:prstGeom prst="roundRect">
            <a:avLst>
              <a:gd name="adj" fmla="val 5755"/>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Frais de sortie</a:t>
            </a:r>
            <a:endParaRPr lang="en-US" sz="1050" dirty="0"/>
          </a:p>
        </p:txBody>
      </p:sp>
      <p:sp>
        <p:nvSpPr>
          <p:cNvPr id="22" name="Text 18"/>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Sortir des microdonnées du cloud de façon répétée crée un coût récurrent non plafonné.</a:t>
            </a:r>
            <a:endParaRPr lang="en-US" sz="900" dirty="0"/>
          </a:p>
        </p:txBody>
      </p:sp>
      <p:sp>
        <p:nvSpPr>
          <p:cNvPr id="23" name="Shape 19"/>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Ressources inactives</a:t>
            </a:r>
            <a:endParaRPr lang="en-US" sz="1050" dirty="0"/>
          </a:p>
        </p:txBody>
      </p:sp>
      <p:sp>
        <p:nvSpPr>
          <p:cNvPr id="27" name="Text 22"/>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GPU allumés la nuit et le week-end : première source de dépassement.</a:t>
            </a:r>
            <a:endParaRPr lang="en-US" sz="900" dirty="0"/>
          </a:p>
        </p:txBody>
      </p:sp>
      <p:sp>
        <p:nvSpPr>
          <p:cNvPr id="28" name="Shape 23"/>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00A86A">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Capacité et quotas</a:t>
            </a:r>
            <a:endParaRPr lang="en-US" sz="1050" dirty="0"/>
          </a:p>
        </p:txBody>
      </p:sp>
      <p:sp>
        <p:nvSpPr>
          <p:cNvPr id="32" name="Text 26"/>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Le type de GPU prévu peut être indisponible dans votre région au moment voulu.</a:t>
            </a:r>
            <a:endParaRPr lang="en-US" sz="900" dirty="0"/>
          </a:p>
        </p:txBody>
      </p:sp>
      <p:sp>
        <p:nvSpPr>
          <p:cNvPr id="33" name="Shape 27"/>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B83B2E">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Résidence ≠ immunité</a:t>
            </a:r>
            <a:endParaRPr lang="en-US" sz="1050" dirty="0"/>
          </a:p>
        </p:txBody>
      </p:sp>
      <p:sp>
        <p:nvSpPr>
          <p:cNvPr id="37" name="Text 30"/>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données stockées dans le pays peuvent rester accessibles à une procédure étrangère.</a:t>
            </a:r>
            <a:endParaRPr lang="en-US" sz="900" dirty="0"/>
          </a:p>
        </p:txBody>
      </p:sp>
      <p:sp>
        <p:nvSpPr>
          <p:cNvPr id="38" name="Shape 31"/>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39" name="Shape 32"/>
          <p:cNvSpPr/>
          <p:nvPr/>
        </p:nvSpPr>
        <p:spPr>
          <a:xfrm>
            <a:off x="585216" y="2880360"/>
            <a:ext cx="310896" cy="310896"/>
          </a:xfrm>
          <a:prstGeom prst="ellipse">
            <a:avLst/>
          </a:prstGeom>
          <a:solidFill>
            <a:srgbClr val="00A86A">
              <a:alpha val="22000"/>
            </a:srgbClr>
          </a:solidFill>
          <a:ln/>
        </p:spPr>
      </p:sp>
      <p:pic>
        <p:nvPicPr>
          <p:cNvPr id="40"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1" name="Text 33"/>
          <p:cNvSpPr txBox="1"/>
          <p:nvPr/>
        </p:nvSpPr>
        <p:spPr>
          <a:xfrm>
            <a:off x="1005840" y="2880360"/>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Retrait des modèles</a:t>
            </a:r>
            <a:endParaRPr lang="en-US" sz="1050" dirty="0"/>
          </a:p>
        </p:txBody>
      </p:sp>
      <p:sp>
        <p:nvSpPr>
          <p:cNvPr id="42" name="Text 34"/>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Le fournisseur retire des versions à son rythme, ce qui rompt votre reproductibilité.</a:t>
            </a:r>
            <a:endParaRPr lang="en-US" sz="900" dirty="0"/>
          </a:p>
        </p:txBody>
      </p:sp>
      <p:sp>
        <p:nvSpPr>
          <p:cNvPr id="43" name="Shape 35"/>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4" name="Shape 36"/>
          <p:cNvSpPr/>
          <p:nvPr/>
        </p:nvSpPr>
        <p:spPr>
          <a:xfrm>
            <a:off x="2670048" y="2880360"/>
            <a:ext cx="310896" cy="310896"/>
          </a:xfrm>
          <a:prstGeom prst="ellipse">
            <a:avLst/>
          </a:prstGeom>
          <a:solidFill>
            <a:srgbClr val="00A86A">
              <a:alpha val="22000"/>
            </a:srgbClr>
          </a:solidFill>
          <a:ln/>
        </p:spPr>
      </p:sp>
      <p:pic>
        <p:nvPicPr>
          <p:cNvPr id="45"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46" name="Text 37"/>
          <p:cNvSpPr txBox="1"/>
          <p:nvPr/>
        </p:nvSpPr>
        <p:spPr>
          <a:xfrm>
            <a:off x="3090672" y="2880360"/>
            <a:ext cx="131673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Dépendance par confort</a:t>
            </a:r>
            <a:endParaRPr lang="en-US" sz="1050" dirty="0"/>
          </a:p>
        </p:txBody>
      </p:sp>
      <p:sp>
        <p:nvSpPr>
          <p:cNvPr id="47" name="Text 38"/>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Les outils propriétaires facilitent l'entrée et compliquent la sortie. Préférez l'ouvert.</a:t>
            </a:r>
            <a:endParaRPr lang="en-US" sz="900" dirty="0"/>
          </a:p>
        </p:txBody>
      </p:sp>
      <p:sp>
        <p:nvSpPr>
          <p:cNvPr id="48" name="Shape 39"/>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49" name="Shape 40"/>
          <p:cNvSpPr/>
          <p:nvPr/>
        </p:nvSpPr>
        <p:spPr>
          <a:xfrm>
            <a:off x="4754880" y="2880360"/>
            <a:ext cx="310896" cy="310896"/>
          </a:xfrm>
          <a:prstGeom prst="ellipse">
            <a:avLst/>
          </a:prstGeom>
          <a:solidFill>
            <a:srgbClr val="B83B2E">
              <a:alpha val="22000"/>
            </a:srgbClr>
          </a:solidFill>
          <a:ln/>
        </p:spPr>
      </p:sp>
      <p:pic>
        <p:nvPicPr>
          <p:cNvPr id="50"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1" name="Text 41"/>
          <p:cNvSpPr txBox="1"/>
          <p:nvPr/>
        </p:nvSpPr>
        <p:spPr>
          <a:xfrm>
            <a:off x="5175504" y="2880360"/>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Usage des données</a:t>
            </a:r>
            <a:endParaRPr lang="en-US" sz="1050" dirty="0"/>
          </a:p>
        </p:txBody>
      </p:sp>
      <p:sp>
        <p:nvSpPr>
          <p:cNvPr id="52" name="Text 42"/>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Exigez par contrat : pas d'entraînement sur vos données, durée des journaux, sous-traitants.</a:t>
            </a:r>
            <a:endParaRPr lang="en-US" sz="900" dirty="0"/>
          </a:p>
        </p:txBody>
      </p:sp>
      <p:sp>
        <p:nvSpPr>
          <p:cNvPr id="53" name="Shape 43"/>
          <p:cNvSpPr/>
          <p:nvPr/>
        </p:nvSpPr>
        <p:spPr>
          <a:xfrm>
            <a:off x="6711696" y="2752344"/>
            <a:ext cx="1975104" cy="1271016"/>
          </a:xfrm>
          <a:prstGeom prst="roundRect">
            <a:avLst>
              <a:gd name="adj" fmla="val 5755"/>
            </a:avLst>
          </a:prstGeom>
          <a:solidFill>
            <a:srgbClr val="F4F7F5"/>
          </a:solidFill>
          <a:ln w="9525">
            <a:solidFill>
              <a:srgbClr val="D5DED9"/>
            </a:solidFill>
            <a:prstDash val="solid"/>
          </a:ln>
        </p:spPr>
      </p:sp>
      <p:sp>
        <p:nvSpPr>
          <p:cNvPr id="54" name="Shape 44"/>
          <p:cNvSpPr/>
          <p:nvPr/>
        </p:nvSpPr>
        <p:spPr>
          <a:xfrm>
            <a:off x="6839712" y="2880360"/>
            <a:ext cx="310896" cy="310896"/>
          </a:xfrm>
          <a:prstGeom prst="ellipse">
            <a:avLst/>
          </a:prstGeom>
          <a:solidFill>
            <a:srgbClr val="D49A00">
              <a:alpha val="22000"/>
            </a:srgbClr>
          </a:solidFill>
          <a:ln/>
        </p:spPr>
      </p:sp>
      <p:pic>
        <p:nvPicPr>
          <p:cNvPr id="55"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56" name="Text 45"/>
          <p:cNvSpPr txBox="1"/>
          <p:nvPr/>
        </p:nvSpPr>
        <p:spPr>
          <a:xfrm>
            <a:off x="7260336" y="2880360"/>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Risque de change</a:t>
            </a:r>
            <a:endParaRPr lang="en-US" sz="1050" dirty="0"/>
          </a:p>
        </p:txBody>
      </p:sp>
      <p:sp>
        <p:nvSpPr>
          <p:cNvPr id="57" name="Text 46"/>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factures en dollars augmentent si la monnaie locale se déprécie en cours d'année.</a:t>
            </a:r>
            <a:endParaRPr lang="en-US" sz="90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00A86A"/>
            </a:solidFill>
            <a:prstDash val="solid"/>
          </a:ln>
        </p:spPr>
      </p:sp>
      <p:sp>
        <p:nvSpPr>
          <p:cNvPr id="59" name="Shape 48"/>
          <p:cNvSpPr/>
          <p:nvPr/>
        </p:nvSpPr>
        <p:spPr>
          <a:xfrm>
            <a:off x="566928" y="4215384"/>
            <a:ext cx="292608" cy="292608"/>
          </a:xfrm>
          <a:prstGeom prst="ellipse">
            <a:avLst/>
          </a:prstGeom>
          <a:solidFill>
            <a:srgbClr val="00A86A">
              <a:alpha val="22000"/>
            </a:srgbClr>
          </a:solidFill>
          <a:ln/>
        </p:spPr>
      </p:sp>
      <p:pic>
        <p:nvPicPr>
          <p:cNvPr id="60"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Obtenez des réponses écrites sur l'accès légal et l'usage des données avant le pilote, pas avant le renouvellement. Un juriste coûte moins cher qu'un incident.</a:t>
            </a:r>
            <a:endParaRPr lang="en-US" sz="10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LE CONTEXTE AFRICAIN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Options d'hébergement pour les instituts africains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La capacité nationale progresse mais reste concentrée — choisissez en connaissance de cause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8" name="Shape 15"/>
          <p:cNvSpPr/>
          <p:nvPr/>
        </p:nvSpPr>
        <p:spPr>
          <a:xfrm>
            <a:off x="457200" y="1371600"/>
            <a:ext cx="4663440" cy="603504"/>
          </a:xfrm>
          <a:prstGeom prst="roundRect">
            <a:avLst>
              <a:gd name="adj" fmla="val 12121"/>
            </a:avLst>
          </a:prstGeom>
          <a:solidFill>
            <a:srgbClr val="F4F7F5"/>
          </a:solidFill>
          <a:ln w="9525">
            <a:solidFill>
              <a:srgbClr val="D5DED9"/>
            </a:solidFill>
            <a:prstDash val="solid"/>
          </a:ln>
        </p:spPr>
      </p:sp>
      <p:sp>
        <p:nvSpPr>
          <p:cNvPr id="19" name="Shape 16"/>
          <p:cNvSpPr/>
          <p:nvPr/>
        </p:nvSpPr>
        <p:spPr>
          <a:xfrm>
            <a:off x="566928" y="1481328"/>
            <a:ext cx="384048" cy="384048"/>
          </a:xfrm>
          <a:prstGeom prst="ellipse">
            <a:avLst/>
          </a:prstGeom>
          <a:solidFill>
            <a:srgbClr val="00553A">
              <a:alpha val="22000"/>
            </a:srgbClr>
          </a:solidFill>
          <a:ln/>
        </p:spPr>
      </p:sp>
      <p:pic>
        <p:nvPicPr>
          <p:cNvPr id="20" name="Image 0" descr="preencoded.png"/>
          <p:cNvPicPr>
            <a:picLocks noChangeAspect="1"/>
          </p:cNvPicPr>
          <p:nvPr/>
        </p:nvPicPr>
        <p:blipFill>
          <a:blip r:embed="rId3"/>
          <a:stretch>
            <a:fillRect/>
          </a:stretch>
        </p:blipFill>
        <p:spPr>
          <a:xfrm>
            <a:off x="659100" y="1573500"/>
            <a:ext cx="199705" cy="199705"/>
          </a:xfrm>
          <a:prstGeom prst="rect">
            <a:avLst/>
          </a:prstGeom>
        </p:spPr>
      </p:pic>
      <p:sp>
        <p:nvSpPr>
          <p:cNvPr id="21" name="Text 17"/>
          <p:cNvSpPr txBox="1"/>
          <p:nvPr/>
        </p:nvSpPr>
        <p:spPr>
          <a:xfrm>
            <a:off x="1078992" y="1417320"/>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Salle serveurs de l'institut</a:t>
            </a:r>
            <a:endParaRPr lang="en-US" sz="1150" dirty="0"/>
          </a:p>
        </p:txBody>
      </p:sp>
      <p:sp>
        <p:nvSpPr>
          <p:cNvPr id="22" name="Text 18"/>
          <p:cNvSpPr txBox="1"/>
          <p:nvPr/>
        </p:nvSpPr>
        <p:spPr>
          <a:xfrm>
            <a:off x="1078992" y="1645920"/>
            <a:ext cx="3977640" cy="31089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Contrôle total ; limité par l'énergie, le refroidissement et le manque d'ingénieurs.</a:t>
            </a:r>
            <a:endParaRPr lang="en-US" sz="900" dirty="0"/>
          </a:p>
        </p:txBody>
      </p:sp>
      <p:sp>
        <p:nvSpPr>
          <p:cNvPr id="23" name="Shape 19"/>
          <p:cNvSpPr/>
          <p:nvPr/>
        </p:nvSpPr>
        <p:spPr>
          <a:xfrm>
            <a:off x="457200" y="2066544"/>
            <a:ext cx="4663440" cy="603504"/>
          </a:xfrm>
          <a:prstGeom prst="roundRect">
            <a:avLst>
              <a:gd name="adj" fmla="val 12121"/>
            </a:avLst>
          </a:prstGeom>
          <a:solidFill>
            <a:srgbClr val="F4F7F5"/>
          </a:solidFill>
          <a:ln w="9525">
            <a:solidFill>
              <a:srgbClr val="D5DED9"/>
            </a:solidFill>
            <a:prstDash val="solid"/>
          </a:ln>
        </p:spPr>
      </p:sp>
      <p:sp>
        <p:nvSpPr>
          <p:cNvPr id="24" name="Shape 20"/>
          <p:cNvSpPr/>
          <p:nvPr/>
        </p:nvSpPr>
        <p:spPr>
          <a:xfrm>
            <a:off x="566928" y="2176272"/>
            <a:ext cx="384048" cy="384048"/>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659100" y="2268444"/>
            <a:ext cx="199705" cy="199705"/>
          </a:xfrm>
          <a:prstGeom prst="rect">
            <a:avLst/>
          </a:prstGeom>
        </p:spPr>
      </p:pic>
      <p:sp>
        <p:nvSpPr>
          <p:cNvPr id="26" name="Text 21"/>
          <p:cNvSpPr txBox="1"/>
          <p:nvPr/>
        </p:nvSpPr>
        <p:spPr>
          <a:xfrm>
            <a:off x="1078992" y="2112264"/>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Centre de données gouvernemental</a:t>
            </a:r>
            <a:endParaRPr lang="en-US" sz="1150" dirty="0"/>
          </a:p>
        </p:txBody>
      </p:sp>
      <p:sp>
        <p:nvSpPr>
          <p:cNvPr id="27" name="Text 22"/>
          <p:cNvSpPr txBox="1"/>
          <p:nvPr/>
        </p:nvSpPr>
        <p:spPr>
          <a:xfrm>
            <a:off x="1078992" y="2340864"/>
            <a:ext cx="3977640" cy="31089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Cadre public et exploitation mutualisée ; vérifier la capacité et les GPU disponibles.</a:t>
            </a:r>
            <a:endParaRPr lang="en-US" sz="900" dirty="0"/>
          </a:p>
        </p:txBody>
      </p:sp>
      <p:sp>
        <p:nvSpPr>
          <p:cNvPr id="28" name="Shape 23"/>
          <p:cNvSpPr/>
          <p:nvPr/>
        </p:nvSpPr>
        <p:spPr>
          <a:xfrm>
            <a:off x="457200" y="2761488"/>
            <a:ext cx="4663440" cy="603504"/>
          </a:xfrm>
          <a:prstGeom prst="roundRect">
            <a:avLst>
              <a:gd name="adj" fmla="val 12121"/>
            </a:avLst>
          </a:prstGeom>
          <a:solidFill>
            <a:srgbClr val="F4F7F5"/>
          </a:solidFill>
          <a:ln w="9525">
            <a:solidFill>
              <a:srgbClr val="D5DED9"/>
            </a:solidFill>
            <a:prstDash val="solid"/>
          </a:ln>
        </p:spPr>
      </p:sp>
      <p:sp>
        <p:nvSpPr>
          <p:cNvPr id="29" name="Shape 24"/>
          <p:cNvSpPr/>
          <p:nvPr/>
        </p:nvSpPr>
        <p:spPr>
          <a:xfrm>
            <a:off x="566928" y="2871216"/>
            <a:ext cx="384048" cy="384048"/>
          </a:xfrm>
          <a:prstGeom prst="ellipse">
            <a:avLst/>
          </a:prstGeom>
          <a:solidFill>
            <a:srgbClr val="0E7C86">
              <a:alpha val="22000"/>
            </a:srgbClr>
          </a:solidFill>
          <a:ln/>
        </p:spPr>
      </p:sp>
      <p:pic>
        <p:nvPicPr>
          <p:cNvPr id="30" name="Image 2" descr="preencoded.png"/>
          <p:cNvPicPr>
            <a:picLocks noChangeAspect="1"/>
          </p:cNvPicPr>
          <p:nvPr/>
        </p:nvPicPr>
        <p:blipFill>
          <a:blip r:embed="rId5"/>
          <a:stretch>
            <a:fillRect/>
          </a:stretch>
        </p:blipFill>
        <p:spPr>
          <a:xfrm>
            <a:off x="659100" y="2963388"/>
            <a:ext cx="199705" cy="199705"/>
          </a:xfrm>
          <a:prstGeom prst="rect">
            <a:avLst/>
          </a:prstGeom>
        </p:spPr>
      </p:pic>
      <p:sp>
        <p:nvSpPr>
          <p:cNvPr id="31" name="Text 25"/>
          <p:cNvSpPr txBox="1"/>
          <p:nvPr/>
        </p:nvSpPr>
        <p:spPr>
          <a:xfrm>
            <a:off x="1078992" y="2807208"/>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Hébergeur commercial national</a:t>
            </a:r>
            <a:endParaRPr lang="en-US" sz="1150" dirty="0"/>
          </a:p>
        </p:txBody>
      </p:sp>
      <p:sp>
        <p:nvSpPr>
          <p:cNvPr id="32" name="Text 26"/>
          <p:cNvSpPr txBox="1"/>
          <p:nvPr/>
        </p:nvSpPr>
        <p:spPr>
          <a:xfrm>
            <a:off x="1078992" y="3035808"/>
            <a:ext cx="3977640" cy="31089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Colocation ou cloud local ; en croissance dans les grands pôles, très variable selon le pays.</a:t>
            </a:r>
            <a:endParaRPr lang="en-US" sz="900" dirty="0"/>
          </a:p>
        </p:txBody>
      </p:sp>
      <p:sp>
        <p:nvSpPr>
          <p:cNvPr id="33" name="Shape 27"/>
          <p:cNvSpPr/>
          <p:nvPr/>
        </p:nvSpPr>
        <p:spPr>
          <a:xfrm>
            <a:off x="457200" y="3456432"/>
            <a:ext cx="4663440" cy="603504"/>
          </a:xfrm>
          <a:prstGeom prst="roundRect">
            <a:avLst>
              <a:gd name="adj" fmla="val 12121"/>
            </a:avLst>
          </a:prstGeom>
          <a:solidFill>
            <a:srgbClr val="F4F7F5"/>
          </a:solidFill>
          <a:ln w="9525">
            <a:solidFill>
              <a:srgbClr val="D5DED9"/>
            </a:solidFill>
            <a:prstDash val="solid"/>
          </a:ln>
        </p:spPr>
      </p:sp>
      <p:sp>
        <p:nvSpPr>
          <p:cNvPr id="34" name="Shape 28"/>
          <p:cNvSpPr/>
          <p:nvPr/>
        </p:nvSpPr>
        <p:spPr>
          <a:xfrm>
            <a:off x="566928" y="3566160"/>
            <a:ext cx="384048" cy="384048"/>
          </a:xfrm>
          <a:prstGeom prst="ellipse">
            <a:avLst/>
          </a:prstGeom>
          <a:solidFill>
            <a:srgbClr val="D49A00">
              <a:alpha val="22000"/>
            </a:srgbClr>
          </a:solidFill>
          <a:ln/>
        </p:spPr>
      </p:sp>
      <p:pic>
        <p:nvPicPr>
          <p:cNvPr id="35" name="Image 3" descr="preencoded.png"/>
          <p:cNvPicPr>
            <a:picLocks noChangeAspect="1"/>
          </p:cNvPicPr>
          <p:nvPr/>
        </p:nvPicPr>
        <p:blipFill>
          <a:blip r:embed="rId6"/>
          <a:stretch>
            <a:fillRect/>
          </a:stretch>
        </p:blipFill>
        <p:spPr>
          <a:xfrm>
            <a:off x="659100" y="3658332"/>
            <a:ext cx="199705" cy="199705"/>
          </a:xfrm>
          <a:prstGeom prst="rect">
            <a:avLst/>
          </a:prstGeom>
        </p:spPr>
      </p:pic>
      <p:sp>
        <p:nvSpPr>
          <p:cNvPr id="36" name="Text 29"/>
          <p:cNvSpPr txBox="1"/>
          <p:nvPr/>
        </p:nvSpPr>
        <p:spPr>
          <a:xfrm>
            <a:off x="1078992" y="3502152"/>
            <a:ext cx="393192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Région cloud à l'étranger</a:t>
            </a:r>
            <a:endParaRPr lang="en-US" sz="1150" dirty="0"/>
          </a:p>
        </p:txBody>
      </p:sp>
      <p:sp>
        <p:nvSpPr>
          <p:cNvPr id="37" name="Text 30"/>
          <p:cNvSpPr txBox="1"/>
          <p:nvPr/>
        </p:nvSpPr>
        <p:spPr>
          <a:xfrm>
            <a:off x="1078992" y="3730752"/>
            <a:ext cx="3977640" cy="31089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Surtout en Afrique du Sud ; le transfert transfrontalier exige une base légale claire.</a:t>
            </a:r>
            <a:endParaRPr lang="en-US" sz="900" dirty="0"/>
          </a:p>
        </p:txBody>
      </p:sp>
      <p:sp>
        <p:nvSpPr>
          <p:cNvPr id="38" name="Shape 31"/>
          <p:cNvSpPr/>
          <p:nvPr/>
        </p:nvSpPr>
        <p:spPr>
          <a:xfrm>
            <a:off x="5303520" y="1371600"/>
            <a:ext cx="3383280" cy="2688336"/>
          </a:xfrm>
          <a:prstGeom prst="roundRect">
            <a:avLst>
              <a:gd name="adj" fmla="val 2721"/>
            </a:avLst>
          </a:prstGeom>
          <a:solidFill>
            <a:srgbClr val="E8F5EF"/>
          </a:solidFill>
          <a:ln w="15875">
            <a:solidFill>
              <a:srgbClr val="00A86A"/>
            </a:solidFill>
            <a:prstDash val="solid"/>
          </a:ln>
        </p:spPr>
      </p:sp>
      <p:sp>
        <p:nvSpPr>
          <p:cNvPr id="39" name="Text 32"/>
          <p:cNvSpPr txBox="1"/>
          <p:nvPr/>
        </p:nvSpPr>
        <p:spPr>
          <a:xfrm>
            <a:off x="5486400" y="1481328"/>
            <a:ext cx="3108960" cy="182880"/>
          </a:xfrm>
          <a:prstGeom prst="rect">
            <a:avLst/>
          </a:prstGeom>
          <a:noFill/>
          <a:ln/>
        </p:spPr>
        <p:txBody>
          <a:bodyPr wrap="square" lIns="0" tIns="0" rIns="0" bIns="0" rtlCol="0" anchor="t"/>
          <a:lstStyle/>
          <a:p>
            <a:pPr marL="0" indent="0">
              <a:buNone/>
            </a:pPr>
            <a:r>
              <a:rPr lang="en-US" sz="900" b="1" kern="0" spc="150" dirty="0">
                <a:solidFill>
                  <a:srgbClr val="00704A"/>
                </a:solidFill>
                <a:latin typeface="Calibri" pitchFamily="34" charset="0"/>
                <a:ea typeface="Calibri" pitchFamily="34" charset="-122"/>
                <a:cs typeface="Calibri" pitchFamily="34" charset="-120"/>
              </a:rPr>
              <a:t>QUESTIONS À POSER À TOUT HÉBERGEUR</a:t>
            </a:r>
            <a:endParaRPr lang="en-US" sz="900" dirty="0"/>
          </a:p>
        </p:txBody>
      </p:sp>
      <p:pic>
        <p:nvPicPr>
          <p:cNvPr id="40" name="Image 4" descr="preencoded.png"/>
          <p:cNvPicPr>
            <a:picLocks noChangeAspect="1"/>
          </p:cNvPicPr>
          <p:nvPr/>
        </p:nvPicPr>
        <p:blipFill>
          <a:blip r:embed="rId7"/>
          <a:stretch>
            <a:fillRect/>
          </a:stretch>
        </p:blipFill>
        <p:spPr>
          <a:xfrm>
            <a:off x="5486400" y="1783080"/>
            <a:ext cx="137160" cy="137160"/>
          </a:xfrm>
          <a:prstGeom prst="rect">
            <a:avLst/>
          </a:prstGeom>
        </p:spPr>
      </p:pic>
      <p:sp>
        <p:nvSpPr>
          <p:cNvPr id="41" name="Text 33"/>
          <p:cNvSpPr txBox="1"/>
          <p:nvPr/>
        </p:nvSpPr>
        <p:spPr>
          <a:xfrm>
            <a:off x="5696712" y="175564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Où sont physiquement les données et sauvegardes ?</a:t>
            </a:r>
            <a:endParaRPr lang="en-US" sz="950" dirty="0"/>
          </a:p>
        </p:txBody>
      </p:sp>
      <p:pic>
        <p:nvPicPr>
          <p:cNvPr id="42" name="Image 5" descr="preencoded.png"/>
          <p:cNvPicPr>
            <a:picLocks noChangeAspect="1"/>
          </p:cNvPicPr>
          <p:nvPr/>
        </p:nvPicPr>
        <p:blipFill>
          <a:blip r:embed="rId7"/>
          <a:stretch>
            <a:fillRect/>
          </a:stretch>
        </p:blipFill>
        <p:spPr>
          <a:xfrm>
            <a:off x="5486400" y="2103120"/>
            <a:ext cx="137160" cy="137160"/>
          </a:xfrm>
          <a:prstGeom prst="rect">
            <a:avLst/>
          </a:prstGeom>
        </p:spPr>
      </p:pic>
      <p:sp>
        <p:nvSpPr>
          <p:cNvPr id="43" name="Text 34"/>
          <p:cNvSpPr txBox="1"/>
          <p:nvPr/>
        </p:nvSpPr>
        <p:spPr>
          <a:xfrm>
            <a:off x="5696712" y="207568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Quel droit national régit l'accès à ces données ?</a:t>
            </a:r>
            <a:endParaRPr lang="en-US" sz="950" dirty="0"/>
          </a:p>
        </p:txBody>
      </p:sp>
      <p:pic>
        <p:nvPicPr>
          <p:cNvPr id="44" name="Image 6" descr="preencoded.png"/>
          <p:cNvPicPr>
            <a:picLocks noChangeAspect="1"/>
          </p:cNvPicPr>
          <p:nvPr/>
        </p:nvPicPr>
        <p:blipFill>
          <a:blip r:embed="rId7"/>
          <a:stretch>
            <a:fillRect/>
          </a:stretch>
        </p:blipFill>
        <p:spPr>
          <a:xfrm>
            <a:off x="5486400" y="2423160"/>
            <a:ext cx="137160" cy="137160"/>
          </a:xfrm>
          <a:prstGeom prst="rect">
            <a:avLst/>
          </a:prstGeom>
        </p:spPr>
      </p:pic>
      <p:sp>
        <p:nvSpPr>
          <p:cNvPr id="45" name="Text 35"/>
          <p:cNvSpPr txBox="1"/>
          <p:nvPr/>
        </p:nvSpPr>
        <p:spPr>
          <a:xfrm>
            <a:off x="5696712" y="239572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Quelle autonomie électrique et quelle disponibilité ?</a:t>
            </a:r>
            <a:endParaRPr lang="en-US" sz="950" dirty="0"/>
          </a:p>
        </p:txBody>
      </p:sp>
      <p:pic>
        <p:nvPicPr>
          <p:cNvPr id="46" name="Image 7" descr="preencoded.png"/>
          <p:cNvPicPr>
            <a:picLocks noChangeAspect="1"/>
          </p:cNvPicPr>
          <p:nvPr/>
        </p:nvPicPr>
        <p:blipFill>
          <a:blip r:embed="rId7"/>
          <a:stretch>
            <a:fillRect/>
          </a:stretch>
        </p:blipFill>
        <p:spPr>
          <a:xfrm>
            <a:off x="5486400" y="2743200"/>
            <a:ext cx="137160" cy="137160"/>
          </a:xfrm>
          <a:prstGeom prst="rect">
            <a:avLst/>
          </a:prstGeom>
        </p:spPr>
      </p:pic>
      <p:sp>
        <p:nvSpPr>
          <p:cNvPr id="47" name="Text 36"/>
          <p:cNvSpPr txBox="1"/>
          <p:nvPr/>
        </p:nvSpPr>
        <p:spPr>
          <a:xfrm>
            <a:off x="5696712" y="271576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Des GPU sont-ils disponibles, et sous quel délai ?</a:t>
            </a:r>
            <a:endParaRPr lang="en-US" sz="950" dirty="0"/>
          </a:p>
        </p:txBody>
      </p:sp>
      <p:pic>
        <p:nvPicPr>
          <p:cNvPr id="48" name="Image 8" descr="preencoded.png"/>
          <p:cNvPicPr>
            <a:picLocks noChangeAspect="1"/>
          </p:cNvPicPr>
          <p:nvPr/>
        </p:nvPicPr>
        <p:blipFill>
          <a:blip r:embed="rId7"/>
          <a:stretch>
            <a:fillRect/>
          </a:stretch>
        </p:blipFill>
        <p:spPr>
          <a:xfrm>
            <a:off x="5486400" y="3063240"/>
            <a:ext cx="137160" cy="137160"/>
          </a:xfrm>
          <a:prstGeom prst="rect">
            <a:avLst/>
          </a:prstGeom>
        </p:spPr>
      </p:pic>
      <p:sp>
        <p:nvSpPr>
          <p:cNvPr id="49" name="Text 37"/>
          <p:cNvSpPr txBox="1"/>
          <p:nvPr/>
        </p:nvSpPr>
        <p:spPr>
          <a:xfrm>
            <a:off x="5696712" y="303580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Comment récupérer nos données si nous partons ?</a:t>
            </a:r>
            <a:endParaRPr lang="en-US" sz="950" dirty="0"/>
          </a:p>
        </p:txBody>
      </p:sp>
      <p:pic>
        <p:nvPicPr>
          <p:cNvPr id="50" name="Image 9" descr="preencoded.png"/>
          <p:cNvPicPr>
            <a:picLocks noChangeAspect="1"/>
          </p:cNvPicPr>
          <p:nvPr/>
        </p:nvPicPr>
        <p:blipFill>
          <a:blip r:embed="rId7"/>
          <a:stretch>
            <a:fillRect/>
          </a:stretch>
        </p:blipFill>
        <p:spPr>
          <a:xfrm>
            <a:off x="5486400" y="3383280"/>
            <a:ext cx="137160" cy="137160"/>
          </a:xfrm>
          <a:prstGeom prst="rect">
            <a:avLst/>
          </a:prstGeom>
        </p:spPr>
      </p:pic>
      <p:sp>
        <p:nvSpPr>
          <p:cNvPr id="51" name="Text 38"/>
          <p:cNvSpPr txBox="1"/>
          <p:nvPr/>
        </p:nvSpPr>
        <p:spPr>
          <a:xfrm>
            <a:off x="5696712" y="335584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Notre loi statistique autorise-t-elle ce lieu ?</a:t>
            </a:r>
            <a:endParaRPr lang="en-US" sz="950" dirty="0"/>
          </a:p>
        </p:txBody>
      </p:sp>
      <p:pic>
        <p:nvPicPr>
          <p:cNvPr id="52" name="Image 10" descr="preencoded.png"/>
          <p:cNvPicPr>
            <a:picLocks noChangeAspect="1"/>
          </p:cNvPicPr>
          <p:nvPr/>
        </p:nvPicPr>
        <p:blipFill>
          <a:blip r:embed="rId7"/>
          <a:stretch>
            <a:fillRect/>
          </a:stretch>
        </p:blipFill>
        <p:spPr>
          <a:xfrm>
            <a:off x="5486400" y="3703320"/>
            <a:ext cx="137160" cy="137160"/>
          </a:xfrm>
          <a:prstGeom prst="rect">
            <a:avLst/>
          </a:prstGeom>
        </p:spPr>
      </p:pic>
      <p:sp>
        <p:nvSpPr>
          <p:cNvPr id="53" name="Text 39"/>
          <p:cNvSpPr txBox="1"/>
          <p:nvPr/>
        </p:nvSpPr>
        <p:spPr>
          <a:xfrm>
            <a:off x="5696712" y="3675888"/>
            <a:ext cx="2898648" cy="32004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Qui paie, et dans quelle monnaie ?</a:t>
            </a:r>
            <a:endParaRPr lang="en-US" sz="950" dirty="0"/>
          </a:p>
        </p:txBody>
      </p:sp>
      <p:sp>
        <p:nvSpPr>
          <p:cNvPr id="54" name="Shape 4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55" name="Shape 41"/>
          <p:cNvSpPr/>
          <p:nvPr/>
        </p:nvSpPr>
        <p:spPr>
          <a:xfrm>
            <a:off x="566928" y="4233672"/>
            <a:ext cx="292608" cy="292608"/>
          </a:xfrm>
          <a:prstGeom prst="ellipse">
            <a:avLst/>
          </a:prstGeom>
          <a:solidFill>
            <a:srgbClr val="00A86A">
              <a:alpha val="22000"/>
            </a:srgbClr>
          </a:solidFill>
          <a:ln/>
        </p:spPr>
      </p:sp>
      <p:pic>
        <p:nvPicPr>
          <p:cNvPr id="56" name="Image 11" descr="preencoded.png"/>
          <p:cNvPicPr>
            <a:picLocks noChangeAspect="1"/>
          </p:cNvPicPr>
          <p:nvPr/>
        </p:nvPicPr>
        <p:blipFill>
          <a:blip r:embed="rId8"/>
          <a:stretch>
            <a:fillRect/>
          </a:stretch>
        </p:blipFill>
        <p:spPr>
          <a:xfrm>
            <a:off x="637154" y="4303898"/>
            <a:ext cx="152156" cy="152156"/>
          </a:xfrm>
          <a:prstGeom prst="rect">
            <a:avLst/>
          </a:prstGeom>
        </p:spPr>
      </p:pic>
      <p:sp>
        <p:nvSpPr>
          <p:cNvPr id="57" name="Text 4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CONTEXTE   </a:t>
            </a:r>
            <a:r>
              <a:rPr lang="en-US" sz="1000" dirty="0">
                <a:solidFill>
                  <a:srgbClr val="231F20"/>
                </a:solidFill>
                <a:latin typeface="Calibri" pitchFamily="34" charset="0"/>
                <a:ea typeface="Calibri" pitchFamily="34" charset="-122"/>
                <a:cs typeface="Calibri" pitchFamily="34" charset="-120"/>
              </a:rPr>
              <a:t>46 % des 211 centres de données opérationnels d'Afrique se trouvent dans quatre pays : Afrique du Sud, Kenya, Nigeria et Égypte.</a:t>
            </a:r>
            <a:endParaRPr lang="en-US" sz="1000" dirty="0"/>
          </a:p>
        </p:txBody>
      </p:sp>
      <p:sp>
        <p:nvSpPr>
          <p:cNvPr id="58" name="Text 43"/>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Sources : étude Heirs Technologies (sept. 2025), via Agence Ecofin ; ADCA, Data Centres in Africa 2026 ; presse spécialisée sur la région cloud d'Oracle au Kenya (2026).</a:t>
            </a:r>
            <a:endParaRPr lang="en-US" sz="8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ARCHITECTURE CIBLE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Le modèle hybride vers lequel convergent les instituts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Trois niveaux de traitement, un plan de contrôle commun. Ce sont les données qui choisissent le niveau</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8" name="Shape 15"/>
          <p:cNvSpPr/>
          <p:nvPr/>
        </p:nvSpPr>
        <p:spPr>
          <a:xfrm>
            <a:off x="457200" y="1371600"/>
            <a:ext cx="2651760" cy="2103120"/>
          </a:xfrm>
          <a:prstGeom prst="roundRect">
            <a:avLst>
              <a:gd name="adj" fmla="val 3478"/>
            </a:avLst>
          </a:prstGeom>
          <a:solidFill>
            <a:srgbClr val="F4F7F5"/>
          </a:solidFill>
          <a:ln w="9525">
            <a:solidFill>
              <a:srgbClr val="D5DED9"/>
            </a:solidFill>
            <a:prstDash val="solid"/>
          </a:ln>
        </p:spPr>
      </p:sp>
      <p:sp>
        <p:nvSpPr>
          <p:cNvPr id="19" name="Shape 16"/>
          <p:cNvSpPr/>
          <p:nvPr/>
        </p:nvSpPr>
        <p:spPr>
          <a:xfrm>
            <a:off x="594360" y="1481328"/>
            <a:ext cx="731520" cy="201168"/>
          </a:xfrm>
          <a:prstGeom prst="roundRect">
            <a:avLst>
              <a:gd name="adj" fmla="val 50000"/>
            </a:avLst>
          </a:prstGeom>
          <a:solidFill>
            <a:srgbClr val="B83B2E"/>
          </a:solidFill>
          <a:ln w="9525">
            <a:solidFill>
              <a:srgbClr val="B83B2E"/>
            </a:solidFill>
            <a:prstDash val="solid"/>
          </a:ln>
        </p:spPr>
      </p:sp>
      <p:sp>
        <p:nvSpPr>
          <p:cNvPr id="20" name="Text 17"/>
          <p:cNvSpPr txBox="1"/>
          <p:nvPr/>
        </p:nvSpPr>
        <p:spPr>
          <a:xfrm>
            <a:off x="59436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T3</a:t>
            </a:r>
            <a:endParaRPr lang="en-US" sz="850" dirty="0"/>
          </a:p>
        </p:txBody>
      </p:sp>
      <p:pic>
        <p:nvPicPr>
          <p:cNvPr id="21" name="Image 0" descr="preencoded.png"/>
          <p:cNvPicPr>
            <a:picLocks noChangeAspect="1"/>
          </p:cNvPicPr>
          <p:nvPr/>
        </p:nvPicPr>
        <p:blipFill>
          <a:blip r:embed="rId3"/>
          <a:stretch>
            <a:fillRect/>
          </a:stretch>
        </p:blipFill>
        <p:spPr>
          <a:xfrm>
            <a:off x="2697480" y="1463040"/>
            <a:ext cx="256032" cy="256032"/>
          </a:xfrm>
          <a:prstGeom prst="rect">
            <a:avLst/>
          </a:prstGeom>
        </p:spPr>
      </p:pic>
      <p:sp>
        <p:nvSpPr>
          <p:cNvPr id="22" name="Text 18"/>
          <p:cNvSpPr txBox="1"/>
          <p:nvPr/>
        </p:nvSpPr>
        <p:spPr>
          <a:xfrm>
            <a:off x="594360" y="1755648"/>
            <a:ext cx="2377440" cy="256032"/>
          </a:xfrm>
          <a:prstGeom prst="rect">
            <a:avLst/>
          </a:prstGeom>
          <a:noFill/>
          <a:ln/>
        </p:spPr>
        <p:txBody>
          <a:bodyPr wrap="square" lIns="0" tIns="0" rIns="0" bIns="0" rtlCol="0" anchor="t">
            <a:normAutofit/>
          </a:bodyPr>
          <a:lstStyle/>
          <a:p>
            <a:pPr marL="0" indent="0">
              <a:buNone/>
            </a:pPr>
            <a:r>
              <a:rPr lang="en-US" sz="1250" b="1" dirty="0">
                <a:solidFill>
                  <a:srgbClr val="231F20"/>
                </a:solidFill>
                <a:latin typeface="Calibri" pitchFamily="34" charset="0"/>
                <a:ea typeface="Calibri" pitchFamily="34" charset="-122"/>
                <a:cs typeface="Calibri" pitchFamily="34" charset="-120"/>
              </a:rPr>
              <a:t>Microdonnées confidentielles</a:t>
            </a:r>
            <a:endParaRPr lang="en-US" sz="1250" dirty="0"/>
          </a:p>
        </p:txBody>
      </p:sp>
      <p:sp>
        <p:nvSpPr>
          <p:cNvPr id="23" name="Text 19"/>
          <p:cNvSpPr txBox="1"/>
          <p:nvPr/>
        </p:nvSpPr>
        <p:spPr>
          <a:xfrm>
            <a:off x="59436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Sur site ou zone sécurisée</a:t>
            </a:r>
            <a:endParaRPr lang="en-US" sz="1000" dirty="0"/>
          </a:p>
        </p:txBody>
      </p:sp>
      <p:pic>
        <p:nvPicPr>
          <p:cNvPr id="24" name="Image 1" descr="preencoded.png"/>
          <p:cNvPicPr>
            <a:picLocks noChangeAspect="1"/>
          </p:cNvPicPr>
          <p:nvPr/>
        </p:nvPicPr>
        <p:blipFill>
          <a:blip r:embed="rId4"/>
          <a:stretch>
            <a:fillRect/>
          </a:stretch>
        </p:blipFill>
        <p:spPr>
          <a:xfrm>
            <a:off x="594360" y="2331720"/>
            <a:ext cx="137160" cy="137160"/>
          </a:xfrm>
          <a:prstGeom prst="rect">
            <a:avLst/>
          </a:prstGeom>
        </p:spPr>
      </p:pic>
      <p:sp>
        <p:nvSpPr>
          <p:cNvPr id="25" name="Text 20"/>
          <p:cNvSpPr txBox="1"/>
          <p:nvPr/>
        </p:nvSpPr>
        <p:spPr>
          <a:xfrm>
            <a:off x="804672" y="2304288"/>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Modèles ouverts auto-hébergés seulement</a:t>
            </a:r>
            <a:endParaRPr lang="en-US" sz="900" dirty="0"/>
          </a:p>
        </p:txBody>
      </p:sp>
      <p:pic>
        <p:nvPicPr>
          <p:cNvPr id="26" name="Image 2" descr="preencoded.png"/>
          <p:cNvPicPr>
            <a:picLocks noChangeAspect="1"/>
          </p:cNvPicPr>
          <p:nvPr/>
        </p:nvPicPr>
        <p:blipFill>
          <a:blip r:embed="rId4"/>
          <a:stretch>
            <a:fillRect/>
          </a:stretch>
        </p:blipFill>
        <p:spPr>
          <a:xfrm>
            <a:off x="594360" y="2615184"/>
            <a:ext cx="137160" cy="137160"/>
          </a:xfrm>
          <a:prstGeom prst="rect">
            <a:avLst/>
          </a:prstGeom>
        </p:spPr>
      </p:pic>
      <p:sp>
        <p:nvSpPr>
          <p:cNvPr id="27" name="Text 21"/>
          <p:cNvSpPr txBox="1"/>
          <p:nvPr/>
        </p:nvSpPr>
        <p:spPr>
          <a:xfrm>
            <a:off x="804672" y="2587752"/>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Aucun accès internet sortant</a:t>
            </a:r>
            <a:endParaRPr lang="en-US" sz="900" dirty="0"/>
          </a:p>
        </p:txBody>
      </p:sp>
      <p:pic>
        <p:nvPicPr>
          <p:cNvPr id="28" name="Image 3" descr="preencoded.png"/>
          <p:cNvPicPr>
            <a:picLocks noChangeAspect="1"/>
          </p:cNvPicPr>
          <p:nvPr/>
        </p:nvPicPr>
        <p:blipFill>
          <a:blip r:embed="rId4"/>
          <a:stretch>
            <a:fillRect/>
          </a:stretch>
        </p:blipFill>
        <p:spPr>
          <a:xfrm>
            <a:off x="594360" y="2898648"/>
            <a:ext cx="137160" cy="137160"/>
          </a:xfrm>
          <a:prstGeom prst="rect">
            <a:avLst/>
          </a:prstGeom>
        </p:spPr>
      </p:pic>
      <p:sp>
        <p:nvSpPr>
          <p:cNvPr id="29" name="Text 22"/>
          <p:cNvSpPr txBox="1"/>
          <p:nvPr/>
        </p:nvSpPr>
        <p:spPr>
          <a:xfrm>
            <a:off x="804672" y="2871216"/>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Requêtes et réponses journalisées</a:t>
            </a:r>
            <a:endParaRPr lang="en-US" sz="900" dirty="0"/>
          </a:p>
        </p:txBody>
      </p:sp>
      <p:pic>
        <p:nvPicPr>
          <p:cNvPr id="30" name="Image 4" descr="preencoded.png"/>
          <p:cNvPicPr>
            <a:picLocks noChangeAspect="1"/>
          </p:cNvPicPr>
          <p:nvPr/>
        </p:nvPicPr>
        <p:blipFill>
          <a:blip r:embed="rId4"/>
          <a:stretch>
            <a:fillRect/>
          </a:stretch>
        </p:blipFill>
        <p:spPr>
          <a:xfrm>
            <a:off x="594360" y="3182112"/>
            <a:ext cx="137160" cy="137160"/>
          </a:xfrm>
          <a:prstGeom prst="rect">
            <a:avLst/>
          </a:prstGeom>
        </p:spPr>
      </p:pic>
      <p:sp>
        <p:nvSpPr>
          <p:cNvPr id="31" name="Text 23"/>
          <p:cNvSpPr txBox="1"/>
          <p:nvPr/>
        </p:nvSpPr>
        <p:spPr>
          <a:xfrm>
            <a:off x="804672" y="3154680"/>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Sorties contrôlées avant diffusion</a:t>
            </a:r>
            <a:endParaRPr lang="en-US" sz="900" dirty="0"/>
          </a:p>
        </p:txBody>
      </p:sp>
      <p:sp>
        <p:nvSpPr>
          <p:cNvPr id="32" name="Shape 24"/>
          <p:cNvSpPr/>
          <p:nvPr/>
        </p:nvSpPr>
        <p:spPr>
          <a:xfrm>
            <a:off x="3246120" y="1371600"/>
            <a:ext cx="2651760" cy="2103120"/>
          </a:xfrm>
          <a:prstGeom prst="roundRect">
            <a:avLst>
              <a:gd name="adj" fmla="val 3478"/>
            </a:avLst>
          </a:prstGeom>
          <a:solidFill>
            <a:srgbClr val="F4F7F5"/>
          </a:solidFill>
          <a:ln w="9525">
            <a:solidFill>
              <a:srgbClr val="D5DED9"/>
            </a:solidFill>
            <a:prstDash val="solid"/>
          </a:ln>
        </p:spPr>
      </p:sp>
      <p:sp>
        <p:nvSpPr>
          <p:cNvPr id="33" name="Shape 25"/>
          <p:cNvSpPr/>
          <p:nvPr/>
        </p:nvSpPr>
        <p:spPr>
          <a:xfrm>
            <a:off x="3383280" y="1481328"/>
            <a:ext cx="731520" cy="201168"/>
          </a:xfrm>
          <a:prstGeom prst="roundRect">
            <a:avLst>
              <a:gd name="adj" fmla="val 50000"/>
            </a:avLst>
          </a:prstGeom>
          <a:solidFill>
            <a:srgbClr val="D49A00"/>
          </a:solidFill>
          <a:ln w="9525">
            <a:solidFill>
              <a:srgbClr val="D49A00"/>
            </a:solidFill>
            <a:prstDash val="solid"/>
          </a:ln>
        </p:spPr>
      </p:sp>
      <p:sp>
        <p:nvSpPr>
          <p:cNvPr id="34" name="Text 26"/>
          <p:cNvSpPr txBox="1"/>
          <p:nvPr/>
        </p:nvSpPr>
        <p:spPr>
          <a:xfrm>
            <a:off x="338328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T2 – T1</a:t>
            </a:r>
            <a:endParaRPr lang="en-US" sz="850" dirty="0"/>
          </a:p>
        </p:txBody>
      </p:sp>
      <p:pic>
        <p:nvPicPr>
          <p:cNvPr id="35" name="Image 5" descr="preencoded.png"/>
          <p:cNvPicPr>
            <a:picLocks noChangeAspect="1"/>
          </p:cNvPicPr>
          <p:nvPr/>
        </p:nvPicPr>
        <p:blipFill>
          <a:blip r:embed="rId5"/>
          <a:stretch>
            <a:fillRect/>
          </a:stretch>
        </p:blipFill>
        <p:spPr>
          <a:xfrm>
            <a:off x="5486400" y="1463040"/>
            <a:ext cx="256032" cy="256032"/>
          </a:xfrm>
          <a:prstGeom prst="rect">
            <a:avLst/>
          </a:prstGeom>
        </p:spPr>
      </p:pic>
      <p:sp>
        <p:nvSpPr>
          <p:cNvPr id="36" name="Text 27"/>
          <p:cNvSpPr txBox="1"/>
          <p:nvPr/>
        </p:nvSpPr>
        <p:spPr>
          <a:xfrm>
            <a:off x="3383280" y="1755648"/>
            <a:ext cx="2377440" cy="256032"/>
          </a:xfrm>
          <a:prstGeom prst="rect">
            <a:avLst/>
          </a:prstGeom>
          <a:noFill/>
          <a:ln/>
        </p:spPr>
        <p:txBody>
          <a:bodyPr wrap="square" lIns="0" tIns="0" rIns="0" bIns="0" rtlCol="0" anchor="t">
            <a:normAutofit/>
          </a:bodyPr>
          <a:lstStyle/>
          <a:p>
            <a:pPr marL="0" indent="0">
              <a:buNone/>
            </a:pPr>
            <a:r>
              <a:rPr lang="en-US" sz="1250" b="1" dirty="0">
                <a:solidFill>
                  <a:srgbClr val="231F20"/>
                </a:solidFill>
                <a:latin typeface="Calibri" pitchFamily="34" charset="0"/>
                <a:ea typeface="Calibri" pitchFamily="34" charset="-122"/>
                <a:cs typeface="Calibri" pitchFamily="34" charset="-120"/>
              </a:rPr>
              <a:t>Interne, non public</a:t>
            </a:r>
            <a:endParaRPr lang="en-US" sz="1250" dirty="0"/>
          </a:p>
        </p:txBody>
      </p:sp>
      <p:sp>
        <p:nvSpPr>
          <p:cNvPr id="37" name="Text 28"/>
          <p:cNvSpPr txBox="1"/>
          <p:nvPr/>
        </p:nvSpPr>
        <p:spPr>
          <a:xfrm>
            <a:off x="338328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Cloud souverain ou privé</a:t>
            </a:r>
            <a:endParaRPr lang="en-US" sz="1000" dirty="0"/>
          </a:p>
        </p:txBody>
      </p:sp>
      <p:pic>
        <p:nvPicPr>
          <p:cNvPr id="38" name="Image 6" descr="preencoded.png"/>
          <p:cNvPicPr>
            <a:picLocks noChangeAspect="1"/>
          </p:cNvPicPr>
          <p:nvPr/>
        </p:nvPicPr>
        <p:blipFill>
          <a:blip r:embed="rId6"/>
          <a:stretch>
            <a:fillRect/>
          </a:stretch>
        </p:blipFill>
        <p:spPr>
          <a:xfrm>
            <a:off x="3383280" y="2331720"/>
            <a:ext cx="137160" cy="137160"/>
          </a:xfrm>
          <a:prstGeom prst="rect">
            <a:avLst/>
          </a:prstGeom>
        </p:spPr>
      </p:pic>
      <p:sp>
        <p:nvSpPr>
          <p:cNvPr id="39" name="Text 29"/>
          <p:cNvSpPr txBox="1"/>
          <p:nvPr/>
        </p:nvSpPr>
        <p:spPr>
          <a:xfrm>
            <a:off x="3593592" y="2304288"/>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Hébergement dédié, non-entraînement</a:t>
            </a:r>
            <a:endParaRPr lang="en-US" sz="900" dirty="0"/>
          </a:p>
        </p:txBody>
      </p:sp>
      <p:pic>
        <p:nvPicPr>
          <p:cNvPr id="40" name="Image 7" descr="preencoded.png"/>
          <p:cNvPicPr>
            <a:picLocks noChangeAspect="1"/>
          </p:cNvPicPr>
          <p:nvPr/>
        </p:nvPicPr>
        <p:blipFill>
          <a:blip r:embed="rId6"/>
          <a:stretch>
            <a:fillRect/>
          </a:stretch>
        </p:blipFill>
        <p:spPr>
          <a:xfrm>
            <a:off x="3383280" y="2615184"/>
            <a:ext cx="137160" cy="137160"/>
          </a:xfrm>
          <a:prstGeom prst="rect">
            <a:avLst/>
          </a:prstGeom>
        </p:spPr>
      </p:pic>
      <p:sp>
        <p:nvSpPr>
          <p:cNvPr id="41" name="Text 30"/>
          <p:cNvSpPr txBox="1"/>
          <p:nvPr/>
        </p:nvSpPr>
        <p:spPr>
          <a:xfrm>
            <a:off x="3593592" y="2587752"/>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Modèles auto-hébergés ou mono-client</a:t>
            </a:r>
            <a:endParaRPr lang="en-US" sz="900" dirty="0"/>
          </a:p>
        </p:txBody>
      </p:sp>
      <p:pic>
        <p:nvPicPr>
          <p:cNvPr id="42" name="Image 8" descr="preencoded.png"/>
          <p:cNvPicPr>
            <a:picLocks noChangeAspect="1"/>
          </p:cNvPicPr>
          <p:nvPr/>
        </p:nvPicPr>
        <p:blipFill>
          <a:blip r:embed="rId6"/>
          <a:stretch>
            <a:fillRect/>
          </a:stretch>
        </p:blipFill>
        <p:spPr>
          <a:xfrm>
            <a:off x="3383280" y="2898648"/>
            <a:ext cx="137160" cy="137160"/>
          </a:xfrm>
          <a:prstGeom prst="rect">
            <a:avLst/>
          </a:prstGeom>
        </p:spPr>
      </p:pic>
      <p:sp>
        <p:nvSpPr>
          <p:cNvPr id="43" name="Text 31"/>
          <p:cNvSpPr txBox="1"/>
          <p:nvPr/>
        </p:nvSpPr>
        <p:spPr>
          <a:xfrm>
            <a:off x="3593592" y="2871216"/>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Analyse d'impact au dossier</a:t>
            </a:r>
            <a:endParaRPr lang="en-US" sz="900" dirty="0"/>
          </a:p>
        </p:txBody>
      </p:sp>
      <p:pic>
        <p:nvPicPr>
          <p:cNvPr id="44" name="Image 9" descr="preencoded.png"/>
          <p:cNvPicPr>
            <a:picLocks noChangeAspect="1"/>
          </p:cNvPicPr>
          <p:nvPr/>
        </p:nvPicPr>
        <p:blipFill>
          <a:blip r:embed="rId6"/>
          <a:stretch>
            <a:fillRect/>
          </a:stretch>
        </p:blipFill>
        <p:spPr>
          <a:xfrm>
            <a:off x="3383280" y="3182112"/>
            <a:ext cx="137160" cy="137160"/>
          </a:xfrm>
          <a:prstGeom prst="rect">
            <a:avLst/>
          </a:prstGeom>
        </p:spPr>
      </p:pic>
      <p:sp>
        <p:nvSpPr>
          <p:cNvPr id="45" name="Text 32"/>
          <p:cNvSpPr txBox="1"/>
          <p:nvPr/>
        </p:nvSpPr>
        <p:spPr>
          <a:xfrm>
            <a:off x="3593592" y="3154680"/>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Sorties de données surveillées</a:t>
            </a:r>
            <a:endParaRPr lang="en-US" sz="900" dirty="0"/>
          </a:p>
        </p:txBody>
      </p:sp>
      <p:sp>
        <p:nvSpPr>
          <p:cNvPr id="46" name="Shape 33"/>
          <p:cNvSpPr/>
          <p:nvPr/>
        </p:nvSpPr>
        <p:spPr>
          <a:xfrm>
            <a:off x="6035040" y="1371600"/>
            <a:ext cx="2651760" cy="2103120"/>
          </a:xfrm>
          <a:prstGeom prst="roundRect">
            <a:avLst>
              <a:gd name="adj" fmla="val 3478"/>
            </a:avLst>
          </a:prstGeom>
          <a:solidFill>
            <a:srgbClr val="F4F7F5"/>
          </a:solidFill>
          <a:ln w="9525">
            <a:solidFill>
              <a:srgbClr val="D5DED9"/>
            </a:solidFill>
            <a:prstDash val="solid"/>
          </a:ln>
        </p:spPr>
      </p:sp>
      <p:sp>
        <p:nvSpPr>
          <p:cNvPr id="47" name="Shape 34"/>
          <p:cNvSpPr/>
          <p:nvPr/>
        </p:nvSpPr>
        <p:spPr>
          <a:xfrm>
            <a:off x="6172200" y="1481328"/>
            <a:ext cx="731520" cy="201168"/>
          </a:xfrm>
          <a:prstGeom prst="roundRect">
            <a:avLst>
              <a:gd name="adj" fmla="val 50000"/>
            </a:avLst>
          </a:prstGeom>
          <a:solidFill>
            <a:srgbClr val="00A86A"/>
          </a:solidFill>
          <a:ln w="9525">
            <a:solidFill>
              <a:srgbClr val="00A86A"/>
            </a:solidFill>
            <a:prstDash val="solid"/>
          </a:ln>
        </p:spPr>
      </p:sp>
      <p:sp>
        <p:nvSpPr>
          <p:cNvPr id="48" name="Text 35"/>
          <p:cNvSpPr txBox="1"/>
          <p:nvPr/>
        </p:nvSpPr>
        <p:spPr>
          <a:xfrm>
            <a:off x="6172200" y="1481328"/>
            <a:ext cx="731520" cy="201168"/>
          </a:xfrm>
          <a:prstGeom prst="rect">
            <a:avLst/>
          </a:prstGeom>
          <a:noFill/>
          <a:ln/>
        </p:spPr>
        <p:txBody>
          <a:bodyPr wrap="square" lIns="0" tIns="0" rIns="0" bIns="0" rtlCol="0" anchor="ctr"/>
          <a:lstStyle/>
          <a:p>
            <a:pPr marL="0" indent="0" algn="ctr">
              <a:buNone/>
            </a:pPr>
            <a:r>
              <a:rPr lang="en-US" sz="850" b="1" kern="0" spc="50" dirty="0">
                <a:solidFill>
                  <a:srgbClr val="FFFFFF"/>
                </a:solidFill>
                <a:latin typeface="Calibri" pitchFamily="34" charset="0"/>
                <a:ea typeface="Calibri" pitchFamily="34" charset="-122"/>
                <a:cs typeface="Calibri" pitchFamily="34" charset="-120"/>
              </a:rPr>
              <a:t>T0</a:t>
            </a:r>
            <a:endParaRPr lang="en-US" sz="850" dirty="0"/>
          </a:p>
        </p:txBody>
      </p:sp>
      <p:pic>
        <p:nvPicPr>
          <p:cNvPr id="49" name="Image 10" descr="preencoded.png"/>
          <p:cNvPicPr>
            <a:picLocks noChangeAspect="1"/>
          </p:cNvPicPr>
          <p:nvPr/>
        </p:nvPicPr>
        <p:blipFill>
          <a:blip r:embed="rId7"/>
          <a:stretch>
            <a:fillRect/>
          </a:stretch>
        </p:blipFill>
        <p:spPr>
          <a:xfrm>
            <a:off x="8275320" y="1463040"/>
            <a:ext cx="256032" cy="256032"/>
          </a:xfrm>
          <a:prstGeom prst="rect">
            <a:avLst/>
          </a:prstGeom>
        </p:spPr>
      </p:pic>
      <p:sp>
        <p:nvSpPr>
          <p:cNvPr id="50" name="Text 36"/>
          <p:cNvSpPr txBox="1"/>
          <p:nvPr/>
        </p:nvSpPr>
        <p:spPr>
          <a:xfrm>
            <a:off x="6172200" y="1755648"/>
            <a:ext cx="2377440" cy="256032"/>
          </a:xfrm>
          <a:prstGeom prst="rect">
            <a:avLst/>
          </a:prstGeom>
          <a:noFill/>
          <a:ln/>
        </p:spPr>
        <p:txBody>
          <a:bodyPr wrap="square" lIns="0" tIns="0" rIns="0" bIns="0" rtlCol="0" anchor="t">
            <a:normAutofit/>
          </a:bodyPr>
          <a:lstStyle/>
          <a:p>
            <a:pPr marL="0" indent="0">
              <a:buNone/>
            </a:pPr>
            <a:r>
              <a:rPr lang="en-US" sz="1250" b="1" dirty="0">
                <a:solidFill>
                  <a:srgbClr val="231F20"/>
                </a:solidFill>
                <a:latin typeface="Calibri" pitchFamily="34" charset="0"/>
                <a:ea typeface="Calibri" pitchFamily="34" charset="-122"/>
                <a:cs typeface="Calibri" pitchFamily="34" charset="-120"/>
              </a:rPr>
              <a:t>Publié et public</a:t>
            </a:r>
            <a:endParaRPr lang="en-US" sz="1250" dirty="0"/>
          </a:p>
        </p:txBody>
      </p:sp>
      <p:sp>
        <p:nvSpPr>
          <p:cNvPr id="51" name="Text 37"/>
          <p:cNvSpPr txBox="1"/>
          <p:nvPr/>
        </p:nvSpPr>
        <p:spPr>
          <a:xfrm>
            <a:off x="6172200" y="201168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Tout, y compris API gérées</a:t>
            </a:r>
            <a:endParaRPr lang="en-US" sz="1000" dirty="0"/>
          </a:p>
        </p:txBody>
      </p:sp>
      <p:pic>
        <p:nvPicPr>
          <p:cNvPr id="52" name="Image 11" descr="preencoded.png"/>
          <p:cNvPicPr>
            <a:picLocks noChangeAspect="1"/>
          </p:cNvPicPr>
          <p:nvPr/>
        </p:nvPicPr>
        <p:blipFill>
          <a:blip r:embed="rId8"/>
          <a:stretch>
            <a:fillRect/>
          </a:stretch>
        </p:blipFill>
        <p:spPr>
          <a:xfrm>
            <a:off x="6172200" y="2331720"/>
            <a:ext cx="137160" cy="137160"/>
          </a:xfrm>
          <a:prstGeom prst="rect">
            <a:avLst/>
          </a:prstGeom>
        </p:spPr>
      </p:pic>
      <p:sp>
        <p:nvSpPr>
          <p:cNvPr id="53" name="Text 38"/>
          <p:cNvSpPr txBox="1"/>
          <p:nvPr/>
        </p:nvSpPr>
        <p:spPr>
          <a:xfrm>
            <a:off x="6382512" y="2304288"/>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API de modèles avancés autorisées</a:t>
            </a:r>
            <a:endParaRPr lang="en-US" sz="900" dirty="0"/>
          </a:p>
        </p:txBody>
      </p:sp>
      <p:pic>
        <p:nvPicPr>
          <p:cNvPr id="54" name="Image 12" descr="preencoded.png"/>
          <p:cNvPicPr>
            <a:picLocks noChangeAspect="1"/>
          </p:cNvPicPr>
          <p:nvPr/>
        </p:nvPicPr>
        <p:blipFill>
          <a:blip r:embed="rId8"/>
          <a:stretch>
            <a:fillRect/>
          </a:stretch>
        </p:blipFill>
        <p:spPr>
          <a:xfrm>
            <a:off x="6172200" y="2615184"/>
            <a:ext cx="137160" cy="137160"/>
          </a:xfrm>
          <a:prstGeom prst="rect">
            <a:avLst/>
          </a:prstGeom>
        </p:spPr>
      </p:pic>
      <p:sp>
        <p:nvSpPr>
          <p:cNvPr id="55" name="Text 39"/>
          <p:cNvSpPr txBox="1"/>
          <p:nvPr/>
        </p:nvSpPr>
        <p:spPr>
          <a:xfrm>
            <a:off x="6382512" y="2587752"/>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Passage par la passerelle IA</a:t>
            </a:r>
            <a:endParaRPr lang="en-US" sz="900" dirty="0"/>
          </a:p>
        </p:txBody>
      </p:sp>
      <p:pic>
        <p:nvPicPr>
          <p:cNvPr id="56" name="Image 13" descr="preencoded.png"/>
          <p:cNvPicPr>
            <a:picLocks noChangeAspect="1"/>
          </p:cNvPicPr>
          <p:nvPr/>
        </p:nvPicPr>
        <p:blipFill>
          <a:blip r:embed="rId8"/>
          <a:stretch>
            <a:fillRect/>
          </a:stretch>
        </p:blipFill>
        <p:spPr>
          <a:xfrm>
            <a:off x="6172200" y="2898648"/>
            <a:ext cx="137160" cy="137160"/>
          </a:xfrm>
          <a:prstGeom prst="rect">
            <a:avLst/>
          </a:prstGeom>
        </p:spPr>
      </p:pic>
      <p:sp>
        <p:nvSpPr>
          <p:cNvPr id="57" name="Text 40"/>
          <p:cNvSpPr txBox="1"/>
          <p:nvPr/>
        </p:nvSpPr>
        <p:spPr>
          <a:xfrm>
            <a:off x="6382512" y="2871216"/>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Coût imputé à l'équipe</a:t>
            </a:r>
            <a:endParaRPr lang="en-US" sz="900" dirty="0"/>
          </a:p>
        </p:txBody>
      </p:sp>
      <p:pic>
        <p:nvPicPr>
          <p:cNvPr id="58" name="Image 14" descr="preencoded.png"/>
          <p:cNvPicPr>
            <a:picLocks noChangeAspect="1"/>
          </p:cNvPicPr>
          <p:nvPr/>
        </p:nvPicPr>
        <p:blipFill>
          <a:blip r:embed="rId8"/>
          <a:stretch>
            <a:fillRect/>
          </a:stretch>
        </p:blipFill>
        <p:spPr>
          <a:xfrm>
            <a:off x="6172200" y="3182112"/>
            <a:ext cx="137160" cy="137160"/>
          </a:xfrm>
          <a:prstGeom prst="rect">
            <a:avLst/>
          </a:prstGeom>
        </p:spPr>
      </p:pic>
      <p:sp>
        <p:nvSpPr>
          <p:cNvPr id="59" name="Text 41"/>
          <p:cNvSpPr txBox="1"/>
          <p:nvPr/>
        </p:nvSpPr>
        <p:spPr>
          <a:xfrm>
            <a:off x="6382512" y="3154680"/>
            <a:ext cx="2167128" cy="283464"/>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Charte d'utilisation applicable</a:t>
            </a:r>
            <a:endParaRPr lang="en-US" sz="900" dirty="0"/>
          </a:p>
        </p:txBody>
      </p:sp>
      <p:sp>
        <p:nvSpPr>
          <p:cNvPr id="60" name="Shape 42"/>
          <p:cNvSpPr/>
          <p:nvPr/>
        </p:nvSpPr>
        <p:spPr>
          <a:xfrm>
            <a:off x="1783080" y="3493008"/>
            <a:ext cx="0" cy="182880"/>
          </a:xfrm>
          <a:prstGeom prst="line">
            <a:avLst/>
          </a:prstGeom>
          <a:noFill/>
          <a:ln w="15875">
            <a:solidFill>
              <a:srgbClr val="5E6964"/>
            </a:solidFill>
            <a:prstDash val="solid"/>
            <a:tailEnd type="triangle"/>
          </a:ln>
        </p:spPr>
      </p:sp>
      <p:sp>
        <p:nvSpPr>
          <p:cNvPr id="61" name="Shape 43"/>
          <p:cNvSpPr/>
          <p:nvPr/>
        </p:nvSpPr>
        <p:spPr>
          <a:xfrm>
            <a:off x="4572000" y="3493008"/>
            <a:ext cx="0" cy="182880"/>
          </a:xfrm>
          <a:prstGeom prst="line">
            <a:avLst/>
          </a:prstGeom>
          <a:noFill/>
          <a:ln w="15875">
            <a:solidFill>
              <a:srgbClr val="5E6964"/>
            </a:solidFill>
            <a:prstDash val="solid"/>
            <a:tailEnd type="triangle"/>
          </a:ln>
        </p:spPr>
      </p:sp>
      <p:sp>
        <p:nvSpPr>
          <p:cNvPr id="62" name="Shape 44"/>
          <p:cNvSpPr/>
          <p:nvPr/>
        </p:nvSpPr>
        <p:spPr>
          <a:xfrm>
            <a:off x="7360920" y="3493008"/>
            <a:ext cx="0" cy="182880"/>
          </a:xfrm>
          <a:prstGeom prst="line">
            <a:avLst/>
          </a:prstGeom>
          <a:noFill/>
          <a:ln w="15875">
            <a:solidFill>
              <a:srgbClr val="5E6964"/>
            </a:solidFill>
            <a:prstDash val="solid"/>
            <a:tailEnd type="triangle"/>
          </a:ln>
        </p:spPr>
      </p:sp>
      <p:sp>
        <p:nvSpPr>
          <p:cNvPr id="63" name="Shape 45"/>
          <p:cNvSpPr/>
          <p:nvPr/>
        </p:nvSpPr>
        <p:spPr>
          <a:xfrm>
            <a:off x="457200" y="3703320"/>
            <a:ext cx="8229600" cy="896112"/>
          </a:xfrm>
          <a:prstGeom prst="roundRect">
            <a:avLst>
              <a:gd name="adj" fmla="val 6122"/>
            </a:avLst>
          </a:prstGeom>
          <a:solidFill>
            <a:srgbClr val="00704A"/>
          </a:solidFill>
          <a:ln/>
        </p:spPr>
      </p:sp>
      <p:sp>
        <p:nvSpPr>
          <p:cNvPr id="64" name="Text 46"/>
          <p:cNvSpPr txBox="1"/>
          <p:nvPr/>
        </p:nvSpPr>
        <p:spPr>
          <a:xfrm>
            <a:off x="640080" y="3767328"/>
            <a:ext cx="7315200" cy="201168"/>
          </a:xfrm>
          <a:prstGeom prst="rect">
            <a:avLst/>
          </a:prstGeom>
          <a:noFill/>
          <a:ln/>
        </p:spPr>
        <p:txBody>
          <a:bodyPr wrap="square" lIns="0" tIns="0" rIns="0" bIns="0" rtlCol="0" anchor="t"/>
          <a:lstStyle/>
          <a:p>
            <a:pPr marL="0" indent="0">
              <a:buNone/>
            </a:pPr>
            <a:r>
              <a:rPr lang="en-US" sz="950" b="1" kern="0" spc="200" dirty="0">
                <a:solidFill>
                  <a:srgbClr val="F5C242"/>
                </a:solidFill>
                <a:latin typeface="Calibri" pitchFamily="34" charset="0"/>
                <a:ea typeface="Calibri" pitchFamily="34" charset="-122"/>
                <a:cs typeface="Calibri" pitchFamily="34" charset="-120"/>
              </a:rPr>
              <a:t>UN PLAN DE CONTRÔLE COMMUN À TOUS LES NIVEAUX</a:t>
            </a:r>
            <a:endParaRPr lang="en-US" sz="950" dirty="0"/>
          </a:p>
        </p:txBody>
      </p:sp>
      <p:sp>
        <p:nvSpPr>
          <p:cNvPr id="65" name="Shape 47"/>
          <p:cNvSpPr/>
          <p:nvPr/>
        </p:nvSpPr>
        <p:spPr>
          <a:xfrm>
            <a:off x="640080" y="4069080"/>
            <a:ext cx="365760" cy="365760"/>
          </a:xfrm>
          <a:prstGeom prst="ellipse">
            <a:avLst/>
          </a:prstGeom>
          <a:solidFill>
            <a:srgbClr val="FFFFFF"/>
          </a:solidFill>
          <a:ln/>
        </p:spPr>
      </p:sp>
      <p:pic>
        <p:nvPicPr>
          <p:cNvPr id="66" name="Image 15" descr="preencoded.png"/>
          <p:cNvPicPr>
            <a:picLocks noChangeAspect="1"/>
          </p:cNvPicPr>
          <p:nvPr/>
        </p:nvPicPr>
        <p:blipFill>
          <a:blip r:embed="rId9"/>
          <a:stretch>
            <a:fillRect/>
          </a:stretch>
        </p:blipFill>
        <p:spPr>
          <a:xfrm>
            <a:off x="731520" y="4160520"/>
            <a:ext cx="182880" cy="182880"/>
          </a:xfrm>
          <a:prstGeom prst="rect">
            <a:avLst/>
          </a:prstGeom>
        </p:spPr>
      </p:pic>
      <p:sp>
        <p:nvSpPr>
          <p:cNvPr id="67" name="Text 48"/>
          <p:cNvSpPr txBox="1"/>
          <p:nvPr/>
        </p:nvSpPr>
        <p:spPr>
          <a:xfrm>
            <a:off x="1078992" y="4023360"/>
            <a:ext cx="1499616" cy="4572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Authentification unique et rôles</a:t>
            </a:r>
            <a:endParaRPr lang="en-US" sz="900" dirty="0"/>
          </a:p>
        </p:txBody>
      </p:sp>
      <p:sp>
        <p:nvSpPr>
          <p:cNvPr id="68" name="Shape 49"/>
          <p:cNvSpPr/>
          <p:nvPr/>
        </p:nvSpPr>
        <p:spPr>
          <a:xfrm>
            <a:off x="2651760" y="4069080"/>
            <a:ext cx="365760" cy="365760"/>
          </a:xfrm>
          <a:prstGeom prst="ellipse">
            <a:avLst/>
          </a:prstGeom>
          <a:solidFill>
            <a:srgbClr val="FFFFFF"/>
          </a:solidFill>
          <a:ln/>
        </p:spPr>
      </p:sp>
      <p:pic>
        <p:nvPicPr>
          <p:cNvPr id="69" name="Image 16" descr="preencoded.png"/>
          <p:cNvPicPr>
            <a:picLocks noChangeAspect="1"/>
          </p:cNvPicPr>
          <p:nvPr/>
        </p:nvPicPr>
        <p:blipFill>
          <a:blip r:embed="rId10"/>
          <a:stretch>
            <a:fillRect/>
          </a:stretch>
        </p:blipFill>
        <p:spPr>
          <a:xfrm>
            <a:off x="2743200" y="4160520"/>
            <a:ext cx="182880" cy="182880"/>
          </a:xfrm>
          <a:prstGeom prst="rect">
            <a:avLst/>
          </a:prstGeom>
        </p:spPr>
      </p:pic>
      <p:sp>
        <p:nvSpPr>
          <p:cNvPr id="70" name="Text 50"/>
          <p:cNvSpPr txBox="1"/>
          <p:nvPr/>
        </p:nvSpPr>
        <p:spPr>
          <a:xfrm>
            <a:off x="3090672" y="4023360"/>
            <a:ext cx="1499616" cy="4572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Un catalogue et une traçabilité</a:t>
            </a:r>
            <a:endParaRPr lang="en-US" sz="900" dirty="0"/>
          </a:p>
        </p:txBody>
      </p:sp>
      <p:sp>
        <p:nvSpPr>
          <p:cNvPr id="71" name="Shape 51"/>
          <p:cNvSpPr/>
          <p:nvPr/>
        </p:nvSpPr>
        <p:spPr>
          <a:xfrm>
            <a:off x="4663440" y="4069080"/>
            <a:ext cx="365760" cy="365760"/>
          </a:xfrm>
          <a:prstGeom prst="ellipse">
            <a:avLst/>
          </a:prstGeom>
          <a:solidFill>
            <a:srgbClr val="FFFFFF"/>
          </a:solidFill>
          <a:ln/>
        </p:spPr>
      </p:sp>
      <p:pic>
        <p:nvPicPr>
          <p:cNvPr id="72" name="Image 17" descr="preencoded.png"/>
          <p:cNvPicPr>
            <a:picLocks noChangeAspect="1"/>
          </p:cNvPicPr>
          <p:nvPr/>
        </p:nvPicPr>
        <p:blipFill>
          <a:blip r:embed="rId11"/>
          <a:stretch>
            <a:fillRect/>
          </a:stretch>
        </p:blipFill>
        <p:spPr>
          <a:xfrm>
            <a:off x="4754880" y="4160520"/>
            <a:ext cx="182880" cy="182880"/>
          </a:xfrm>
          <a:prstGeom prst="rect">
            <a:avLst/>
          </a:prstGeom>
        </p:spPr>
      </p:pic>
      <p:sp>
        <p:nvSpPr>
          <p:cNvPr id="73" name="Text 52"/>
          <p:cNvSpPr txBox="1"/>
          <p:nvPr/>
        </p:nvSpPr>
        <p:spPr>
          <a:xfrm>
            <a:off x="5102352" y="4023360"/>
            <a:ext cx="1499616" cy="4572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Un registre des modèles et validations</a:t>
            </a:r>
            <a:endParaRPr lang="en-US" sz="900" dirty="0"/>
          </a:p>
        </p:txBody>
      </p:sp>
      <p:sp>
        <p:nvSpPr>
          <p:cNvPr id="74" name="Shape 53"/>
          <p:cNvSpPr/>
          <p:nvPr/>
        </p:nvSpPr>
        <p:spPr>
          <a:xfrm>
            <a:off x="6675120" y="4069080"/>
            <a:ext cx="365760" cy="365760"/>
          </a:xfrm>
          <a:prstGeom prst="ellipse">
            <a:avLst/>
          </a:prstGeom>
          <a:solidFill>
            <a:srgbClr val="FFFFFF"/>
          </a:solidFill>
          <a:ln/>
        </p:spPr>
      </p:sp>
      <p:pic>
        <p:nvPicPr>
          <p:cNvPr id="75" name="Image 18" descr="preencoded.png"/>
          <p:cNvPicPr>
            <a:picLocks noChangeAspect="1"/>
          </p:cNvPicPr>
          <p:nvPr/>
        </p:nvPicPr>
        <p:blipFill>
          <a:blip r:embed="rId12"/>
          <a:stretch>
            <a:fillRect/>
          </a:stretch>
        </p:blipFill>
        <p:spPr>
          <a:xfrm>
            <a:off x="6766560" y="4160520"/>
            <a:ext cx="182880" cy="182880"/>
          </a:xfrm>
          <a:prstGeom prst="rect">
            <a:avLst/>
          </a:prstGeom>
        </p:spPr>
      </p:pic>
      <p:sp>
        <p:nvSpPr>
          <p:cNvPr id="76" name="Text 54"/>
          <p:cNvSpPr txBox="1"/>
          <p:nvPr/>
        </p:nvSpPr>
        <p:spPr>
          <a:xfrm>
            <a:off x="7114032" y="4023360"/>
            <a:ext cx="1499616" cy="45720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Un journal d'audit et une vue des coûts</a:t>
            </a:r>
            <a:endParaRPr lang="en-US" sz="9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FAIRE OU ACHETER</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Faire ou acheter, composant par composant</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Règle : développez ce qui incarne votre méthodologie ; adoptez la plomberie générique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8" name="Text 15"/>
          <p:cNvSpPr txBox="1"/>
          <p:nvPr/>
        </p:nvSpPr>
        <p:spPr>
          <a:xfrm>
            <a:off x="548640" y="1298448"/>
            <a:ext cx="24688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COMPOSANT</a:t>
            </a:r>
            <a:endParaRPr lang="en-US" sz="900" dirty="0"/>
          </a:p>
        </p:txBody>
      </p:sp>
      <p:sp>
        <p:nvSpPr>
          <p:cNvPr id="19" name="Text 16"/>
          <p:cNvSpPr txBox="1"/>
          <p:nvPr/>
        </p:nvSpPr>
        <p:spPr>
          <a:xfrm>
            <a:off x="3200400" y="1298448"/>
            <a:ext cx="114300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CHOIX PAR DÉFAUT</a:t>
            </a:r>
            <a:endParaRPr lang="en-US" sz="900" dirty="0"/>
          </a:p>
        </p:txBody>
      </p:sp>
      <p:sp>
        <p:nvSpPr>
          <p:cNvPr id="20" name="Text 17"/>
          <p:cNvSpPr txBox="1"/>
          <p:nvPr/>
        </p:nvSpPr>
        <p:spPr>
          <a:xfrm>
            <a:off x="4526280" y="1298448"/>
            <a:ext cx="40690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POURQUOI</a:t>
            </a:r>
            <a:endParaRPr lang="en-US" sz="900" dirty="0"/>
          </a:p>
        </p:txBody>
      </p:sp>
      <p:sp>
        <p:nvSpPr>
          <p:cNvPr id="21" name="Shape 18"/>
          <p:cNvSpPr/>
          <p:nvPr/>
        </p:nvSpPr>
        <p:spPr>
          <a:xfrm>
            <a:off x="457200" y="1572768"/>
            <a:ext cx="8229600" cy="274320"/>
          </a:xfrm>
          <a:prstGeom prst="roundRect">
            <a:avLst>
              <a:gd name="adj" fmla="val 16667"/>
            </a:avLst>
          </a:prstGeom>
          <a:solidFill>
            <a:srgbClr val="F4F7F5"/>
          </a:solidFill>
          <a:ln w="9525">
            <a:solidFill>
              <a:srgbClr val="D5DED9"/>
            </a:solidFill>
            <a:prstDash val="solid"/>
          </a:ln>
        </p:spPr>
      </p:sp>
      <p:sp>
        <p:nvSpPr>
          <p:cNvPr id="22" name="Text 19"/>
          <p:cNvSpPr txBox="1"/>
          <p:nvPr/>
        </p:nvSpPr>
        <p:spPr>
          <a:xfrm>
            <a:off x="548640" y="1572768"/>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Modèles de fondation</a:t>
            </a:r>
            <a:endParaRPr lang="en-US" sz="900" dirty="0"/>
          </a:p>
        </p:txBody>
      </p:sp>
      <p:sp>
        <p:nvSpPr>
          <p:cNvPr id="23" name="Shape 20"/>
          <p:cNvSpPr/>
          <p:nvPr/>
        </p:nvSpPr>
        <p:spPr>
          <a:xfrm>
            <a:off x="3223260" y="1600200"/>
            <a:ext cx="1097280" cy="219456"/>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3223260" y="1600200"/>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ADOPTER</a:t>
            </a:r>
            <a:endParaRPr lang="en-US" sz="850" dirty="0"/>
          </a:p>
        </p:txBody>
      </p:sp>
      <p:sp>
        <p:nvSpPr>
          <p:cNvPr id="25" name="Text 22"/>
          <p:cNvSpPr txBox="1"/>
          <p:nvPr/>
        </p:nvSpPr>
        <p:spPr>
          <a:xfrm>
            <a:off x="4526280" y="1572768"/>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Aucun institut n'a de raison de pré-entraîner. Choisir entre ouvert et propriétaire.</a:t>
            </a:r>
            <a:endParaRPr lang="en-US" sz="900" dirty="0"/>
          </a:p>
        </p:txBody>
      </p:sp>
      <p:sp>
        <p:nvSpPr>
          <p:cNvPr id="26" name="Shape 23"/>
          <p:cNvSpPr/>
          <p:nvPr/>
        </p:nvSpPr>
        <p:spPr>
          <a:xfrm>
            <a:off x="457200" y="1883664"/>
            <a:ext cx="8229600" cy="274320"/>
          </a:xfrm>
          <a:prstGeom prst="roundRect">
            <a:avLst>
              <a:gd name="adj" fmla="val 16667"/>
            </a:avLst>
          </a:prstGeom>
          <a:solidFill>
            <a:srgbClr val="F4F7F5"/>
          </a:solidFill>
          <a:ln w="9525">
            <a:solidFill>
              <a:srgbClr val="D5DED9"/>
            </a:solidFill>
            <a:prstDash val="solid"/>
          </a:ln>
        </p:spPr>
      </p:sp>
      <p:sp>
        <p:nvSpPr>
          <p:cNvPr id="27" name="Text 24"/>
          <p:cNvSpPr txBox="1"/>
          <p:nvPr/>
        </p:nvSpPr>
        <p:spPr>
          <a:xfrm>
            <a:off x="548640" y="1883664"/>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Classifieurs et codeurs métier</a:t>
            </a:r>
            <a:endParaRPr lang="en-US" sz="900" dirty="0"/>
          </a:p>
        </p:txBody>
      </p:sp>
      <p:sp>
        <p:nvSpPr>
          <p:cNvPr id="28" name="Shape 25"/>
          <p:cNvSpPr/>
          <p:nvPr/>
        </p:nvSpPr>
        <p:spPr>
          <a:xfrm>
            <a:off x="3223260" y="1911096"/>
            <a:ext cx="1097280" cy="219456"/>
          </a:xfrm>
          <a:prstGeom prst="roundRect">
            <a:avLst>
              <a:gd name="adj" fmla="val 50000"/>
            </a:avLst>
          </a:prstGeom>
          <a:solidFill>
            <a:srgbClr val="00A86A">
              <a:alpha val="15000"/>
            </a:srgbClr>
          </a:solidFill>
          <a:ln w="9525">
            <a:solidFill>
              <a:srgbClr val="00A86A"/>
            </a:solidFill>
            <a:prstDash val="solid"/>
          </a:ln>
        </p:spPr>
      </p:sp>
      <p:sp>
        <p:nvSpPr>
          <p:cNvPr id="29" name="Text 26"/>
          <p:cNvSpPr txBox="1"/>
          <p:nvPr/>
        </p:nvSpPr>
        <p:spPr>
          <a:xfrm>
            <a:off x="3223260" y="1911096"/>
            <a:ext cx="109728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DÉVELOPPER</a:t>
            </a:r>
            <a:endParaRPr lang="en-US" sz="850" dirty="0"/>
          </a:p>
        </p:txBody>
      </p:sp>
      <p:sp>
        <p:nvSpPr>
          <p:cNvPr id="30" name="Text 27"/>
          <p:cNvSpPr txBox="1"/>
          <p:nvPr/>
        </p:nvSpPr>
        <p:spPr>
          <a:xfrm>
            <a:off x="4526280" y="1883664"/>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Ils incarnent vos nomenclatures, règles et historique. Personne d'autre n'a ces données.</a:t>
            </a:r>
            <a:endParaRPr lang="en-US" sz="900" dirty="0"/>
          </a:p>
        </p:txBody>
      </p:sp>
      <p:sp>
        <p:nvSpPr>
          <p:cNvPr id="31" name="Shape 28"/>
          <p:cNvSpPr/>
          <p:nvPr/>
        </p:nvSpPr>
        <p:spPr>
          <a:xfrm>
            <a:off x="457200" y="2194560"/>
            <a:ext cx="8229600" cy="274320"/>
          </a:xfrm>
          <a:prstGeom prst="roundRect">
            <a:avLst>
              <a:gd name="adj" fmla="val 16667"/>
            </a:avLst>
          </a:prstGeom>
          <a:solidFill>
            <a:srgbClr val="F4F7F5"/>
          </a:solidFill>
          <a:ln w="9525">
            <a:solidFill>
              <a:srgbClr val="D5DED9"/>
            </a:solidFill>
            <a:prstDash val="solid"/>
          </a:ln>
        </p:spPr>
      </p:sp>
      <p:sp>
        <p:nvSpPr>
          <p:cNvPr id="32" name="Text 29"/>
          <p:cNvSpPr txBox="1"/>
          <p:nvPr/>
        </p:nvSpPr>
        <p:spPr>
          <a:xfrm>
            <a:off x="548640" y="2194560"/>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Plateforme de données et catalogue</a:t>
            </a:r>
            <a:endParaRPr lang="en-US" sz="900" dirty="0"/>
          </a:p>
        </p:txBody>
      </p:sp>
      <p:sp>
        <p:nvSpPr>
          <p:cNvPr id="33" name="Shape 30"/>
          <p:cNvSpPr/>
          <p:nvPr/>
        </p:nvSpPr>
        <p:spPr>
          <a:xfrm>
            <a:off x="3223260" y="2221992"/>
            <a:ext cx="1097280" cy="219456"/>
          </a:xfrm>
          <a:prstGeom prst="roundRect">
            <a:avLst>
              <a:gd name="adj" fmla="val 50000"/>
            </a:avLst>
          </a:prstGeom>
          <a:solidFill>
            <a:srgbClr val="0E7C86">
              <a:alpha val="15000"/>
            </a:srgbClr>
          </a:solidFill>
          <a:ln w="9525">
            <a:solidFill>
              <a:srgbClr val="0E7C86"/>
            </a:solidFill>
            <a:prstDash val="solid"/>
          </a:ln>
        </p:spPr>
      </p:sp>
      <p:sp>
        <p:nvSpPr>
          <p:cNvPr id="34" name="Text 31"/>
          <p:cNvSpPr txBox="1"/>
          <p:nvPr/>
        </p:nvSpPr>
        <p:spPr>
          <a:xfrm>
            <a:off x="3223260" y="2221992"/>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ADOPTER</a:t>
            </a:r>
            <a:endParaRPr lang="en-US" sz="850" dirty="0"/>
          </a:p>
        </p:txBody>
      </p:sp>
      <p:sp>
        <p:nvSpPr>
          <p:cNvPr id="35" name="Text 32"/>
          <p:cNvSpPr txBox="1"/>
          <p:nvPr/>
        </p:nvSpPr>
        <p:spPr>
          <a:xfrm>
            <a:off x="4526280" y="2194560"/>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Des solutions libres et commerciales matures existent. Préférer les formats ouverts.</a:t>
            </a:r>
            <a:endParaRPr lang="en-US" sz="900" dirty="0"/>
          </a:p>
        </p:txBody>
      </p:sp>
      <p:sp>
        <p:nvSpPr>
          <p:cNvPr id="36" name="Shape 33"/>
          <p:cNvSpPr/>
          <p:nvPr/>
        </p:nvSpPr>
        <p:spPr>
          <a:xfrm>
            <a:off x="457200" y="2505456"/>
            <a:ext cx="8229600" cy="274320"/>
          </a:xfrm>
          <a:prstGeom prst="roundRect">
            <a:avLst>
              <a:gd name="adj" fmla="val 16667"/>
            </a:avLst>
          </a:prstGeom>
          <a:solidFill>
            <a:srgbClr val="F4F7F5"/>
          </a:solidFill>
          <a:ln w="9525">
            <a:solidFill>
              <a:srgbClr val="D5DED9"/>
            </a:solidFill>
            <a:prstDash val="solid"/>
          </a:ln>
        </p:spPr>
      </p:sp>
      <p:sp>
        <p:nvSpPr>
          <p:cNvPr id="37" name="Text 34"/>
          <p:cNvSpPr txBox="1"/>
          <p:nvPr/>
        </p:nvSpPr>
        <p:spPr>
          <a:xfrm>
            <a:off x="548640" y="2505456"/>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Orchestration et ordonnancement</a:t>
            </a:r>
            <a:endParaRPr lang="en-US" sz="900" dirty="0"/>
          </a:p>
        </p:txBody>
      </p:sp>
      <p:sp>
        <p:nvSpPr>
          <p:cNvPr id="38" name="Shape 35"/>
          <p:cNvSpPr/>
          <p:nvPr/>
        </p:nvSpPr>
        <p:spPr>
          <a:xfrm>
            <a:off x="3223260" y="2532888"/>
            <a:ext cx="1097280" cy="219456"/>
          </a:xfrm>
          <a:prstGeom prst="roundRect">
            <a:avLst>
              <a:gd name="adj" fmla="val 50000"/>
            </a:avLst>
          </a:prstGeom>
          <a:solidFill>
            <a:srgbClr val="0E7C86">
              <a:alpha val="15000"/>
            </a:srgbClr>
          </a:solidFill>
          <a:ln w="9525">
            <a:solidFill>
              <a:srgbClr val="0E7C86"/>
            </a:solidFill>
            <a:prstDash val="solid"/>
          </a:ln>
        </p:spPr>
      </p:sp>
      <p:sp>
        <p:nvSpPr>
          <p:cNvPr id="39" name="Text 36"/>
          <p:cNvSpPr txBox="1"/>
          <p:nvPr/>
        </p:nvSpPr>
        <p:spPr>
          <a:xfrm>
            <a:off x="3223260" y="2532888"/>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ADOPTER</a:t>
            </a:r>
            <a:endParaRPr lang="en-US" sz="850" dirty="0"/>
          </a:p>
        </p:txBody>
      </p:sp>
      <p:sp>
        <p:nvSpPr>
          <p:cNvPr id="40" name="Text 37"/>
          <p:cNvSpPr txBox="1"/>
          <p:nvPr/>
        </p:nvSpPr>
        <p:spPr>
          <a:xfrm>
            <a:off x="4526280" y="2505456"/>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Airflow, Argo, Kubeflow et équivalents sont banalisés. N'écrivez pas le vôtre.</a:t>
            </a:r>
            <a:endParaRPr lang="en-US" sz="900" dirty="0"/>
          </a:p>
        </p:txBody>
      </p:sp>
      <p:sp>
        <p:nvSpPr>
          <p:cNvPr id="41" name="Shape 38"/>
          <p:cNvSpPr/>
          <p:nvPr/>
        </p:nvSpPr>
        <p:spPr>
          <a:xfrm>
            <a:off x="457200" y="2816352"/>
            <a:ext cx="8229600" cy="274320"/>
          </a:xfrm>
          <a:prstGeom prst="roundRect">
            <a:avLst>
              <a:gd name="adj" fmla="val 16667"/>
            </a:avLst>
          </a:prstGeom>
          <a:solidFill>
            <a:srgbClr val="F4F7F5"/>
          </a:solidFill>
          <a:ln w="9525">
            <a:solidFill>
              <a:srgbClr val="D5DED9"/>
            </a:solidFill>
            <a:prstDash val="solid"/>
          </a:ln>
        </p:spPr>
      </p:sp>
      <p:sp>
        <p:nvSpPr>
          <p:cNvPr id="42" name="Text 39"/>
          <p:cNvSpPr txBox="1"/>
          <p:nvPr/>
        </p:nvSpPr>
        <p:spPr>
          <a:xfrm>
            <a:off x="548640" y="2816352"/>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Index vectoriel et recherche</a:t>
            </a:r>
            <a:endParaRPr lang="en-US" sz="900" dirty="0"/>
          </a:p>
        </p:txBody>
      </p:sp>
      <p:sp>
        <p:nvSpPr>
          <p:cNvPr id="43" name="Shape 40"/>
          <p:cNvSpPr/>
          <p:nvPr/>
        </p:nvSpPr>
        <p:spPr>
          <a:xfrm>
            <a:off x="3223260" y="2843784"/>
            <a:ext cx="1097280" cy="219456"/>
          </a:xfrm>
          <a:prstGeom prst="roundRect">
            <a:avLst>
              <a:gd name="adj" fmla="val 50000"/>
            </a:avLst>
          </a:prstGeom>
          <a:solidFill>
            <a:srgbClr val="0E7C86">
              <a:alpha val="15000"/>
            </a:srgbClr>
          </a:solidFill>
          <a:ln w="9525">
            <a:solidFill>
              <a:srgbClr val="0E7C86"/>
            </a:solidFill>
            <a:prstDash val="solid"/>
          </a:ln>
        </p:spPr>
      </p:sp>
      <p:sp>
        <p:nvSpPr>
          <p:cNvPr id="44" name="Text 41"/>
          <p:cNvSpPr txBox="1"/>
          <p:nvPr/>
        </p:nvSpPr>
        <p:spPr>
          <a:xfrm>
            <a:off x="3223260" y="2843784"/>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ADOPTER</a:t>
            </a:r>
            <a:endParaRPr lang="en-US" sz="850" dirty="0"/>
          </a:p>
        </p:txBody>
      </p:sp>
      <p:sp>
        <p:nvSpPr>
          <p:cNvPr id="45" name="Text 42"/>
          <p:cNvSpPr txBox="1"/>
          <p:nvPr/>
        </p:nvSpPr>
        <p:spPr>
          <a:xfrm>
            <a:off x="4526280" y="2816352"/>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Banalisé et évolutif ; gardez la chaîne de vectorisation dans votre propre code.</a:t>
            </a:r>
            <a:endParaRPr lang="en-US" sz="900" dirty="0"/>
          </a:p>
        </p:txBody>
      </p:sp>
      <p:sp>
        <p:nvSpPr>
          <p:cNvPr id="46" name="Shape 43"/>
          <p:cNvSpPr/>
          <p:nvPr/>
        </p:nvSpPr>
        <p:spPr>
          <a:xfrm>
            <a:off x="457200" y="3127248"/>
            <a:ext cx="8229600" cy="274320"/>
          </a:xfrm>
          <a:prstGeom prst="roundRect">
            <a:avLst>
              <a:gd name="adj" fmla="val 16667"/>
            </a:avLst>
          </a:prstGeom>
          <a:solidFill>
            <a:srgbClr val="F4F7F5"/>
          </a:solidFill>
          <a:ln w="9525">
            <a:solidFill>
              <a:srgbClr val="D5DED9"/>
            </a:solidFill>
            <a:prstDash val="solid"/>
          </a:ln>
        </p:spPr>
      </p:sp>
      <p:sp>
        <p:nvSpPr>
          <p:cNvPr id="47" name="Text 44"/>
          <p:cNvSpPr txBox="1"/>
          <p:nvPr/>
        </p:nvSpPr>
        <p:spPr>
          <a:xfrm>
            <a:off x="548640" y="3127248"/>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Banc d'évaluation</a:t>
            </a:r>
            <a:endParaRPr lang="en-US" sz="900" dirty="0"/>
          </a:p>
        </p:txBody>
      </p:sp>
      <p:sp>
        <p:nvSpPr>
          <p:cNvPr id="48" name="Shape 45"/>
          <p:cNvSpPr/>
          <p:nvPr/>
        </p:nvSpPr>
        <p:spPr>
          <a:xfrm>
            <a:off x="3223260" y="3154680"/>
            <a:ext cx="1097280" cy="219456"/>
          </a:xfrm>
          <a:prstGeom prst="roundRect">
            <a:avLst>
              <a:gd name="adj" fmla="val 50000"/>
            </a:avLst>
          </a:prstGeom>
          <a:solidFill>
            <a:srgbClr val="00A86A">
              <a:alpha val="15000"/>
            </a:srgbClr>
          </a:solidFill>
          <a:ln w="9525">
            <a:solidFill>
              <a:srgbClr val="00A86A"/>
            </a:solidFill>
            <a:prstDash val="solid"/>
          </a:ln>
        </p:spPr>
      </p:sp>
      <p:sp>
        <p:nvSpPr>
          <p:cNvPr id="49" name="Text 46"/>
          <p:cNvSpPr txBox="1"/>
          <p:nvPr/>
        </p:nvSpPr>
        <p:spPr>
          <a:xfrm>
            <a:off x="3223260" y="3154680"/>
            <a:ext cx="109728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DÉVELOPPER</a:t>
            </a:r>
            <a:endParaRPr lang="en-US" sz="850" dirty="0"/>
          </a:p>
        </p:txBody>
      </p:sp>
      <p:sp>
        <p:nvSpPr>
          <p:cNvPr id="50" name="Text 47"/>
          <p:cNvSpPr txBox="1"/>
          <p:nvPr/>
        </p:nvSpPr>
        <p:spPr>
          <a:xfrm>
            <a:off x="4526280" y="3127248"/>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Votre jeu de référence, vos classes rares, la performance humaine. Aucun test vendeur ne le remplace.</a:t>
            </a:r>
            <a:endParaRPr lang="en-US" sz="900" dirty="0"/>
          </a:p>
        </p:txBody>
      </p:sp>
      <p:sp>
        <p:nvSpPr>
          <p:cNvPr id="51" name="Shape 48"/>
          <p:cNvSpPr/>
          <p:nvPr/>
        </p:nvSpPr>
        <p:spPr>
          <a:xfrm>
            <a:off x="457200" y="3438144"/>
            <a:ext cx="8229600" cy="274320"/>
          </a:xfrm>
          <a:prstGeom prst="roundRect">
            <a:avLst>
              <a:gd name="adj" fmla="val 16667"/>
            </a:avLst>
          </a:prstGeom>
          <a:solidFill>
            <a:srgbClr val="F4F7F5"/>
          </a:solidFill>
          <a:ln w="9525">
            <a:solidFill>
              <a:srgbClr val="D5DED9"/>
            </a:solidFill>
            <a:prstDash val="solid"/>
          </a:ln>
        </p:spPr>
      </p:sp>
      <p:sp>
        <p:nvSpPr>
          <p:cNvPr id="52" name="Text 49"/>
          <p:cNvSpPr txBox="1"/>
          <p:nvPr/>
        </p:nvSpPr>
        <p:spPr>
          <a:xfrm>
            <a:off x="548640" y="3438144"/>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Outils d'annotation</a:t>
            </a:r>
            <a:endParaRPr lang="en-US" sz="900" dirty="0"/>
          </a:p>
        </p:txBody>
      </p:sp>
      <p:sp>
        <p:nvSpPr>
          <p:cNvPr id="53" name="Shape 50"/>
          <p:cNvSpPr/>
          <p:nvPr/>
        </p:nvSpPr>
        <p:spPr>
          <a:xfrm>
            <a:off x="3223260" y="3465576"/>
            <a:ext cx="1097280" cy="219456"/>
          </a:xfrm>
          <a:prstGeom prst="roundRect">
            <a:avLst>
              <a:gd name="adj" fmla="val 50000"/>
            </a:avLst>
          </a:prstGeom>
          <a:solidFill>
            <a:srgbClr val="0E7C86">
              <a:alpha val="15000"/>
            </a:srgbClr>
          </a:solidFill>
          <a:ln w="9525">
            <a:solidFill>
              <a:srgbClr val="0E7C86"/>
            </a:solidFill>
            <a:prstDash val="solid"/>
          </a:ln>
        </p:spPr>
      </p:sp>
      <p:sp>
        <p:nvSpPr>
          <p:cNvPr id="54" name="Text 51"/>
          <p:cNvSpPr txBox="1"/>
          <p:nvPr/>
        </p:nvSpPr>
        <p:spPr>
          <a:xfrm>
            <a:off x="3223260" y="3465576"/>
            <a:ext cx="109728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ADOPTER</a:t>
            </a:r>
            <a:endParaRPr lang="en-US" sz="850" dirty="0"/>
          </a:p>
        </p:txBody>
      </p:sp>
      <p:sp>
        <p:nvSpPr>
          <p:cNvPr id="55" name="Text 52"/>
          <p:cNvSpPr txBox="1"/>
          <p:nvPr/>
        </p:nvSpPr>
        <p:spPr>
          <a:xfrm>
            <a:off x="4526280" y="3438144"/>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Achetez l'outil ; gardez la maîtrise des consignes, de l'arbitrage et des données.</a:t>
            </a:r>
            <a:endParaRPr lang="en-US" sz="900" dirty="0"/>
          </a:p>
        </p:txBody>
      </p:sp>
      <p:sp>
        <p:nvSpPr>
          <p:cNvPr id="56" name="Shape 53"/>
          <p:cNvSpPr/>
          <p:nvPr/>
        </p:nvSpPr>
        <p:spPr>
          <a:xfrm>
            <a:off x="457200" y="3749040"/>
            <a:ext cx="8229600" cy="274320"/>
          </a:xfrm>
          <a:prstGeom prst="roundRect">
            <a:avLst>
              <a:gd name="adj" fmla="val 16667"/>
            </a:avLst>
          </a:prstGeom>
          <a:solidFill>
            <a:srgbClr val="F4F7F5"/>
          </a:solidFill>
          <a:ln w="9525">
            <a:solidFill>
              <a:srgbClr val="D5DED9"/>
            </a:solidFill>
            <a:prstDash val="solid"/>
          </a:ln>
        </p:spPr>
      </p:sp>
      <p:sp>
        <p:nvSpPr>
          <p:cNvPr id="57" name="Text 54"/>
          <p:cNvSpPr txBox="1"/>
          <p:nvPr/>
        </p:nvSpPr>
        <p:spPr>
          <a:xfrm>
            <a:off x="548640" y="3749040"/>
            <a:ext cx="2468880" cy="274320"/>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Passerelle IA et contrôles de confidentialité</a:t>
            </a:r>
            <a:endParaRPr lang="en-US" sz="900" dirty="0"/>
          </a:p>
        </p:txBody>
      </p:sp>
      <p:sp>
        <p:nvSpPr>
          <p:cNvPr id="58" name="Shape 55"/>
          <p:cNvSpPr/>
          <p:nvPr/>
        </p:nvSpPr>
        <p:spPr>
          <a:xfrm>
            <a:off x="3223260" y="3776472"/>
            <a:ext cx="1097280" cy="219456"/>
          </a:xfrm>
          <a:prstGeom prst="roundRect">
            <a:avLst>
              <a:gd name="adj" fmla="val 50000"/>
            </a:avLst>
          </a:prstGeom>
          <a:solidFill>
            <a:srgbClr val="00704A">
              <a:alpha val="15000"/>
            </a:srgbClr>
          </a:solidFill>
          <a:ln w="9525">
            <a:solidFill>
              <a:srgbClr val="00704A"/>
            </a:solidFill>
            <a:prstDash val="solid"/>
          </a:ln>
        </p:spPr>
      </p:sp>
      <p:sp>
        <p:nvSpPr>
          <p:cNvPr id="59" name="Text 56"/>
          <p:cNvSpPr txBox="1"/>
          <p:nvPr/>
        </p:nvSpPr>
        <p:spPr>
          <a:xfrm>
            <a:off x="3223260" y="3776472"/>
            <a:ext cx="1097280" cy="219456"/>
          </a:xfrm>
          <a:prstGeom prst="rect">
            <a:avLst/>
          </a:prstGeom>
          <a:noFill/>
          <a:ln/>
        </p:spPr>
        <p:txBody>
          <a:bodyPr wrap="square" lIns="0" tIns="0" rIns="0" bIns="0" rtlCol="0" anchor="ctr"/>
          <a:lstStyle/>
          <a:p>
            <a:pPr marL="0" indent="0" algn="ctr">
              <a:buNone/>
            </a:pPr>
            <a:r>
              <a:rPr lang="en-US" sz="850" b="1" kern="0" spc="50" dirty="0">
                <a:solidFill>
                  <a:srgbClr val="00704A"/>
                </a:solidFill>
                <a:latin typeface="Calibri" pitchFamily="34" charset="0"/>
                <a:ea typeface="Calibri" pitchFamily="34" charset="-122"/>
                <a:cs typeface="Calibri" pitchFamily="34" charset="-120"/>
              </a:rPr>
              <a:t>ASSEMBLER</a:t>
            </a:r>
            <a:endParaRPr lang="en-US" sz="850" dirty="0"/>
          </a:p>
        </p:txBody>
      </p:sp>
      <p:sp>
        <p:nvSpPr>
          <p:cNvPr id="60" name="Text 57"/>
          <p:cNvSpPr txBox="1"/>
          <p:nvPr/>
        </p:nvSpPr>
        <p:spPr>
          <a:xfrm>
            <a:off x="4526280" y="3749040"/>
            <a:ext cx="4069080" cy="274320"/>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Règles de masquage et listes autorisées vous sont propres. Assemblez, mais maîtrisez la logique.</a:t>
            </a:r>
            <a:endParaRPr lang="en-US" sz="900" dirty="0"/>
          </a:p>
        </p:txBody>
      </p:sp>
      <p:sp>
        <p:nvSpPr>
          <p:cNvPr id="61" name="Shape 58"/>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2" name="Shape 59"/>
          <p:cNvSpPr/>
          <p:nvPr/>
        </p:nvSpPr>
        <p:spPr>
          <a:xfrm>
            <a:off x="566928" y="4233672"/>
            <a:ext cx="292608" cy="292608"/>
          </a:xfrm>
          <a:prstGeom prst="ellipse">
            <a:avLst/>
          </a:prstGeom>
          <a:solidFill>
            <a:srgbClr val="00A86A">
              <a:alpha val="22000"/>
            </a:srgbClr>
          </a:solidFill>
          <a:ln/>
        </p:spPr>
      </p:sp>
      <p:pic>
        <p:nvPicPr>
          <p:cNvPr id="63" name="Image 0" descr="preencoded.png"/>
          <p:cNvPicPr>
            <a:picLocks noChangeAspect="1"/>
          </p:cNvPicPr>
          <p:nvPr/>
        </p:nvPicPr>
        <p:blipFill>
          <a:blip r:embed="rId3"/>
          <a:stretch>
            <a:fillRect/>
          </a:stretch>
        </p:blipFill>
        <p:spPr>
          <a:xfrm>
            <a:off x="637154" y="4303898"/>
            <a:ext cx="152156" cy="152156"/>
          </a:xfrm>
          <a:prstGeom prst="rect">
            <a:avLst/>
          </a:prstGeom>
        </p:spPr>
      </p:pic>
      <p:sp>
        <p:nvSpPr>
          <p:cNvPr id="64" name="Text 6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Tout ce qui est « à développer » garderait sa valeur si tous les fournisseurs d'IA disparaissaient demain. C'est le critère.</a:t>
            </a:r>
            <a:endParaRPr lang="en-US" sz="10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CHOIX DU MODÈLE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Modèles à poids ouverts ou propriétaires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Pas une question philosophique — un choix de portefeuille guidé par la classification et la reproductibilité</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8" name="Shape 15"/>
          <p:cNvSpPr/>
          <p:nvPr/>
        </p:nvSpPr>
        <p:spPr>
          <a:xfrm>
            <a:off x="2057400" y="1298448"/>
            <a:ext cx="3291840" cy="384048"/>
          </a:xfrm>
          <a:prstGeom prst="roundRect">
            <a:avLst>
              <a:gd name="adj" fmla="val 19048"/>
            </a:avLst>
          </a:prstGeom>
          <a:solidFill>
            <a:srgbClr val="E8F5EF"/>
          </a:solidFill>
          <a:ln w="15875">
            <a:solidFill>
              <a:srgbClr val="00704A"/>
            </a:solidFill>
            <a:prstDash val="solid"/>
          </a:ln>
        </p:spPr>
      </p:sp>
      <p:sp>
        <p:nvSpPr>
          <p:cNvPr id="19" name="Shape 16"/>
          <p:cNvSpPr/>
          <p:nvPr/>
        </p:nvSpPr>
        <p:spPr>
          <a:xfrm>
            <a:off x="2148840" y="1353312"/>
            <a:ext cx="274320" cy="274320"/>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2214677" y="1419149"/>
            <a:ext cx="142646" cy="142646"/>
          </a:xfrm>
          <a:prstGeom prst="rect">
            <a:avLst/>
          </a:prstGeom>
        </p:spPr>
      </p:pic>
      <p:sp>
        <p:nvSpPr>
          <p:cNvPr id="21" name="Text 17"/>
          <p:cNvSpPr txBox="1"/>
          <p:nvPr/>
        </p:nvSpPr>
        <p:spPr>
          <a:xfrm>
            <a:off x="2514600" y="1298448"/>
            <a:ext cx="2743200" cy="384048"/>
          </a:xfrm>
          <a:prstGeom prst="rect">
            <a:avLst/>
          </a:prstGeom>
          <a:noFill/>
          <a:ln/>
        </p:spPr>
        <p:txBody>
          <a:bodyPr wrap="square" lIns="0" tIns="0" rIns="0" bIns="0" rtlCol="0" anchor="ctr"/>
          <a:lstStyle/>
          <a:p>
            <a:pPr marL="0" indent="0">
              <a:buNone/>
            </a:pPr>
            <a:r>
              <a:rPr lang="en-US" sz="1000" b="1" kern="0" spc="100" dirty="0">
                <a:solidFill>
                  <a:srgbClr val="00704A"/>
                </a:solidFill>
                <a:latin typeface="Calibri" pitchFamily="34" charset="0"/>
                <a:ea typeface="Calibri" pitchFamily="34" charset="-122"/>
                <a:cs typeface="Calibri" pitchFamily="34" charset="-120"/>
              </a:rPr>
              <a:t>POIDS OUVERTS, AUTO-HÉBERGÉ</a:t>
            </a:r>
            <a:endParaRPr lang="en-US" sz="1000" dirty="0"/>
          </a:p>
        </p:txBody>
      </p:sp>
      <p:sp>
        <p:nvSpPr>
          <p:cNvPr id="22" name="Shape 18"/>
          <p:cNvSpPr/>
          <p:nvPr/>
        </p:nvSpPr>
        <p:spPr>
          <a:xfrm>
            <a:off x="5394960" y="1298448"/>
            <a:ext cx="3291840" cy="384048"/>
          </a:xfrm>
          <a:prstGeom prst="roundRect">
            <a:avLst>
              <a:gd name="adj" fmla="val 19048"/>
            </a:avLst>
          </a:prstGeom>
          <a:solidFill>
            <a:srgbClr val="E6F2F3"/>
          </a:solidFill>
          <a:ln w="15875">
            <a:solidFill>
              <a:srgbClr val="0E7C86"/>
            </a:solidFill>
            <a:prstDash val="solid"/>
          </a:ln>
        </p:spPr>
      </p:sp>
      <p:sp>
        <p:nvSpPr>
          <p:cNvPr id="23" name="Shape 19"/>
          <p:cNvSpPr/>
          <p:nvPr/>
        </p:nvSpPr>
        <p:spPr>
          <a:xfrm>
            <a:off x="5486400" y="1353312"/>
            <a:ext cx="274320" cy="274320"/>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5552237" y="1419149"/>
            <a:ext cx="142646" cy="142646"/>
          </a:xfrm>
          <a:prstGeom prst="rect">
            <a:avLst/>
          </a:prstGeom>
        </p:spPr>
      </p:pic>
      <p:sp>
        <p:nvSpPr>
          <p:cNvPr id="25" name="Text 20"/>
          <p:cNvSpPr txBox="1"/>
          <p:nvPr/>
        </p:nvSpPr>
        <p:spPr>
          <a:xfrm>
            <a:off x="5852160" y="1298448"/>
            <a:ext cx="2743200" cy="384048"/>
          </a:xfrm>
          <a:prstGeom prst="rect">
            <a:avLst/>
          </a:prstGeom>
          <a:noFill/>
          <a:ln/>
        </p:spPr>
        <p:txBody>
          <a:bodyPr wrap="square" lIns="0" tIns="0" rIns="0" bIns="0" rtlCol="0" anchor="ctr"/>
          <a:lstStyle/>
          <a:p>
            <a:pPr marL="0" indent="0">
              <a:buNone/>
            </a:pPr>
            <a:r>
              <a:rPr lang="en-US" sz="1000" b="1" kern="0" spc="100" dirty="0">
                <a:solidFill>
                  <a:srgbClr val="0E7C86"/>
                </a:solidFill>
                <a:latin typeface="Calibri" pitchFamily="34" charset="0"/>
                <a:ea typeface="Calibri" pitchFamily="34" charset="-122"/>
                <a:cs typeface="Calibri" pitchFamily="34" charset="-120"/>
              </a:rPr>
              <a:t>PROPRIÉTAIRE, VIA API GÉRÉE</a:t>
            </a:r>
            <a:endParaRPr lang="en-US" sz="1000" dirty="0"/>
          </a:p>
        </p:txBody>
      </p:sp>
      <p:sp>
        <p:nvSpPr>
          <p:cNvPr id="26" name="Text 21"/>
          <p:cNvSpPr txBox="1"/>
          <p:nvPr/>
        </p:nvSpPr>
        <p:spPr>
          <a:xfrm>
            <a:off x="457200" y="1755648"/>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Confidentialité</a:t>
            </a:r>
            <a:endParaRPr lang="en-US" sz="1050" dirty="0"/>
          </a:p>
        </p:txBody>
      </p:sp>
      <p:sp>
        <p:nvSpPr>
          <p:cNvPr id="27" name="Shape 22"/>
          <p:cNvSpPr/>
          <p:nvPr/>
        </p:nvSpPr>
        <p:spPr>
          <a:xfrm>
            <a:off x="2057400" y="1755648"/>
            <a:ext cx="3291840" cy="292608"/>
          </a:xfrm>
          <a:prstGeom prst="roundRect">
            <a:avLst>
              <a:gd name="adj" fmla="val 12500"/>
            </a:avLst>
          </a:prstGeom>
          <a:solidFill>
            <a:srgbClr val="F4F7F5"/>
          </a:solidFill>
          <a:ln w="9525">
            <a:solidFill>
              <a:srgbClr val="D5DED9"/>
            </a:solidFill>
            <a:prstDash val="solid"/>
          </a:ln>
        </p:spPr>
      </p:sp>
      <p:sp>
        <p:nvSpPr>
          <p:cNvPr id="28" name="Text 23"/>
          <p:cNvSpPr txBox="1"/>
          <p:nvPr/>
        </p:nvSpPr>
        <p:spPr>
          <a:xfrm>
            <a:off x="2121408" y="1755648"/>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S'exécute dans votre périmètre ; les données ne sortent pas</a:t>
            </a:r>
            <a:endParaRPr lang="en-US" sz="850" dirty="0"/>
          </a:p>
        </p:txBody>
      </p:sp>
      <p:sp>
        <p:nvSpPr>
          <p:cNvPr id="29" name="Shape 24"/>
          <p:cNvSpPr/>
          <p:nvPr/>
        </p:nvSpPr>
        <p:spPr>
          <a:xfrm>
            <a:off x="5394960" y="1755648"/>
            <a:ext cx="3291840" cy="292608"/>
          </a:xfrm>
          <a:prstGeom prst="roundRect">
            <a:avLst>
              <a:gd name="adj" fmla="val 12500"/>
            </a:avLst>
          </a:prstGeom>
          <a:solidFill>
            <a:srgbClr val="F4F7F5"/>
          </a:solidFill>
          <a:ln w="9525">
            <a:solidFill>
              <a:srgbClr val="D5DED9"/>
            </a:solidFill>
            <a:prstDash val="solid"/>
          </a:ln>
        </p:spPr>
      </p:sp>
      <p:sp>
        <p:nvSpPr>
          <p:cNvPr id="30" name="Text 25"/>
          <p:cNvSpPr txBox="1"/>
          <p:nvPr/>
        </p:nvSpPr>
        <p:spPr>
          <a:xfrm>
            <a:off x="5458968" y="1755648"/>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Les données sortent, sauf déploiement dédié sous contrat</a:t>
            </a:r>
            <a:endParaRPr lang="en-US" sz="850" dirty="0"/>
          </a:p>
        </p:txBody>
      </p:sp>
      <p:sp>
        <p:nvSpPr>
          <p:cNvPr id="31" name="Text 26"/>
          <p:cNvSpPr txBox="1"/>
          <p:nvPr/>
        </p:nvSpPr>
        <p:spPr>
          <a:xfrm>
            <a:off x="457200" y="2089404"/>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Reproductibilité</a:t>
            </a:r>
            <a:endParaRPr lang="en-US" sz="1050" dirty="0"/>
          </a:p>
        </p:txBody>
      </p:sp>
      <p:sp>
        <p:nvSpPr>
          <p:cNvPr id="32" name="Shape 27"/>
          <p:cNvSpPr/>
          <p:nvPr/>
        </p:nvSpPr>
        <p:spPr>
          <a:xfrm>
            <a:off x="2057400" y="2089404"/>
            <a:ext cx="3291840" cy="292608"/>
          </a:xfrm>
          <a:prstGeom prst="roundRect">
            <a:avLst>
              <a:gd name="adj" fmla="val 12500"/>
            </a:avLst>
          </a:prstGeom>
          <a:solidFill>
            <a:srgbClr val="F4F7F5"/>
          </a:solidFill>
          <a:ln w="9525">
            <a:solidFill>
              <a:srgbClr val="D5DED9"/>
            </a:solidFill>
            <a:prstDash val="solid"/>
          </a:ln>
        </p:spPr>
      </p:sp>
      <p:sp>
        <p:nvSpPr>
          <p:cNvPr id="33" name="Text 28"/>
          <p:cNvSpPr txBox="1"/>
          <p:nvPr/>
        </p:nvSpPr>
        <p:spPr>
          <a:xfrm>
            <a:off x="2121408" y="2089404"/>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Les poids peuvent être figés et archivés sans limite</a:t>
            </a:r>
            <a:endParaRPr lang="en-US" sz="850" dirty="0"/>
          </a:p>
        </p:txBody>
      </p:sp>
      <p:sp>
        <p:nvSpPr>
          <p:cNvPr id="34" name="Shape 29"/>
          <p:cNvSpPr/>
          <p:nvPr/>
        </p:nvSpPr>
        <p:spPr>
          <a:xfrm>
            <a:off x="5394960" y="2089404"/>
            <a:ext cx="3291840" cy="292608"/>
          </a:xfrm>
          <a:prstGeom prst="roundRect">
            <a:avLst>
              <a:gd name="adj" fmla="val 12500"/>
            </a:avLst>
          </a:prstGeom>
          <a:solidFill>
            <a:srgbClr val="F4F7F5"/>
          </a:solidFill>
          <a:ln w="9525">
            <a:solidFill>
              <a:srgbClr val="D5DED9"/>
            </a:solidFill>
            <a:prstDash val="solid"/>
          </a:ln>
        </p:spPr>
      </p:sp>
      <p:sp>
        <p:nvSpPr>
          <p:cNvPr id="35" name="Text 30"/>
          <p:cNvSpPr txBox="1"/>
          <p:nvPr/>
        </p:nvSpPr>
        <p:spPr>
          <a:xfrm>
            <a:off x="5458968" y="2089404"/>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Les versions sont retirées au rythme du fournisseur</a:t>
            </a:r>
            <a:endParaRPr lang="en-US" sz="850" dirty="0"/>
          </a:p>
        </p:txBody>
      </p:sp>
      <p:sp>
        <p:nvSpPr>
          <p:cNvPr id="36" name="Text 31"/>
          <p:cNvSpPr txBox="1"/>
          <p:nvPr/>
        </p:nvSpPr>
        <p:spPr>
          <a:xfrm>
            <a:off x="457200" y="2423160"/>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Capacités</a:t>
            </a:r>
            <a:endParaRPr lang="en-US" sz="1050" dirty="0"/>
          </a:p>
        </p:txBody>
      </p:sp>
      <p:sp>
        <p:nvSpPr>
          <p:cNvPr id="37" name="Shape 32"/>
          <p:cNvSpPr/>
          <p:nvPr/>
        </p:nvSpPr>
        <p:spPr>
          <a:xfrm>
            <a:off x="2057400" y="2423160"/>
            <a:ext cx="3291840" cy="292608"/>
          </a:xfrm>
          <a:prstGeom prst="roundRect">
            <a:avLst>
              <a:gd name="adj" fmla="val 12500"/>
            </a:avLst>
          </a:prstGeom>
          <a:solidFill>
            <a:srgbClr val="F4F7F5"/>
          </a:solidFill>
          <a:ln w="9525">
            <a:solidFill>
              <a:srgbClr val="D5DED9"/>
            </a:solidFill>
            <a:prstDash val="solid"/>
          </a:ln>
        </p:spPr>
      </p:sp>
      <p:sp>
        <p:nvSpPr>
          <p:cNvPr id="38" name="Text 33"/>
          <p:cNvSpPr txBox="1"/>
          <p:nvPr/>
        </p:nvSpPr>
        <p:spPr>
          <a:xfrm>
            <a:off x="2121408" y="2423160"/>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Solides et en progrès ; souvent suffisantes pour extraire et coder</a:t>
            </a:r>
            <a:endParaRPr lang="en-US" sz="850" dirty="0"/>
          </a:p>
        </p:txBody>
      </p:sp>
      <p:sp>
        <p:nvSpPr>
          <p:cNvPr id="39" name="Shape 34"/>
          <p:cNvSpPr/>
          <p:nvPr/>
        </p:nvSpPr>
        <p:spPr>
          <a:xfrm>
            <a:off x="5394960" y="2423160"/>
            <a:ext cx="3291840" cy="292608"/>
          </a:xfrm>
          <a:prstGeom prst="roundRect">
            <a:avLst>
              <a:gd name="adj" fmla="val 12500"/>
            </a:avLst>
          </a:prstGeom>
          <a:solidFill>
            <a:srgbClr val="F4F7F5"/>
          </a:solidFill>
          <a:ln w="9525">
            <a:solidFill>
              <a:srgbClr val="D5DED9"/>
            </a:solidFill>
            <a:prstDash val="solid"/>
          </a:ln>
        </p:spPr>
      </p:sp>
      <p:sp>
        <p:nvSpPr>
          <p:cNvPr id="40" name="Text 35"/>
          <p:cNvSpPr txBox="1"/>
          <p:nvPr/>
        </p:nvSpPr>
        <p:spPr>
          <a:xfrm>
            <a:off x="5458968" y="2423160"/>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Souvent en tête sur le raisonnement complexe et les langues</a:t>
            </a:r>
            <a:endParaRPr lang="en-US" sz="850" dirty="0"/>
          </a:p>
        </p:txBody>
      </p:sp>
      <p:sp>
        <p:nvSpPr>
          <p:cNvPr id="41" name="Text 36"/>
          <p:cNvSpPr txBox="1"/>
          <p:nvPr/>
        </p:nvSpPr>
        <p:spPr>
          <a:xfrm>
            <a:off x="457200" y="2756916"/>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Profil de coût</a:t>
            </a:r>
            <a:endParaRPr lang="en-US" sz="1050" dirty="0"/>
          </a:p>
        </p:txBody>
      </p:sp>
      <p:sp>
        <p:nvSpPr>
          <p:cNvPr id="42" name="Shape 37"/>
          <p:cNvSpPr/>
          <p:nvPr/>
        </p:nvSpPr>
        <p:spPr>
          <a:xfrm>
            <a:off x="2057400" y="2756916"/>
            <a:ext cx="3291840" cy="292608"/>
          </a:xfrm>
          <a:prstGeom prst="roundRect">
            <a:avLst>
              <a:gd name="adj" fmla="val 12500"/>
            </a:avLst>
          </a:prstGeom>
          <a:solidFill>
            <a:srgbClr val="F4F7F5"/>
          </a:solidFill>
          <a:ln w="9525">
            <a:solidFill>
              <a:srgbClr val="D5DED9"/>
            </a:solidFill>
            <a:prstDash val="solid"/>
          </a:ln>
        </p:spPr>
      </p:sp>
      <p:sp>
        <p:nvSpPr>
          <p:cNvPr id="43" name="Text 38"/>
          <p:cNvSpPr txBox="1"/>
          <p:nvPr/>
        </p:nvSpPr>
        <p:spPr>
          <a:xfrm>
            <a:off x="2121408" y="2756916"/>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Fixe : matériel et personnel, quel que soit le volume</a:t>
            </a:r>
            <a:endParaRPr lang="en-US" sz="850" dirty="0"/>
          </a:p>
        </p:txBody>
      </p:sp>
      <p:sp>
        <p:nvSpPr>
          <p:cNvPr id="44" name="Shape 39"/>
          <p:cNvSpPr/>
          <p:nvPr/>
        </p:nvSpPr>
        <p:spPr>
          <a:xfrm>
            <a:off x="5394960" y="2756916"/>
            <a:ext cx="3291840" cy="292608"/>
          </a:xfrm>
          <a:prstGeom prst="roundRect">
            <a:avLst>
              <a:gd name="adj" fmla="val 12500"/>
            </a:avLst>
          </a:prstGeom>
          <a:solidFill>
            <a:srgbClr val="F4F7F5"/>
          </a:solidFill>
          <a:ln w="9525">
            <a:solidFill>
              <a:srgbClr val="D5DED9"/>
            </a:solidFill>
            <a:prstDash val="solid"/>
          </a:ln>
        </p:spPr>
      </p:sp>
      <p:sp>
        <p:nvSpPr>
          <p:cNvPr id="45" name="Text 40"/>
          <p:cNvSpPr txBox="1"/>
          <p:nvPr/>
        </p:nvSpPr>
        <p:spPr>
          <a:xfrm>
            <a:off x="5458968" y="2756916"/>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Variable : au jeton, proportionnel à l'usage</a:t>
            </a:r>
            <a:endParaRPr lang="en-US" sz="850" dirty="0"/>
          </a:p>
        </p:txBody>
      </p:sp>
      <p:sp>
        <p:nvSpPr>
          <p:cNvPr id="46" name="Text 41"/>
          <p:cNvSpPr txBox="1"/>
          <p:nvPr/>
        </p:nvSpPr>
        <p:spPr>
          <a:xfrm>
            <a:off x="457200" y="3090672"/>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Exploitation</a:t>
            </a:r>
            <a:endParaRPr lang="en-US" sz="1050" dirty="0"/>
          </a:p>
        </p:txBody>
      </p:sp>
      <p:sp>
        <p:nvSpPr>
          <p:cNvPr id="47" name="Shape 42"/>
          <p:cNvSpPr/>
          <p:nvPr/>
        </p:nvSpPr>
        <p:spPr>
          <a:xfrm>
            <a:off x="2057400" y="3090672"/>
            <a:ext cx="3291840" cy="292608"/>
          </a:xfrm>
          <a:prstGeom prst="roundRect">
            <a:avLst>
              <a:gd name="adj" fmla="val 12500"/>
            </a:avLst>
          </a:prstGeom>
          <a:solidFill>
            <a:srgbClr val="F4F7F5"/>
          </a:solidFill>
          <a:ln w="9525">
            <a:solidFill>
              <a:srgbClr val="D5DED9"/>
            </a:solidFill>
            <a:prstDash val="solid"/>
          </a:ln>
        </p:spPr>
      </p:sp>
      <p:sp>
        <p:nvSpPr>
          <p:cNvPr id="48" name="Text 43"/>
          <p:cNvSpPr txBox="1"/>
          <p:nvPr/>
        </p:nvSpPr>
        <p:spPr>
          <a:xfrm>
            <a:off x="2121408" y="3090672"/>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Vous gérez service, montée en charge, correctifs, suivi</a:t>
            </a:r>
            <a:endParaRPr lang="en-US" sz="850" dirty="0"/>
          </a:p>
        </p:txBody>
      </p:sp>
      <p:sp>
        <p:nvSpPr>
          <p:cNvPr id="49" name="Shape 44"/>
          <p:cNvSpPr/>
          <p:nvPr/>
        </p:nvSpPr>
        <p:spPr>
          <a:xfrm>
            <a:off x="5394960" y="3090672"/>
            <a:ext cx="3291840" cy="292608"/>
          </a:xfrm>
          <a:prstGeom prst="roundRect">
            <a:avLst>
              <a:gd name="adj" fmla="val 12500"/>
            </a:avLst>
          </a:prstGeom>
          <a:solidFill>
            <a:srgbClr val="F4F7F5"/>
          </a:solidFill>
          <a:ln w="9525">
            <a:solidFill>
              <a:srgbClr val="D5DED9"/>
            </a:solidFill>
            <a:prstDash val="solid"/>
          </a:ln>
        </p:spPr>
      </p:sp>
      <p:sp>
        <p:nvSpPr>
          <p:cNvPr id="50" name="Text 45"/>
          <p:cNvSpPr txBox="1"/>
          <p:nvPr/>
        </p:nvSpPr>
        <p:spPr>
          <a:xfrm>
            <a:off x="5458968" y="3090672"/>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Le fournisseur exploite ; vous gérez contrat, quotas, coûts</a:t>
            </a:r>
            <a:endParaRPr lang="en-US" sz="850" dirty="0"/>
          </a:p>
        </p:txBody>
      </p:sp>
      <p:sp>
        <p:nvSpPr>
          <p:cNvPr id="51" name="Text 46"/>
          <p:cNvSpPr txBox="1"/>
          <p:nvPr/>
        </p:nvSpPr>
        <p:spPr>
          <a:xfrm>
            <a:off x="457200" y="3424428"/>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Auditabilité</a:t>
            </a:r>
            <a:endParaRPr lang="en-US" sz="1050" dirty="0"/>
          </a:p>
        </p:txBody>
      </p:sp>
      <p:sp>
        <p:nvSpPr>
          <p:cNvPr id="52" name="Shape 47"/>
          <p:cNvSpPr/>
          <p:nvPr/>
        </p:nvSpPr>
        <p:spPr>
          <a:xfrm>
            <a:off x="2057400" y="3424428"/>
            <a:ext cx="3291840" cy="292608"/>
          </a:xfrm>
          <a:prstGeom prst="roundRect">
            <a:avLst>
              <a:gd name="adj" fmla="val 12500"/>
            </a:avLst>
          </a:prstGeom>
          <a:solidFill>
            <a:srgbClr val="F4F7F5"/>
          </a:solidFill>
          <a:ln w="9525">
            <a:solidFill>
              <a:srgbClr val="D5DED9"/>
            </a:solidFill>
            <a:prstDash val="solid"/>
          </a:ln>
        </p:spPr>
      </p:sp>
      <p:sp>
        <p:nvSpPr>
          <p:cNvPr id="53" name="Text 48"/>
          <p:cNvSpPr txBox="1"/>
          <p:nvPr/>
        </p:nvSpPr>
        <p:spPr>
          <a:xfrm>
            <a:off x="2121408" y="3424428"/>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Inspection complète des poids, requêtes et traitements</a:t>
            </a:r>
            <a:endParaRPr lang="en-US" sz="850" dirty="0"/>
          </a:p>
        </p:txBody>
      </p:sp>
      <p:sp>
        <p:nvSpPr>
          <p:cNvPr id="54" name="Shape 49"/>
          <p:cNvSpPr/>
          <p:nvPr/>
        </p:nvSpPr>
        <p:spPr>
          <a:xfrm>
            <a:off x="5394960" y="3424428"/>
            <a:ext cx="3291840" cy="292608"/>
          </a:xfrm>
          <a:prstGeom prst="roundRect">
            <a:avLst>
              <a:gd name="adj" fmla="val 12500"/>
            </a:avLst>
          </a:prstGeom>
          <a:solidFill>
            <a:srgbClr val="F4F7F5"/>
          </a:solidFill>
          <a:ln w="9525">
            <a:solidFill>
              <a:srgbClr val="D5DED9"/>
            </a:solidFill>
            <a:prstDash val="solid"/>
          </a:ln>
        </p:spPr>
      </p:sp>
      <p:sp>
        <p:nvSpPr>
          <p:cNvPr id="55" name="Text 50"/>
          <p:cNvSpPr txBox="1"/>
          <p:nvPr/>
        </p:nvSpPr>
        <p:spPr>
          <a:xfrm>
            <a:off x="5458968" y="3424428"/>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Tests de comportement seulement ; fonctionnement opaque</a:t>
            </a:r>
            <a:endParaRPr lang="en-US" sz="850" dirty="0"/>
          </a:p>
        </p:txBody>
      </p:sp>
      <p:sp>
        <p:nvSpPr>
          <p:cNvPr id="56" name="Text 51"/>
          <p:cNvSpPr txBox="1"/>
          <p:nvPr/>
        </p:nvSpPr>
        <p:spPr>
          <a:xfrm>
            <a:off x="457200" y="3758184"/>
            <a:ext cx="1554480" cy="29260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Dépendance</a:t>
            </a:r>
            <a:endParaRPr lang="en-US" sz="1050" dirty="0"/>
          </a:p>
        </p:txBody>
      </p:sp>
      <p:sp>
        <p:nvSpPr>
          <p:cNvPr id="57" name="Shape 52"/>
          <p:cNvSpPr/>
          <p:nvPr/>
        </p:nvSpPr>
        <p:spPr>
          <a:xfrm>
            <a:off x="2057400" y="3758184"/>
            <a:ext cx="3291840" cy="292608"/>
          </a:xfrm>
          <a:prstGeom prst="roundRect">
            <a:avLst>
              <a:gd name="adj" fmla="val 12500"/>
            </a:avLst>
          </a:prstGeom>
          <a:solidFill>
            <a:srgbClr val="F4F7F5"/>
          </a:solidFill>
          <a:ln w="9525">
            <a:solidFill>
              <a:srgbClr val="D5DED9"/>
            </a:solidFill>
            <a:prstDash val="solid"/>
          </a:ln>
        </p:spPr>
      </p:sp>
      <p:sp>
        <p:nvSpPr>
          <p:cNvPr id="58" name="Text 53"/>
          <p:cNvSpPr txBox="1"/>
          <p:nvPr/>
        </p:nvSpPr>
        <p:spPr>
          <a:xfrm>
            <a:off x="2121408" y="3758184"/>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Faible — formats portables, couche de service remplaçable</a:t>
            </a:r>
            <a:endParaRPr lang="en-US" sz="850" dirty="0"/>
          </a:p>
        </p:txBody>
      </p:sp>
      <p:sp>
        <p:nvSpPr>
          <p:cNvPr id="59" name="Shape 54"/>
          <p:cNvSpPr/>
          <p:nvPr/>
        </p:nvSpPr>
        <p:spPr>
          <a:xfrm>
            <a:off x="5394960" y="3758184"/>
            <a:ext cx="3291840" cy="292608"/>
          </a:xfrm>
          <a:prstGeom prst="roundRect">
            <a:avLst>
              <a:gd name="adj" fmla="val 12500"/>
            </a:avLst>
          </a:prstGeom>
          <a:solidFill>
            <a:srgbClr val="F4F7F5"/>
          </a:solidFill>
          <a:ln w="9525">
            <a:solidFill>
              <a:srgbClr val="D5DED9"/>
            </a:solidFill>
            <a:prstDash val="solid"/>
          </a:ln>
        </p:spPr>
      </p:sp>
      <p:sp>
        <p:nvSpPr>
          <p:cNvPr id="60" name="Text 55"/>
          <p:cNvSpPr txBox="1"/>
          <p:nvPr/>
        </p:nvSpPr>
        <p:spPr>
          <a:xfrm>
            <a:off x="5458968" y="3758184"/>
            <a:ext cx="3145536" cy="292608"/>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Moyenne à forte, surtout avec les outils du fournisseur</a:t>
            </a:r>
            <a:endParaRPr lang="en-US" sz="850" dirty="0"/>
          </a:p>
        </p:txBody>
      </p:sp>
      <p:sp>
        <p:nvSpPr>
          <p:cNvPr id="61" name="Shape 56"/>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2" name="Shape 57"/>
          <p:cNvSpPr/>
          <p:nvPr/>
        </p:nvSpPr>
        <p:spPr>
          <a:xfrm>
            <a:off x="566928" y="4233672"/>
            <a:ext cx="292608" cy="292608"/>
          </a:xfrm>
          <a:prstGeom prst="ellipse">
            <a:avLst/>
          </a:prstGeom>
          <a:solidFill>
            <a:srgbClr val="00A86A">
              <a:alpha val="22000"/>
            </a:srgbClr>
          </a:solidFill>
          <a:ln/>
        </p:spPr>
      </p:sp>
      <p:pic>
        <p:nvPicPr>
          <p:cNvPr id="63" name="Image 2" descr="preencoded.png"/>
          <p:cNvPicPr>
            <a:picLocks noChangeAspect="1"/>
          </p:cNvPicPr>
          <p:nvPr/>
        </p:nvPicPr>
        <p:blipFill>
          <a:blip r:embed="rId5"/>
          <a:stretch>
            <a:fillRect/>
          </a:stretch>
        </p:blipFill>
        <p:spPr>
          <a:xfrm>
            <a:off x="637154" y="4303898"/>
            <a:ext cx="152156" cy="152156"/>
          </a:xfrm>
          <a:prstGeom prst="rect">
            <a:avLst/>
          </a:prstGeom>
        </p:spPr>
      </p:pic>
      <p:sp>
        <p:nvSpPr>
          <p:cNvPr id="64" name="Text 58"/>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À RETENIR   </a:t>
            </a:r>
            <a:r>
              <a:rPr lang="en-US" sz="950" dirty="0">
                <a:solidFill>
                  <a:srgbClr val="231F20"/>
                </a:solidFill>
                <a:latin typeface="Calibri" pitchFamily="34" charset="0"/>
                <a:ea typeface="Calibri" pitchFamily="34" charset="-122"/>
                <a:cs typeface="Calibri" pitchFamily="34" charset="-120"/>
              </a:rPr>
              <a:t>Gérez un portefeuille : poids ouverts pour le confidentiel et le reproductible, API gérées pour l'exploration. Faites tout passer par une passerelle unique pour pouvoir changer.</a:t>
            </a:r>
            <a:endParaRPr lang="en-US" sz="9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EXERCICE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05572" y="278892"/>
            <a:ext cx="118872" cy="118872"/>
          </a:xfrm>
          <a:prstGeom prst="ellipse">
            <a:avLst/>
          </a:prstGeom>
          <a:solidFill>
            <a:srgbClr val="0E7C86"/>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Exercice : où ce traitement doit-il s'exécuter ?</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Discutez chaque cas deux minutes, puis comparez avec la réponse proposée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8" name="Shape 15"/>
          <p:cNvSpPr/>
          <p:nvPr/>
        </p:nvSpPr>
        <p:spPr>
          <a:xfrm>
            <a:off x="457200" y="1371600"/>
            <a:ext cx="4046220" cy="1536192"/>
          </a:xfrm>
          <a:prstGeom prst="roundRect">
            <a:avLst>
              <a:gd name="adj" fmla="val 4762"/>
            </a:avLst>
          </a:prstGeom>
          <a:solidFill>
            <a:srgbClr val="F4F7F5"/>
          </a:solidFill>
          <a:ln w="9525">
            <a:solidFill>
              <a:srgbClr val="D5DED9"/>
            </a:solidFill>
            <a:prstDash val="solid"/>
          </a:ln>
        </p:spPr>
      </p:sp>
      <p:sp>
        <p:nvSpPr>
          <p:cNvPr id="19" name="Shape 16"/>
          <p:cNvSpPr/>
          <p:nvPr/>
        </p:nvSpPr>
        <p:spPr>
          <a:xfrm>
            <a:off x="594360" y="1508760"/>
            <a:ext cx="384048" cy="384048"/>
          </a:xfrm>
          <a:prstGeom prst="ellipse">
            <a:avLst/>
          </a:prstGeom>
          <a:solidFill>
            <a:srgbClr val="0E7C86"/>
          </a:solidFill>
          <a:ln/>
        </p:spPr>
      </p:sp>
      <p:sp>
        <p:nvSpPr>
          <p:cNvPr id="20" name="Text 17"/>
          <p:cNvSpPr txBox="1"/>
          <p:nvPr/>
        </p:nvSpPr>
        <p:spPr>
          <a:xfrm>
            <a:off x="59436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1" name="Text 18"/>
          <p:cNvSpPr txBox="1"/>
          <p:nvPr/>
        </p:nvSpPr>
        <p:spPr>
          <a:xfrm>
            <a:off x="1097280" y="1481328"/>
            <a:ext cx="326898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Coder 2 millions de réponses « profession » du recensement contenant encore noms et adresses</a:t>
            </a:r>
            <a:endParaRPr lang="en-US" sz="1100" dirty="0"/>
          </a:p>
        </p:txBody>
      </p:sp>
      <p:sp>
        <p:nvSpPr>
          <p:cNvPr id="22" name="Shape 19"/>
          <p:cNvSpPr/>
          <p:nvPr/>
        </p:nvSpPr>
        <p:spPr>
          <a:xfrm>
            <a:off x="594360" y="2121408"/>
            <a:ext cx="3771900" cy="658368"/>
          </a:xfrm>
          <a:prstGeom prst="roundRect">
            <a:avLst>
              <a:gd name="adj" fmla="val 6944"/>
            </a:avLst>
          </a:prstGeom>
          <a:solidFill>
            <a:srgbClr val="B83B2E">
              <a:alpha val="12000"/>
            </a:srgbClr>
          </a:solidFill>
          <a:ln w="9525">
            <a:solidFill>
              <a:srgbClr val="B83B2E"/>
            </a:solidFill>
            <a:prstDash val="solid"/>
          </a:ln>
        </p:spPr>
      </p:sp>
      <p:sp>
        <p:nvSpPr>
          <p:cNvPr id="23" name="Text 20"/>
          <p:cNvSpPr txBox="1"/>
          <p:nvPr/>
        </p:nvSpPr>
        <p:spPr>
          <a:xfrm>
            <a:off x="713232" y="2167128"/>
            <a:ext cx="3543300" cy="256032"/>
          </a:xfrm>
          <a:prstGeom prst="rect">
            <a:avLst/>
          </a:prstGeom>
          <a:noFill/>
          <a:ln/>
        </p:spPr>
        <p:txBody>
          <a:bodyPr wrap="square" lIns="0" tIns="0" rIns="0" bIns="0" rtlCol="0" anchor="ctr">
            <a:normAutofit/>
          </a:bodyPr>
          <a:lstStyle/>
          <a:p>
            <a:pPr marL="0" indent="0">
              <a:buNone/>
            </a:pPr>
            <a:r>
              <a:rPr lang="en-US" sz="1000" b="1" dirty="0">
                <a:solidFill>
                  <a:srgbClr val="B83B2E"/>
                </a:solidFill>
                <a:latin typeface="Calibri" pitchFamily="34" charset="0"/>
                <a:ea typeface="Calibri" pitchFamily="34" charset="-122"/>
                <a:cs typeface="Calibri" pitchFamily="34" charset="-120"/>
              </a:rPr>
              <a:t>Réponse proposée : </a:t>
            </a:r>
            <a:r>
              <a:rPr lang="en-US" sz="1000" b="1" dirty="0">
                <a:solidFill>
                  <a:srgbClr val="231F20"/>
                </a:solidFill>
                <a:latin typeface="Calibri" pitchFamily="34" charset="0"/>
                <a:ea typeface="Calibri" pitchFamily="34" charset="-122"/>
                <a:cs typeface="Calibri" pitchFamily="34" charset="-120"/>
              </a:rPr>
              <a:t>T3 · Sur site, modèle auto-hébergé</a:t>
            </a:r>
            <a:endParaRPr lang="en-US" sz="1000" dirty="0"/>
          </a:p>
        </p:txBody>
      </p:sp>
      <p:sp>
        <p:nvSpPr>
          <p:cNvPr id="24" name="Text 21"/>
          <p:cNvSpPr txBox="1"/>
          <p:nvPr/>
        </p:nvSpPr>
        <p:spPr>
          <a:xfrm>
            <a:off x="713232" y="2432304"/>
            <a:ext cx="3543300" cy="310896"/>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Microdonnées identifiantes : la classification tranche avant le coût.</a:t>
            </a:r>
            <a:endParaRPr lang="en-US" sz="900" dirty="0"/>
          </a:p>
        </p:txBody>
      </p:sp>
      <p:sp>
        <p:nvSpPr>
          <p:cNvPr id="25" name="Shape 22"/>
          <p:cNvSpPr/>
          <p:nvPr/>
        </p:nvSpPr>
        <p:spPr>
          <a:xfrm>
            <a:off x="4640580" y="1371600"/>
            <a:ext cx="4046220" cy="1536192"/>
          </a:xfrm>
          <a:prstGeom prst="roundRect">
            <a:avLst>
              <a:gd name="adj" fmla="val 4762"/>
            </a:avLst>
          </a:prstGeom>
          <a:solidFill>
            <a:srgbClr val="F4F7F5"/>
          </a:solidFill>
          <a:ln w="9525">
            <a:solidFill>
              <a:srgbClr val="D5DED9"/>
            </a:solidFill>
            <a:prstDash val="solid"/>
          </a:ln>
        </p:spPr>
      </p:sp>
      <p:sp>
        <p:nvSpPr>
          <p:cNvPr id="26" name="Shape 23"/>
          <p:cNvSpPr/>
          <p:nvPr/>
        </p:nvSpPr>
        <p:spPr>
          <a:xfrm>
            <a:off x="4777740" y="1508760"/>
            <a:ext cx="384048" cy="384048"/>
          </a:xfrm>
          <a:prstGeom prst="ellipse">
            <a:avLst/>
          </a:prstGeom>
          <a:solidFill>
            <a:srgbClr val="0E7C86"/>
          </a:solidFill>
          <a:ln/>
        </p:spPr>
      </p:sp>
      <p:sp>
        <p:nvSpPr>
          <p:cNvPr id="27" name="Text 24"/>
          <p:cNvSpPr txBox="1"/>
          <p:nvPr/>
        </p:nvSpPr>
        <p:spPr>
          <a:xfrm>
            <a:off x="4777740" y="150876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5"/>
          <p:cNvSpPr txBox="1"/>
          <p:nvPr/>
        </p:nvSpPr>
        <p:spPr>
          <a:xfrm>
            <a:off x="5280660" y="1481328"/>
            <a:ext cx="326898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Traduire un bulletin statistique publié en anglais, arabe et kiswahili</a:t>
            </a:r>
            <a:endParaRPr lang="en-US" sz="1100" dirty="0"/>
          </a:p>
        </p:txBody>
      </p:sp>
      <p:sp>
        <p:nvSpPr>
          <p:cNvPr id="29" name="Shape 26"/>
          <p:cNvSpPr/>
          <p:nvPr/>
        </p:nvSpPr>
        <p:spPr>
          <a:xfrm>
            <a:off x="4777740" y="2121408"/>
            <a:ext cx="3771900" cy="658368"/>
          </a:xfrm>
          <a:prstGeom prst="roundRect">
            <a:avLst>
              <a:gd name="adj" fmla="val 6944"/>
            </a:avLst>
          </a:prstGeom>
          <a:solidFill>
            <a:srgbClr val="00A86A">
              <a:alpha val="12000"/>
            </a:srgbClr>
          </a:solidFill>
          <a:ln w="9525">
            <a:solidFill>
              <a:srgbClr val="00A86A"/>
            </a:solidFill>
            <a:prstDash val="solid"/>
          </a:ln>
        </p:spPr>
      </p:sp>
      <p:sp>
        <p:nvSpPr>
          <p:cNvPr id="30" name="Text 27"/>
          <p:cNvSpPr txBox="1"/>
          <p:nvPr/>
        </p:nvSpPr>
        <p:spPr>
          <a:xfrm>
            <a:off x="4896612" y="2167128"/>
            <a:ext cx="3543300" cy="256032"/>
          </a:xfrm>
          <a:prstGeom prst="rect">
            <a:avLst/>
          </a:prstGeom>
          <a:noFill/>
          <a:ln/>
        </p:spPr>
        <p:txBody>
          <a:bodyPr wrap="square" lIns="0" tIns="0" rIns="0" bIns="0" rtlCol="0" anchor="ctr">
            <a:normAutofit/>
          </a:bodyPr>
          <a:lstStyle/>
          <a:p>
            <a:pPr marL="0" indent="0">
              <a:buNone/>
            </a:pPr>
            <a:r>
              <a:rPr lang="en-US" sz="1000" b="1" dirty="0">
                <a:solidFill>
                  <a:srgbClr val="00704A"/>
                </a:solidFill>
                <a:latin typeface="Calibri" pitchFamily="34" charset="0"/>
                <a:ea typeface="Calibri" pitchFamily="34" charset="-122"/>
                <a:cs typeface="Calibri" pitchFamily="34" charset="-120"/>
              </a:rPr>
              <a:t>Réponse proposée : </a:t>
            </a:r>
            <a:r>
              <a:rPr lang="en-US" sz="1000" b="1" dirty="0">
                <a:solidFill>
                  <a:srgbClr val="231F20"/>
                </a:solidFill>
                <a:latin typeface="Calibri" pitchFamily="34" charset="0"/>
                <a:ea typeface="Calibri" pitchFamily="34" charset="-122"/>
                <a:cs typeface="Calibri" pitchFamily="34" charset="-120"/>
              </a:rPr>
              <a:t>T0 · API gérée via la passerelle</a:t>
            </a:r>
            <a:endParaRPr lang="en-US" sz="1000" dirty="0"/>
          </a:p>
        </p:txBody>
      </p:sp>
      <p:sp>
        <p:nvSpPr>
          <p:cNvPr id="31" name="Text 28"/>
          <p:cNvSpPr txBox="1"/>
          <p:nvPr/>
        </p:nvSpPr>
        <p:spPr>
          <a:xfrm>
            <a:off x="4896612" y="2432304"/>
            <a:ext cx="3543300" cy="310896"/>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Contenu public ; garder une relecture humaine de la qualité linguistique.</a:t>
            </a:r>
            <a:endParaRPr lang="en-US" sz="900" dirty="0"/>
          </a:p>
        </p:txBody>
      </p:sp>
      <p:sp>
        <p:nvSpPr>
          <p:cNvPr id="32" name="Shape 29"/>
          <p:cNvSpPr/>
          <p:nvPr/>
        </p:nvSpPr>
        <p:spPr>
          <a:xfrm>
            <a:off x="457200" y="3044952"/>
            <a:ext cx="4046220" cy="1536192"/>
          </a:xfrm>
          <a:prstGeom prst="roundRect">
            <a:avLst>
              <a:gd name="adj" fmla="val 4762"/>
            </a:avLst>
          </a:prstGeom>
          <a:solidFill>
            <a:srgbClr val="F4F7F5"/>
          </a:solidFill>
          <a:ln w="9525">
            <a:solidFill>
              <a:srgbClr val="D5DED9"/>
            </a:solidFill>
            <a:prstDash val="solid"/>
          </a:ln>
        </p:spPr>
      </p:sp>
      <p:sp>
        <p:nvSpPr>
          <p:cNvPr id="33" name="Shape 30"/>
          <p:cNvSpPr/>
          <p:nvPr/>
        </p:nvSpPr>
        <p:spPr>
          <a:xfrm>
            <a:off x="594360" y="3182112"/>
            <a:ext cx="384048" cy="384048"/>
          </a:xfrm>
          <a:prstGeom prst="ellipse">
            <a:avLst/>
          </a:prstGeom>
          <a:solidFill>
            <a:srgbClr val="0E7C86"/>
          </a:solidFill>
          <a:ln/>
        </p:spPr>
      </p:sp>
      <p:sp>
        <p:nvSpPr>
          <p:cNvPr id="34" name="Text 31"/>
          <p:cNvSpPr txBox="1"/>
          <p:nvPr/>
        </p:nvSpPr>
        <p:spPr>
          <a:xfrm>
            <a:off x="594360" y="31821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5" name="Text 32"/>
          <p:cNvSpPr txBox="1"/>
          <p:nvPr/>
        </p:nvSpPr>
        <p:spPr>
          <a:xfrm>
            <a:off x="1097280" y="3154680"/>
            <a:ext cx="326898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Un assistant qui répond aux questions du personnel sur les manuels internes</a:t>
            </a:r>
            <a:endParaRPr lang="en-US" sz="1100" dirty="0"/>
          </a:p>
        </p:txBody>
      </p:sp>
      <p:sp>
        <p:nvSpPr>
          <p:cNvPr id="36" name="Shape 33"/>
          <p:cNvSpPr/>
          <p:nvPr/>
        </p:nvSpPr>
        <p:spPr>
          <a:xfrm>
            <a:off x="594360" y="3794760"/>
            <a:ext cx="3771900" cy="658368"/>
          </a:xfrm>
          <a:prstGeom prst="roundRect">
            <a:avLst>
              <a:gd name="adj" fmla="val 6944"/>
            </a:avLst>
          </a:prstGeom>
          <a:solidFill>
            <a:srgbClr val="D49A00">
              <a:alpha val="12000"/>
            </a:srgbClr>
          </a:solidFill>
          <a:ln w="9525">
            <a:solidFill>
              <a:srgbClr val="D49A00"/>
            </a:solidFill>
            <a:prstDash val="solid"/>
          </a:ln>
        </p:spPr>
      </p:sp>
      <p:sp>
        <p:nvSpPr>
          <p:cNvPr id="37" name="Text 34"/>
          <p:cNvSpPr txBox="1"/>
          <p:nvPr/>
        </p:nvSpPr>
        <p:spPr>
          <a:xfrm>
            <a:off x="713232" y="3840480"/>
            <a:ext cx="3543300" cy="256032"/>
          </a:xfrm>
          <a:prstGeom prst="rect">
            <a:avLst/>
          </a:prstGeom>
          <a:noFill/>
          <a:ln/>
        </p:spPr>
        <p:txBody>
          <a:bodyPr wrap="square" lIns="0" tIns="0" rIns="0" bIns="0" rtlCol="0" anchor="ctr">
            <a:normAutofit/>
          </a:bodyPr>
          <a:lstStyle/>
          <a:p>
            <a:pPr marL="0" indent="0">
              <a:buNone/>
            </a:pPr>
            <a:r>
              <a:rPr lang="en-US" sz="1000" b="1" dirty="0">
                <a:solidFill>
                  <a:srgbClr val="8A6400"/>
                </a:solidFill>
                <a:latin typeface="Calibri" pitchFamily="34" charset="0"/>
                <a:ea typeface="Calibri" pitchFamily="34" charset="-122"/>
                <a:cs typeface="Calibri" pitchFamily="34" charset="-120"/>
              </a:rPr>
              <a:t>Réponse proposée : </a:t>
            </a:r>
            <a:r>
              <a:rPr lang="en-US" sz="1000" b="1" dirty="0">
                <a:solidFill>
                  <a:srgbClr val="231F20"/>
                </a:solidFill>
                <a:latin typeface="Calibri" pitchFamily="34" charset="0"/>
                <a:ea typeface="Calibri" pitchFamily="34" charset="-122"/>
                <a:cs typeface="Calibri" pitchFamily="34" charset="-120"/>
              </a:rPr>
              <a:t>T1 · Cloud privé sous contrat</a:t>
            </a:r>
            <a:endParaRPr lang="en-US" sz="1000" dirty="0"/>
          </a:p>
        </p:txBody>
      </p:sp>
      <p:sp>
        <p:nvSpPr>
          <p:cNvPr id="38" name="Text 35"/>
          <p:cNvSpPr txBox="1"/>
          <p:nvPr/>
        </p:nvSpPr>
        <p:spPr>
          <a:xfrm>
            <a:off x="713232" y="4105656"/>
            <a:ext cx="3543300" cy="310896"/>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Non public sans microdonnées ; la recherche filtre selon les droits.</a:t>
            </a:r>
            <a:endParaRPr lang="en-US" sz="900" dirty="0"/>
          </a:p>
        </p:txBody>
      </p:sp>
      <p:sp>
        <p:nvSpPr>
          <p:cNvPr id="39" name="Shape 36"/>
          <p:cNvSpPr/>
          <p:nvPr/>
        </p:nvSpPr>
        <p:spPr>
          <a:xfrm>
            <a:off x="4640580" y="3044952"/>
            <a:ext cx="4046220" cy="1536192"/>
          </a:xfrm>
          <a:prstGeom prst="roundRect">
            <a:avLst>
              <a:gd name="adj" fmla="val 4762"/>
            </a:avLst>
          </a:prstGeom>
          <a:solidFill>
            <a:srgbClr val="F4F7F5"/>
          </a:solidFill>
          <a:ln w="9525">
            <a:solidFill>
              <a:srgbClr val="D5DED9"/>
            </a:solidFill>
            <a:prstDash val="solid"/>
          </a:ln>
        </p:spPr>
      </p:sp>
      <p:sp>
        <p:nvSpPr>
          <p:cNvPr id="40" name="Shape 37"/>
          <p:cNvSpPr/>
          <p:nvPr/>
        </p:nvSpPr>
        <p:spPr>
          <a:xfrm>
            <a:off x="4777740" y="3182112"/>
            <a:ext cx="384048" cy="384048"/>
          </a:xfrm>
          <a:prstGeom prst="ellipse">
            <a:avLst/>
          </a:prstGeom>
          <a:solidFill>
            <a:srgbClr val="0E7C86"/>
          </a:solidFill>
          <a:ln/>
        </p:spPr>
      </p:sp>
      <p:sp>
        <p:nvSpPr>
          <p:cNvPr id="41" name="Text 38"/>
          <p:cNvSpPr txBox="1"/>
          <p:nvPr/>
        </p:nvSpPr>
        <p:spPr>
          <a:xfrm>
            <a:off x="4777740" y="318211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2" name="Text 39"/>
          <p:cNvSpPr txBox="1"/>
          <p:nvPr/>
        </p:nvSpPr>
        <p:spPr>
          <a:xfrm>
            <a:off x="5280660" y="3154680"/>
            <a:ext cx="326898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Entraîner pendant deux semaines un classifieur de cultures sur des images satellites publiques</a:t>
            </a:r>
            <a:endParaRPr lang="en-US" sz="1100" dirty="0"/>
          </a:p>
        </p:txBody>
      </p:sp>
      <p:sp>
        <p:nvSpPr>
          <p:cNvPr id="43" name="Shape 40"/>
          <p:cNvSpPr/>
          <p:nvPr/>
        </p:nvSpPr>
        <p:spPr>
          <a:xfrm>
            <a:off x="4777740" y="3794760"/>
            <a:ext cx="3771900" cy="658368"/>
          </a:xfrm>
          <a:prstGeom prst="roundRect">
            <a:avLst>
              <a:gd name="adj" fmla="val 6944"/>
            </a:avLst>
          </a:prstGeom>
          <a:solidFill>
            <a:srgbClr val="0E7C86">
              <a:alpha val="12000"/>
            </a:srgbClr>
          </a:solidFill>
          <a:ln w="9525">
            <a:solidFill>
              <a:srgbClr val="0E7C86"/>
            </a:solidFill>
            <a:prstDash val="solid"/>
          </a:ln>
        </p:spPr>
      </p:sp>
      <p:sp>
        <p:nvSpPr>
          <p:cNvPr id="44" name="Text 41"/>
          <p:cNvSpPr txBox="1"/>
          <p:nvPr/>
        </p:nvSpPr>
        <p:spPr>
          <a:xfrm>
            <a:off x="4896612" y="3840480"/>
            <a:ext cx="3543300" cy="256032"/>
          </a:xfrm>
          <a:prstGeom prst="rect">
            <a:avLst/>
          </a:prstGeom>
          <a:noFill/>
          <a:ln/>
        </p:spPr>
        <p:txBody>
          <a:bodyPr wrap="square" lIns="0" tIns="0" rIns="0" bIns="0" rtlCol="0" anchor="ctr">
            <a:normAutofit/>
          </a:bodyPr>
          <a:lstStyle/>
          <a:p>
            <a:pPr marL="0" indent="0">
              <a:buNone/>
            </a:pPr>
            <a:r>
              <a:rPr lang="en-US" sz="1000" b="1" dirty="0">
                <a:solidFill>
                  <a:srgbClr val="0E7C86"/>
                </a:solidFill>
                <a:latin typeface="Calibri" pitchFamily="34" charset="0"/>
                <a:ea typeface="Calibri" pitchFamily="34" charset="-122"/>
                <a:cs typeface="Calibri" pitchFamily="34" charset="-120"/>
              </a:rPr>
              <a:t>Réponse proposée : </a:t>
            </a:r>
            <a:r>
              <a:rPr lang="en-US" sz="1000" b="1" dirty="0">
                <a:solidFill>
                  <a:srgbClr val="231F20"/>
                </a:solidFill>
                <a:latin typeface="Calibri" pitchFamily="34" charset="0"/>
                <a:ea typeface="Calibri" pitchFamily="34" charset="-122"/>
                <a:cs typeface="Calibri" pitchFamily="34" charset="-120"/>
              </a:rPr>
              <a:t>Modèle C · Cloud dédié, ponctuel</a:t>
            </a:r>
            <a:endParaRPr lang="en-US" sz="1000" dirty="0"/>
          </a:p>
        </p:txBody>
      </p:sp>
      <p:sp>
        <p:nvSpPr>
          <p:cNvPr id="45" name="Text 42"/>
          <p:cNvSpPr txBox="1"/>
          <p:nvPr/>
        </p:nvSpPr>
        <p:spPr>
          <a:xfrm>
            <a:off x="4896612" y="4105656"/>
            <a:ext cx="3543300" cy="310896"/>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Données publiques, charge courte et intense : louer, ne pas acheter.</a:t>
            </a:r>
            <a:endParaRPr lang="en-US" sz="90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04</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Gouvernance &amp; confidentialité</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Comment protéger le secret statistique quand l'IA ouvre de nouvelles voies de fuite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Nouvelles voies de divulgation</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Le cadre juridique</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Tableau de classification</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Contrôles techniques</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Gouvernance des modèles</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L'IA dans le GSBPM</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Cinq scénarios d'échec</a:t>
            </a:r>
            <a:endParaRPr lang="en-US" sz="1000" dirty="0"/>
          </a:p>
        </p:txBody>
      </p:sp>
      <p:sp>
        <p:nvSpPr>
          <p:cNvPr id="15" name="Shape 13"/>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6" name="Shape 14"/>
          <p:cNvSpPr/>
          <p:nvPr/>
        </p:nvSpPr>
        <p:spPr>
          <a:xfrm>
            <a:off x="6355080" y="1325880"/>
            <a:ext cx="1920240" cy="1920240"/>
          </a:xfrm>
          <a:prstGeom prst="ellipse">
            <a:avLst/>
          </a:prstGeom>
          <a:solidFill>
            <a:srgbClr val="FFFFFF">
              <a:alpha val="18000"/>
            </a:srgbClr>
          </a:solidFill>
          <a:ln/>
        </p:spPr>
      </p:sp>
      <p:sp>
        <p:nvSpPr>
          <p:cNvPr id="17" name="Shape 15"/>
          <p:cNvSpPr/>
          <p:nvPr/>
        </p:nvSpPr>
        <p:spPr>
          <a:xfrm>
            <a:off x="6720840" y="1691640"/>
            <a:ext cx="1188720" cy="1188720"/>
          </a:xfrm>
          <a:prstGeom prst="ellipse">
            <a:avLst/>
          </a:prstGeom>
          <a:solidFill>
            <a:srgbClr val="FFFFFF"/>
          </a:solidFill>
          <a:ln/>
        </p:spPr>
      </p:sp>
      <p:pic>
        <p:nvPicPr>
          <p:cNvPr id="18"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9" name="Shape 16"/>
          <p:cNvSpPr/>
          <p:nvPr/>
        </p:nvSpPr>
        <p:spPr>
          <a:xfrm>
            <a:off x="6510528" y="4014216"/>
            <a:ext cx="109728" cy="109728"/>
          </a:xfrm>
          <a:prstGeom prst="ellipse">
            <a:avLst/>
          </a:prstGeom>
          <a:solidFill>
            <a:srgbClr val="FFFFFF">
              <a:alpha val="40000"/>
            </a:srgbClr>
          </a:solidFill>
          <a:ln/>
        </p:spPr>
      </p:sp>
      <p:sp>
        <p:nvSpPr>
          <p:cNvPr id="20" name="Shape 17"/>
          <p:cNvSpPr/>
          <p:nvPr/>
        </p:nvSpPr>
        <p:spPr>
          <a:xfrm>
            <a:off x="6784848" y="4014216"/>
            <a:ext cx="109728" cy="109728"/>
          </a:xfrm>
          <a:prstGeom prst="ellipse">
            <a:avLst/>
          </a:prstGeom>
          <a:solidFill>
            <a:srgbClr val="FFFFFF">
              <a:alpha val="40000"/>
            </a:srgbClr>
          </a:solidFill>
          <a:ln/>
        </p:spPr>
      </p:sp>
      <p:sp>
        <p:nvSpPr>
          <p:cNvPr id="21" name="Shape 18"/>
          <p:cNvSpPr/>
          <p:nvPr/>
        </p:nvSpPr>
        <p:spPr>
          <a:xfrm>
            <a:off x="7059168" y="4014216"/>
            <a:ext cx="109728" cy="109728"/>
          </a:xfrm>
          <a:prstGeom prst="ellipse">
            <a:avLst/>
          </a:prstGeom>
          <a:solidFill>
            <a:srgbClr val="FFFFFF">
              <a:alpha val="40000"/>
            </a:srgbClr>
          </a:solidFill>
          <a:ln/>
        </p:spPr>
      </p:sp>
      <p:sp>
        <p:nvSpPr>
          <p:cNvPr id="22" name="Shape 19"/>
          <p:cNvSpPr/>
          <p:nvPr/>
        </p:nvSpPr>
        <p:spPr>
          <a:xfrm>
            <a:off x="7315200" y="3995928"/>
            <a:ext cx="146304" cy="146304"/>
          </a:xfrm>
          <a:prstGeom prst="ellipse">
            <a:avLst/>
          </a:prstGeom>
          <a:solidFill>
            <a:srgbClr val="F5C242"/>
          </a:solidFill>
          <a:ln/>
        </p:spPr>
      </p:sp>
      <p:sp>
        <p:nvSpPr>
          <p:cNvPr id="23" name="Shape 20"/>
          <p:cNvSpPr/>
          <p:nvPr/>
        </p:nvSpPr>
        <p:spPr>
          <a:xfrm>
            <a:off x="7607808" y="4014216"/>
            <a:ext cx="109728" cy="109728"/>
          </a:xfrm>
          <a:prstGeom prst="ellipse">
            <a:avLst/>
          </a:prstGeom>
          <a:solidFill>
            <a:srgbClr val="FFFFFF">
              <a:alpha val="40000"/>
            </a:srgbClr>
          </a:solidFill>
          <a:ln/>
        </p:spPr>
      </p:sp>
      <p:sp>
        <p:nvSpPr>
          <p:cNvPr id="24" name="Shape 21"/>
          <p:cNvSpPr/>
          <p:nvPr/>
        </p:nvSpPr>
        <p:spPr>
          <a:xfrm>
            <a:off x="7882128" y="4014216"/>
            <a:ext cx="109728" cy="109728"/>
          </a:xfrm>
          <a:prstGeom prst="ellipse">
            <a:avLst/>
          </a:prstGeom>
          <a:solidFill>
            <a:srgbClr val="FFFFFF">
              <a:alpha val="40000"/>
            </a:srgbClr>
          </a:solidFill>
          <a:ln/>
        </p:spPr>
      </p:sp>
      <p:sp>
        <p:nvSpPr>
          <p:cNvPr id="25" name="Text 22"/>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38</a:t>
            </a:r>
            <a:endParaRPr lang="en-US" sz="8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CONFIDENTIALITÉ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Sept nouvelles voies de fuite des données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Des voies de divulgation que vos contrôles actuels ne couvrent probablement pas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8" name="Shape 15"/>
          <p:cNvSpPr/>
          <p:nvPr/>
        </p:nvSpPr>
        <p:spPr>
          <a:xfrm>
            <a:off x="457200" y="1371600"/>
            <a:ext cx="1975104" cy="1545336"/>
          </a:xfrm>
          <a:prstGeom prst="roundRect">
            <a:avLst>
              <a:gd name="adj" fmla="val 4734"/>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IA fantôme</a:t>
            </a:r>
            <a:endParaRPr lang="en-US" sz="1100" dirty="0"/>
          </a:p>
        </p:txBody>
      </p:sp>
      <p:sp>
        <p:nvSpPr>
          <p:cNvPr id="22" name="Text 18"/>
          <p:cNvSpPr txBox="1"/>
          <p:nvPr/>
        </p:nvSpPr>
        <p:spPr>
          <a:xfrm>
            <a:off x="585216"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Des agents collent des microdonnées dans des chatbots publics personnels. L'incident le plus probable.</a:t>
            </a:r>
            <a:endParaRPr lang="en-US" sz="950" dirty="0"/>
          </a:p>
        </p:txBody>
      </p:sp>
      <p:sp>
        <p:nvSpPr>
          <p:cNvPr id="23" name="Shape 19"/>
          <p:cNvSpPr/>
          <p:nvPr/>
        </p:nvSpPr>
        <p:spPr>
          <a:xfrm>
            <a:off x="2542032" y="1371600"/>
            <a:ext cx="1975104" cy="1545336"/>
          </a:xfrm>
          <a:prstGeom prst="roundRect">
            <a:avLst>
              <a:gd name="adj" fmla="val 4734"/>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D49A00">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Mémorisation</a:t>
            </a:r>
            <a:endParaRPr lang="en-US" sz="1100" dirty="0"/>
          </a:p>
        </p:txBody>
      </p:sp>
      <p:sp>
        <p:nvSpPr>
          <p:cNvPr id="27" name="Text 22"/>
          <p:cNvSpPr txBox="1"/>
          <p:nvPr/>
        </p:nvSpPr>
        <p:spPr>
          <a:xfrm>
            <a:off x="2670048"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Un modèle affiné sur des microdonnées peut restituer des enregistrements. Classifiez les poids comme les données.</a:t>
            </a:r>
            <a:endParaRPr lang="en-US" sz="950" dirty="0"/>
          </a:p>
        </p:txBody>
      </p:sp>
      <p:sp>
        <p:nvSpPr>
          <p:cNvPr id="28" name="Shape 23"/>
          <p:cNvSpPr/>
          <p:nvPr/>
        </p:nvSpPr>
        <p:spPr>
          <a:xfrm>
            <a:off x="4626864" y="1371600"/>
            <a:ext cx="1975104" cy="1545336"/>
          </a:xfrm>
          <a:prstGeom prst="roundRect">
            <a:avLst>
              <a:gd name="adj" fmla="val 4734"/>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Index vectoriels</a:t>
            </a:r>
            <a:endParaRPr lang="en-US" sz="1100" dirty="0"/>
          </a:p>
        </p:txBody>
      </p:sp>
      <p:sp>
        <p:nvSpPr>
          <p:cNvPr id="32" name="Text 26"/>
          <p:cNvSpPr txBox="1"/>
          <p:nvPr/>
        </p:nvSpPr>
        <p:spPr>
          <a:xfrm>
            <a:off x="4754880"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Un index est une seconde copie des documents, souvent hors des contrôles d'accès d'origine.</a:t>
            </a:r>
            <a:endParaRPr lang="en-US" sz="950" dirty="0"/>
          </a:p>
        </p:txBody>
      </p:sp>
      <p:sp>
        <p:nvSpPr>
          <p:cNvPr id="33" name="Shape 27"/>
          <p:cNvSpPr/>
          <p:nvPr/>
        </p:nvSpPr>
        <p:spPr>
          <a:xfrm>
            <a:off x="6711696" y="1371600"/>
            <a:ext cx="1975104" cy="1545336"/>
          </a:xfrm>
          <a:prstGeom prst="roundRect">
            <a:avLst>
              <a:gd name="adj" fmla="val 4734"/>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D49A00">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Fuite par les sorties</a:t>
            </a:r>
            <a:endParaRPr lang="en-US" sz="1100" dirty="0"/>
          </a:p>
        </p:txBody>
      </p:sp>
      <p:sp>
        <p:nvSpPr>
          <p:cNvPr id="37" name="Text 30"/>
          <p:cNvSpPr txBox="1"/>
          <p:nvPr/>
        </p:nvSpPr>
        <p:spPr>
          <a:xfrm>
            <a:off x="6839712"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Un résumé généré peut révéler une petite cellule que le secret aurait masquée.</a:t>
            </a:r>
            <a:endParaRPr lang="en-US" sz="950" dirty="0"/>
          </a:p>
        </p:txBody>
      </p:sp>
      <p:sp>
        <p:nvSpPr>
          <p:cNvPr id="38" name="Shape 31"/>
          <p:cNvSpPr/>
          <p:nvPr/>
        </p:nvSpPr>
        <p:spPr>
          <a:xfrm>
            <a:off x="457200" y="3026664"/>
            <a:ext cx="1975104" cy="1545336"/>
          </a:xfrm>
          <a:prstGeom prst="roundRect">
            <a:avLst>
              <a:gd name="adj" fmla="val 4734"/>
            </a:avLst>
          </a:prstGeom>
          <a:solidFill>
            <a:srgbClr val="F4F7F5"/>
          </a:solidFill>
          <a:ln w="9525">
            <a:solidFill>
              <a:srgbClr val="D5DED9"/>
            </a:solidFill>
            <a:prstDash val="solid"/>
          </a:ln>
        </p:spPr>
      </p:sp>
      <p:sp>
        <p:nvSpPr>
          <p:cNvPr id="39" name="Shape 32"/>
          <p:cNvSpPr/>
          <p:nvPr/>
        </p:nvSpPr>
        <p:spPr>
          <a:xfrm>
            <a:off x="585216" y="3154680"/>
            <a:ext cx="310896" cy="310896"/>
          </a:xfrm>
          <a:prstGeom prst="ellipse">
            <a:avLst/>
          </a:prstGeom>
          <a:solidFill>
            <a:srgbClr val="D49A00">
              <a:alpha val="22000"/>
            </a:srgbClr>
          </a:solidFill>
          <a:ln/>
        </p:spPr>
      </p:sp>
      <p:pic>
        <p:nvPicPr>
          <p:cNvPr id="40" name="Image 4" descr="preencoded.png"/>
          <p:cNvPicPr>
            <a:picLocks noChangeAspect="1"/>
          </p:cNvPicPr>
          <p:nvPr/>
        </p:nvPicPr>
        <p:blipFill>
          <a:blip r:embed="rId7"/>
          <a:stretch>
            <a:fillRect/>
          </a:stretch>
        </p:blipFill>
        <p:spPr>
          <a:xfrm>
            <a:off x="659831" y="3229295"/>
            <a:ext cx="161666" cy="161666"/>
          </a:xfrm>
          <a:prstGeom prst="rect">
            <a:avLst/>
          </a:prstGeom>
        </p:spPr>
      </p:pic>
      <p:sp>
        <p:nvSpPr>
          <p:cNvPr id="41" name="Text 33"/>
          <p:cNvSpPr txBox="1"/>
          <p:nvPr/>
        </p:nvSpPr>
        <p:spPr>
          <a:xfrm>
            <a:off x="1005840" y="3154680"/>
            <a:ext cx="1316736"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Journaux et télémétrie</a:t>
            </a:r>
            <a:endParaRPr lang="en-US" sz="1100" dirty="0"/>
          </a:p>
        </p:txBody>
      </p:sp>
      <p:sp>
        <p:nvSpPr>
          <p:cNvPr id="42" name="Text 34"/>
          <p:cNvSpPr txBox="1"/>
          <p:nvPr/>
        </p:nvSpPr>
        <p:spPr>
          <a:xfrm>
            <a:off x="585216"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Les requêtes et réponses stockées forment une troisième copie. Fixez leur durée de conservation.</a:t>
            </a:r>
            <a:endParaRPr lang="en-US" sz="950" dirty="0"/>
          </a:p>
        </p:txBody>
      </p:sp>
      <p:sp>
        <p:nvSpPr>
          <p:cNvPr id="43" name="Shape 35"/>
          <p:cNvSpPr/>
          <p:nvPr/>
        </p:nvSpPr>
        <p:spPr>
          <a:xfrm>
            <a:off x="2542032" y="3026664"/>
            <a:ext cx="1975104" cy="1545336"/>
          </a:xfrm>
          <a:prstGeom prst="roundRect">
            <a:avLst>
              <a:gd name="adj" fmla="val 4734"/>
            </a:avLst>
          </a:prstGeom>
          <a:solidFill>
            <a:srgbClr val="F4F7F5"/>
          </a:solidFill>
          <a:ln w="9525">
            <a:solidFill>
              <a:srgbClr val="D5DED9"/>
            </a:solidFill>
            <a:prstDash val="solid"/>
          </a:ln>
        </p:spPr>
      </p:sp>
      <p:sp>
        <p:nvSpPr>
          <p:cNvPr id="44" name="Shape 36"/>
          <p:cNvSpPr/>
          <p:nvPr/>
        </p:nvSpPr>
        <p:spPr>
          <a:xfrm>
            <a:off x="2670048" y="3154680"/>
            <a:ext cx="310896" cy="310896"/>
          </a:xfrm>
          <a:prstGeom prst="ellipse">
            <a:avLst/>
          </a:prstGeom>
          <a:solidFill>
            <a:srgbClr val="D49A00">
              <a:alpha val="22000"/>
            </a:srgbClr>
          </a:solidFill>
          <a:ln/>
        </p:spPr>
      </p:sp>
      <p:pic>
        <p:nvPicPr>
          <p:cNvPr id="45" name="Image 5" descr="preencoded.png"/>
          <p:cNvPicPr>
            <a:picLocks noChangeAspect="1"/>
          </p:cNvPicPr>
          <p:nvPr/>
        </p:nvPicPr>
        <p:blipFill>
          <a:blip r:embed="rId8"/>
          <a:stretch>
            <a:fillRect/>
          </a:stretch>
        </p:blipFill>
        <p:spPr>
          <a:xfrm>
            <a:off x="2744663" y="3229295"/>
            <a:ext cx="161666" cy="161666"/>
          </a:xfrm>
          <a:prstGeom prst="rect">
            <a:avLst/>
          </a:prstGeom>
        </p:spPr>
      </p:pic>
      <p:sp>
        <p:nvSpPr>
          <p:cNvPr id="46" name="Text 37"/>
          <p:cNvSpPr txBox="1"/>
          <p:nvPr/>
        </p:nvSpPr>
        <p:spPr>
          <a:xfrm>
            <a:off x="3090672" y="3154680"/>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Sous-traitants</a:t>
            </a:r>
            <a:endParaRPr lang="en-US" sz="1100" dirty="0"/>
          </a:p>
        </p:txBody>
      </p:sp>
      <p:sp>
        <p:nvSpPr>
          <p:cNvPr id="47" name="Text 38"/>
          <p:cNvSpPr txBox="1"/>
          <p:nvPr/>
        </p:nvSpPr>
        <p:spPr>
          <a:xfrm>
            <a:off x="2670048"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Votre contrat lie un fournisseur ; le traitement peut tourner chez un autre.</a:t>
            </a:r>
            <a:endParaRPr lang="en-US" sz="950" dirty="0"/>
          </a:p>
        </p:txBody>
      </p:sp>
      <p:sp>
        <p:nvSpPr>
          <p:cNvPr id="48" name="Shape 39"/>
          <p:cNvSpPr/>
          <p:nvPr/>
        </p:nvSpPr>
        <p:spPr>
          <a:xfrm>
            <a:off x="4626864" y="3026664"/>
            <a:ext cx="1975104" cy="1545336"/>
          </a:xfrm>
          <a:prstGeom prst="roundRect">
            <a:avLst>
              <a:gd name="adj" fmla="val 4734"/>
            </a:avLst>
          </a:prstGeom>
          <a:solidFill>
            <a:srgbClr val="F4F7F5"/>
          </a:solidFill>
          <a:ln w="9525">
            <a:solidFill>
              <a:srgbClr val="D5DED9"/>
            </a:solidFill>
            <a:prstDash val="solid"/>
          </a:ln>
        </p:spPr>
      </p:sp>
      <p:sp>
        <p:nvSpPr>
          <p:cNvPr id="49" name="Shape 40"/>
          <p:cNvSpPr/>
          <p:nvPr/>
        </p:nvSpPr>
        <p:spPr>
          <a:xfrm>
            <a:off x="4754880" y="3154680"/>
            <a:ext cx="310896" cy="310896"/>
          </a:xfrm>
          <a:prstGeom prst="ellipse">
            <a:avLst/>
          </a:prstGeom>
          <a:solidFill>
            <a:srgbClr val="D49A00">
              <a:alpha val="22000"/>
            </a:srgbClr>
          </a:solidFill>
          <a:ln/>
        </p:spPr>
      </p:sp>
      <p:pic>
        <p:nvPicPr>
          <p:cNvPr id="50" name="Image 6" descr="preencoded.png"/>
          <p:cNvPicPr>
            <a:picLocks noChangeAspect="1"/>
          </p:cNvPicPr>
          <p:nvPr/>
        </p:nvPicPr>
        <p:blipFill>
          <a:blip r:embed="rId9"/>
          <a:stretch>
            <a:fillRect/>
          </a:stretch>
        </p:blipFill>
        <p:spPr>
          <a:xfrm>
            <a:off x="4829495" y="3229295"/>
            <a:ext cx="161666" cy="161666"/>
          </a:xfrm>
          <a:prstGeom prst="rect">
            <a:avLst/>
          </a:prstGeom>
        </p:spPr>
      </p:pic>
      <p:sp>
        <p:nvSpPr>
          <p:cNvPr id="51" name="Text 41"/>
          <p:cNvSpPr txBox="1"/>
          <p:nvPr/>
        </p:nvSpPr>
        <p:spPr>
          <a:xfrm>
            <a:off x="5175504" y="3154680"/>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Contexte d'inférence</a:t>
            </a:r>
            <a:endParaRPr lang="en-US" sz="1100" dirty="0"/>
          </a:p>
        </p:txBody>
      </p:sp>
      <p:sp>
        <p:nvSpPr>
          <p:cNvPr id="52" name="Text 42"/>
          <p:cNvSpPr txBox="1"/>
          <p:nvPr/>
        </p:nvSpPr>
        <p:spPr>
          <a:xfrm>
            <a:off x="4754880"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Sans filtrage par utilisateur, la recherche peut montrer un contenu non autorisé.</a:t>
            </a:r>
            <a:endParaRPr lang="en-US" sz="950" dirty="0"/>
          </a:p>
        </p:txBody>
      </p:sp>
      <p:sp>
        <p:nvSpPr>
          <p:cNvPr id="53" name="Shape 43"/>
          <p:cNvSpPr/>
          <p:nvPr/>
        </p:nvSpPr>
        <p:spPr>
          <a:xfrm>
            <a:off x="6711696" y="3026664"/>
            <a:ext cx="1975104" cy="1545336"/>
          </a:xfrm>
          <a:prstGeom prst="roundRect">
            <a:avLst>
              <a:gd name="adj" fmla="val 4734"/>
            </a:avLst>
          </a:prstGeom>
          <a:solidFill>
            <a:srgbClr val="E8F5EF"/>
          </a:solidFill>
          <a:ln w="15875">
            <a:solidFill>
              <a:srgbClr val="00A86A"/>
            </a:solidFill>
            <a:prstDash val="solid"/>
          </a:ln>
        </p:spPr>
      </p:sp>
      <p:sp>
        <p:nvSpPr>
          <p:cNvPr id="54" name="Shape 44"/>
          <p:cNvSpPr/>
          <p:nvPr/>
        </p:nvSpPr>
        <p:spPr>
          <a:xfrm>
            <a:off x="6839712" y="3154680"/>
            <a:ext cx="310896" cy="310896"/>
          </a:xfrm>
          <a:prstGeom prst="ellipse">
            <a:avLst/>
          </a:prstGeom>
          <a:solidFill>
            <a:srgbClr val="00A86A">
              <a:alpha val="22000"/>
            </a:srgbClr>
          </a:solidFill>
          <a:ln/>
        </p:spPr>
      </p:sp>
      <p:pic>
        <p:nvPicPr>
          <p:cNvPr id="55" name="Image 7" descr="preencoded.png"/>
          <p:cNvPicPr>
            <a:picLocks noChangeAspect="1"/>
          </p:cNvPicPr>
          <p:nvPr/>
        </p:nvPicPr>
        <p:blipFill>
          <a:blip r:embed="rId10"/>
          <a:stretch>
            <a:fillRect/>
          </a:stretch>
        </p:blipFill>
        <p:spPr>
          <a:xfrm>
            <a:off x="6914327" y="3229295"/>
            <a:ext cx="161666" cy="161666"/>
          </a:xfrm>
          <a:prstGeom prst="rect">
            <a:avLst/>
          </a:prstGeom>
        </p:spPr>
      </p:pic>
      <p:sp>
        <p:nvSpPr>
          <p:cNvPr id="56" name="Text 45"/>
          <p:cNvSpPr txBox="1"/>
          <p:nvPr/>
        </p:nvSpPr>
        <p:spPr>
          <a:xfrm>
            <a:off x="7242048" y="3154680"/>
            <a:ext cx="1335024" cy="310896"/>
          </a:xfrm>
          <a:prstGeom prst="rect">
            <a:avLst/>
          </a:prstGeom>
          <a:noFill/>
          <a:ln/>
        </p:spPr>
        <p:txBody>
          <a:bodyPr wrap="square" lIns="0" tIns="0" rIns="0" bIns="0" rtlCol="0" anchor="ctr"/>
          <a:lstStyle/>
          <a:p>
            <a:pPr marL="0" indent="0">
              <a:buNone/>
            </a:pPr>
            <a:r>
              <a:rPr lang="en-US" sz="900" b="1" kern="0" spc="150" dirty="0">
                <a:solidFill>
                  <a:srgbClr val="00704A"/>
                </a:solidFill>
                <a:latin typeface="Calibri" pitchFamily="34" charset="0"/>
                <a:ea typeface="Calibri" pitchFamily="34" charset="-122"/>
                <a:cs typeface="Calibri" pitchFamily="34" charset="-120"/>
              </a:rPr>
              <a:t>À RETENIR</a:t>
            </a:r>
            <a:endParaRPr lang="en-US" sz="900" dirty="0"/>
          </a:p>
        </p:txBody>
      </p:sp>
      <p:sp>
        <p:nvSpPr>
          <p:cNvPr id="57" name="Text 46"/>
          <p:cNvSpPr txBox="1"/>
          <p:nvPr/>
        </p:nvSpPr>
        <p:spPr>
          <a:xfrm>
            <a:off x="6839712" y="3538728"/>
            <a:ext cx="1719072" cy="96012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Une note de service ne règle pas l'IA fantôme. Un outil autorisé assez bon pour rendre l'outil non autorisé inutile, si.</a:t>
            </a:r>
            <a:endParaRPr lang="en-US" sz="10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CADRE JURIDIQUE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Le cadre juridique : mondial, africain, national</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Les obligations varient selon les pays, mais la logique d'analyse reste la même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8" name="Shape 15"/>
          <p:cNvSpPr/>
          <p:nvPr/>
        </p:nvSpPr>
        <p:spPr>
          <a:xfrm>
            <a:off x="1691640" y="1325880"/>
            <a:ext cx="2301240" cy="329184"/>
          </a:xfrm>
          <a:prstGeom prst="roundRect">
            <a:avLst>
              <a:gd name="adj" fmla="val 13889"/>
            </a:avLst>
          </a:prstGeom>
          <a:solidFill>
            <a:srgbClr val="00704A"/>
          </a:solidFill>
          <a:ln/>
        </p:spPr>
      </p:sp>
      <p:pic>
        <p:nvPicPr>
          <p:cNvPr id="19" name="Image 0" descr="preencoded.png"/>
          <p:cNvPicPr>
            <a:picLocks noChangeAspect="1"/>
          </p:cNvPicPr>
          <p:nvPr/>
        </p:nvPicPr>
        <p:blipFill>
          <a:blip r:embed="rId3"/>
          <a:stretch>
            <a:fillRect/>
          </a:stretch>
        </p:blipFill>
        <p:spPr>
          <a:xfrm>
            <a:off x="1801368" y="1408176"/>
            <a:ext cx="164592" cy="164592"/>
          </a:xfrm>
          <a:prstGeom prst="rect">
            <a:avLst/>
          </a:prstGeom>
        </p:spPr>
      </p:pic>
      <p:sp>
        <p:nvSpPr>
          <p:cNvPr id="20" name="Text 16"/>
          <p:cNvSpPr txBox="1"/>
          <p:nvPr/>
        </p:nvSpPr>
        <p:spPr>
          <a:xfrm>
            <a:off x="203911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STATISTIQUE</a:t>
            </a:r>
            <a:endParaRPr lang="en-US" sz="950" dirty="0"/>
          </a:p>
        </p:txBody>
      </p:sp>
      <p:sp>
        <p:nvSpPr>
          <p:cNvPr id="21" name="Shape 17"/>
          <p:cNvSpPr/>
          <p:nvPr/>
        </p:nvSpPr>
        <p:spPr>
          <a:xfrm>
            <a:off x="4038600" y="1325880"/>
            <a:ext cx="2301240" cy="329184"/>
          </a:xfrm>
          <a:prstGeom prst="roundRect">
            <a:avLst>
              <a:gd name="adj" fmla="val 13889"/>
            </a:avLst>
          </a:prstGeom>
          <a:solidFill>
            <a:srgbClr val="00704A"/>
          </a:solidFill>
          <a:ln/>
        </p:spPr>
      </p:sp>
      <p:pic>
        <p:nvPicPr>
          <p:cNvPr id="22" name="Image 1" descr="preencoded.png"/>
          <p:cNvPicPr>
            <a:picLocks noChangeAspect="1"/>
          </p:cNvPicPr>
          <p:nvPr/>
        </p:nvPicPr>
        <p:blipFill>
          <a:blip r:embed="rId4"/>
          <a:stretch>
            <a:fillRect/>
          </a:stretch>
        </p:blipFill>
        <p:spPr>
          <a:xfrm>
            <a:off x="4148328" y="1408176"/>
            <a:ext cx="164592" cy="164592"/>
          </a:xfrm>
          <a:prstGeom prst="rect">
            <a:avLst/>
          </a:prstGeom>
        </p:spPr>
      </p:pic>
      <p:sp>
        <p:nvSpPr>
          <p:cNvPr id="23" name="Text 18"/>
          <p:cNvSpPr txBox="1"/>
          <p:nvPr/>
        </p:nvSpPr>
        <p:spPr>
          <a:xfrm>
            <a:off x="438607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DONNÉES &amp; IA</a:t>
            </a:r>
            <a:endParaRPr lang="en-US" sz="950" dirty="0"/>
          </a:p>
        </p:txBody>
      </p:sp>
      <p:sp>
        <p:nvSpPr>
          <p:cNvPr id="24" name="Shape 19"/>
          <p:cNvSpPr/>
          <p:nvPr/>
        </p:nvSpPr>
        <p:spPr>
          <a:xfrm>
            <a:off x="6385560" y="1325880"/>
            <a:ext cx="2301240" cy="329184"/>
          </a:xfrm>
          <a:prstGeom prst="roundRect">
            <a:avLst>
              <a:gd name="adj" fmla="val 13889"/>
            </a:avLst>
          </a:prstGeom>
          <a:solidFill>
            <a:srgbClr val="00704A"/>
          </a:solidFill>
          <a:ln/>
        </p:spPr>
      </p:sp>
      <p:pic>
        <p:nvPicPr>
          <p:cNvPr id="25" name="Image 2" descr="preencoded.png"/>
          <p:cNvPicPr>
            <a:picLocks noChangeAspect="1"/>
          </p:cNvPicPr>
          <p:nvPr/>
        </p:nvPicPr>
        <p:blipFill>
          <a:blip r:embed="rId5"/>
          <a:stretch>
            <a:fillRect/>
          </a:stretch>
        </p:blipFill>
        <p:spPr>
          <a:xfrm>
            <a:off x="6495288" y="1408176"/>
            <a:ext cx="164592" cy="164592"/>
          </a:xfrm>
          <a:prstGeom prst="rect">
            <a:avLst/>
          </a:prstGeom>
        </p:spPr>
      </p:pic>
      <p:sp>
        <p:nvSpPr>
          <p:cNvPr id="26" name="Text 20"/>
          <p:cNvSpPr txBox="1"/>
          <p:nvPr/>
        </p:nvSpPr>
        <p:spPr>
          <a:xfrm>
            <a:off x="6733032" y="1325880"/>
            <a:ext cx="1889760" cy="329184"/>
          </a:xfrm>
          <a:prstGeom prst="rect">
            <a:avLst/>
          </a:prstGeom>
          <a:noFill/>
          <a:ln/>
        </p:spPr>
        <p:txBody>
          <a:bodyPr wrap="square" lIns="0" tIns="0" rIns="0" bIns="0" rtlCol="0" anchor="ctr"/>
          <a:lstStyle/>
          <a:p>
            <a:pPr marL="0" indent="0">
              <a:buNone/>
            </a:pPr>
            <a:r>
              <a:rPr lang="en-US" sz="950" b="1" kern="0" spc="100" dirty="0">
                <a:solidFill>
                  <a:srgbClr val="FFFFFF"/>
                </a:solidFill>
                <a:latin typeface="Calibri" pitchFamily="34" charset="0"/>
                <a:ea typeface="Calibri" pitchFamily="34" charset="-122"/>
                <a:cs typeface="Calibri" pitchFamily="34" charset="-120"/>
              </a:rPr>
              <a:t>SÉCURITÉ &amp; EXPLOITATION</a:t>
            </a:r>
            <a:endParaRPr lang="en-US" sz="950" dirty="0"/>
          </a:p>
        </p:txBody>
      </p:sp>
      <p:sp>
        <p:nvSpPr>
          <p:cNvPr id="27" name="Shape 21"/>
          <p:cNvSpPr/>
          <p:nvPr/>
        </p:nvSpPr>
        <p:spPr>
          <a:xfrm>
            <a:off x="457200" y="1801368"/>
            <a:ext cx="310896" cy="310896"/>
          </a:xfrm>
          <a:prstGeom prst="ellipse">
            <a:avLst/>
          </a:prstGeom>
          <a:solidFill>
            <a:srgbClr val="00A86A">
              <a:alpha val="22000"/>
            </a:srgbClr>
          </a:solidFill>
          <a:ln/>
        </p:spPr>
      </p:sp>
      <p:pic>
        <p:nvPicPr>
          <p:cNvPr id="28" name="Image 3" descr="preencoded.png"/>
          <p:cNvPicPr>
            <a:picLocks noChangeAspect="1"/>
          </p:cNvPicPr>
          <p:nvPr/>
        </p:nvPicPr>
        <p:blipFill>
          <a:blip r:embed="rId6"/>
          <a:stretch>
            <a:fillRect/>
          </a:stretch>
        </p:blipFill>
        <p:spPr>
          <a:xfrm>
            <a:off x="531815" y="1875983"/>
            <a:ext cx="161666" cy="161666"/>
          </a:xfrm>
          <a:prstGeom prst="rect">
            <a:avLst/>
          </a:prstGeom>
        </p:spPr>
      </p:pic>
      <p:sp>
        <p:nvSpPr>
          <p:cNvPr id="29" name="Text 22"/>
          <p:cNvSpPr txBox="1"/>
          <p:nvPr/>
        </p:nvSpPr>
        <p:spPr>
          <a:xfrm>
            <a:off x="457200" y="2130552"/>
            <a:ext cx="1143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Mondial</a:t>
            </a:r>
            <a:endParaRPr lang="en-US" sz="1100" dirty="0"/>
          </a:p>
        </p:txBody>
      </p:sp>
      <p:sp>
        <p:nvSpPr>
          <p:cNvPr id="30" name="Shape 23"/>
          <p:cNvSpPr/>
          <p:nvPr/>
        </p:nvSpPr>
        <p:spPr>
          <a:xfrm>
            <a:off x="1691640" y="1709928"/>
            <a:ext cx="2301240" cy="731520"/>
          </a:xfrm>
          <a:prstGeom prst="roundRect">
            <a:avLst>
              <a:gd name="adj" fmla="val 6250"/>
            </a:avLst>
          </a:prstGeom>
          <a:solidFill>
            <a:srgbClr val="F4F7F5"/>
          </a:solidFill>
          <a:ln w="9525">
            <a:solidFill>
              <a:srgbClr val="D5DED9"/>
            </a:solidFill>
            <a:prstDash val="solid"/>
          </a:ln>
        </p:spPr>
      </p:sp>
      <p:sp>
        <p:nvSpPr>
          <p:cNvPr id="31" name="Text 24"/>
          <p:cNvSpPr txBox="1"/>
          <p:nvPr/>
        </p:nvSpPr>
        <p:spPr>
          <a:xfrm>
            <a:off x="1764792" y="1709928"/>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Principes fondamentaux de la statistique officielle (ONU) — principe 6 : données individuelles strictement confidentielles</a:t>
            </a:r>
            <a:endParaRPr lang="en-US" sz="850" dirty="0"/>
          </a:p>
        </p:txBody>
      </p:sp>
      <p:sp>
        <p:nvSpPr>
          <p:cNvPr id="32" name="Shape 25"/>
          <p:cNvSpPr/>
          <p:nvPr/>
        </p:nvSpPr>
        <p:spPr>
          <a:xfrm>
            <a:off x="4038600" y="1709928"/>
            <a:ext cx="2301240" cy="731520"/>
          </a:xfrm>
          <a:prstGeom prst="roundRect">
            <a:avLst>
              <a:gd name="adj" fmla="val 6250"/>
            </a:avLst>
          </a:prstGeom>
          <a:solidFill>
            <a:srgbClr val="F4F7F5"/>
          </a:solidFill>
          <a:ln w="9525">
            <a:solidFill>
              <a:srgbClr val="D5DED9"/>
            </a:solidFill>
            <a:prstDash val="solid"/>
          </a:ln>
        </p:spPr>
      </p:sp>
      <p:sp>
        <p:nvSpPr>
          <p:cNvPr id="33" name="Text 26"/>
          <p:cNvSpPr txBox="1"/>
          <p:nvPr/>
        </p:nvSpPr>
        <p:spPr>
          <a:xfrm>
            <a:off x="4111752" y="1709928"/>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Principes de l'OCDE sur l'IA ; Recommandation de l'UNESCO sur l'éthique de l'IA ; règlement (UE) 2024/1689 comme modèle</a:t>
            </a:r>
            <a:endParaRPr lang="en-US" sz="850" dirty="0"/>
          </a:p>
        </p:txBody>
      </p:sp>
      <p:sp>
        <p:nvSpPr>
          <p:cNvPr id="34" name="Shape 27"/>
          <p:cNvSpPr/>
          <p:nvPr/>
        </p:nvSpPr>
        <p:spPr>
          <a:xfrm>
            <a:off x="6385560" y="1709928"/>
            <a:ext cx="2301240" cy="731520"/>
          </a:xfrm>
          <a:prstGeom prst="roundRect">
            <a:avLst>
              <a:gd name="adj" fmla="val 6250"/>
            </a:avLst>
          </a:prstGeom>
          <a:solidFill>
            <a:srgbClr val="F4F7F5"/>
          </a:solidFill>
          <a:ln w="9525">
            <a:solidFill>
              <a:srgbClr val="D5DED9"/>
            </a:solidFill>
            <a:prstDash val="solid"/>
          </a:ln>
        </p:spPr>
      </p:sp>
      <p:sp>
        <p:nvSpPr>
          <p:cNvPr id="35" name="Text 28"/>
          <p:cNvSpPr txBox="1"/>
          <p:nvPr/>
        </p:nvSpPr>
        <p:spPr>
          <a:xfrm>
            <a:off x="6458712" y="1709928"/>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Normes internationales de sécurité (ex. ISO/IEC 27001) ; bonnes pratiques d'archivage</a:t>
            </a:r>
            <a:endParaRPr lang="en-US" sz="850" dirty="0"/>
          </a:p>
        </p:txBody>
      </p:sp>
      <p:sp>
        <p:nvSpPr>
          <p:cNvPr id="36" name="Shape 29"/>
          <p:cNvSpPr/>
          <p:nvPr/>
        </p:nvSpPr>
        <p:spPr>
          <a:xfrm>
            <a:off x="457200" y="2587752"/>
            <a:ext cx="310896" cy="310896"/>
          </a:xfrm>
          <a:prstGeom prst="ellipse">
            <a:avLst/>
          </a:prstGeom>
          <a:solidFill>
            <a:srgbClr val="D49A00">
              <a:alpha val="22000"/>
            </a:srgbClr>
          </a:solidFill>
          <a:ln/>
        </p:spPr>
      </p:sp>
      <p:pic>
        <p:nvPicPr>
          <p:cNvPr id="37" name="Image 4" descr="preencoded.png"/>
          <p:cNvPicPr>
            <a:picLocks noChangeAspect="1"/>
          </p:cNvPicPr>
          <p:nvPr/>
        </p:nvPicPr>
        <p:blipFill>
          <a:blip r:embed="rId7"/>
          <a:stretch>
            <a:fillRect/>
          </a:stretch>
        </p:blipFill>
        <p:spPr>
          <a:xfrm>
            <a:off x="531815" y="2662367"/>
            <a:ext cx="161666" cy="161666"/>
          </a:xfrm>
          <a:prstGeom prst="rect">
            <a:avLst/>
          </a:prstGeom>
        </p:spPr>
      </p:pic>
      <p:sp>
        <p:nvSpPr>
          <p:cNvPr id="38" name="Text 30"/>
          <p:cNvSpPr txBox="1"/>
          <p:nvPr/>
        </p:nvSpPr>
        <p:spPr>
          <a:xfrm>
            <a:off x="457200" y="2916936"/>
            <a:ext cx="1143000" cy="228600"/>
          </a:xfrm>
          <a:prstGeom prst="rect">
            <a:avLst/>
          </a:prstGeom>
          <a:noFill/>
          <a:ln/>
        </p:spPr>
        <p:txBody>
          <a:bodyPr wrap="square" lIns="0" tIns="0" rIns="0" bIns="0" rtlCol="0" anchor="t"/>
          <a:lstStyle/>
          <a:p>
            <a:pPr marL="0" indent="0">
              <a:buNone/>
            </a:pPr>
            <a:r>
              <a:rPr lang="en-US" sz="1100" b="1" dirty="0">
                <a:solidFill>
                  <a:srgbClr val="8A6400"/>
                </a:solidFill>
                <a:latin typeface="Calibri" pitchFamily="34" charset="0"/>
                <a:ea typeface="Calibri" pitchFamily="34" charset="-122"/>
                <a:cs typeface="Calibri" pitchFamily="34" charset="-120"/>
              </a:rPr>
              <a:t>Africain</a:t>
            </a:r>
            <a:endParaRPr lang="en-US" sz="1100" dirty="0"/>
          </a:p>
        </p:txBody>
      </p:sp>
      <p:sp>
        <p:nvSpPr>
          <p:cNvPr id="39" name="Shape 31"/>
          <p:cNvSpPr/>
          <p:nvPr/>
        </p:nvSpPr>
        <p:spPr>
          <a:xfrm>
            <a:off x="1691640" y="2496312"/>
            <a:ext cx="2301240" cy="731520"/>
          </a:xfrm>
          <a:prstGeom prst="roundRect">
            <a:avLst>
              <a:gd name="adj" fmla="val 6250"/>
            </a:avLst>
          </a:prstGeom>
          <a:solidFill>
            <a:srgbClr val="FBF3DF"/>
          </a:solidFill>
          <a:ln w="15875">
            <a:solidFill>
              <a:srgbClr val="D49A00"/>
            </a:solidFill>
            <a:prstDash val="solid"/>
          </a:ln>
        </p:spPr>
      </p:sp>
      <p:sp>
        <p:nvSpPr>
          <p:cNvPr id="40" name="Text 32"/>
          <p:cNvSpPr txBox="1"/>
          <p:nvPr/>
        </p:nvSpPr>
        <p:spPr>
          <a:xfrm>
            <a:off x="1764792" y="2496312"/>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Charte africaine de la statistique ; SHaSA 2 — harmonisation et indépendance professionnelle</a:t>
            </a:r>
            <a:endParaRPr lang="en-US" sz="850" dirty="0"/>
          </a:p>
        </p:txBody>
      </p:sp>
      <p:sp>
        <p:nvSpPr>
          <p:cNvPr id="41" name="Shape 33"/>
          <p:cNvSpPr/>
          <p:nvPr/>
        </p:nvSpPr>
        <p:spPr>
          <a:xfrm>
            <a:off x="4038600" y="2496312"/>
            <a:ext cx="2301240" cy="731520"/>
          </a:xfrm>
          <a:prstGeom prst="roundRect">
            <a:avLst>
              <a:gd name="adj" fmla="val 6250"/>
            </a:avLst>
          </a:prstGeom>
          <a:solidFill>
            <a:srgbClr val="FBF3DF"/>
          </a:solidFill>
          <a:ln w="15875">
            <a:solidFill>
              <a:srgbClr val="D49A00"/>
            </a:solidFill>
            <a:prstDash val="solid"/>
          </a:ln>
        </p:spPr>
      </p:sp>
      <p:sp>
        <p:nvSpPr>
          <p:cNvPr id="42" name="Text 34"/>
          <p:cNvSpPr txBox="1"/>
          <p:nvPr/>
        </p:nvSpPr>
        <p:spPr>
          <a:xfrm>
            <a:off x="4111752" y="2496312"/>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Convention de Malabo (en vigueur en juin 2023) ; Cadre de politique des données de l'UA ; Stratégie continentale sur l'IA (juillet 2024)</a:t>
            </a:r>
            <a:endParaRPr lang="en-US" sz="850" dirty="0"/>
          </a:p>
        </p:txBody>
      </p:sp>
      <p:sp>
        <p:nvSpPr>
          <p:cNvPr id="43" name="Shape 35"/>
          <p:cNvSpPr/>
          <p:nvPr/>
        </p:nvSpPr>
        <p:spPr>
          <a:xfrm>
            <a:off x="6385560" y="2496312"/>
            <a:ext cx="2301240" cy="731520"/>
          </a:xfrm>
          <a:prstGeom prst="roundRect">
            <a:avLst>
              <a:gd name="adj" fmla="val 6250"/>
            </a:avLst>
          </a:prstGeom>
          <a:solidFill>
            <a:srgbClr val="FBF3DF"/>
          </a:solidFill>
          <a:ln w="15875">
            <a:solidFill>
              <a:srgbClr val="D49A00"/>
            </a:solidFill>
            <a:prstDash val="solid"/>
          </a:ln>
        </p:spPr>
      </p:sp>
      <p:sp>
        <p:nvSpPr>
          <p:cNvPr id="44" name="Text 36"/>
          <p:cNvSpPr txBox="1"/>
          <p:nvPr/>
        </p:nvSpPr>
        <p:spPr>
          <a:xfrm>
            <a:off x="6458712" y="2496312"/>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Volet cybersécurité de Malabo ; cadres régionaux (CER), ex. acte additionnel de la CEDEAO sur les données</a:t>
            </a:r>
            <a:endParaRPr lang="en-US" sz="850" dirty="0"/>
          </a:p>
        </p:txBody>
      </p:sp>
      <p:sp>
        <p:nvSpPr>
          <p:cNvPr id="45" name="Shape 37"/>
          <p:cNvSpPr/>
          <p:nvPr/>
        </p:nvSpPr>
        <p:spPr>
          <a:xfrm>
            <a:off x="457200" y="3374136"/>
            <a:ext cx="310896" cy="310896"/>
          </a:xfrm>
          <a:prstGeom prst="ellipse">
            <a:avLst/>
          </a:prstGeom>
          <a:solidFill>
            <a:srgbClr val="00A86A">
              <a:alpha val="22000"/>
            </a:srgbClr>
          </a:solidFill>
          <a:ln/>
        </p:spPr>
      </p:sp>
      <p:pic>
        <p:nvPicPr>
          <p:cNvPr id="46" name="Image 5" descr="preencoded.png"/>
          <p:cNvPicPr>
            <a:picLocks noChangeAspect="1"/>
          </p:cNvPicPr>
          <p:nvPr/>
        </p:nvPicPr>
        <p:blipFill>
          <a:blip r:embed="rId8"/>
          <a:stretch>
            <a:fillRect/>
          </a:stretch>
        </p:blipFill>
        <p:spPr>
          <a:xfrm>
            <a:off x="531815" y="3448751"/>
            <a:ext cx="161666" cy="161666"/>
          </a:xfrm>
          <a:prstGeom prst="rect">
            <a:avLst/>
          </a:prstGeom>
        </p:spPr>
      </p:pic>
      <p:sp>
        <p:nvSpPr>
          <p:cNvPr id="47" name="Text 38"/>
          <p:cNvSpPr txBox="1"/>
          <p:nvPr/>
        </p:nvSpPr>
        <p:spPr>
          <a:xfrm>
            <a:off x="457200" y="3703320"/>
            <a:ext cx="1143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National</a:t>
            </a:r>
            <a:endParaRPr lang="en-US" sz="1100" dirty="0"/>
          </a:p>
        </p:txBody>
      </p:sp>
      <p:sp>
        <p:nvSpPr>
          <p:cNvPr id="48" name="Shape 39"/>
          <p:cNvSpPr/>
          <p:nvPr/>
        </p:nvSpPr>
        <p:spPr>
          <a:xfrm>
            <a:off x="1691640" y="3282696"/>
            <a:ext cx="2301240" cy="731520"/>
          </a:xfrm>
          <a:prstGeom prst="roundRect">
            <a:avLst>
              <a:gd name="adj" fmla="val 6250"/>
            </a:avLst>
          </a:prstGeom>
          <a:solidFill>
            <a:srgbClr val="F4F7F5"/>
          </a:solidFill>
          <a:ln w="9525">
            <a:solidFill>
              <a:srgbClr val="D5DED9"/>
            </a:solidFill>
            <a:prstDash val="solid"/>
          </a:ln>
        </p:spPr>
      </p:sp>
      <p:sp>
        <p:nvSpPr>
          <p:cNvPr id="49" name="Text 40"/>
          <p:cNvSpPr txBox="1"/>
          <p:nvPr/>
        </p:nvSpPr>
        <p:spPr>
          <a:xfrm>
            <a:off x="1764792" y="3282696"/>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Loi statistique : mandat, secret statistique, limites sur le lieu et les acteurs du traitement</a:t>
            </a:r>
            <a:endParaRPr lang="en-US" sz="850" dirty="0"/>
          </a:p>
        </p:txBody>
      </p:sp>
      <p:sp>
        <p:nvSpPr>
          <p:cNvPr id="50" name="Shape 41"/>
          <p:cNvSpPr/>
          <p:nvPr/>
        </p:nvSpPr>
        <p:spPr>
          <a:xfrm>
            <a:off x="4038600" y="3282696"/>
            <a:ext cx="2301240" cy="731520"/>
          </a:xfrm>
          <a:prstGeom prst="roundRect">
            <a:avLst>
              <a:gd name="adj" fmla="val 6250"/>
            </a:avLst>
          </a:prstGeom>
          <a:solidFill>
            <a:srgbClr val="F4F7F5"/>
          </a:solidFill>
          <a:ln w="9525">
            <a:solidFill>
              <a:srgbClr val="D5DED9"/>
            </a:solidFill>
            <a:prstDash val="solid"/>
          </a:ln>
        </p:spPr>
      </p:sp>
      <p:sp>
        <p:nvSpPr>
          <p:cNvPr id="51" name="Text 42"/>
          <p:cNvSpPr txBox="1"/>
          <p:nvPr/>
        </p:nvSpPr>
        <p:spPr>
          <a:xfrm>
            <a:off x="4111752" y="3282696"/>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Loi et autorité de protection des données ; stratégie nationale d'IA le cas échéant</a:t>
            </a:r>
            <a:endParaRPr lang="en-US" sz="850" dirty="0"/>
          </a:p>
        </p:txBody>
      </p:sp>
      <p:sp>
        <p:nvSpPr>
          <p:cNvPr id="52" name="Shape 43"/>
          <p:cNvSpPr/>
          <p:nvPr/>
        </p:nvSpPr>
        <p:spPr>
          <a:xfrm>
            <a:off x="6385560" y="3282696"/>
            <a:ext cx="2301240" cy="731520"/>
          </a:xfrm>
          <a:prstGeom prst="roundRect">
            <a:avLst>
              <a:gd name="adj" fmla="val 6250"/>
            </a:avLst>
          </a:prstGeom>
          <a:solidFill>
            <a:srgbClr val="F4F7F5"/>
          </a:solidFill>
          <a:ln w="9525">
            <a:solidFill>
              <a:srgbClr val="D5DED9"/>
            </a:solidFill>
            <a:prstDash val="solid"/>
          </a:ln>
        </p:spPr>
      </p:sp>
      <p:sp>
        <p:nvSpPr>
          <p:cNvPr id="53" name="Text 44"/>
          <p:cNvSpPr txBox="1"/>
          <p:nvPr/>
        </p:nvSpPr>
        <p:spPr>
          <a:xfrm>
            <a:off x="6458712" y="3282696"/>
            <a:ext cx="2154936" cy="731520"/>
          </a:xfrm>
          <a:prstGeom prst="rect">
            <a:avLst/>
          </a:prstGeom>
          <a:noFill/>
          <a:ln/>
        </p:spPr>
        <p:txBody>
          <a:bodyPr wrap="square" lIns="0" tIns="0" rIns="0" bIns="0" rtlCol="0" anchor="ctr"/>
          <a:lstStyle/>
          <a:p>
            <a:pPr marL="0" indent="0">
              <a:buNone/>
            </a:pPr>
            <a:r>
              <a:rPr lang="en-US" sz="850" dirty="0">
                <a:solidFill>
                  <a:srgbClr val="231F20"/>
                </a:solidFill>
                <a:latin typeface="Calibri" pitchFamily="34" charset="0"/>
                <a:ea typeface="Calibri" pitchFamily="34" charset="-122"/>
                <a:cs typeface="Calibri" pitchFamily="34" charset="-120"/>
              </a:rPr>
              <a:t>Loi sur la cybersécurité, code des marchés publics, droit des archives</a:t>
            </a:r>
            <a:endParaRPr lang="en-US" sz="850" dirty="0"/>
          </a:p>
        </p:txBody>
      </p:sp>
      <p:sp>
        <p:nvSpPr>
          <p:cNvPr id="54" name="Shape 45"/>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5" name="Shape 46"/>
          <p:cNvSpPr/>
          <p:nvPr/>
        </p:nvSpPr>
        <p:spPr>
          <a:xfrm>
            <a:off x="566928" y="4233672"/>
            <a:ext cx="292608" cy="292608"/>
          </a:xfrm>
          <a:prstGeom prst="ellipse">
            <a:avLst/>
          </a:prstGeom>
          <a:solidFill>
            <a:srgbClr val="D49A00">
              <a:alpha val="22000"/>
            </a:srgbClr>
          </a:solidFill>
          <a:ln/>
        </p:spPr>
      </p:sp>
      <p:pic>
        <p:nvPicPr>
          <p:cNvPr id="56" name="Image 6" descr="preencoded.png"/>
          <p:cNvPicPr>
            <a:picLocks noChangeAspect="1"/>
          </p:cNvPicPr>
          <p:nvPr/>
        </p:nvPicPr>
        <p:blipFill>
          <a:blip r:embed="rId9"/>
          <a:stretch>
            <a:fillRect/>
          </a:stretch>
        </p:blipFill>
        <p:spPr>
          <a:xfrm>
            <a:off x="637154" y="4303898"/>
            <a:ext cx="152156" cy="152156"/>
          </a:xfrm>
          <a:prstGeom prst="rect">
            <a:avLst/>
          </a:prstGeom>
        </p:spPr>
      </p:pic>
      <p:sp>
        <p:nvSpPr>
          <p:cNvPr id="57" name="Text 47"/>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Chronologie :  </a:t>
            </a:r>
            <a:r>
              <a:rPr lang="en-US" sz="950" dirty="0">
                <a:solidFill>
                  <a:srgbClr val="231F20"/>
                </a:solidFill>
                <a:latin typeface="Calibri" pitchFamily="34" charset="0"/>
                <a:ea typeface="Calibri" pitchFamily="34" charset="-122"/>
                <a:cs typeface="Calibri" pitchFamily="34" charset="-120"/>
              </a:rPr>
              <a:t>associez le juridique, le délégué à la protection des données et la sécurité dès le premier atelier. Une objection soulevée à la conception coûte un après-midi ; au déploiement, un projet.</a:t>
            </a:r>
            <a:endParaRPr lang="en-US" sz="95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TABLEAU DE CLASSIFICATION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Classification des données et infrastructure autorisée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L'outil le plus utile de la gouvernance de l'IA. Rédigez-le, faites-le signer, publiez-le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8" name="Text 15"/>
          <p:cNvSpPr txBox="1"/>
          <p:nvPr/>
        </p:nvSpPr>
        <p:spPr>
          <a:xfrm>
            <a:off x="548640" y="1298448"/>
            <a:ext cx="50292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NIVEAU</a:t>
            </a:r>
            <a:endParaRPr lang="en-US" sz="900" dirty="0"/>
          </a:p>
        </p:txBody>
      </p:sp>
      <p:sp>
        <p:nvSpPr>
          <p:cNvPr id="19" name="Text 16"/>
          <p:cNvSpPr txBox="1"/>
          <p:nvPr/>
        </p:nvSpPr>
        <p:spPr>
          <a:xfrm>
            <a:off x="1234440" y="1298448"/>
            <a:ext cx="16459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DONNÉES</a:t>
            </a:r>
            <a:endParaRPr lang="en-US" sz="900" dirty="0"/>
          </a:p>
        </p:txBody>
      </p:sp>
      <p:sp>
        <p:nvSpPr>
          <p:cNvPr id="20" name="Text 17"/>
          <p:cNvSpPr txBox="1"/>
          <p:nvPr/>
        </p:nvSpPr>
        <p:spPr>
          <a:xfrm>
            <a:off x="3063240" y="1298448"/>
            <a:ext cx="15087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ENVIRONNEMENT</a:t>
            </a:r>
            <a:endParaRPr lang="en-US" sz="900" dirty="0"/>
          </a:p>
        </p:txBody>
      </p:sp>
      <p:sp>
        <p:nvSpPr>
          <p:cNvPr id="21" name="Text 18"/>
          <p:cNvSpPr txBox="1"/>
          <p:nvPr/>
        </p:nvSpPr>
        <p:spPr>
          <a:xfrm>
            <a:off x="4754880" y="1298448"/>
            <a:ext cx="15087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MODÈLES</a:t>
            </a:r>
            <a:endParaRPr lang="en-US" sz="900" dirty="0"/>
          </a:p>
        </p:txBody>
      </p:sp>
      <p:sp>
        <p:nvSpPr>
          <p:cNvPr id="22" name="Text 19"/>
          <p:cNvSpPr txBox="1"/>
          <p:nvPr/>
        </p:nvSpPr>
        <p:spPr>
          <a:xfrm>
            <a:off x="6446520" y="1298448"/>
            <a:ext cx="214884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CONTRÔLES REQUIS</a:t>
            </a:r>
            <a:endParaRPr lang="en-US" sz="900" dirty="0"/>
          </a:p>
        </p:txBody>
      </p:sp>
      <p:sp>
        <p:nvSpPr>
          <p:cNvPr id="23" name="Shape 20"/>
          <p:cNvSpPr/>
          <p:nvPr/>
        </p:nvSpPr>
        <p:spPr>
          <a:xfrm>
            <a:off x="457200" y="1572768"/>
            <a:ext cx="8229600" cy="566928"/>
          </a:xfrm>
          <a:prstGeom prst="roundRect">
            <a:avLst>
              <a:gd name="adj" fmla="val 8065"/>
            </a:avLst>
          </a:prstGeom>
          <a:solidFill>
            <a:srgbClr val="F4F7F5"/>
          </a:solidFill>
          <a:ln w="9525">
            <a:solidFill>
              <a:srgbClr val="D5DED9"/>
            </a:solidFill>
            <a:prstDash val="solid"/>
          </a:ln>
        </p:spPr>
      </p:sp>
      <p:sp>
        <p:nvSpPr>
          <p:cNvPr id="24" name="Shape 21"/>
          <p:cNvSpPr/>
          <p:nvPr/>
        </p:nvSpPr>
        <p:spPr>
          <a:xfrm>
            <a:off x="548640" y="1746504"/>
            <a:ext cx="502920" cy="219456"/>
          </a:xfrm>
          <a:prstGeom prst="roundRect">
            <a:avLst>
              <a:gd name="adj" fmla="val 50000"/>
            </a:avLst>
          </a:prstGeom>
          <a:solidFill>
            <a:srgbClr val="B83B2E">
              <a:alpha val="15000"/>
            </a:srgbClr>
          </a:solidFill>
          <a:ln w="9525">
            <a:solidFill>
              <a:srgbClr val="B83B2E"/>
            </a:solidFill>
            <a:prstDash val="solid"/>
          </a:ln>
        </p:spPr>
      </p:sp>
      <p:sp>
        <p:nvSpPr>
          <p:cNvPr id="25" name="Text 22"/>
          <p:cNvSpPr txBox="1"/>
          <p:nvPr/>
        </p:nvSpPr>
        <p:spPr>
          <a:xfrm>
            <a:off x="548640" y="1746504"/>
            <a:ext cx="50292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T3</a:t>
            </a:r>
            <a:endParaRPr lang="en-US" sz="850" dirty="0"/>
          </a:p>
        </p:txBody>
      </p:sp>
      <p:sp>
        <p:nvSpPr>
          <p:cNvPr id="26" name="Text 23"/>
          <p:cNvSpPr txBox="1"/>
          <p:nvPr/>
        </p:nvSpPr>
        <p:spPr>
          <a:xfrm>
            <a:off x="1234440" y="1572768"/>
            <a:ext cx="1645920" cy="566928"/>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Microdonnées identifiantes ou facilement réidentifiables</a:t>
            </a:r>
            <a:endParaRPr lang="en-US" sz="900" dirty="0"/>
          </a:p>
        </p:txBody>
      </p:sp>
      <p:sp>
        <p:nvSpPr>
          <p:cNvPr id="27" name="Text 24"/>
          <p:cNvSpPr txBox="1"/>
          <p:nvPr/>
        </p:nvSpPr>
        <p:spPr>
          <a:xfrm>
            <a:off x="3063240" y="1572768"/>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Sur site ou zone de recherche sécurisée uniquement</a:t>
            </a:r>
            <a:endParaRPr lang="en-US" sz="900" dirty="0"/>
          </a:p>
        </p:txBody>
      </p:sp>
      <p:sp>
        <p:nvSpPr>
          <p:cNvPr id="28" name="Text 25"/>
          <p:cNvSpPr txBox="1"/>
          <p:nvPr/>
        </p:nvSpPr>
        <p:spPr>
          <a:xfrm>
            <a:off x="4754880" y="1572768"/>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Modèles ouverts auto-hébergés d'une liste approuvée</a:t>
            </a:r>
            <a:endParaRPr lang="en-US" sz="900" dirty="0"/>
          </a:p>
        </p:txBody>
      </p:sp>
      <p:sp>
        <p:nvSpPr>
          <p:cNvPr id="29" name="Text 26"/>
          <p:cNvSpPr txBox="1"/>
          <p:nvPr/>
        </p:nvSpPr>
        <p:spPr>
          <a:xfrm>
            <a:off x="6446520" y="1572768"/>
            <a:ext cx="214884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Pas de réseau sortant · journalisation complète · contrôle des sorties · accès nominatif</a:t>
            </a:r>
            <a:endParaRPr lang="en-US" sz="900" dirty="0"/>
          </a:p>
        </p:txBody>
      </p:sp>
      <p:sp>
        <p:nvSpPr>
          <p:cNvPr id="30" name="Shape 27"/>
          <p:cNvSpPr/>
          <p:nvPr/>
        </p:nvSpPr>
        <p:spPr>
          <a:xfrm>
            <a:off x="457200" y="2194560"/>
            <a:ext cx="8229600" cy="566928"/>
          </a:xfrm>
          <a:prstGeom prst="roundRect">
            <a:avLst>
              <a:gd name="adj" fmla="val 8065"/>
            </a:avLst>
          </a:prstGeom>
          <a:solidFill>
            <a:srgbClr val="F4F7F5"/>
          </a:solidFill>
          <a:ln w="9525">
            <a:solidFill>
              <a:srgbClr val="D5DED9"/>
            </a:solidFill>
            <a:prstDash val="solid"/>
          </a:ln>
        </p:spPr>
      </p:sp>
      <p:sp>
        <p:nvSpPr>
          <p:cNvPr id="31" name="Shape 28"/>
          <p:cNvSpPr/>
          <p:nvPr/>
        </p:nvSpPr>
        <p:spPr>
          <a:xfrm>
            <a:off x="548640" y="2368296"/>
            <a:ext cx="502920" cy="219456"/>
          </a:xfrm>
          <a:prstGeom prst="roundRect">
            <a:avLst>
              <a:gd name="adj" fmla="val 50000"/>
            </a:avLst>
          </a:prstGeom>
          <a:solidFill>
            <a:srgbClr val="C4621D">
              <a:alpha val="15000"/>
            </a:srgbClr>
          </a:solidFill>
          <a:ln w="9525">
            <a:solidFill>
              <a:srgbClr val="C4621D"/>
            </a:solidFill>
            <a:prstDash val="solid"/>
          </a:ln>
        </p:spPr>
      </p:sp>
      <p:sp>
        <p:nvSpPr>
          <p:cNvPr id="32" name="Text 29"/>
          <p:cNvSpPr txBox="1"/>
          <p:nvPr/>
        </p:nvSpPr>
        <p:spPr>
          <a:xfrm>
            <a:off x="548640" y="2368296"/>
            <a:ext cx="502920" cy="219456"/>
          </a:xfrm>
          <a:prstGeom prst="rect">
            <a:avLst/>
          </a:prstGeom>
          <a:noFill/>
          <a:ln/>
        </p:spPr>
        <p:txBody>
          <a:bodyPr wrap="square" lIns="0" tIns="0" rIns="0" bIns="0" rtlCol="0" anchor="ctr"/>
          <a:lstStyle/>
          <a:p>
            <a:pPr marL="0" indent="0" algn="ctr">
              <a:buNone/>
            </a:pPr>
            <a:r>
              <a:rPr lang="en-US" sz="850" b="1" kern="0" spc="50" dirty="0">
                <a:solidFill>
                  <a:srgbClr val="C4621D"/>
                </a:solidFill>
                <a:latin typeface="Calibri" pitchFamily="34" charset="0"/>
                <a:ea typeface="Calibri" pitchFamily="34" charset="-122"/>
                <a:cs typeface="Calibri" pitchFamily="34" charset="-120"/>
              </a:rPr>
              <a:t>T2</a:t>
            </a:r>
            <a:endParaRPr lang="en-US" sz="850" dirty="0"/>
          </a:p>
        </p:txBody>
      </p:sp>
      <p:sp>
        <p:nvSpPr>
          <p:cNvPr id="33" name="Text 30"/>
          <p:cNvSpPr txBox="1"/>
          <p:nvPr/>
        </p:nvSpPr>
        <p:spPr>
          <a:xfrm>
            <a:off x="1234440" y="2194560"/>
            <a:ext cx="1645920" cy="566928"/>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Données pseudonymisées ou détaillées non publiques</a:t>
            </a:r>
            <a:endParaRPr lang="en-US" sz="900" dirty="0"/>
          </a:p>
        </p:txBody>
      </p:sp>
      <p:sp>
        <p:nvSpPr>
          <p:cNvPr id="34" name="Text 31"/>
          <p:cNvSpPr txBox="1"/>
          <p:nvPr/>
        </p:nvSpPr>
        <p:spPr>
          <a:xfrm>
            <a:off x="3063240" y="2194560"/>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Cloud souverain ou hébergement dédié</a:t>
            </a:r>
            <a:endParaRPr lang="en-US" sz="900" dirty="0"/>
          </a:p>
        </p:txBody>
      </p:sp>
      <p:sp>
        <p:nvSpPr>
          <p:cNvPr id="35" name="Text 32"/>
          <p:cNvSpPr txBox="1"/>
          <p:nvPr/>
        </p:nvSpPr>
        <p:spPr>
          <a:xfrm>
            <a:off x="4754880" y="2194560"/>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Auto-hébergés, ou gérés mono-client sous contrat</a:t>
            </a:r>
            <a:endParaRPr lang="en-US" sz="900" dirty="0"/>
          </a:p>
        </p:txBody>
      </p:sp>
      <p:sp>
        <p:nvSpPr>
          <p:cNvPr id="36" name="Text 33"/>
          <p:cNvSpPr txBox="1"/>
          <p:nvPr/>
        </p:nvSpPr>
        <p:spPr>
          <a:xfrm>
            <a:off x="6446520" y="2194560"/>
            <a:ext cx="214884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Analyse d'impact · clause de non-entraînement · chiffrement avec clés propres · surveillance des sorties</a:t>
            </a:r>
            <a:endParaRPr lang="en-US" sz="900" dirty="0"/>
          </a:p>
        </p:txBody>
      </p:sp>
      <p:sp>
        <p:nvSpPr>
          <p:cNvPr id="37" name="Shape 34"/>
          <p:cNvSpPr/>
          <p:nvPr/>
        </p:nvSpPr>
        <p:spPr>
          <a:xfrm>
            <a:off x="457200" y="2816352"/>
            <a:ext cx="8229600" cy="566928"/>
          </a:xfrm>
          <a:prstGeom prst="roundRect">
            <a:avLst>
              <a:gd name="adj" fmla="val 8065"/>
            </a:avLst>
          </a:prstGeom>
          <a:solidFill>
            <a:srgbClr val="F4F7F5"/>
          </a:solidFill>
          <a:ln w="9525">
            <a:solidFill>
              <a:srgbClr val="D5DED9"/>
            </a:solidFill>
            <a:prstDash val="solid"/>
          </a:ln>
        </p:spPr>
      </p:sp>
      <p:sp>
        <p:nvSpPr>
          <p:cNvPr id="38" name="Shape 35"/>
          <p:cNvSpPr/>
          <p:nvPr/>
        </p:nvSpPr>
        <p:spPr>
          <a:xfrm>
            <a:off x="548640" y="2990088"/>
            <a:ext cx="502920" cy="219456"/>
          </a:xfrm>
          <a:prstGeom prst="roundRect">
            <a:avLst>
              <a:gd name="adj" fmla="val 50000"/>
            </a:avLst>
          </a:prstGeom>
          <a:solidFill>
            <a:srgbClr val="0E7C86">
              <a:alpha val="15000"/>
            </a:srgbClr>
          </a:solidFill>
          <a:ln w="9525">
            <a:solidFill>
              <a:srgbClr val="0E7C86"/>
            </a:solidFill>
            <a:prstDash val="solid"/>
          </a:ln>
        </p:spPr>
      </p:sp>
      <p:sp>
        <p:nvSpPr>
          <p:cNvPr id="39" name="Text 36"/>
          <p:cNvSpPr txBox="1"/>
          <p:nvPr/>
        </p:nvSpPr>
        <p:spPr>
          <a:xfrm>
            <a:off x="548640" y="2990088"/>
            <a:ext cx="50292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T1</a:t>
            </a:r>
            <a:endParaRPr lang="en-US" sz="850" dirty="0"/>
          </a:p>
        </p:txBody>
      </p:sp>
      <p:sp>
        <p:nvSpPr>
          <p:cNvPr id="40" name="Text 37"/>
          <p:cNvSpPr txBox="1"/>
          <p:nvPr/>
        </p:nvSpPr>
        <p:spPr>
          <a:xfrm>
            <a:off x="1234440" y="2816352"/>
            <a:ext cx="1645920" cy="566928"/>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Documents internes, métadonnées et code</a:t>
            </a:r>
            <a:endParaRPr lang="en-US" sz="900" dirty="0"/>
          </a:p>
        </p:txBody>
      </p:sp>
      <p:sp>
        <p:nvSpPr>
          <p:cNvPr id="41" name="Text 38"/>
          <p:cNvSpPr txBox="1"/>
          <p:nvPr/>
        </p:nvSpPr>
        <p:spPr>
          <a:xfrm>
            <a:off x="3063240" y="2816352"/>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Cloud privé ou public sous accord d'entreprise</a:t>
            </a:r>
            <a:endParaRPr lang="en-US" sz="900" dirty="0"/>
          </a:p>
        </p:txBody>
      </p:sp>
      <p:sp>
        <p:nvSpPr>
          <p:cNvPr id="42" name="Text 39"/>
          <p:cNvSpPr txBox="1"/>
          <p:nvPr/>
        </p:nvSpPr>
        <p:spPr>
          <a:xfrm>
            <a:off x="4754880" y="2816352"/>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Modèles gérés autorisés sous contrat</a:t>
            </a:r>
            <a:endParaRPr lang="en-US" sz="900" dirty="0"/>
          </a:p>
        </p:txBody>
      </p:sp>
      <p:sp>
        <p:nvSpPr>
          <p:cNvPr id="43" name="Text 40"/>
          <p:cNvSpPr txBox="1"/>
          <p:nvPr/>
        </p:nvSpPr>
        <p:spPr>
          <a:xfrm>
            <a:off x="6446520" y="2816352"/>
            <a:ext cx="214884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Clause de non-entraînement · authentification unique · passerelle · durée de conservation</a:t>
            </a:r>
            <a:endParaRPr lang="en-US" sz="900" dirty="0"/>
          </a:p>
        </p:txBody>
      </p:sp>
      <p:sp>
        <p:nvSpPr>
          <p:cNvPr id="44" name="Shape 41"/>
          <p:cNvSpPr/>
          <p:nvPr/>
        </p:nvSpPr>
        <p:spPr>
          <a:xfrm>
            <a:off x="457200" y="3438144"/>
            <a:ext cx="8229600" cy="566928"/>
          </a:xfrm>
          <a:prstGeom prst="roundRect">
            <a:avLst>
              <a:gd name="adj" fmla="val 8065"/>
            </a:avLst>
          </a:prstGeom>
          <a:solidFill>
            <a:srgbClr val="F4F7F5"/>
          </a:solidFill>
          <a:ln w="9525">
            <a:solidFill>
              <a:srgbClr val="D5DED9"/>
            </a:solidFill>
            <a:prstDash val="solid"/>
          </a:ln>
        </p:spPr>
      </p:sp>
      <p:sp>
        <p:nvSpPr>
          <p:cNvPr id="45" name="Shape 42"/>
          <p:cNvSpPr/>
          <p:nvPr/>
        </p:nvSpPr>
        <p:spPr>
          <a:xfrm>
            <a:off x="548640" y="3611880"/>
            <a:ext cx="502920" cy="219456"/>
          </a:xfrm>
          <a:prstGeom prst="roundRect">
            <a:avLst>
              <a:gd name="adj" fmla="val 50000"/>
            </a:avLst>
          </a:prstGeom>
          <a:solidFill>
            <a:srgbClr val="00A86A">
              <a:alpha val="15000"/>
            </a:srgbClr>
          </a:solidFill>
          <a:ln w="9525">
            <a:solidFill>
              <a:srgbClr val="00A86A"/>
            </a:solidFill>
            <a:prstDash val="solid"/>
          </a:ln>
        </p:spPr>
      </p:sp>
      <p:sp>
        <p:nvSpPr>
          <p:cNvPr id="46" name="Text 43"/>
          <p:cNvSpPr txBox="1"/>
          <p:nvPr/>
        </p:nvSpPr>
        <p:spPr>
          <a:xfrm>
            <a:off x="548640" y="3611880"/>
            <a:ext cx="50292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T0</a:t>
            </a:r>
            <a:endParaRPr lang="en-US" sz="850" dirty="0"/>
          </a:p>
        </p:txBody>
      </p:sp>
      <p:sp>
        <p:nvSpPr>
          <p:cNvPr id="47" name="Text 44"/>
          <p:cNvSpPr txBox="1"/>
          <p:nvPr/>
        </p:nvSpPr>
        <p:spPr>
          <a:xfrm>
            <a:off x="1234440" y="3438144"/>
            <a:ext cx="1645920" cy="566928"/>
          </a:xfrm>
          <a:prstGeom prst="rect">
            <a:avLst/>
          </a:prstGeom>
          <a:noFill/>
          <a:ln/>
        </p:spPr>
        <p:txBody>
          <a:bodyPr wrap="square" lIns="0" tIns="0" rIns="0" bIns="0" rtlCol="0" anchor="ctr"/>
          <a:lstStyle/>
          <a:p>
            <a:pPr marL="0" indent="0" algn="l">
              <a:buNone/>
            </a:pPr>
            <a:r>
              <a:rPr lang="en-US" sz="900" b="1" dirty="0">
                <a:solidFill>
                  <a:srgbClr val="231F20"/>
                </a:solidFill>
                <a:latin typeface="Calibri" pitchFamily="34" charset="0"/>
                <a:ea typeface="Calibri" pitchFamily="34" charset="-122"/>
                <a:cs typeface="Calibri" pitchFamily="34" charset="-120"/>
              </a:rPr>
              <a:t>Publications et contenus publics</a:t>
            </a:r>
            <a:endParaRPr lang="en-US" sz="900" dirty="0"/>
          </a:p>
        </p:txBody>
      </p:sp>
      <p:sp>
        <p:nvSpPr>
          <p:cNvPr id="48" name="Text 45"/>
          <p:cNvSpPr txBox="1"/>
          <p:nvPr/>
        </p:nvSpPr>
        <p:spPr>
          <a:xfrm>
            <a:off x="3063240" y="3438144"/>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Tout, y compris API publiques gérées</a:t>
            </a:r>
            <a:endParaRPr lang="en-US" sz="900" dirty="0"/>
          </a:p>
        </p:txBody>
      </p:sp>
      <p:sp>
        <p:nvSpPr>
          <p:cNvPr id="49" name="Text 46"/>
          <p:cNvSpPr txBox="1"/>
          <p:nvPr/>
        </p:nvSpPr>
        <p:spPr>
          <a:xfrm>
            <a:off x="4754880" y="3438144"/>
            <a:ext cx="150876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Tout modèle approuvé</a:t>
            </a:r>
            <a:endParaRPr lang="en-US" sz="900" dirty="0"/>
          </a:p>
        </p:txBody>
      </p:sp>
      <p:sp>
        <p:nvSpPr>
          <p:cNvPr id="50" name="Text 47"/>
          <p:cNvSpPr txBox="1"/>
          <p:nvPr/>
        </p:nvSpPr>
        <p:spPr>
          <a:xfrm>
            <a:off x="6446520" y="3438144"/>
            <a:ext cx="2148840" cy="566928"/>
          </a:xfrm>
          <a:prstGeom prst="rect">
            <a:avLst/>
          </a:prstGeom>
          <a:noFill/>
          <a:ln/>
        </p:spPr>
        <p:txBody>
          <a:bodyPr wrap="square" lIns="0" tIns="0" rIns="0" bIns="0" rtlCol="0" anchor="ctr"/>
          <a:lstStyle/>
          <a:p>
            <a:pPr marL="0" indent="0" algn="l">
              <a:buNone/>
            </a:pPr>
            <a:r>
              <a:rPr lang="en-US" sz="900" dirty="0">
                <a:solidFill>
                  <a:srgbClr val="231F20"/>
                </a:solidFill>
                <a:latin typeface="Calibri" pitchFamily="34" charset="0"/>
                <a:ea typeface="Calibri" pitchFamily="34" charset="-122"/>
                <a:cs typeface="Calibri" pitchFamily="34" charset="-120"/>
              </a:rPr>
              <a:t>Charte d'utilisation · passage par la passerelle pour coûts et audit</a:t>
            </a:r>
            <a:endParaRPr lang="en-US" sz="900" dirty="0"/>
          </a:p>
        </p:txBody>
      </p:sp>
      <p:sp>
        <p:nvSpPr>
          <p:cNvPr id="51" name="Shape 48"/>
          <p:cNvSpPr/>
          <p:nvPr/>
        </p:nvSpPr>
        <p:spPr>
          <a:xfrm>
            <a:off x="457200" y="4114800"/>
            <a:ext cx="8229600" cy="475488"/>
          </a:xfrm>
          <a:prstGeom prst="roundRect">
            <a:avLst>
              <a:gd name="adj" fmla="val 11538"/>
            </a:avLst>
          </a:prstGeom>
          <a:solidFill>
            <a:srgbClr val="E8F5EF"/>
          </a:solidFill>
          <a:ln w="15875">
            <a:solidFill>
              <a:srgbClr val="00A86A"/>
            </a:solidFill>
            <a:prstDash val="solid"/>
          </a:ln>
        </p:spPr>
      </p:sp>
      <p:sp>
        <p:nvSpPr>
          <p:cNvPr id="52" name="Shape 49"/>
          <p:cNvSpPr/>
          <p:nvPr/>
        </p:nvSpPr>
        <p:spPr>
          <a:xfrm>
            <a:off x="566928" y="4206240"/>
            <a:ext cx="292608" cy="292608"/>
          </a:xfrm>
          <a:prstGeom prst="ellipse">
            <a:avLst/>
          </a:prstGeom>
          <a:solidFill>
            <a:srgbClr val="00A86A">
              <a:alpha val="22000"/>
            </a:srgbClr>
          </a:solidFill>
          <a:ln/>
        </p:spPr>
      </p:sp>
      <p:pic>
        <p:nvPicPr>
          <p:cNvPr id="53"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54" name="Text 50"/>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POURQUOI   </a:t>
            </a:r>
            <a:r>
              <a:rPr lang="en-US" sz="950" dirty="0">
                <a:solidFill>
                  <a:srgbClr val="231F20"/>
                </a:solidFill>
                <a:latin typeface="Calibri" pitchFamily="34" charset="0"/>
                <a:ea typeface="Calibri" pitchFamily="34" charset="-122"/>
                <a:cs typeface="Calibri" pitchFamily="34" charset="-120"/>
              </a:rPr>
              <a:t>Ce tableau transforme un débat au cas par cas en simple consultation : un analyste qui sait que ses données sont T2 connaît l'environnement, les modèles et les formalités. Révisez-le chaque année.</a:t>
            </a:r>
            <a:endParaRPr lang="en-US" sz="95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CONTRÔLES TECHNIQUES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Des contrôles techniques qui appliquent la politique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Une règle impossible à enfreindre par accident vaut mieux qu'une règle que tout le monde a lue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42</a:t>
            </a:r>
            <a:endParaRPr lang="en-US" sz="850" dirty="0"/>
          </a:p>
        </p:txBody>
      </p:sp>
      <p:sp>
        <p:nvSpPr>
          <p:cNvPr id="18" name="Shape 15"/>
          <p:cNvSpPr/>
          <p:nvPr/>
        </p:nvSpPr>
        <p:spPr>
          <a:xfrm>
            <a:off x="457200" y="1371600"/>
            <a:ext cx="2514600" cy="822960"/>
          </a:xfrm>
          <a:prstGeom prst="roundRect">
            <a:avLst>
              <a:gd name="adj" fmla="val 8889"/>
            </a:avLst>
          </a:prstGeom>
          <a:solidFill>
            <a:srgbClr val="F4F7F5"/>
          </a:solidFill>
          <a:ln w="9525">
            <a:solidFill>
              <a:srgbClr val="D5DED9"/>
            </a:solidFill>
            <a:prstDash val="solid"/>
          </a:ln>
        </p:spPr>
      </p:sp>
      <p:sp>
        <p:nvSpPr>
          <p:cNvPr id="19" name="Shape 16"/>
          <p:cNvSpPr/>
          <p:nvPr/>
        </p:nvSpPr>
        <p:spPr>
          <a:xfrm>
            <a:off x="566928" y="1481328"/>
            <a:ext cx="310896" cy="310896"/>
          </a:xfrm>
          <a:prstGeom prst="ellipse">
            <a:avLst/>
          </a:prstGeom>
          <a:solidFill>
            <a:srgbClr val="00704A">
              <a:alpha val="22000"/>
            </a:srgbClr>
          </a:solidFill>
          <a:ln/>
        </p:spPr>
      </p:sp>
      <p:pic>
        <p:nvPicPr>
          <p:cNvPr id="20" name="Image 0" descr="preencoded.png"/>
          <p:cNvPicPr>
            <a:picLocks noChangeAspect="1"/>
          </p:cNvPicPr>
          <p:nvPr/>
        </p:nvPicPr>
        <p:blipFill>
          <a:blip r:embed="rId3"/>
          <a:stretch>
            <a:fillRect/>
          </a:stretch>
        </p:blipFill>
        <p:spPr>
          <a:xfrm>
            <a:off x="641543" y="1555943"/>
            <a:ext cx="161666" cy="161666"/>
          </a:xfrm>
          <a:prstGeom prst="rect">
            <a:avLst/>
          </a:prstGeom>
        </p:spPr>
      </p:pic>
      <p:sp>
        <p:nvSpPr>
          <p:cNvPr id="21" name="Text 17"/>
          <p:cNvSpPr txBox="1"/>
          <p:nvPr/>
        </p:nvSpPr>
        <p:spPr>
          <a:xfrm>
            <a:off x="950976" y="14813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Contrôle des flux sortants</a:t>
            </a:r>
            <a:endParaRPr lang="en-US" sz="1050" dirty="0"/>
          </a:p>
        </p:txBody>
      </p:sp>
      <p:sp>
        <p:nvSpPr>
          <p:cNvPr id="22" name="Text 18"/>
          <p:cNvSpPr txBox="1"/>
          <p:nvPr/>
        </p:nvSpPr>
        <p:spPr>
          <a:xfrm>
            <a:off x="566928" y="18288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Aucune route vers internet depuis la zone sécurisée.</a:t>
            </a:r>
            <a:endParaRPr lang="en-US" sz="850" dirty="0"/>
          </a:p>
        </p:txBody>
      </p:sp>
      <p:sp>
        <p:nvSpPr>
          <p:cNvPr id="23" name="Shape 19"/>
          <p:cNvSpPr/>
          <p:nvPr/>
        </p:nvSpPr>
        <p:spPr>
          <a:xfrm>
            <a:off x="457200" y="2286000"/>
            <a:ext cx="2514600" cy="822960"/>
          </a:xfrm>
          <a:prstGeom prst="roundRect">
            <a:avLst>
              <a:gd name="adj" fmla="val 8889"/>
            </a:avLst>
          </a:prstGeom>
          <a:solidFill>
            <a:srgbClr val="F4F7F5"/>
          </a:solidFill>
          <a:ln w="9525">
            <a:solidFill>
              <a:srgbClr val="D5DED9"/>
            </a:solidFill>
            <a:prstDash val="solid"/>
          </a:ln>
        </p:spPr>
      </p:sp>
      <p:sp>
        <p:nvSpPr>
          <p:cNvPr id="24" name="Shape 20"/>
          <p:cNvSpPr/>
          <p:nvPr/>
        </p:nvSpPr>
        <p:spPr>
          <a:xfrm>
            <a:off x="566928" y="2395728"/>
            <a:ext cx="310896" cy="310896"/>
          </a:xfrm>
          <a:prstGeom prst="ellipse">
            <a:avLst/>
          </a:prstGeom>
          <a:solidFill>
            <a:srgbClr val="00704A">
              <a:alpha val="22000"/>
            </a:srgbClr>
          </a:solidFill>
          <a:ln/>
        </p:spPr>
      </p:sp>
      <p:pic>
        <p:nvPicPr>
          <p:cNvPr id="25" name="Image 1" descr="preencoded.png"/>
          <p:cNvPicPr>
            <a:picLocks noChangeAspect="1"/>
          </p:cNvPicPr>
          <p:nvPr/>
        </p:nvPicPr>
        <p:blipFill>
          <a:blip r:embed="rId4"/>
          <a:stretch>
            <a:fillRect/>
          </a:stretch>
        </p:blipFill>
        <p:spPr>
          <a:xfrm>
            <a:off x="641543" y="2470343"/>
            <a:ext cx="161666" cy="161666"/>
          </a:xfrm>
          <a:prstGeom prst="rect">
            <a:avLst/>
          </a:prstGeom>
        </p:spPr>
      </p:pic>
      <p:sp>
        <p:nvSpPr>
          <p:cNvPr id="26" name="Text 21"/>
          <p:cNvSpPr txBox="1"/>
          <p:nvPr/>
        </p:nvSpPr>
        <p:spPr>
          <a:xfrm>
            <a:off x="950976" y="23957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Identités et rôles</a:t>
            </a:r>
            <a:endParaRPr lang="en-US" sz="1050" dirty="0"/>
          </a:p>
        </p:txBody>
      </p:sp>
      <p:sp>
        <p:nvSpPr>
          <p:cNvPr id="27" name="Text 22"/>
          <p:cNvSpPr txBox="1"/>
          <p:nvPr/>
        </p:nvSpPr>
        <p:spPr>
          <a:xfrm>
            <a:off x="566928" y="27432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Authentification unique et forte, rôles liés aux niveaux.</a:t>
            </a:r>
            <a:endParaRPr lang="en-US" sz="850" dirty="0"/>
          </a:p>
        </p:txBody>
      </p:sp>
      <p:sp>
        <p:nvSpPr>
          <p:cNvPr id="28" name="Shape 23"/>
          <p:cNvSpPr/>
          <p:nvPr/>
        </p:nvSpPr>
        <p:spPr>
          <a:xfrm>
            <a:off x="457200" y="3200400"/>
            <a:ext cx="2514600" cy="822960"/>
          </a:xfrm>
          <a:prstGeom prst="roundRect">
            <a:avLst>
              <a:gd name="adj" fmla="val 8889"/>
            </a:avLst>
          </a:prstGeom>
          <a:solidFill>
            <a:srgbClr val="F4F7F5"/>
          </a:solidFill>
          <a:ln w="9525">
            <a:solidFill>
              <a:srgbClr val="D5DED9"/>
            </a:solidFill>
            <a:prstDash val="solid"/>
          </a:ln>
        </p:spPr>
      </p:sp>
      <p:sp>
        <p:nvSpPr>
          <p:cNvPr id="29" name="Shape 24"/>
          <p:cNvSpPr/>
          <p:nvPr/>
        </p:nvSpPr>
        <p:spPr>
          <a:xfrm>
            <a:off x="566928" y="3310128"/>
            <a:ext cx="310896" cy="310896"/>
          </a:xfrm>
          <a:prstGeom prst="ellipse">
            <a:avLst/>
          </a:prstGeom>
          <a:solidFill>
            <a:srgbClr val="00704A">
              <a:alpha val="22000"/>
            </a:srgbClr>
          </a:solidFill>
          <a:ln/>
        </p:spPr>
      </p:sp>
      <p:pic>
        <p:nvPicPr>
          <p:cNvPr id="30" name="Image 2" descr="preencoded.png"/>
          <p:cNvPicPr>
            <a:picLocks noChangeAspect="1"/>
          </p:cNvPicPr>
          <p:nvPr/>
        </p:nvPicPr>
        <p:blipFill>
          <a:blip r:embed="rId5"/>
          <a:stretch>
            <a:fillRect/>
          </a:stretch>
        </p:blipFill>
        <p:spPr>
          <a:xfrm>
            <a:off x="641543" y="3384743"/>
            <a:ext cx="161666" cy="161666"/>
          </a:xfrm>
          <a:prstGeom prst="rect">
            <a:avLst/>
          </a:prstGeom>
        </p:spPr>
      </p:pic>
      <p:sp>
        <p:nvSpPr>
          <p:cNvPr id="31" name="Text 25"/>
          <p:cNvSpPr txBox="1"/>
          <p:nvPr/>
        </p:nvSpPr>
        <p:spPr>
          <a:xfrm>
            <a:off x="950976" y="33101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Chiffrement et clés</a:t>
            </a:r>
            <a:endParaRPr lang="en-US" sz="1050" dirty="0"/>
          </a:p>
        </p:txBody>
      </p:sp>
      <p:sp>
        <p:nvSpPr>
          <p:cNvPr id="32" name="Text 26"/>
          <p:cNvSpPr txBox="1"/>
          <p:nvPr/>
        </p:nvSpPr>
        <p:spPr>
          <a:xfrm>
            <a:off x="566928" y="36576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Au repos et en transit ; clés détenues par l'institut si requis.</a:t>
            </a:r>
            <a:endParaRPr lang="en-US" sz="850" dirty="0"/>
          </a:p>
        </p:txBody>
      </p:sp>
      <p:sp>
        <p:nvSpPr>
          <p:cNvPr id="33" name="Shape 27"/>
          <p:cNvSpPr/>
          <p:nvPr/>
        </p:nvSpPr>
        <p:spPr>
          <a:xfrm>
            <a:off x="6172200" y="1371600"/>
            <a:ext cx="2514600" cy="822960"/>
          </a:xfrm>
          <a:prstGeom prst="roundRect">
            <a:avLst>
              <a:gd name="adj" fmla="val 8889"/>
            </a:avLst>
          </a:prstGeom>
          <a:solidFill>
            <a:srgbClr val="F4F7F5"/>
          </a:solidFill>
          <a:ln w="9525">
            <a:solidFill>
              <a:srgbClr val="D5DED9"/>
            </a:solidFill>
            <a:prstDash val="solid"/>
          </a:ln>
        </p:spPr>
      </p:sp>
      <p:sp>
        <p:nvSpPr>
          <p:cNvPr id="34" name="Shape 28"/>
          <p:cNvSpPr/>
          <p:nvPr/>
        </p:nvSpPr>
        <p:spPr>
          <a:xfrm>
            <a:off x="6281928" y="1481328"/>
            <a:ext cx="310896" cy="310896"/>
          </a:xfrm>
          <a:prstGeom prst="ellipse">
            <a:avLst/>
          </a:prstGeom>
          <a:solidFill>
            <a:srgbClr val="00704A">
              <a:alpha val="22000"/>
            </a:srgbClr>
          </a:solidFill>
          <a:ln/>
        </p:spPr>
      </p:sp>
      <p:pic>
        <p:nvPicPr>
          <p:cNvPr id="35" name="Image 3" descr="preencoded.png"/>
          <p:cNvPicPr>
            <a:picLocks noChangeAspect="1"/>
          </p:cNvPicPr>
          <p:nvPr/>
        </p:nvPicPr>
        <p:blipFill>
          <a:blip r:embed="rId6"/>
          <a:stretch>
            <a:fillRect/>
          </a:stretch>
        </p:blipFill>
        <p:spPr>
          <a:xfrm>
            <a:off x="6356543" y="1555943"/>
            <a:ext cx="161666" cy="161666"/>
          </a:xfrm>
          <a:prstGeom prst="rect">
            <a:avLst/>
          </a:prstGeom>
        </p:spPr>
      </p:pic>
      <p:sp>
        <p:nvSpPr>
          <p:cNvPr id="36" name="Text 29"/>
          <p:cNvSpPr txBox="1"/>
          <p:nvPr/>
        </p:nvSpPr>
        <p:spPr>
          <a:xfrm>
            <a:off x="6665976" y="14813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Recherche filtrée par droits</a:t>
            </a:r>
            <a:endParaRPr lang="en-US" sz="1050" dirty="0"/>
          </a:p>
        </p:txBody>
      </p:sp>
      <p:sp>
        <p:nvSpPr>
          <p:cNvPr id="37" name="Text 30"/>
          <p:cNvSpPr txBox="1"/>
          <p:nvPr/>
        </p:nvSpPr>
        <p:spPr>
          <a:xfrm>
            <a:off x="6281928" y="18288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Appliquer les droits à chaque requête, pas seulement à l'indexation.</a:t>
            </a:r>
            <a:endParaRPr lang="en-US" sz="850" dirty="0"/>
          </a:p>
        </p:txBody>
      </p:sp>
      <p:sp>
        <p:nvSpPr>
          <p:cNvPr id="38" name="Shape 31"/>
          <p:cNvSpPr/>
          <p:nvPr/>
        </p:nvSpPr>
        <p:spPr>
          <a:xfrm>
            <a:off x="6172200" y="2286000"/>
            <a:ext cx="2514600" cy="822960"/>
          </a:xfrm>
          <a:prstGeom prst="roundRect">
            <a:avLst>
              <a:gd name="adj" fmla="val 8889"/>
            </a:avLst>
          </a:prstGeom>
          <a:solidFill>
            <a:srgbClr val="F4F7F5"/>
          </a:solidFill>
          <a:ln w="9525">
            <a:solidFill>
              <a:srgbClr val="D5DED9"/>
            </a:solidFill>
            <a:prstDash val="solid"/>
          </a:ln>
        </p:spPr>
      </p:sp>
      <p:sp>
        <p:nvSpPr>
          <p:cNvPr id="39" name="Shape 32"/>
          <p:cNvSpPr/>
          <p:nvPr/>
        </p:nvSpPr>
        <p:spPr>
          <a:xfrm>
            <a:off x="6281928" y="2395728"/>
            <a:ext cx="310896" cy="310896"/>
          </a:xfrm>
          <a:prstGeom prst="ellipse">
            <a:avLst/>
          </a:prstGeom>
          <a:solidFill>
            <a:srgbClr val="00704A">
              <a:alpha val="22000"/>
            </a:srgbClr>
          </a:solidFill>
          <a:ln/>
        </p:spPr>
      </p:sp>
      <p:pic>
        <p:nvPicPr>
          <p:cNvPr id="40" name="Image 4" descr="preencoded.png"/>
          <p:cNvPicPr>
            <a:picLocks noChangeAspect="1"/>
          </p:cNvPicPr>
          <p:nvPr/>
        </p:nvPicPr>
        <p:blipFill>
          <a:blip r:embed="rId7"/>
          <a:stretch>
            <a:fillRect/>
          </a:stretch>
        </p:blipFill>
        <p:spPr>
          <a:xfrm>
            <a:off x="6356543" y="2470343"/>
            <a:ext cx="161666" cy="161666"/>
          </a:xfrm>
          <a:prstGeom prst="rect">
            <a:avLst/>
          </a:prstGeom>
        </p:spPr>
      </p:pic>
      <p:sp>
        <p:nvSpPr>
          <p:cNvPr id="41" name="Text 33"/>
          <p:cNvSpPr txBox="1"/>
          <p:nvPr/>
        </p:nvSpPr>
        <p:spPr>
          <a:xfrm>
            <a:off x="6665976" y="23957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Gestion des secrets</a:t>
            </a:r>
            <a:endParaRPr lang="en-US" sz="1050" dirty="0"/>
          </a:p>
        </p:txBody>
      </p:sp>
      <p:sp>
        <p:nvSpPr>
          <p:cNvPr id="42" name="Text 34"/>
          <p:cNvSpPr txBox="1"/>
          <p:nvPr/>
        </p:nvSpPr>
        <p:spPr>
          <a:xfrm>
            <a:off x="6281928" y="27432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Aucun mot de passe dans le code ; jetons à courte durée.</a:t>
            </a:r>
            <a:endParaRPr lang="en-US" sz="850" dirty="0"/>
          </a:p>
        </p:txBody>
      </p:sp>
      <p:sp>
        <p:nvSpPr>
          <p:cNvPr id="43" name="Shape 35"/>
          <p:cNvSpPr/>
          <p:nvPr/>
        </p:nvSpPr>
        <p:spPr>
          <a:xfrm>
            <a:off x="6172200" y="3200400"/>
            <a:ext cx="2514600" cy="822960"/>
          </a:xfrm>
          <a:prstGeom prst="roundRect">
            <a:avLst>
              <a:gd name="adj" fmla="val 8889"/>
            </a:avLst>
          </a:prstGeom>
          <a:solidFill>
            <a:srgbClr val="F4F7F5"/>
          </a:solidFill>
          <a:ln w="9525">
            <a:solidFill>
              <a:srgbClr val="D5DED9"/>
            </a:solidFill>
            <a:prstDash val="solid"/>
          </a:ln>
        </p:spPr>
      </p:sp>
      <p:sp>
        <p:nvSpPr>
          <p:cNvPr id="44" name="Shape 36"/>
          <p:cNvSpPr/>
          <p:nvPr/>
        </p:nvSpPr>
        <p:spPr>
          <a:xfrm>
            <a:off x="6281928" y="3310128"/>
            <a:ext cx="310896" cy="310896"/>
          </a:xfrm>
          <a:prstGeom prst="ellipse">
            <a:avLst/>
          </a:prstGeom>
          <a:solidFill>
            <a:srgbClr val="00704A">
              <a:alpha val="22000"/>
            </a:srgbClr>
          </a:solidFill>
          <a:ln/>
        </p:spPr>
      </p:sp>
      <p:pic>
        <p:nvPicPr>
          <p:cNvPr id="45" name="Image 5" descr="preencoded.png"/>
          <p:cNvPicPr>
            <a:picLocks noChangeAspect="1"/>
          </p:cNvPicPr>
          <p:nvPr/>
        </p:nvPicPr>
        <p:blipFill>
          <a:blip r:embed="rId8"/>
          <a:stretch>
            <a:fillRect/>
          </a:stretch>
        </p:blipFill>
        <p:spPr>
          <a:xfrm>
            <a:off x="6356543" y="3384743"/>
            <a:ext cx="161666" cy="161666"/>
          </a:xfrm>
          <a:prstGeom prst="rect">
            <a:avLst/>
          </a:prstGeom>
        </p:spPr>
      </p:pic>
      <p:sp>
        <p:nvSpPr>
          <p:cNvPr id="46" name="Text 37"/>
          <p:cNvSpPr txBox="1"/>
          <p:nvPr/>
        </p:nvSpPr>
        <p:spPr>
          <a:xfrm>
            <a:off x="6665976" y="3310128"/>
            <a:ext cx="19568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Conservation et suppression</a:t>
            </a:r>
            <a:endParaRPr lang="en-US" sz="1050" dirty="0"/>
          </a:p>
        </p:txBody>
      </p:sp>
      <p:sp>
        <p:nvSpPr>
          <p:cNvPr id="47" name="Text 38"/>
          <p:cNvSpPr txBox="1"/>
          <p:nvPr/>
        </p:nvSpPr>
        <p:spPr>
          <a:xfrm>
            <a:off x="6281928" y="3657600"/>
            <a:ext cx="2304288" cy="347472"/>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Règles explicites pour requêtes, journaux, index et instantanés.</a:t>
            </a:r>
            <a:endParaRPr lang="en-US" sz="850" dirty="0"/>
          </a:p>
        </p:txBody>
      </p:sp>
      <p:sp>
        <p:nvSpPr>
          <p:cNvPr id="48" name="Shape 39"/>
          <p:cNvSpPr/>
          <p:nvPr/>
        </p:nvSpPr>
        <p:spPr>
          <a:xfrm>
            <a:off x="3108960" y="1371600"/>
            <a:ext cx="2926080" cy="2651760"/>
          </a:xfrm>
          <a:prstGeom prst="roundRect">
            <a:avLst>
              <a:gd name="adj" fmla="val 2759"/>
            </a:avLst>
          </a:prstGeom>
          <a:solidFill>
            <a:srgbClr val="00704A"/>
          </a:solidFill>
          <a:ln/>
        </p:spPr>
      </p:sp>
      <p:sp>
        <p:nvSpPr>
          <p:cNvPr id="49" name="Text 40"/>
          <p:cNvSpPr txBox="1"/>
          <p:nvPr/>
        </p:nvSpPr>
        <p:spPr>
          <a:xfrm>
            <a:off x="3200400" y="1463040"/>
            <a:ext cx="2743200" cy="182880"/>
          </a:xfrm>
          <a:prstGeom prst="rect">
            <a:avLst/>
          </a:prstGeom>
          <a:noFill/>
          <a:ln/>
        </p:spPr>
        <p:txBody>
          <a:bodyPr wrap="square" lIns="0" tIns="0" rIns="0" bIns="0" rtlCol="0" anchor="t"/>
          <a:lstStyle/>
          <a:p>
            <a:pPr marL="0" indent="0" algn="ctr">
              <a:buNone/>
            </a:pPr>
            <a:r>
              <a:rPr lang="en-US" sz="800" b="1" kern="0" spc="100" dirty="0">
                <a:solidFill>
                  <a:srgbClr val="F5C242"/>
                </a:solidFill>
                <a:latin typeface="Calibri" pitchFamily="34" charset="0"/>
                <a:ea typeface="Calibri" pitchFamily="34" charset="-122"/>
                <a:cs typeface="Calibri" pitchFamily="34" charset="-120"/>
              </a:rPr>
              <a:t>L'INVESTISSEMENT LE PLUS RENTABLE</a:t>
            </a:r>
            <a:endParaRPr lang="en-US" sz="800" dirty="0"/>
          </a:p>
        </p:txBody>
      </p:sp>
      <p:sp>
        <p:nvSpPr>
          <p:cNvPr id="50" name="Shape 41"/>
          <p:cNvSpPr/>
          <p:nvPr/>
        </p:nvSpPr>
        <p:spPr>
          <a:xfrm>
            <a:off x="4315968" y="1719072"/>
            <a:ext cx="512064" cy="512064"/>
          </a:xfrm>
          <a:prstGeom prst="ellipse">
            <a:avLst/>
          </a:prstGeom>
          <a:solidFill>
            <a:srgbClr val="FFFFFF"/>
          </a:solidFill>
          <a:ln/>
        </p:spPr>
      </p:sp>
      <p:pic>
        <p:nvPicPr>
          <p:cNvPr id="51" name="Image 6" descr="preencoded.png"/>
          <p:cNvPicPr>
            <a:picLocks noChangeAspect="1"/>
          </p:cNvPicPr>
          <p:nvPr/>
        </p:nvPicPr>
        <p:blipFill>
          <a:blip r:embed="rId9"/>
          <a:stretch>
            <a:fillRect/>
          </a:stretch>
        </p:blipFill>
        <p:spPr>
          <a:xfrm>
            <a:off x="4443984" y="1847088"/>
            <a:ext cx="256032" cy="256032"/>
          </a:xfrm>
          <a:prstGeom prst="rect">
            <a:avLst/>
          </a:prstGeom>
        </p:spPr>
      </p:pic>
      <p:sp>
        <p:nvSpPr>
          <p:cNvPr id="52" name="Text 42"/>
          <p:cNvSpPr txBox="1"/>
          <p:nvPr/>
        </p:nvSpPr>
        <p:spPr>
          <a:xfrm>
            <a:off x="3246120" y="2267712"/>
            <a:ext cx="2651760" cy="274320"/>
          </a:xfrm>
          <a:prstGeom prst="rect">
            <a:avLst/>
          </a:prstGeom>
          <a:noFill/>
          <a:ln/>
        </p:spPr>
        <p:txBody>
          <a:bodyPr wrap="square" lIns="0" tIns="0" rIns="0" bIns="0" rtlCol="0" anchor="t"/>
          <a:lstStyle/>
          <a:p>
            <a:pPr marL="0" indent="0" algn="ctr">
              <a:buNone/>
            </a:pPr>
            <a:r>
              <a:rPr lang="en-US" sz="1400" b="1" dirty="0">
                <a:solidFill>
                  <a:srgbClr val="FFFFFF"/>
                </a:solidFill>
                <a:latin typeface="Calibri" pitchFamily="34" charset="0"/>
                <a:ea typeface="Calibri" pitchFamily="34" charset="-122"/>
                <a:cs typeface="Calibri" pitchFamily="34" charset="-120"/>
              </a:rPr>
              <a:t>La passerelle IA interne</a:t>
            </a:r>
            <a:endParaRPr lang="en-US" sz="1400" dirty="0"/>
          </a:p>
        </p:txBody>
      </p:sp>
      <p:sp>
        <p:nvSpPr>
          <p:cNvPr id="53" name="Text 43"/>
          <p:cNvSpPr txBox="1"/>
          <p:nvPr/>
        </p:nvSpPr>
        <p:spPr>
          <a:xfrm>
            <a:off x="3200400" y="2523744"/>
            <a:ext cx="2743200" cy="201168"/>
          </a:xfrm>
          <a:prstGeom prst="rect">
            <a:avLst/>
          </a:prstGeom>
          <a:noFill/>
          <a:ln/>
        </p:spPr>
        <p:txBody>
          <a:bodyPr wrap="square" lIns="0" tIns="0" rIns="0" bIns="0" rtlCol="0" anchor="t"/>
          <a:lstStyle/>
          <a:p>
            <a:pPr marL="0" indent="0" algn="ctr">
              <a:buNone/>
            </a:pPr>
            <a:r>
              <a:rPr lang="en-US" sz="900" i="1" dirty="0">
                <a:solidFill>
                  <a:srgbClr val="E6F6EE"/>
                </a:solidFill>
                <a:latin typeface="Calibri" pitchFamily="34" charset="0"/>
                <a:ea typeface="Calibri" pitchFamily="34" charset="-122"/>
                <a:cs typeface="Calibri" pitchFamily="34" charset="-120"/>
              </a:rPr>
              <a:t>Un point de passage audité pour chaque appel</a:t>
            </a:r>
            <a:endParaRPr lang="en-US" sz="900" dirty="0"/>
          </a:p>
        </p:txBody>
      </p:sp>
      <p:pic>
        <p:nvPicPr>
          <p:cNvPr id="54" name="Image 7" descr="preencoded.png"/>
          <p:cNvPicPr>
            <a:picLocks noChangeAspect="1"/>
          </p:cNvPicPr>
          <p:nvPr/>
        </p:nvPicPr>
        <p:blipFill>
          <a:blip r:embed="rId10"/>
          <a:stretch>
            <a:fillRect/>
          </a:stretch>
        </p:blipFill>
        <p:spPr>
          <a:xfrm>
            <a:off x="3246120" y="2852928"/>
            <a:ext cx="128016" cy="128016"/>
          </a:xfrm>
          <a:prstGeom prst="rect">
            <a:avLst/>
          </a:prstGeom>
        </p:spPr>
      </p:pic>
      <p:sp>
        <p:nvSpPr>
          <p:cNvPr id="55" name="Text 44"/>
          <p:cNvSpPr txBox="1"/>
          <p:nvPr/>
        </p:nvSpPr>
        <p:spPr>
          <a:xfrm>
            <a:off x="3429000" y="2816352"/>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Modèles autorisés par niveau</a:t>
            </a:r>
            <a:endParaRPr lang="en-US" sz="800" dirty="0"/>
          </a:p>
        </p:txBody>
      </p:sp>
      <p:pic>
        <p:nvPicPr>
          <p:cNvPr id="56" name="Image 8" descr="preencoded.png"/>
          <p:cNvPicPr>
            <a:picLocks noChangeAspect="1"/>
          </p:cNvPicPr>
          <p:nvPr/>
        </p:nvPicPr>
        <p:blipFill>
          <a:blip r:embed="rId10"/>
          <a:stretch>
            <a:fillRect/>
          </a:stretch>
        </p:blipFill>
        <p:spPr>
          <a:xfrm>
            <a:off x="4590288" y="2852928"/>
            <a:ext cx="128016" cy="128016"/>
          </a:xfrm>
          <a:prstGeom prst="rect">
            <a:avLst/>
          </a:prstGeom>
        </p:spPr>
      </p:pic>
      <p:sp>
        <p:nvSpPr>
          <p:cNvPr id="57" name="Text 45"/>
          <p:cNvSpPr txBox="1"/>
          <p:nvPr/>
        </p:nvSpPr>
        <p:spPr>
          <a:xfrm>
            <a:off x="4773168" y="2816352"/>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Masquage et contrôle des requêtes</a:t>
            </a:r>
            <a:endParaRPr lang="en-US" sz="800" dirty="0"/>
          </a:p>
        </p:txBody>
      </p:sp>
      <p:pic>
        <p:nvPicPr>
          <p:cNvPr id="58" name="Image 9" descr="preencoded.png"/>
          <p:cNvPicPr>
            <a:picLocks noChangeAspect="1"/>
          </p:cNvPicPr>
          <p:nvPr/>
        </p:nvPicPr>
        <p:blipFill>
          <a:blip r:embed="rId10"/>
          <a:stretch>
            <a:fillRect/>
          </a:stretch>
        </p:blipFill>
        <p:spPr>
          <a:xfrm>
            <a:off x="3246120" y="3236976"/>
            <a:ext cx="128016" cy="128016"/>
          </a:xfrm>
          <a:prstGeom prst="rect">
            <a:avLst/>
          </a:prstGeom>
        </p:spPr>
      </p:pic>
      <p:sp>
        <p:nvSpPr>
          <p:cNvPr id="59" name="Text 46"/>
          <p:cNvSpPr txBox="1"/>
          <p:nvPr/>
        </p:nvSpPr>
        <p:spPr>
          <a:xfrm>
            <a:off x="3429000" y="3200400"/>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Journalisation inviolable</a:t>
            </a:r>
            <a:endParaRPr lang="en-US" sz="800" dirty="0"/>
          </a:p>
        </p:txBody>
      </p:sp>
      <p:pic>
        <p:nvPicPr>
          <p:cNvPr id="60" name="Image 10" descr="preencoded.png"/>
          <p:cNvPicPr>
            <a:picLocks noChangeAspect="1"/>
          </p:cNvPicPr>
          <p:nvPr/>
        </p:nvPicPr>
        <p:blipFill>
          <a:blip r:embed="rId10"/>
          <a:stretch>
            <a:fillRect/>
          </a:stretch>
        </p:blipFill>
        <p:spPr>
          <a:xfrm>
            <a:off x="4590288" y="3236976"/>
            <a:ext cx="128016" cy="128016"/>
          </a:xfrm>
          <a:prstGeom prst="rect">
            <a:avLst/>
          </a:prstGeom>
        </p:spPr>
      </p:pic>
      <p:sp>
        <p:nvSpPr>
          <p:cNvPr id="61" name="Text 47"/>
          <p:cNvSpPr txBox="1"/>
          <p:nvPr/>
        </p:nvSpPr>
        <p:spPr>
          <a:xfrm>
            <a:off x="4773168" y="3200400"/>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Quotas et plafonds budgétaires</a:t>
            </a:r>
            <a:endParaRPr lang="en-US" sz="800" dirty="0"/>
          </a:p>
        </p:txBody>
      </p:sp>
      <p:pic>
        <p:nvPicPr>
          <p:cNvPr id="62" name="Image 11" descr="preencoded.png"/>
          <p:cNvPicPr>
            <a:picLocks noChangeAspect="1"/>
          </p:cNvPicPr>
          <p:nvPr/>
        </p:nvPicPr>
        <p:blipFill>
          <a:blip r:embed="rId10"/>
          <a:stretch>
            <a:fillRect/>
          </a:stretch>
        </p:blipFill>
        <p:spPr>
          <a:xfrm>
            <a:off x="3246120" y="3621024"/>
            <a:ext cx="128016" cy="128016"/>
          </a:xfrm>
          <a:prstGeom prst="rect">
            <a:avLst/>
          </a:prstGeom>
        </p:spPr>
      </p:pic>
      <p:sp>
        <p:nvSpPr>
          <p:cNvPr id="63" name="Text 48"/>
          <p:cNvSpPr txBox="1"/>
          <p:nvPr/>
        </p:nvSpPr>
        <p:spPr>
          <a:xfrm>
            <a:off x="3429000" y="3584448"/>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Coût par code projet</a:t>
            </a:r>
            <a:endParaRPr lang="en-US" sz="800" dirty="0"/>
          </a:p>
        </p:txBody>
      </p:sp>
      <p:pic>
        <p:nvPicPr>
          <p:cNvPr id="64" name="Image 12" descr="preencoded.png"/>
          <p:cNvPicPr>
            <a:picLocks noChangeAspect="1"/>
          </p:cNvPicPr>
          <p:nvPr/>
        </p:nvPicPr>
        <p:blipFill>
          <a:blip r:embed="rId10"/>
          <a:stretch>
            <a:fillRect/>
          </a:stretch>
        </p:blipFill>
        <p:spPr>
          <a:xfrm>
            <a:off x="4590288" y="3621024"/>
            <a:ext cx="128016" cy="128016"/>
          </a:xfrm>
          <a:prstGeom prst="rect">
            <a:avLst/>
          </a:prstGeom>
        </p:spPr>
      </p:pic>
      <p:sp>
        <p:nvSpPr>
          <p:cNvPr id="65" name="Text 49"/>
          <p:cNvSpPr txBox="1"/>
          <p:nvPr/>
        </p:nvSpPr>
        <p:spPr>
          <a:xfrm>
            <a:off x="4773168" y="3584448"/>
            <a:ext cx="1143000" cy="36576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Changer de modèle par paramétrage</a:t>
            </a:r>
            <a:endParaRPr lang="en-US" sz="800" dirty="0"/>
          </a:p>
        </p:txBody>
      </p:sp>
      <p:sp>
        <p:nvSpPr>
          <p:cNvPr id="66" name="Shape 50"/>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67" name="Shape 51"/>
          <p:cNvSpPr/>
          <p:nvPr/>
        </p:nvSpPr>
        <p:spPr>
          <a:xfrm>
            <a:off x="566928" y="4233672"/>
            <a:ext cx="292608" cy="292608"/>
          </a:xfrm>
          <a:prstGeom prst="ellipse">
            <a:avLst/>
          </a:prstGeom>
          <a:solidFill>
            <a:srgbClr val="00A86A">
              <a:alpha val="22000"/>
            </a:srgbClr>
          </a:solidFill>
          <a:ln/>
        </p:spPr>
      </p:sp>
      <p:pic>
        <p:nvPicPr>
          <p:cNvPr id="68" name="Image 13" descr="preencoded.png"/>
          <p:cNvPicPr>
            <a:picLocks noChangeAspect="1"/>
          </p:cNvPicPr>
          <p:nvPr/>
        </p:nvPicPr>
        <p:blipFill>
          <a:blip r:embed="rId11"/>
          <a:stretch>
            <a:fillRect/>
          </a:stretch>
        </p:blipFill>
        <p:spPr>
          <a:xfrm>
            <a:off x="637154" y="4303898"/>
            <a:ext cx="152156" cy="152156"/>
          </a:xfrm>
          <a:prstGeom prst="rect">
            <a:avLst/>
          </a:prstGeom>
        </p:spPr>
      </p:pic>
      <p:sp>
        <p:nvSpPr>
          <p:cNvPr id="69" name="Text 52"/>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Construisez la passerelle avant le premier usage en production, pas après le cinquième. L'ajouter après coup coûte dix fois plus.</a:t>
            </a:r>
            <a:endParaRPr lang="en-US" sz="105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GOUVERNANCE DES MODÈLES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Gouvernance des modèles : le registre et la validation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Tout modèle derrière un chiffre publié a un responsable, une version, une validation et une date d'expiration</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43</a:t>
            </a:r>
            <a:endParaRPr lang="en-US" sz="850" dirty="0"/>
          </a:p>
        </p:txBody>
      </p:sp>
      <p:sp>
        <p:nvSpPr>
          <p:cNvPr id="18" name="Shape 15"/>
          <p:cNvSpPr/>
          <p:nvPr/>
        </p:nvSpPr>
        <p:spPr>
          <a:xfrm>
            <a:off x="457200" y="1371600"/>
            <a:ext cx="2651760" cy="1234440"/>
          </a:xfrm>
          <a:prstGeom prst="roundRect">
            <a:avLst>
              <a:gd name="adj" fmla="val 5926"/>
            </a:avLst>
          </a:prstGeom>
          <a:solidFill>
            <a:srgbClr val="F4F7F5"/>
          </a:solidFill>
          <a:ln w="9525">
            <a:solidFill>
              <a:srgbClr val="D5DED9"/>
            </a:solidFill>
            <a:prstDash val="solid"/>
          </a:ln>
        </p:spPr>
      </p:sp>
      <p:sp>
        <p:nvSpPr>
          <p:cNvPr id="19" name="Shape 16"/>
          <p:cNvSpPr/>
          <p:nvPr/>
        </p:nvSpPr>
        <p:spPr>
          <a:xfrm>
            <a:off x="566928" y="1481328"/>
            <a:ext cx="329184" cy="329184"/>
          </a:xfrm>
          <a:prstGeom prst="ellipse">
            <a:avLst/>
          </a:prstGeom>
          <a:solidFill>
            <a:srgbClr val="D49A00"/>
          </a:solidFill>
          <a:ln/>
        </p:spPr>
      </p:sp>
      <p:sp>
        <p:nvSpPr>
          <p:cNvPr id="20" name="Text 17"/>
          <p:cNvSpPr txBox="1"/>
          <p:nvPr/>
        </p:nvSpPr>
        <p:spPr>
          <a:xfrm>
            <a:off x="56692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987552" y="1481328"/>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Registre des usages</a:t>
            </a:r>
            <a:endParaRPr lang="en-US" sz="1100" dirty="0"/>
          </a:p>
        </p:txBody>
      </p:sp>
      <p:pic>
        <p:nvPicPr>
          <p:cNvPr id="22" name="Image 0" descr="preencoded.png"/>
          <p:cNvPicPr>
            <a:picLocks noChangeAspect="1"/>
          </p:cNvPicPr>
          <p:nvPr/>
        </p:nvPicPr>
        <p:blipFill>
          <a:blip r:embed="rId3"/>
          <a:stretch>
            <a:fillRect/>
          </a:stretch>
        </p:blipFill>
        <p:spPr>
          <a:xfrm>
            <a:off x="2761488" y="1527048"/>
            <a:ext cx="219456" cy="219456"/>
          </a:xfrm>
          <a:prstGeom prst="rect">
            <a:avLst/>
          </a:prstGeom>
        </p:spPr>
      </p:pic>
      <p:sp>
        <p:nvSpPr>
          <p:cNvPr id="23" name="Text 19"/>
          <p:cNvSpPr txBox="1"/>
          <p:nvPr/>
        </p:nvSpPr>
        <p:spPr>
          <a:xfrm>
            <a:off x="566928" y="1883664"/>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Avant tout développement : finalité, niveau de données, base légale, responsable, bénéfice attendu.</a:t>
            </a:r>
            <a:endParaRPr lang="en-US" sz="900" dirty="0"/>
          </a:p>
        </p:txBody>
      </p:sp>
      <p:sp>
        <p:nvSpPr>
          <p:cNvPr id="24" name="Shape 20"/>
          <p:cNvSpPr/>
          <p:nvPr/>
        </p:nvSpPr>
        <p:spPr>
          <a:xfrm>
            <a:off x="3118104" y="1988820"/>
            <a:ext cx="118872" cy="0"/>
          </a:xfrm>
          <a:prstGeom prst="line">
            <a:avLst/>
          </a:prstGeom>
          <a:noFill/>
          <a:ln w="15875">
            <a:solidFill>
              <a:srgbClr val="5E6964"/>
            </a:solidFill>
            <a:prstDash val="solid"/>
            <a:tailEnd type="triangle"/>
          </a:ln>
        </p:spPr>
      </p:sp>
      <p:sp>
        <p:nvSpPr>
          <p:cNvPr id="25" name="Shape 21"/>
          <p:cNvSpPr/>
          <p:nvPr/>
        </p:nvSpPr>
        <p:spPr>
          <a:xfrm>
            <a:off x="3246120" y="1371600"/>
            <a:ext cx="2651760" cy="1234440"/>
          </a:xfrm>
          <a:prstGeom prst="roundRect">
            <a:avLst>
              <a:gd name="adj" fmla="val 5926"/>
            </a:avLst>
          </a:prstGeom>
          <a:solidFill>
            <a:srgbClr val="F4F7F5"/>
          </a:solidFill>
          <a:ln w="9525">
            <a:solidFill>
              <a:srgbClr val="D5DED9"/>
            </a:solidFill>
            <a:prstDash val="solid"/>
          </a:ln>
        </p:spPr>
      </p:sp>
      <p:sp>
        <p:nvSpPr>
          <p:cNvPr id="26" name="Shape 22"/>
          <p:cNvSpPr/>
          <p:nvPr/>
        </p:nvSpPr>
        <p:spPr>
          <a:xfrm>
            <a:off x="3355848" y="1481328"/>
            <a:ext cx="329184" cy="329184"/>
          </a:xfrm>
          <a:prstGeom prst="ellipse">
            <a:avLst/>
          </a:prstGeom>
          <a:solidFill>
            <a:srgbClr val="D49A00"/>
          </a:solidFill>
          <a:ln/>
        </p:spPr>
      </p:sp>
      <p:sp>
        <p:nvSpPr>
          <p:cNvPr id="27" name="Text 23"/>
          <p:cNvSpPr txBox="1"/>
          <p:nvPr/>
        </p:nvSpPr>
        <p:spPr>
          <a:xfrm>
            <a:off x="335584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4"/>
          <p:cNvSpPr txBox="1"/>
          <p:nvPr/>
        </p:nvSpPr>
        <p:spPr>
          <a:xfrm>
            <a:off x="3776472" y="1481328"/>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Registre des modèles</a:t>
            </a:r>
            <a:endParaRPr lang="en-US" sz="1100" dirty="0"/>
          </a:p>
        </p:txBody>
      </p:sp>
      <p:pic>
        <p:nvPicPr>
          <p:cNvPr id="29" name="Image 1" descr="preencoded.png"/>
          <p:cNvPicPr>
            <a:picLocks noChangeAspect="1"/>
          </p:cNvPicPr>
          <p:nvPr/>
        </p:nvPicPr>
        <p:blipFill>
          <a:blip r:embed="rId4"/>
          <a:stretch>
            <a:fillRect/>
          </a:stretch>
        </p:blipFill>
        <p:spPr>
          <a:xfrm>
            <a:off x="5550408" y="1527048"/>
            <a:ext cx="219456" cy="219456"/>
          </a:xfrm>
          <a:prstGeom prst="rect">
            <a:avLst/>
          </a:prstGeom>
        </p:spPr>
      </p:pic>
      <p:sp>
        <p:nvSpPr>
          <p:cNvPr id="30" name="Text 25"/>
          <p:cNvSpPr txBox="1"/>
          <p:nvPr/>
        </p:nvSpPr>
        <p:spPr>
          <a:xfrm>
            <a:off x="3355848" y="1883664"/>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Version, données, résultats d'évaluation, approbateur, périmètre et limites connues.</a:t>
            </a:r>
            <a:endParaRPr lang="en-US" sz="900" dirty="0"/>
          </a:p>
        </p:txBody>
      </p:sp>
      <p:sp>
        <p:nvSpPr>
          <p:cNvPr id="31" name="Shape 26"/>
          <p:cNvSpPr/>
          <p:nvPr/>
        </p:nvSpPr>
        <p:spPr>
          <a:xfrm>
            <a:off x="5907024" y="1988820"/>
            <a:ext cx="118872" cy="0"/>
          </a:xfrm>
          <a:prstGeom prst="line">
            <a:avLst/>
          </a:prstGeom>
          <a:noFill/>
          <a:ln w="15875">
            <a:solidFill>
              <a:srgbClr val="5E6964"/>
            </a:solidFill>
            <a:prstDash val="solid"/>
            <a:tailEnd type="triangle"/>
          </a:ln>
        </p:spPr>
      </p:sp>
      <p:sp>
        <p:nvSpPr>
          <p:cNvPr id="32" name="Shape 27"/>
          <p:cNvSpPr/>
          <p:nvPr/>
        </p:nvSpPr>
        <p:spPr>
          <a:xfrm>
            <a:off x="6035040" y="1371600"/>
            <a:ext cx="2651760" cy="1234440"/>
          </a:xfrm>
          <a:prstGeom prst="roundRect">
            <a:avLst>
              <a:gd name="adj" fmla="val 5926"/>
            </a:avLst>
          </a:prstGeom>
          <a:solidFill>
            <a:srgbClr val="F4F7F5"/>
          </a:solidFill>
          <a:ln w="9525">
            <a:solidFill>
              <a:srgbClr val="D5DED9"/>
            </a:solidFill>
            <a:prstDash val="solid"/>
          </a:ln>
        </p:spPr>
      </p:sp>
      <p:sp>
        <p:nvSpPr>
          <p:cNvPr id="33" name="Shape 28"/>
          <p:cNvSpPr/>
          <p:nvPr/>
        </p:nvSpPr>
        <p:spPr>
          <a:xfrm>
            <a:off x="6144768" y="1481328"/>
            <a:ext cx="329184" cy="329184"/>
          </a:xfrm>
          <a:prstGeom prst="ellipse">
            <a:avLst/>
          </a:prstGeom>
          <a:solidFill>
            <a:srgbClr val="D49A00"/>
          </a:solidFill>
          <a:ln/>
        </p:spPr>
      </p:sp>
      <p:sp>
        <p:nvSpPr>
          <p:cNvPr id="34" name="Text 29"/>
          <p:cNvSpPr txBox="1"/>
          <p:nvPr/>
        </p:nvSpPr>
        <p:spPr>
          <a:xfrm>
            <a:off x="6144768" y="14813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5" name="Text 30"/>
          <p:cNvSpPr txBox="1"/>
          <p:nvPr/>
        </p:nvSpPr>
        <p:spPr>
          <a:xfrm>
            <a:off x="6565392" y="1481328"/>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Documentation</a:t>
            </a:r>
            <a:endParaRPr lang="en-US" sz="1100" dirty="0"/>
          </a:p>
        </p:txBody>
      </p:sp>
      <p:pic>
        <p:nvPicPr>
          <p:cNvPr id="36" name="Image 2" descr="preencoded.png"/>
          <p:cNvPicPr>
            <a:picLocks noChangeAspect="1"/>
          </p:cNvPicPr>
          <p:nvPr/>
        </p:nvPicPr>
        <p:blipFill>
          <a:blip r:embed="rId5"/>
          <a:stretch>
            <a:fillRect/>
          </a:stretch>
        </p:blipFill>
        <p:spPr>
          <a:xfrm>
            <a:off x="8339328" y="1527048"/>
            <a:ext cx="219456" cy="219456"/>
          </a:xfrm>
          <a:prstGeom prst="rect">
            <a:avLst/>
          </a:prstGeom>
        </p:spPr>
      </p:pic>
      <p:sp>
        <p:nvSpPr>
          <p:cNvPr id="37" name="Text 31"/>
          <p:cNvSpPr txBox="1"/>
          <p:nvPr/>
        </p:nvSpPr>
        <p:spPr>
          <a:xfrm>
            <a:off x="6144768" y="1883664"/>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fiche de modèle au même niveau d'exigence que la documentation méthodologique.</a:t>
            </a:r>
            <a:endParaRPr lang="en-US" sz="900" dirty="0"/>
          </a:p>
        </p:txBody>
      </p:sp>
      <p:sp>
        <p:nvSpPr>
          <p:cNvPr id="38" name="Shape 32"/>
          <p:cNvSpPr/>
          <p:nvPr/>
        </p:nvSpPr>
        <p:spPr>
          <a:xfrm>
            <a:off x="457200" y="2770632"/>
            <a:ext cx="2651760" cy="1234440"/>
          </a:xfrm>
          <a:prstGeom prst="roundRect">
            <a:avLst>
              <a:gd name="adj" fmla="val 5926"/>
            </a:avLst>
          </a:prstGeom>
          <a:solidFill>
            <a:srgbClr val="E8F5EF"/>
          </a:solidFill>
          <a:ln w="15875">
            <a:solidFill>
              <a:srgbClr val="D49A00"/>
            </a:solidFill>
            <a:prstDash val="solid"/>
          </a:ln>
        </p:spPr>
      </p:sp>
      <p:sp>
        <p:nvSpPr>
          <p:cNvPr id="39" name="Shape 33"/>
          <p:cNvSpPr/>
          <p:nvPr/>
        </p:nvSpPr>
        <p:spPr>
          <a:xfrm>
            <a:off x="566928" y="2880360"/>
            <a:ext cx="329184" cy="329184"/>
          </a:xfrm>
          <a:prstGeom prst="ellipse">
            <a:avLst/>
          </a:prstGeom>
          <a:solidFill>
            <a:srgbClr val="D49A00"/>
          </a:solidFill>
          <a:ln/>
        </p:spPr>
      </p:sp>
      <p:sp>
        <p:nvSpPr>
          <p:cNvPr id="40" name="Text 34"/>
          <p:cNvSpPr txBox="1"/>
          <p:nvPr/>
        </p:nvSpPr>
        <p:spPr>
          <a:xfrm>
            <a:off x="56692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1" name="Text 35"/>
          <p:cNvSpPr txBox="1"/>
          <p:nvPr/>
        </p:nvSpPr>
        <p:spPr>
          <a:xfrm>
            <a:off x="987552" y="2880360"/>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Validation</a:t>
            </a:r>
            <a:endParaRPr lang="en-US" sz="1100" dirty="0"/>
          </a:p>
        </p:txBody>
      </p:sp>
      <p:pic>
        <p:nvPicPr>
          <p:cNvPr id="42" name="Image 3" descr="preencoded.png"/>
          <p:cNvPicPr>
            <a:picLocks noChangeAspect="1"/>
          </p:cNvPicPr>
          <p:nvPr/>
        </p:nvPicPr>
        <p:blipFill>
          <a:blip r:embed="rId6"/>
          <a:stretch>
            <a:fillRect/>
          </a:stretch>
        </p:blipFill>
        <p:spPr>
          <a:xfrm>
            <a:off x="2761488" y="2926080"/>
            <a:ext cx="219456" cy="219456"/>
          </a:xfrm>
          <a:prstGeom prst="rect">
            <a:avLst/>
          </a:prstGeom>
        </p:spPr>
      </p:pic>
      <p:sp>
        <p:nvSpPr>
          <p:cNvPr id="43" name="Text 36"/>
          <p:cNvSpPr txBox="1"/>
          <p:nvPr/>
        </p:nvSpPr>
        <p:spPr>
          <a:xfrm>
            <a:off x="566928" y="3282696"/>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Accord de l'autorité compétente pour tout changement méthodologique ; sécurité et données en parallèle.</a:t>
            </a:r>
            <a:endParaRPr lang="en-US" sz="900" dirty="0"/>
          </a:p>
        </p:txBody>
      </p:sp>
      <p:sp>
        <p:nvSpPr>
          <p:cNvPr id="44" name="Shape 37"/>
          <p:cNvSpPr/>
          <p:nvPr/>
        </p:nvSpPr>
        <p:spPr>
          <a:xfrm>
            <a:off x="3118104" y="3387852"/>
            <a:ext cx="118872" cy="0"/>
          </a:xfrm>
          <a:prstGeom prst="line">
            <a:avLst/>
          </a:prstGeom>
          <a:noFill/>
          <a:ln w="15875">
            <a:solidFill>
              <a:srgbClr val="5E6964"/>
            </a:solidFill>
            <a:prstDash val="solid"/>
            <a:tailEnd type="triangle"/>
          </a:ln>
        </p:spPr>
      </p:sp>
      <p:sp>
        <p:nvSpPr>
          <p:cNvPr id="45" name="Shape 38"/>
          <p:cNvSpPr/>
          <p:nvPr/>
        </p:nvSpPr>
        <p:spPr>
          <a:xfrm>
            <a:off x="3246120" y="2770632"/>
            <a:ext cx="2651760" cy="1234440"/>
          </a:xfrm>
          <a:prstGeom prst="roundRect">
            <a:avLst>
              <a:gd name="adj" fmla="val 5926"/>
            </a:avLst>
          </a:prstGeom>
          <a:solidFill>
            <a:srgbClr val="F4F7F5"/>
          </a:solidFill>
          <a:ln w="9525">
            <a:solidFill>
              <a:srgbClr val="D5DED9"/>
            </a:solidFill>
            <a:prstDash val="solid"/>
          </a:ln>
        </p:spPr>
      </p:sp>
      <p:sp>
        <p:nvSpPr>
          <p:cNvPr id="46" name="Shape 39"/>
          <p:cNvSpPr/>
          <p:nvPr/>
        </p:nvSpPr>
        <p:spPr>
          <a:xfrm>
            <a:off x="3355848" y="2880360"/>
            <a:ext cx="329184" cy="329184"/>
          </a:xfrm>
          <a:prstGeom prst="ellipse">
            <a:avLst/>
          </a:prstGeom>
          <a:solidFill>
            <a:srgbClr val="D49A00"/>
          </a:solidFill>
          <a:ln/>
        </p:spPr>
      </p:sp>
      <p:sp>
        <p:nvSpPr>
          <p:cNvPr id="47" name="Text 40"/>
          <p:cNvSpPr txBox="1"/>
          <p:nvPr/>
        </p:nvSpPr>
        <p:spPr>
          <a:xfrm>
            <a:off x="335584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8" name="Text 41"/>
          <p:cNvSpPr txBox="1"/>
          <p:nvPr/>
        </p:nvSpPr>
        <p:spPr>
          <a:xfrm>
            <a:off x="3776472" y="2880360"/>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Revalidation planifiée</a:t>
            </a:r>
            <a:endParaRPr lang="en-US" sz="1100" dirty="0"/>
          </a:p>
        </p:txBody>
      </p:sp>
      <p:pic>
        <p:nvPicPr>
          <p:cNvPr id="49" name="Image 4" descr="preencoded.png"/>
          <p:cNvPicPr>
            <a:picLocks noChangeAspect="1"/>
          </p:cNvPicPr>
          <p:nvPr/>
        </p:nvPicPr>
        <p:blipFill>
          <a:blip r:embed="rId7"/>
          <a:stretch>
            <a:fillRect/>
          </a:stretch>
        </p:blipFill>
        <p:spPr>
          <a:xfrm>
            <a:off x="5550408" y="2926080"/>
            <a:ext cx="219456" cy="219456"/>
          </a:xfrm>
          <a:prstGeom prst="rect">
            <a:avLst/>
          </a:prstGeom>
        </p:spPr>
      </p:pic>
      <p:sp>
        <p:nvSpPr>
          <p:cNvPr id="50" name="Text 42"/>
          <p:cNvSpPr txBox="1"/>
          <p:nvPr/>
        </p:nvSpPr>
        <p:spPr>
          <a:xfrm>
            <a:off x="3355848" y="3282696"/>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Nouveau test sur le jeu de référence à date fixe ; suivi de la dérive entre-temps.</a:t>
            </a:r>
            <a:endParaRPr lang="en-US" sz="900" dirty="0"/>
          </a:p>
        </p:txBody>
      </p:sp>
      <p:sp>
        <p:nvSpPr>
          <p:cNvPr id="51" name="Shape 43"/>
          <p:cNvSpPr/>
          <p:nvPr/>
        </p:nvSpPr>
        <p:spPr>
          <a:xfrm>
            <a:off x="5907024" y="3387852"/>
            <a:ext cx="118872" cy="0"/>
          </a:xfrm>
          <a:prstGeom prst="line">
            <a:avLst/>
          </a:prstGeom>
          <a:noFill/>
          <a:ln w="15875">
            <a:solidFill>
              <a:srgbClr val="5E6964"/>
            </a:solidFill>
            <a:prstDash val="solid"/>
            <a:tailEnd type="triangle"/>
          </a:ln>
        </p:spPr>
      </p:sp>
      <p:sp>
        <p:nvSpPr>
          <p:cNvPr id="52" name="Shape 44"/>
          <p:cNvSpPr/>
          <p:nvPr/>
        </p:nvSpPr>
        <p:spPr>
          <a:xfrm>
            <a:off x="6035040" y="2770632"/>
            <a:ext cx="2651760" cy="1234440"/>
          </a:xfrm>
          <a:prstGeom prst="roundRect">
            <a:avLst>
              <a:gd name="adj" fmla="val 5926"/>
            </a:avLst>
          </a:prstGeom>
          <a:solidFill>
            <a:srgbClr val="F4F7F5"/>
          </a:solidFill>
          <a:ln w="9525">
            <a:solidFill>
              <a:srgbClr val="D5DED9"/>
            </a:solidFill>
            <a:prstDash val="solid"/>
          </a:ln>
        </p:spPr>
      </p:sp>
      <p:sp>
        <p:nvSpPr>
          <p:cNvPr id="53" name="Shape 45"/>
          <p:cNvSpPr/>
          <p:nvPr/>
        </p:nvSpPr>
        <p:spPr>
          <a:xfrm>
            <a:off x="6144768" y="2880360"/>
            <a:ext cx="329184" cy="329184"/>
          </a:xfrm>
          <a:prstGeom prst="ellipse">
            <a:avLst/>
          </a:prstGeom>
          <a:solidFill>
            <a:srgbClr val="D49A00"/>
          </a:solidFill>
          <a:ln/>
        </p:spPr>
      </p:sp>
      <p:sp>
        <p:nvSpPr>
          <p:cNvPr id="54" name="Text 46"/>
          <p:cNvSpPr txBox="1"/>
          <p:nvPr/>
        </p:nvSpPr>
        <p:spPr>
          <a:xfrm>
            <a:off x="6144768" y="2880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5" name="Text 47"/>
          <p:cNvSpPr txBox="1"/>
          <p:nvPr/>
        </p:nvSpPr>
        <p:spPr>
          <a:xfrm>
            <a:off x="6565392" y="2880360"/>
            <a:ext cx="1691640" cy="329184"/>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Repli et retrait</a:t>
            </a:r>
            <a:endParaRPr lang="en-US" sz="1100" dirty="0"/>
          </a:p>
        </p:txBody>
      </p:sp>
      <p:pic>
        <p:nvPicPr>
          <p:cNvPr id="56" name="Image 5" descr="preencoded.png"/>
          <p:cNvPicPr>
            <a:picLocks noChangeAspect="1"/>
          </p:cNvPicPr>
          <p:nvPr/>
        </p:nvPicPr>
        <p:blipFill>
          <a:blip r:embed="rId8"/>
          <a:stretch>
            <a:fillRect/>
          </a:stretch>
        </p:blipFill>
        <p:spPr>
          <a:xfrm>
            <a:off x="8339328" y="2926080"/>
            <a:ext cx="219456" cy="219456"/>
          </a:xfrm>
          <a:prstGeom prst="rect">
            <a:avLst/>
          </a:prstGeom>
        </p:spPr>
      </p:pic>
      <p:sp>
        <p:nvSpPr>
          <p:cNvPr id="57" name="Text 48"/>
          <p:cNvSpPr txBox="1"/>
          <p:nvPr/>
        </p:nvSpPr>
        <p:spPr>
          <a:xfrm>
            <a:off x="6144768" y="3282696"/>
            <a:ext cx="2432304" cy="66751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retour testé au modèle précédent ou au manuel ; une date de revue pour chaque modèle.</a:t>
            </a:r>
            <a:endParaRPr lang="en-US" sz="900" dirty="0"/>
          </a:p>
        </p:txBody>
      </p:sp>
      <p:sp>
        <p:nvSpPr>
          <p:cNvPr id="58" name="Shape 49"/>
          <p:cNvSpPr/>
          <p:nvPr/>
        </p:nvSpPr>
        <p:spPr>
          <a:xfrm>
            <a:off x="457200" y="4160520"/>
            <a:ext cx="8229600" cy="438912"/>
          </a:xfrm>
          <a:prstGeom prst="roundRect">
            <a:avLst>
              <a:gd name="adj" fmla="val 12500"/>
            </a:avLst>
          </a:prstGeom>
          <a:solidFill>
            <a:srgbClr val="D49A00">
              <a:alpha val="13000"/>
            </a:srgbClr>
          </a:solidFill>
          <a:ln w="12700">
            <a:solidFill>
              <a:srgbClr val="D49A00"/>
            </a:solidFill>
            <a:prstDash val="solid"/>
          </a:ln>
        </p:spPr>
      </p:sp>
      <p:sp>
        <p:nvSpPr>
          <p:cNvPr id="59" name="Shape 50"/>
          <p:cNvSpPr/>
          <p:nvPr/>
        </p:nvSpPr>
        <p:spPr>
          <a:xfrm>
            <a:off x="566928" y="4233672"/>
            <a:ext cx="292608" cy="292608"/>
          </a:xfrm>
          <a:prstGeom prst="ellipse">
            <a:avLst/>
          </a:prstGeom>
          <a:solidFill>
            <a:srgbClr val="D49A00">
              <a:alpha val="22000"/>
            </a:srgbClr>
          </a:solidFill>
          <a:ln/>
        </p:spPr>
      </p:sp>
      <p:pic>
        <p:nvPicPr>
          <p:cNvPr id="60" name="Image 6" descr="preencoded.png"/>
          <p:cNvPicPr>
            <a:picLocks noChangeAspect="1"/>
          </p:cNvPicPr>
          <p:nvPr/>
        </p:nvPicPr>
        <p:blipFill>
          <a:blip r:embed="rId8"/>
          <a:stretch>
            <a:fillRect/>
          </a:stretch>
        </p:blipFill>
        <p:spPr>
          <a:xfrm>
            <a:off x="637154" y="4303898"/>
            <a:ext cx="152156" cy="152156"/>
          </a:xfrm>
          <a:prstGeom prst="rect">
            <a:avLst/>
          </a:prstGeom>
        </p:spPr>
      </p:pic>
      <p:sp>
        <p:nvSpPr>
          <p:cNvPr id="61" name="Text 51"/>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Réutilisez l'existant.  </a:t>
            </a:r>
            <a:r>
              <a:rPr lang="en-US" sz="950" dirty="0">
                <a:solidFill>
                  <a:srgbClr val="231F20"/>
                </a:solidFill>
                <a:latin typeface="Calibri" pitchFamily="34" charset="0"/>
                <a:ea typeface="Calibri" pitchFamily="34" charset="-122"/>
                <a:cs typeface="Calibri" pitchFamily="34" charset="-120"/>
              </a:rPr>
              <a:t>Étendez aux modèles votre processus de validation des changements méthodologiques et vos revues qualité, plutôt que de créer une instance IA parallèle qui mobilise les mêmes personnes.</a:t>
            </a:r>
            <a:endParaRPr lang="en-US" sz="95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INTÉGRATION AU PROCESSUS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L'IA dans le processus de production statistique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Positionnée sur les phases du GSBPM, avec le niveau de supervision humaine requis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44</a:t>
            </a:r>
            <a:endParaRPr lang="en-US" sz="850" dirty="0"/>
          </a:p>
        </p:txBody>
      </p:sp>
      <p:sp>
        <p:nvSpPr>
          <p:cNvPr id="18" name="Shape 15"/>
          <p:cNvSpPr/>
          <p:nvPr/>
        </p:nvSpPr>
        <p:spPr>
          <a:xfrm>
            <a:off x="457200" y="1325880"/>
            <a:ext cx="1988820" cy="329184"/>
          </a:xfrm>
          <a:prstGeom prst="homePlate">
            <a:avLst/>
          </a:prstGeom>
          <a:solidFill>
            <a:srgbClr val="00A86A"/>
          </a:solidFill>
          <a:ln/>
        </p:spPr>
      </p:sp>
      <p:sp>
        <p:nvSpPr>
          <p:cNvPr id="19" name="Text 16"/>
          <p:cNvSpPr txBox="1"/>
          <p:nvPr/>
        </p:nvSpPr>
        <p:spPr>
          <a:xfrm>
            <a:off x="59436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1  COLLECTE</a:t>
            </a:r>
            <a:endParaRPr lang="en-US" sz="1050" dirty="0"/>
          </a:p>
        </p:txBody>
      </p:sp>
      <p:sp>
        <p:nvSpPr>
          <p:cNvPr id="20" name="Shape 17"/>
          <p:cNvSpPr/>
          <p:nvPr/>
        </p:nvSpPr>
        <p:spPr>
          <a:xfrm>
            <a:off x="457200" y="1719072"/>
            <a:ext cx="1897380" cy="1170432"/>
          </a:xfrm>
          <a:prstGeom prst="roundRect">
            <a:avLst>
              <a:gd name="adj" fmla="val 6250"/>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566928" y="1837944"/>
            <a:ext cx="137160" cy="137160"/>
          </a:xfrm>
          <a:prstGeom prst="rect">
            <a:avLst/>
          </a:prstGeom>
        </p:spPr>
      </p:pic>
      <p:sp>
        <p:nvSpPr>
          <p:cNvPr id="22" name="Text 18"/>
          <p:cNvSpPr txBox="1"/>
          <p:nvPr/>
        </p:nvSpPr>
        <p:spPr>
          <a:xfrm>
            <a:off x="777240" y="181051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Données web et de caisse</a:t>
            </a:r>
            <a:endParaRPr lang="en-US" sz="900" dirty="0"/>
          </a:p>
        </p:txBody>
      </p:sp>
      <p:pic>
        <p:nvPicPr>
          <p:cNvPr id="23" name="Image 1" descr="preencoded.png"/>
          <p:cNvPicPr>
            <a:picLocks noChangeAspect="1"/>
          </p:cNvPicPr>
          <p:nvPr/>
        </p:nvPicPr>
        <p:blipFill>
          <a:blip r:embed="rId3"/>
          <a:stretch>
            <a:fillRect/>
          </a:stretch>
        </p:blipFill>
        <p:spPr>
          <a:xfrm>
            <a:off x="566928" y="2112264"/>
            <a:ext cx="137160" cy="137160"/>
          </a:xfrm>
          <a:prstGeom prst="rect">
            <a:avLst/>
          </a:prstGeom>
        </p:spPr>
      </p:pic>
      <p:sp>
        <p:nvSpPr>
          <p:cNvPr id="24" name="Text 19"/>
          <p:cNvSpPr txBox="1"/>
          <p:nvPr/>
        </p:nvSpPr>
        <p:spPr>
          <a:xfrm>
            <a:off x="777240" y="208483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Saisie des questionnaires papier</a:t>
            </a:r>
            <a:endParaRPr lang="en-US" sz="900" dirty="0"/>
          </a:p>
        </p:txBody>
      </p:sp>
      <p:pic>
        <p:nvPicPr>
          <p:cNvPr id="25" name="Image 2" descr="preencoded.png"/>
          <p:cNvPicPr>
            <a:picLocks noChangeAspect="1"/>
          </p:cNvPicPr>
          <p:nvPr/>
        </p:nvPicPr>
        <p:blipFill>
          <a:blip r:embed="rId3"/>
          <a:stretch>
            <a:fillRect/>
          </a:stretch>
        </p:blipFill>
        <p:spPr>
          <a:xfrm>
            <a:off x="566928" y="2386584"/>
            <a:ext cx="137160" cy="137160"/>
          </a:xfrm>
          <a:prstGeom prst="rect">
            <a:avLst/>
          </a:prstGeom>
        </p:spPr>
      </p:pic>
      <p:sp>
        <p:nvSpPr>
          <p:cNvPr id="26" name="Text 20"/>
          <p:cNvSpPr txBox="1"/>
          <p:nvPr/>
        </p:nvSpPr>
        <p:spPr>
          <a:xfrm>
            <a:off x="777240" y="235915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Modèles de non-réponse</a:t>
            </a:r>
            <a:endParaRPr lang="en-US" sz="900" dirty="0"/>
          </a:p>
        </p:txBody>
      </p:sp>
      <p:sp>
        <p:nvSpPr>
          <p:cNvPr id="27" name="Text 21"/>
          <p:cNvSpPr txBox="1"/>
          <p:nvPr/>
        </p:nvSpPr>
        <p:spPr>
          <a:xfrm>
            <a:off x="566928" y="2651760"/>
            <a:ext cx="731520" cy="182880"/>
          </a:xfrm>
          <a:prstGeom prst="rect">
            <a:avLst/>
          </a:prstGeom>
          <a:noFill/>
          <a:ln/>
        </p:spPr>
        <p:txBody>
          <a:bodyPr wrap="square" lIns="0" tIns="0" rIns="0" bIns="0" rtlCol="0" anchor="ctr"/>
          <a:lstStyle/>
          <a:p>
            <a:pPr marL="0" indent="0">
              <a:buNone/>
            </a:pPr>
            <a:r>
              <a:rPr lang="en-US" sz="700" b="1" dirty="0">
                <a:solidFill>
                  <a:srgbClr val="5E6964"/>
                </a:solidFill>
                <a:latin typeface="Calibri" pitchFamily="34" charset="0"/>
                <a:ea typeface="Calibri" pitchFamily="34" charset="-122"/>
                <a:cs typeface="Calibri" pitchFamily="34" charset="-120"/>
              </a:rPr>
              <a:t>SUPERVISION</a:t>
            </a:r>
            <a:endParaRPr lang="en-US" sz="700" dirty="0"/>
          </a:p>
        </p:txBody>
      </p:sp>
      <p:sp>
        <p:nvSpPr>
          <p:cNvPr id="28" name="Text 22"/>
          <p:cNvSpPr txBox="1"/>
          <p:nvPr/>
        </p:nvSpPr>
        <p:spPr>
          <a:xfrm>
            <a:off x="1234440" y="2615184"/>
            <a:ext cx="1074420" cy="256032"/>
          </a:xfrm>
          <a:prstGeom prst="rect">
            <a:avLst/>
          </a:prstGeom>
          <a:noFill/>
          <a:ln/>
        </p:spPr>
        <p:txBody>
          <a:bodyPr wrap="square" lIns="0" tIns="0" rIns="0" bIns="0" rtlCol="0" anchor="ctr"/>
          <a:lstStyle/>
          <a:p>
            <a:pPr marL="0" indent="0">
              <a:buNone/>
            </a:pPr>
            <a:r>
              <a:rPr lang="en-US" sz="850" b="1" dirty="0">
                <a:solidFill>
                  <a:srgbClr val="00A86A"/>
                </a:solidFill>
                <a:latin typeface="Calibri" pitchFamily="34" charset="0"/>
                <a:ea typeface="Calibri" pitchFamily="34" charset="-122"/>
                <a:cs typeface="Calibri" pitchFamily="34" charset="-120"/>
              </a:rPr>
              <a:t>Assistée</a:t>
            </a:r>
            <a:endParaRPr lang="en-US" sz="850" dirty="0"/>
          </a:p>
        </p:txBody>
      </p:sp>
      <p:sp>
        <p:nvSpPr>
          <p:cNvPr id="29" name="Shape 23"/>
          <p:cNvSpPr/>
          <p:nvPr/>
        </p:nvSpPr>
        <p:spPr>
          <a:xfrm>
            <a:off x="2537460" y="1325880"/>
            <a:ext cx="1988820" cy="329184"/>
          </a:xfrm>
          <a:prstGeom prst="homePlate">
            <a:avLst/>
          </a:prstGeom>
          <a:solidFill>
            <a:srgbClr val="00704A"/>
          </a:solidFill>
          <a:ln/>
        </p:spPr>
      </p:sp>
      <p:sp>
        <p:nvSpPr>
          <p:cNvPr id="30" name="Text 24"/>
          <p:cNvSpPr txBox="1"/>
          <p:nvPr/>
        </p:nvSpPr>
        <p:spPr>
          <a:xfrm>
            <a:off x="267462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2  TRAITEMENT</a:t>
            </a:r>
            <a:endParaRPr lang="en-US" sz="1050" dirty="0"/>
          </a:p>
        </p:txBody>
      </p:sp>
      <p:sp>
        <p:nvSpPr>
          <p:cNvPr id="31" name="Shape 25"/>
          <p:cNvSpPr/>
          <p:nvPr/>
        </p:nvSpPr>
        <p:spPr>
          <a:xfrm>
            <a:off x="2537460" y="1719072"/>
            <a:ext cx="1897380" cy="1170432"/>
          </a:xfrm>
          <a:prstGeom prst="roundRect">
            <a:avLst>
              <a:gd name="adj" fmla="val 6250"/>
            </a:avLst>
          </a:prstGeom>
          <a:solidFill>
            <a:srgbClr val="F4F7F5"/>
          </a:solidFill>
          <a:ln w="9525">
            <a:solidFill>
              <a:srgbClr val="D5DED9"/>
            </a:solidFill>
            <a:prstDash val="solid"/>
          </a:ln>
        </p:spPr>
      </p:sp>
      <p:pic>
        <p:nvPicPr>
          <p:cNvPr id="32" name="Image 3" descr="preencoded.png"/>
          <p:cNvPicPr>
            <a:picLocks noChangeAspect="1"/>
          </p:cNvPicPr>
          <p:nvPr/>
        </p:nvPicPr>
        <p:blipFill>
          <a:blip r:embed="rId4"/>
          <a:stretch>
            <a:fillRect/>
          </a:stretch>
        </p:blipFill>
        <p:spPr>
          <a:xfrm>
            <a:off x="2647188" y="1837944"/>
            <a:ext cx="137160" cy="137160"/>
          </a:xfrm>
          <a:prstGeom prst="rect">
            <a:avLst/>
          </a:prstGeom>
        </p:spPr>
      </p:pic>
      <p:sp>
        <p:nvSpPr>
          <p:cNvPr id="33" name="Text 26"/>
          <p:cNvSpPr txBox="1"/>
          <p:nvPr/>
        </p:nvSpPr>
        <p:spPr>
          <a:xfrm>
            <a:off x="2857500" y="181051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Codification automatique</a:t>
            </a:r>
            <a:endParaRPr lang="en-US" sz="900" dirty="0"/>
          </a:p>
        </p:txBody>
      </p:sp>
      <p:pic>
        <p:nvPicPr>
          <p:cNvPr id="34" name="Image 4" descr="preencoded.png"/>
          <p:cNvPicPr>
            <a:picLocks noChangeAspect="1"/>
          </p:cNvPicPr>
          <p:nvPr/>
        </p:nvPicPr>
        <p:blipFill>
          <a:blip r:embed="rId4"/>
          <a:stretch>
            <a:fillRect/>
          </a:stretch>
        </p:blipFill>
        <p:spPr>
          <a:xfrm>
            <a:off x="2647188" y="2112264"/>
            <a:ext cx="137160" cy="137160"/>
          </a:xfrm>
          <a:prstGeom prst="rect">
            <a:avLst/>
          </a:prstGeom>
        </p:spPr>
      </p:pic>
      <p:sp>
        <p:nvSpPr>
          <p:cNvPr id="35" name="Text 27"/>
          <p:cNvSpPr txBox="1"/>
          <p:nvPr/>
        </p:nvSpPr>
        <p:spPr>
          <a:xfrm>
            <a:off x="2857500" y="208483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Contrôle sélectif</a:t>
            </a:r>
            <a:endParaRPr lang="en-US" sz="900" dirty="0"/>
          </a:p>
        </p:txBody>
      </p:sp>
      <p:pic>
        <p:nvPicPr>
          <p:cNvPr id="36" name="Image 5" descr="preencoded.png"/>
          <p:cNvPicPr>
            <a:picLocks noChangeAspect="1"/>
          </p:cNvPicPr>
          <p:nvPr/>
        </p:nvPicPr>
        <p:blipFill>
          <a:blip r:embed="rId4"/>
          <a:stretch>
            <a:fillRect/>
          </a:stretch>
        </p:blipFill>
        <p:spPr>
          <a:xfrm>
            <a:off x="2647188" y="2386584"/>
            <a:ext cx="137160" cy="137160"/>
          </a:xfrm>
          <a:prstGeom prst="rect">
            <a:avLst/>
          </a:prstGeom>
        </p:spPr>
      </p:pic>
      <p:sp>
        <p:nvSpPr>
          <p:cNvPr id="37" name="Text 28"/>
          <p:cNvSpPr txBox="1"/>
          <p:nvPr/>
        </p:nvSpPr>
        <p:spPr>
          <a:xfrm>
            <a:off x="2857500" y="235915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Imputation, appariement</a:t>
            </a:r>
            <a:endParaRPr lang="en-US" sz="900" dirty="0"/>
          </a:p>
        </p:txBody>
      </p:sp>
      <p:sp>
        <p:nvSpPr>
          <p:cNvPr id="38" name="Text 29"/>
          <p:cNvSpPr txBox="1"/>
          <p:nvPr/>
        </p:nvSpPr>
        <p:spPr>
          <a:xfrm>
            <a:off x="2647188" y="2651760"/>
            <a:ext cx="731520" cy="182880"/>
          </a:xfrm>
          <a:prstGeom prst="rect">
            <a:avLst/>
          </a:prstGeom>
          <a:noFill/>
          <a:ln/>
        </p:spPr>
        <p:txBody>
          <a:bodyPr wrap="square" lIns="0" tIns="0" rIns="0" bIns="0" rtlCol="0" anchor="ctr"/>
          <a:lstStyle/>
          <a:p>
            <a:pPr marL="0" indent="0">
              <a:buNone/>
            </a:pPr>
            <a:r>
              <a:rPr lang="en-US" sz="700" b="1" dirty="0">
                <a:solidFill>
                  <a:srgbClr val="5E6964"/>
                </a:solidFill>
                <a:latin typeface="Calibri" pitchFamily="34" charset="0"/>
                <a:ea typeface="Calibri" pitchFamily="34" charset="-122"/>
                <a:cs typeface="Calibri" pitchFamily="34" charset="-120"/>
              </a:rPr>
              <a:t>SUPERVISION</a:t>
            </a:r>
            <a:endParaRPr lang="en-US" sz="700" dirty="0"/>
          </a:p>
        </p:txBody>
      </p:sp>
      <p:sp>
        <p:nvSpPr>
          <p:cNvPr id="39" name="Text 30"/>
          <p:cNvSpPr txBox="1"/>
          <p:nvPr/>
        </p:nvSpPr>
        <p:spPr>
          <a:xfrm>
            <a:off x="3314700" y="2615184"/>
            <a:ext cx="1074420" cy="256032"/>
          </a:xfrm>
          <a:prstGeom prst="rect">
            <a:avLst/>
          </a:prstGeom>
          <a:noFill/>
          <a:ln/>
        </p:spPr>
        <p:txBody>
          <a:bodyPr wrap="square" lIns="0" tIns="0" rIns="0" bIns="0" rtlCol="0" anchor="ctr"/>
          <a:lstStyle/>
          <a:p>
            <a:pPr marL="0" indent="0">
              <a:buNone/>
            </a:pPr>
            <a:r>
              <a:rPr lang="en-US" sz="850" b="1" dirty="0">
                <a:solidFill>
                  <a:srgbClr val="00704A"/>
                </a:solidFill>
                <a:latin typeface="Calibri" pitchFamily="34" charset="0"/>
                <a:ea typeface="Calibri" pitchFamily="34" charset="-122"/>
                <a:cs typeface="Calibri" pitchFamily="34" charset="-120"/>
              </a:rPr>
              <a:t>Automatisation supervisée</a:t>
            </a:r>
            <a:endParaRPr lang="en-US" sz="850" dirty="0"/>
          </a:p>
        </p:txBody>
      </p:sp>
      <p:sp>
        <p:nvSpPr>
          <p:cNvPr id="40" name="Shape 31"/>
          <p:cNvSpPr/>
          <p:nvPr/>
        </p:nvSpPr>
        <p:spPr>
          <a:xfrm>
            <a:off x="4617720" y="1325880"/>
            <a:ext cx="1988820" cy="329184"/>
          </a:xfrm>
          <a:prstGeom prst="homePlate">
            <a:avLst/>
          </a:prstGeom>
          <a:solidFill>
            <a:srgbClr val="0E7C86"/>
          </a:solidFill>
          <a:ln/>
        </p:spPr>
      </p:sp>
      <p:sp>
        <p:nvSpPr>
          <p:cNvPr id="41" name="Text 32"/>
          <p:cNvSpPr txBox="1"/>
          <p:nvPr/>
        </p:nvSpPr>
        <p:spPr>
          <a:xfrm>
            <a:off x="475488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3  ANALYSE</a:t>
            </a:r>
            <a:endParaRPr lang="en-US" sz="1050" dirty="0"/>
          </a:p>
        </p:txBody>
      </p:sp>
      <p:sp>
        <p:nvSpPr>
          <p:cNvPr id="42" name="Shape 33"/>
          <p:cNvSpPr/>
          <p:nvPr/>
        </p:nvSpPr>
        <p:spPr>
          <a:xfrm>
            <a:off x="4617720" y="1719072"/>
            <a:ext cx="1897380" cy="1170432"/>
          </a:xfrm>
          <a:prstGeom prst="roundRect">
            <a:avLst>
              <a:gd name="adj" fmla="val 6250"/>
            </a:avLst>
          </a:prstGeom>
          <a:solidFill>
            <a:srgbClr val="F4F7F5"/>
          </a:solidFill>
          <a:ln w="9525">
            <a:solidFill>
              <a:srgbClr val="D5DED9"/>
            </a:solidFill>
            <a:prstDash val="solid"/>
          </a:ln>
        </p:spPr>
      </p:sp>
      <p:pic>
        <p:nvPicPr>
          <p:cNvPr id="43" name="Image 6" descr="preencoded.png"/>
          <p:cNvPicPr>
            <a:picLocks noChangeAspect="1"/>
          </p:cNvPicPr>
          <p:nvPr/>
        </p:nvPicPr>
        <p:blipFill>
          <a:blip r:embed="rId5"/>
          <a:stretch>
            <a:fillRect/>
          </a:stretch>
        </p:blipFill>
        <p:spPr>
          <a:xfrm>
            <a:off x="4727448" y="1837944"/>
            <a:ext cx="137160" cy="137160"/>
          </a:xfrm>
          <a:prstGeom prst="rect">
            <a:avLst/>
          </a:prstGeom>
        </p:spPr>
      </p:pic>
      <p:sp>
        <p:nvSpPr>
          <p:cNvPr id="44" name="Text 34"/>
          <p:cNvSpPr txBox="1"/>
          <p:nvPr/>
        </p:nvSpPr>
        <p:spPr>
          <a:xfrm>
            <a:off x="4937760" y="181051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Détection d'anomalies</a:t>
            </a:r>
            <a:endParaRPr lang="en-US" sz="900" dirty="0"/>
          </a:p>
        </p:txBody>
      </p:sp>
      <p:pic>
        <p:nvPicPr>
          <p:cNvPr id="45" name="Image 7" descr="preencoded.png"/>
          <p:cNvPicPr>
            <a:picLocks noChangeAspect="1"/>
          </p:cNvPicPr>
          <p:nvPr/>
        </p:nvPicPr>
        <p:blipFill>
          <a:blip r:embed="rId5"/>
          <a:stretch>
            <a:fillRect/>
          </a:stretch>
        </p:blipFill>
        <p:spPr>
          <a:xfrm>
            <a:off x="4727448" y="2112264"/>
            <a:ext cx="137160" cy="137160"/>
          </a:xfrm>
          <a:prstGeom prst="rect">
            <a:avLst/>
          </a:prstGeom>
        </p:spPr>
      </p:pic>
      <p:sp>
        <p:nvSpPr>
          <p:cNvPr id="46" name="Text 35"/>
          <p:cNvSpPr txBox="1"/>
          <p:nvPr/>
        </p:nvSpPr>
        <p:spPr>
          <a:xfrm>
            <a:off x="4937760" y="208483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Contrôles de cohérence</a:t>
            </a:r>
            <a:endParaRPr lang="en-US" sz="900" dirty="0"/>
          </a:p>
        </p:txBody>
      </p:sp>
      <p:pic>
        <p:nvPicPr>
          <p:cNvPr id="47" name="Image 8" descr="preencoded.png"/>
          <p:cNvPicPr>
            <a:picLocks noChangeAspect="1"/>
          </p:cNvPicPr>
          <p:nvPr/>
        </p:nvPicPr>
        <p:blipFill>
          <a:blip r:embed="rId5"/>
          <a:stretch>
            <a:fillRect/>
          </a:stretch>
        </p:blipFill>
        <p:spPr>
          <a:xfrm>
            <a:off x="4727448" y="2386584"/>
            <a:ext cx="137160" cy="137160"/>
          </a:xfrm>
          <a:prstGeom prst="rect">
            <a:avLst/>
          </a:prstGeom>
        </p:spPr>
      </p:pic>
      <p:sp>
        <p:nvSpPr>
          <p:cNvPr id="48" name="Text 36"/>
          <p:cNvSpPr txBox="1"/>
          <p:nvPr/>
        </p:nvSpPr>
        <p:spPr>
          <a:xfrm>
            <a:off x="4937760" y="235915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Appui au secret statistique</a:t>
            </a:r>
            <a:endParaRPr lang="en-US" sz="900" dirty="0"/>
          </a:p>
        </p:txBody>
      </p:sp>
      <p:sp>
        <p:nvSpPr>
          <p:cNvPr id="49" name="Text 37"/>
          <p:cNvSpPr txBox="1"/>
          <p:nvPr/>
        </p:nvSpPr>
        <p:spPr>
          <a:xfrm>
            <a:off x="4727448" y="2651760"/>
            <a:ext cx="731520" cy="182880"/>
          </a:xfrm>
          <a:prstGeom prst="rect">
            <a:avLst/>
          </a:prstGeom>
          <a:noFill/>
          <a:ln/>
        </p:spPr>
        <p:txBody>
          <a:bodyPr wrap="square" lIns="0" tIns="0" rIns="0" bIns="0" rtlCol="0" anchor="ctr"/>
          <a:lstStyle/>
          <a:p>
            <a:pPr marL="0" indent="0">
              <a:buNone/>
            </a:pPr>
            <a:r>
              <a:rPr lang="en-US" sz="700" b="1" dirty="0">
                <a:solidFill>
                  <a:srgbClr val="5E6964"/>
                </a:solidFill>
                <a:latin typeface="Calibri" pitchFamily="34" charset="0"/>
                <a:ea typeface="Calibri" pitchFamily="34" charset="-122"/>
                <a:cs typeface="Calibri" pitchFamily="34" charset="-120"/>
              </a:rPr>
              <a:t>SUPERVISION</a:t>
            </a:r>
            <a:endParaRPr lang="en-US" sz="700" dirty="0"/>
          </a:p>
        </p:txBody>
      </p:sp>
      <p:sp>
        <p:nvSpPr>
          <p:cNvPr id="50" name="Text 38"/>
          <p:cNvSpPr txBox="1"/>
          <p:nvPr/>
        </p:nvSpPr>
        <p:spPr>
          <a:xfrm>
            <a:off x="5394960" y="2615184"/>
            <a:ext cx="1074420" cy="256032"/>
          </a:xfrm>
          <a:prstGeom prst="rect">
            <a:avLst/>
          </a:prstGeom>
          <a:noFill/>
          <a:ln/>
        </p:spPr>
        <p:txBody>
          <a:bodyPr wrap="square" lIns="0" tIns="0" rIns="0" bIns="0" rtlCol="0" anchor="ctr"/>
          <a:lstStyle/>
          <a:p>
            <a:pPr marL="0" indent="0">
              <a:buNone/>
            </a:pPr>
            <a:r>
              <a:rPr lang="en-US" sz="850" b="1" dirty="0">
                <a:solidFill>
                  <a:srgbClr val="0E7C86"/>
                </a:solidFill>
                <a:latin typeface="Calibri" pitchFamily="34" charset="0"/>
                <a:ea typeface="Calibri" pitchFamily="34" charset="-122"/>
                <a:cs typeface="Calibri" pitchFamily="34" charset="-120"/>
              </a:rPr>
              <a:t>L'humain décide</a:t>
            </a:r>
            <a:endParaRPr lang="en-US" sz="850" dirty="0"/>
          </a:p>
        </p:txBody>
      </p:sp>
      <p:sp>
        <p:nvSpPr>
          <p:cNvPr id="51" name="Shape 39"/>
          <p:cNvSpPr/>
          <p:nvPr/>
        </p:nvSpPr>
        <p:spPr>
          <a:xfrm>
            <a:off x="6697980" y="1325880"/>
            <a:ext cx="1988820" cy="329184"/>
          </a:xfrm>
          <a:prstGeom prst="homePlate">
            <a:avLst/>
          </a:prstGeom>
          <a:solidFill>
            <a:srgbClr val="D49A00"/>
          </a:solidFill>
          <a:ln/>
        </p:spPr>
      </p:sp>
      <p:sp>
        <p:nvSpPr>
          <p:cNvPr id="52" name="Text 40"/>
          <p:cNvSpPr txBox="1"/>
          <p:nvPr/>
        </p:nvSpPr>
        <p:spPr>
          <a:xfrm>
            <a:off x="6835140" y="1325880"/>
            <a:ext cx="1714500" cy="329184"/>
          </a:xfrm>
          <a:prstGeom prst="rect">
            <a:avLst/>
          </a:prstGeom>
          <a:noFill/>
          <a:ln/>
        </p:spPr>
        <p:txBody>
          <a:bodyPr wrap="square" lIns="0" tIns="0" rIns="0" bIns="0" rtlCol="0" anchor="ctr"/>
          <a:lstStyle/>
          <a:p>
            <a:pPr marL="0" indent="0">
              <a:buNone/>
            </a:pPr>
            <a:r>
              <a:rPr lang="en-US" sz="1050" b="1" kern="0" spc="150" dirty="0">
                <a:solidFill>
                  <a:srgbClr val="FFFFFF"/>
                </a:solidFill>
                <a:latin typeface="Calibri" pitchFamily="34" charset="0"/>
                <a:ea typeface="Calibri" pitchFamily="34" charset="-122"/>
                <a:cs typeface="Calibri" pitchFamily="34" charset="-120"/>
              </a:rPr>
              <a:t>4  DIFFUSION</a:t>
            </a:r>
            <a:endParaRPr lang="en-US" sz="1050" dirty="0"/>
          </a:p>
        </p:txBody>
      </p:sp>
      <p:sp>
        <p:nvSpPr>
          <p:cNvPr id="53" name="Shape 41"/>
          <p:cNvSpPr/>
          <p:nvPr/>
        </p:nvSpPr>
        <p:spPr>
          <a:xfrm>
            <a:off x="6697980" y="1719072"/>
            <a:ext cx="1897380" cy="1170432"/>
          </a:xfrm>
          <a:prstGeom prst="roundRect">
            <a:avLst>
              <a:gd name="adj" fmla="val 6250"/>
            </a:avLst>
          </a:prstGeom>
          <a:solidFill>
            <a:srgbClr val="F4F7F5"/>
          </a:solidFill>
          <a:ln w="9525">
            <a:solidFill>
              <a:srgbClr val="D5DED9"/>
            </a:solidFill>
            <a:prstDash val="solid"/>
          </a:ln>
        </p:spPr>
      </p:sp>
      <p:pic>
        <p:nvPicPr>
          <p:cNvPr id="54" name="Image 9" descr="preencoded.png"/>
          <p:cNvPicPr>
            <a:picLocks noChangeAspect="1"/>
          </p:cNvPicPr>
          <p:nvPr/>
        </p:nvPicPr>
        <p:blipFill>
          <a:blip r:embed="rId6"/>
          <a:stretch>
            <a:fillRect/>
          </a:stretch>
        </p:blipFill>
        <p:spPr>
          <a:xfrm>
            <a:off x="6807708" y="1837944"/>
            <a:ext cx="137160" cy="137160"/>
          </a:xfrm>
          <a:prstGeom prst="rect">
            <a:avLst/>
          </a:prstGeom>
        </p:spPr>
      </p:pic>
      <p:sp>
        <p:nvSpPr>
          <p:cNvPr id="55" name="Text 42"/>
          <p:cNvSpPr txBox="1"/>
          <p:nvPr/>
        </p:nvSpPr>
        <p:spPr>
          <a:xfrm>
            <a:off x="7018020" y="181051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Métadonnées et résumés</a:t>
            </a:r>
            <a:endParaRPr lang="en-US" sz="900" dirty="0"/>
          </a:p>
        </p:txBody>
      </p:sp>
      <p:pic>
        <p:nvPicPr>
          <p:cNvPr id="56" name="Image 10" descr="preencoded.png"/>
          <p:cNvPicPr>
            <a:picLocks noChangeAspect="1"/>
          </p:cNvPicPr>
          <p:nvPr/>
        </p:nvPicPr>
        <p:blipFill>
          <a:blip r:embed="rId6"/>
          <a:stretch>
            <a:fillRect/>
          </a:stretch>
        </p:blipFill>
        <p:spPr>
          <a:xfrm>
            <a:off x="6807708" y="2112264"/>
            <a:ext cx="137160" cy="137160"/>
          </a:xfrm>
          <a:prstGeom prst="rect">
            <a:avLst/>
          </a:prstGeom>
        </p:spPr>
      </p:pic>
      <p:sp>
        <p:nvSpPr>
          <p:cNvPr id="57" name="Text 43"/>
          <p:cNvSpPr txBox="1"/>
          <p:nvPr/>
        </p:nvSpPr>
        <p:spPr>
          <a:xfrm>
            <a:off x="7018020" y="208483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Traduction</a:t>
            </a:r>
            <a:endParaRPr lang="en-US" sz="900" dirty="0"/>
          </a:p>
        </p:txBody>
      </p:sp>
      <p:pic>
        <p:nvPicPr>
          <p:cNvPr id="58" name="Image 11" descr="preencoded.png"/>
          <p:cNvPicPr>
            <a:picLocks noChangeAspect="1"/>
          </p:cNvPicPr>
          <p:nvPr/>
        </p:nvPicPr>
        <p:blipFill>
          <a:blip r:embed="rId6"/>
          <a:stretch>
            <a:fillRect/>
          </a:stretch>
        </p:blipFill>
        <p:spPr>
          <a:xfrm>
            <a:off x="6807708" y="2386584"/>
            <a:ext cx="137160" cy="137160"/>
          </a:xfrm>
          <a:prstGeom prst="rect">
            <a:avLst/>
          </a:prstGeom>
        </p:spPr>
      </p:pic>
      <p:sp>
        <p:nvSpPr>
          <p:cNvPr id="59" name="Text 44"/>
          <p:cNvSpPr txBox="1"/>
          <p:nvPr/>
        </p:nvSpPr>
        <p:spPr>
          <a:xfrm>
            <a:off x="7018020" y="2359152"/>
            <a:ext cx="1504188" cy="274320"/>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Recherche dans les archives</a:t>
            </a:r>
            <a:endParaRPr lang="en-US" sz="900" dirty="0"/>
          </a:p>
        </p:txBody>
      </p:sp>
      <p:sp>
        <p:nvSpPr>
          <p:cNvPr id="60" name="Text 45"/>
          <p:cNvSpPr txBox="1"/>
          <p:nvPr/>
        </p:nvSpPr>
        <p:spPr>
          <a:xfrm>
            <a:off x="6807708" y="2651760"/>
            <a:ext cx="731520" cy="182880"/>
          </a:xfrm>
          <a:prstGeom prst="rect">
            <a:avLst/>
          </a:prstGeom>
          <a:noFill/>
          <a:ln/>
        </p:spPr>
        <p:txBody>
          <a:bodyPr wrap="square" lIns="0" tIns="0" rIns="0" bIns="0" rtlCol="0" anchor="ctr"/>
          <a:lstStyle/>
          <a:p>
            <a:pPr marL="0" indent="0">
              <a:buNone/>
            </a:pPr>
            <a:r>
              <a:rPr lang="en-US" sz="700" b="1" dirty="0">
                <a:solidFill>
                  <a:srgbClr val="5E6964"/>
                </a:solidFill>
                <a:latin typeface="Calibri" pitchFamily="34" charset="0"/>
                <a:ea typeface="Calibri" pitchFamily="34" charset="-122"/>
                <a:cs typeface="Calibri" pitchFamily="34" charset="-120"/>
              </a:rPr>
              <a:t>SUPERVISION</a:t>
            </a:r>
            <a:endParaRPr lang="en-US" sz="700" dirty="0"/>
          </a:p>
        </p:txBody>
      </p:sp>
      <p:sp>
        <p:nvSpPr>
          <p:cNvPr id="61" name="Text 46"/>
          <p:cNvSpPr txBox="1"/>
          <p:nvPr/>
        </p:nvSpPr>
        <p:spPr>
          <a:xfrm>
            <a:off x="7475220" y="2615184"/>
            <a:ext cx="1074420" cy="256032"/>
          </a:xfrm>
          <a:prstGeom prst="rect">
            <a:avLst/>
          </a:prstGeom>
          <a:noFill/>
          <a:ln/>
        </p:spPr>
        <p:txBody>
          <a:bodyPr wrap="square" lIns="0" tIns="0" rIns="0" bIns="0" rtlCol="0" anchor="ctr"/>
          <a:lstStyle/>
          <a:p>
            <a:pPr marL="0" indent="0">
              <a:buNone/>
            </a:pPr>
            <a:r>
              <a:rPr lang="en-US" sz="850" b="1" dirty="0">
                <a:solidFill>
                  <a:srgbClr val="8A6400"/>
                </a:solidFill>
                <a:latin typeface="Calibri" pitchFamily="34" charset="0"/>
                <a:ea typeface="Calibri" pitchFamily="34" charset="-122"/>
                <a:cs typeface="Calibri" pitchFamily="34" charset="-120"/>
              </a:rPr>
              <a:t>Relecture avant diffusion</a:t>
            </a:r>
            <a:endParaRPr lang="en-US" sz="850" dirty="0"/>
          </a:p>
        </p:txBody>
      </p:sp>
      <p:sp>
        <p:nvSpPr>
          <p:cNvPr id="62" name="Shape 47"/>
          <p:cNvSpPr/>
          <p:nvPr/>
        </p:nvSpPr>
        <p:spPr>
          <a:xfrm>
            <a:off x="457200" y="3017520"/>
            <a:ext cx="2651760" cy="1005840"/>
          </a:xfrm>
          <a:prstGeom prst="roundRect">
            <a:avLst>
              <a:gd name="adj" fmla="val 7273"/>
            </a:avLst>
          </a:prstGeom>
          <a:solidFill>
            <a:srgbClr val="E8F5EF"/>
          </a:solidFill>
          <a:ln w="15875">
            <a:solidFill>
              <a:srgbClr val="00A86A"/>
            </a:solidFill>
            <a:prstDash val="solid"/>
          </a:ln>
        </p:spPr>
      </p:sp>
      <p:sp>
        <p:nvSpPr>
          <p:cNvPr id="63" name="Shape 48"/>
          <p:cNvSpPr/>
          <p:nvPr/>
        </p:nvSpPr>
        <p:spPr>
          <a:xfrm>
            <a:off x="566928" y="3127248"/>
            <a:ext cx="310896" cy="310896"/>
          </a:xfrm>
          <a:prstGeom prst="ellipse">
            <a:avLst/>
          </a:prstGeom>
          <a:solidFill>
            <a:srgbClr val="00A86A">
              <a:alpha val="22000"/>
            </a:srgbClr>
          </a:solidFill>
          <a:ln/>
        </p:spPr>
      </p:sp>
      <p:pic>
        <p:nvPicPr>
          <p:cNvPr id="64" name="Image 12" descr="preencoded.png"/>
          <p:cNvPicPr>
            <a:picLocks noChangeAspect="1"/>
          </p:cNvPicPr>
          <p:nvPr/>
        </p:nvPicPr>
        <p:blipFill>
          <a:blip r:embed="rId7"/>
          <a:stretch>
            <a:fillRect/>
          </a:stretch>
        </p:blipFill>
        <p:spPr>
          <a:xfrm>
            <a:off x="641543" y="3201863"/>
            <a:ext cx="161666" cy="161666"/>
          </a:xfrm>
          <a:prstGeom prst="rect">
            <a:avLst/>
          </a:prstGeom>
        </p:spPr>
      </p:pic>
      <p:sp>
        <p:nvSpPr>
          <p:cNvPr id="65" name="Text 49"/>
          <p:cNvSpPr txBox="1"/>
          <p:nvPr/>
        </p:nvSpPr>
        <p:spPr>
          <a:xfrm>
            <a:off x="950976" y="3108960"/>
            <a:ext cx="2103120" cy="347472"/>
          </a:xfrm>
          <a:prstGeom prst="rect">
            <a:avLst/>
          </a:prstGeom>
          <a:noFill/>
          <a:ln/>
        </p:spPr>
        <p:txBody>
          <a:bodyPr wrap="square" lIns="0" tIns="0" rIns="0" bIns="0" rtlCol="0" anchor="ctr">
            <a:normAutofit/>
          </a:bodyPr>
          <a:lstStyle/>
          <a:p>
            <a:pPr marL="0" indent="0">
              <a:buNone/>
            </a:pPr>
            <a:r>
              <a:rPr lang="en-US" sz="1000" b="1" dirty="0">
                <a:solidFill>
                  <a:srgbClr val="231F20"/>
                </a:solidFill>
                <a:latin typeface="Calibri" pitchFamily="34" charset="0"/>
                <a:ea typeface="Calibri" pitchFamily="34" charset="-122"/>
                <a:cs typeface="Calibri" pitchFamily="34" charset="-120"/>
              </a:rPr>
              <a:t>L'IA propose, la méthodologie dispose</a:t>
            </a:r>
            <a:endParaRPr lang="en-US" sz="1000" dirty="0"/>
          </a:p>
        </p:txBody>
      </p:sp>
      <p:sp>
        <p:nvSpPr>
          <p:cNvPr id="66" name="Text 50"/>
          <p:cNvSpPr txBox="1"/>
          <p:nvPr/>
        </p:nvSpPr>
        <p:spPr>
          <a:xfrm>
            <a:off x="566928" y="3474720"/>
            <a:ext cx="2432304" cy="51206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modèle propose et indique sa confiance ; le processus responsable décide.</a:t>
            </a:r>
            <a:endParaRPr lang="en-US" sz="900" dirty="0"/>
          </a:p>
        </p:txBody>
      </p:sp>
      <p:sp>
        <p:nvSpPr>
          <p:cNvPr id="67" name="Shape 51"/>
          <p:cNvSpPr/>
          <p:nvPr/>
        </p:nvSpPr>
        <p:spPr>
          <a:xfrm>
            <a:off x="3246120" y="3017520"/>
            <a:ext cx="2651760" cy="1005840"/>
          </a:xfrm>
          <a:prstGeom prst="roundRect">
            <a:avLst>
              <a:gd name="adj" fmla="val 7273"/>
            </a:avLst>
          </a:prstGeom>
          <a:solidFill>
            <a:srgbClr val="E8F5EF"/>
          </a:solidFill>
          <a:ln w="15875">
            <a:solidFill>
              <a:srgbClr val="00A86A"/>
            </a:solidFill>
            <a:prstDash val="solid"/>
          </a:ln>
        </p:spPr>
      </p:sp>
      <p:sp>
        <p:nvSpPr>
          <p:cNvPr id="68" name="Shape 52"/>
          <p:cNvSpPr/>
          <p:nvPr/>
        </p:nvSpPr>
        <p:spPr>
          <a:xfrm>
            <a:off x="3355848" y="3127248"/>
            <a:ext cx="310896" cy="310896"/>
          </a:xfrm>
          <a:prstGeom prst="ellipse">
            <a:avLst/>
          </a:prstGeom>
          <a:solidFill>
            <a:srgbClr val="00A86A">
              <a:alpha val="22000"/>
            </a:srgbClr>
          </a:solidFill>
          <a:ln/>
        </p:spPr>
      </p:sp>
      <p:pic>
        <p:nvPicPr>
          <p:cNvPr id="69" name="Image 13" descr="preencoded.png"/>
          <p:cNvPicPr>
            <a:picLocks noChangeAspect="1"/>
          </p:cNvPicPr>
          <p:nvPr/>
        </p:nvPicPr>
        <p:blipFill>
          <a:blip r:embed="rId8"/>
          <a:stretch>
            <a:fillRect/>
          </a:stretch>
        </p:blipFill>
        <p:spPr>
          <a:xfrm>
            <a:off x="3430463" y="3201863"/>
            <a:ext cx="161666" cy="161666"/>
          </a:xfrm>
          <a:prstGeom prst="rect">
            <a:avLst/>
          </a:prstGeom>
        </p:spPr>
      </p:pic>
      <p:sp>
        <p:nvSpPr>
          <p:cNvPr id="70" name="Text 53"/>
          <p:cNvSpPr txBox="1"/>
          <p:nvPr/>
        </p:nvSpPr>
        <p:spPr>
          <a:xfrm>
            <a:off x="3739896" y="3108960"/>
            <a:ext cx="2103120" cy="347472"/>
          </a:xfrm>
          <a:prstGeom prst="rect">
            <a:avLst/>
          </a:prstGeom>
          <a:noFill/>
          <a:ln/>
        </p:spPr>
        <p:txBody>
          <a:bodyPr wrap="square" lIns="0" tIns="0" rIns="0" bIns="0" rtlCol="0" anchor="ctr">
            <a:normAutofit/>
          </a:bodyPr>
          <a:lstStyle/>
          <a:p>
            <a:pPr marL="0" indent="0">
              <a:buNone/>
            </a:pPr>
            <a:r>
              <a:rPr lang="en-US" sz="1000" b="1" dirty="0">
                <a:solidFill>
                  <a:srgbClr val="231F20"/>
                </a:solidFill>
                <a:latin typeface="Calibri" pitchFamily="34" charset="0"/>
                <a:ea typeface="Calibri" pitchFamily="34" charset="-122"/>
                <a:cs typeface="Calibri" pitchFamily="34" charset="-120"/>
              </a:rPr>
              <a:t>Pas d'automatisation d'erreurs invisibles</a:t>
            </a:r>
            <a:endParaRPr lang="en-US" sz="1000" dirty="0"/>
          </a:p>
        </p:txBody>
      </p:sp>
      <p:sp>
        <p:nvSpPr>
          <p:cNvPr id="71" name="Text 54"/>
          <p:cNvSpPr txBox="1"/>
          <p:nvPr/>
        </p:nvSpPr>
        <p:spPr>
          <a:xfrm>
            <a:off x="3355848" y="3474720"/>
            <a:ext cx="2432304" cy="51206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Si une erreur ne se verrait pas dans le résultat, gardez un contrôle humain.</a:t>
            </a:r>
            <a:endParaRPr lang="en-US" sz="900" dirty="0"/>
          </a:p>
        </p:txBody>
      </p:sp>
      <p:sp>
        <p:nvSpPr>
          <p:cNvPr id="72" name="Shape 55"/>
          <p:cNvSpPr/>
          <p:nvPr/>
        </p:nvSpPr>
        <p:spPr>
          <a:xfrm>
            <a:off x="6035040" y="3017520"/>
            <a:ext cx="2651760" cy="1005840"/>
          </a:xfrm>
          <a:prstGeom prst="roundRect">
            <a:avLst>
              <a:gd name="adj" fmla="val 7273"/>
            </a:avLst>
          </a:prstGeom>
          <a:solidFill>
            <a:srgbClr val="E8F5EF"/>
          </a:solidFill>
          <a:ln w="15875">
            <a:solidFill>
              <a:srgbClr val="00A86A"/>
            </a:solidFill>
            <a:prstDash val="solid"/>
          </a:ln>
        </p:spPr>
      </p:sp>
      <p:sp>
        <p:nvSpPr>
          <p:cNvPr id="73" name="Shape 56"/>
          <p:cNvSpPr/>
          <p:nvPr/>
        </p:nvSpPr>
        <p:spPr>
          <a:xfrm>
            <a:off x="6144768" y="3127248"/>
            <a:ext cx="310896" cy="310896"/>
          </a:xfrm>
          <a:prstGeom prst="ellipse">
            <a:avLst/>
          </a:prstGeom>
          <a:solidFill>
            <a:srgbClr val="00A86A">
              <a:alpha val="22000"/>
            </a:srgbClr>
          </a:solidFill>
          <a:ln/>
        </p:spPr>
      </p:sp>
      <p:pic>
        <p:nvPicPr>
          <p:cNvPr id="74" name="Image 14" descr="preencoded.png"/>
          <p:cNvPicPr>
            <a:picLocks noChangeAspect="1"/>
          </p:cNvPicPr>
          <p:nvPr/>
        </p:nvPicPr>
        <p:blipFill>
          <a:blip r:embed="rId9"/>
          <a:stretch>
            <a:fillRect/>
          </a:stretch>
        </p:blipFill>
        <p:spPr>
          <a:xfrm>
            <a:off x="6219383" y="3201863"/>
            <a:ext cx="161666" cy="161666"/>
          </a:xfrm>
          <a:prstGeom prst="rect">
            <a:avLst/>
          </a:prstGeom>
        </p:spPr>
      </p:pic>
      <p:sp>
        <p:nvSpPr>
          <p:cNvPr id="75" name="Text 57"/>
          <p:cNvSpPr txBox="1"/>
          <p:nvPr/>
        </p:nvSpPr>
        <p:spPr>
          <a:xfrm>
            <a:off x="6528816" y="3108960"/>
            <a:ext cx="2103120" cy="347472"/>
          </a:xfrm>
          <a:prstGeom prst="rect">
            <a:avLst/>
          </a:prstGeom>
          <a:noFill/>
          <a:ln/>
        </p:spPr>
        <p:txBody>
          <a:bodyPr wrap="square" lIns="0" tIns="0" rIns="0" bIns="0" rtlCol="0" anchor="ctr">
            <a:normAutofit/>
          </a:bodyPr>
          <a:lstStyle/>
          <a:p>
            <a:pPr marL="0" indent="0">
              <a:buNone/>
            </a:pPr>
            <a:r>
              <a:rPr lang="en-US" sz="1000" b="1" dirty="0">
                <a:solidFill>
                  <a:srgbClr val="231F20"/>
                </a:solidFill>
                <a:latin typeface="Calibri" pitchFamily="34" charset="0"/>
                <a:ea typeface="Calibri" pitchFamily="34" charset="-122"/>
                <a:cs typeface="Calibri" pitchFamily="34" charset="-120"/>
              </a:rPr>
              <a:t>Orienter selon la confiance</a:t>
            </a:r>
            <a:endParaRPr lang="en-US" sz="1000" dirty="0"/>
          </a:p>
        </p:txBody>
      </p:sp>
      <p:sp>
        <p:nvSpPr>
          <p:cNvPr id="76" name="Text 58"/>
          <p:cNvSpPr txBox="1"/>
          <p:nvPr/>
        </p:nvSpPr>
        <p:spPr>
          <a:xfrm>
            <a:off x="6144768" y="3474720"/>
            <a:ext cx="2432304" cy="51206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cas incertains vont aux codeurs ; la valeur est dans la majorité fiable.</a:t>
            </a:r>
            <a:endParaRPr lang="en-US" sz="900" dirty="0"/>
          </a:p>
        </p:txBody>
      </p:sp>
      <p:sp>
        <p:nvSpPr>
          <p:cNvPr id="77" name="Shape 59"/>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78" name="Shape 60"/>
          <p:cNvSpPr/>
          <p:nvPr/>
        </p:nvSpPr>
        <p:spPr>
          <a:xfrm>
            <a:off x="566928" y="4233672"/>
            <a:ext cx="292608" cy="292608"/>
          </a:xfrm>
          <a:prstGeom prst="ellipse">
            <a:avLst/>
          </a:prstGeom>
          <a:solidFill>
            <a:srgbClr val="00A86A">
              <a:alpha val="22000"/>
            </a:srgbClr>
          </a:solidFill>
          <a:ln/>
        </p:spPr>
      </p:sp>
      <p:pic>
        <p:nvPicPr>
          <p:cNvPr id="79" name="Image 15" descr="preencoded.png"/>
          <p:cNvPicPr>
            <a:picLocks noChangeAspect="1"/>
          </p:cNvPicPr>
          <p:nvPr/>
        </p:nvPicPr>
        <p:blipFill>
          <a:blip r:embed="rId10"/>
          <a:stretch>
            <a:fillRect/>
          </a:stretch>
        </p:blipFill>
        <p:spPr>
          <a:xfrm>
            <a:off x="637154" y="4303898"/>
            <a:ext cx="152156" cy="152156"/>
          </a:xfrm>
          <a:prstGeom prst="rect">
            <a:avLst/>
          </a:prstGeom>
        </p:spPr>
      </p:pic>
      <p:sp>
        <p:nvSpPr>
          <p:cNvPr id="80" name="Text 61"/>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Mesurez le modèle face au processus humain qu'il remplace — y compris son propre taux d'erreur — et publiez la comparaison.</a:t>
            </a:r>
            <a:endParaRPr lang="en-US" sz="1050" dirty="0"/>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SCÉNARIOS D'ÉCHEC</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79308" y="278892"/>
            <a:ext cx="118872" cy="118872"/>
          </a:xfrm>
          <a:prstGeom prst="ellipse">
            <a:avLst/>
          </a:prstGeom>
          <a:solidFill>
            <a:srgbClr val="D49A00"/>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Cinq scénarios d'échec réalistes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Chacun s'est produit quelque part. Chacun a une parade précise et abordable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45</a:t>
            </a:r>
            <a:endParaRPr lang="en-US" sz="850" dirty="0"/>
          </a:p>
        </p:txBody>
      </p:sp>
      <p:sp>
        <p:nvSpPr>
          <p:cNvPr id="18" name="Text 15"/>
          <p:cNvSpPr txBox="1"/>
          <p:nvPr/>
        </p:nvSpPr>
        <p:spPr>
          <a:xfrm>
            <a:off x="548640" y="1298448"/>
            <a:ext cx="31089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SCÉNARIO</a:t>
            </a:r>
            <a:endParaRPr lang="en-US" sz="900" dirty="0"/>
          </a:p>
        </p:txBody>
      </p:sp>
      <p:sp>
        <p:nvSpPr>
          <p:cNvPr id="19" name="Text 16"/>
          <p:cNvSpPr txBox="1"/>
          <p:nvPr/>
        </p:nvSpPr>
        <p:spPr>
          <a:xfrm>
            <a:off x="3840480" y="1298448"/>
            <a:ext cx="201168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CONSÉQUENCE</a:t>
            </a:r>
            <a:endParaRPr lang="en-US" sz="900" dirty="0"/>
          </a:p>
        </p:txBody>
      </p:sp>
      <p:sp>
        <p:nvSpPr>
          <p:cNvPr id="20" name="Text 17"/>
          <p:cNvSpPr txBox="1"/>
          <p:nvPr/>
        </p:nvSpPr>
        <p:spPr>
          <a:xfrm>
            <a:off x="6035040" y="1298448"/>
            <a:ext cx="256032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LE CONTRÔLE QUI L'ÉVITE</a:t>
            </a:r>
            <a:endParaRPr lang="en-US" sz="900" dirty="0"/>
          </a:p>
        </p:txBody>
      </p:sp>
      <p:sp>
        <p:nvSpPr>
          <p:cNvPr id="21" name="Shape 18"/>
          <p:cNvSpPr/>
          <p:nvPr/>
        </p:nvSpPr>
        <p:spPr>
          <a:xfrm>
            <a:off x="457200" y="1572768"/>
            <a:ext cx="8229600" cy="457200"/>
          </a:xfrm>
          <a:prstGeom prst="roundRect">
            <a:avLst>
              <a:gd name="adj" fmla="val 10000"/>
            </a:avLst>
          </a:prstGeom>
          <a:solidFill>
            <a:srgbClr val="F4F7F5"/>
          </a:solidFill>
          <a:ln w="9525">
            <a:solidFill>
              <a:srgbClr val="D5DED9"/>
            </a:solidFill>
            <a:prstDash val="solid"/>
          </a:ln>
        </p:spPr>
      </p:sp>
      <p:sp>
        <p:nvSpPr>
          <p:cNvPr id="22" name="Shape 19"/>
          <p:cNvSpPr/>
          <p:nvPr/>
        </p:nvSpPr>
        <p:spPr>
          <a:xfrm>
            <a:off x="5943600" y="1572768"/>
            <a:ext cx="2743200" cy="457200"/>
          </a:xfrm>
          <a:prstGeom prst="roundRect">
            <a:avLst>
              <a:gd name="adj" fmla="val 10000"/>
            </a:avLst>
          </a:prstGeom>
          <a:solidFill>
            <a:srgbClr val="E8F5EF"/>
          </a:solidFill>
          <a:ln w="9525">
            <a:solidFill>
              <a:srgbClr val="00A86A"/>
            </a:solidFill>
            <a:prstDash val="solid"/>
          </a:ln>
        </p:spPr>
      </p:sp>
      <p:sp>
        <p:nvSpPr>
          <p:cNvPr id="23" name="Shape 20"/>
          <p:cNvSpPr/>
          <p:nvPr/>
        </p:nvSpPr>
        <p:spPr>
          <a:xfrm>
            <a:off x="548640" y="1664208"/>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730045"/>
            <a:ext cx="142646" cy="142646"/>
          </a:xfrm>
          <a:prstGeom prst="rect">
            <a:avLst/>
          </a:prstGeom>
        </p:spPr>
      </p:pic>
      <p:sp>
        <p:nvSpPr>
          <p:cNvPr id="25" name="Text 21"/>
          <p:cNvSpPr txBox="1"/>
          <p:nvPr/>
        </p:nvSpPr>
        <p:spPr>
          <a:xfrm>
            <a:off x="896112" y="1572768"/>
            <a:ext cx="2788920" cy="45720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Un analyste colle des microdonnées identifiantes dans un chatbot public</a:t>
            </a:r>
            <a:endParaRPr lang="en-US" sz="850" dirty="0"/>
          </a:p>
        </p:txBody>
      </p:sp>
      <p:sp>
        <p:nvSpPr>
          <p:cNvPr id="26" name="Text 22"/>
          <p:cNvSpPr txBox="1"/>
          <p:nvPr/>
        </p:nvSpPr>
        <p:spPr>
          <a:xfrm>
            <a:off x="3840480" y="1572768"/>
            <a:ext cx="201168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Violation à notifier ; perte de confiance des répondants ; exposition publique</a:t>
            </a:r>
            <a:endParaRPr lang="en-US" sz="850" dirty="0"/>
          </a:p>
        </p:txBody>
      </p:sp>
      <p:sp>
        <p:nvSpPr>
          <p:cNvPr id="27" name="Text 23"/>
          <p:cNvSpPr txBox="1"/>
          <p:nvPr/>
        </p:nvSpPr>
        <p:spPr>
          <a:xfrm>
            <a:off x="6035040" y="1572768"/>
            <a:ext cx="256032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Un outil interne autorisé, un contrôle des flux sortants et une règle courte réellement lue</a:t>
            </a:r>
            <a:endParaRPr lang="en-US" sz="850" dirty="0"/>
          </a:p>
        </p:txBody>
      </p:sp>
      <p:sp>
        <p:nvSpPr>
          <p:cNvPr id="28" name="Shape 24"/>
          <p:cNvSpPr/>
          <p:nvPr/>
        </p:nvSpPr>
        <p:spPr>
          <a:xfrm>
            <a:off x="457200" y="2071116"/>
            <a:ext cx="8229600" cy="457200"/>
          </a:xfrm>
          <a:prstGeom prst="roundRect">
            <a:avLst>
              <a:gd name="adj" fmla="val 10000"/>
            </a:avLst>
          </a:prstGeom>
          <a:solidFill>
            <a:srgbClr val="F4F7F5"/>
          </a:solidFill>
          <a:ln w="9525">
            <a:solidFill>
              <a:srgbClr val="D5DED9"/>
            </a:solidFill>
            <a:prstDash val="solid"/>
          </a:ln>
        </p:spPr>
      </p:sp>
      <p:sp>
        <p:nvSpPr>
          <p:cNvPr id="29" name="Shape 25"/>
          <p:cNvSpPr/>
          <p:nvPr/>
        </p:nvSpPr>
        <p:spPr>
          <a:xfrm>
            <a:off x="5943600" y="2071116"/>
            <a:ext cx="2743200" cy="457200"/>
          </a:xfrm>
          <a:prstGeom prst="roundRect">
            <a:avLst>
              <a:gd name="adj" fmla="val 10000"/>
            </a:avLst>
          </a:prstGeom>
          <a:solidFill>
            <a:srgbClr val="E8F5EF"/>
          </a:solidFill>
          <a:ln w="9525">
            <a:solidFill>
              <a:srgbClr val="00A86A"/>
            </a:solidFill>
            <a:prstDash val="solid"/>
          </a:ln>
        </p:spPr>
      </p:sp>
      <p:sp>
        <p:nvSpPr>
          <p:cNvPr id="30" name="Shape 26"/>
          <p:cNvSpPr/>
          <p:nvPr/>
        </p:nvSpPr>
        <p:spPr>
          <a:xfrm>
            <a:off x="548640" y="2162556"/>
            <a:ext cx="274320" cy="274320"/>
          </a:xfrm>
          <a:prstGeom prst="ellipse">
            <a:avLst/>
          </a:prstGeom>
          <a:solidFill>
            <a:srgbClr val="B83B2E">
              <a:alpha val="22000"/>
            </a:srgbClr>
          </a:solidFill>
          <a:ln/>
        </p:spPr>
      </p:sp>
      <p:pic>
        <p:nvPicPr>
          <p:cNvPr id="31" name="Image 1" descr="preencoded.png"/>
          <p:cNvPicPr>
            <a:picLocks noChangeAspect="1"/>
          </p:cNvPicPr>
          <p:nvPr/>
        </p:nvPicPr>
        <p:blipFill>
          <a:blip r:embed="rId4"/>
          <a:stretch>
            <a:fillRect/>
          </a:stretch>
        </p:blipFill>
        <p:spPr>
          <a:xfrm>
            <a:off x="614477" y="2228393"/>
            <a:ext cx="142646" cy="142646"/>
          </a:xfrm>
          <a:prstGeom prst="rect">
            <a:avLst/>
          </a:prstGeom>
        </p:spPr>
      </p:pic>
      <p:sp>
        <p:nvSpPr>
          <p:cNvPr id="32" name="Text 27"/>
          <p:cNvSpPr txBox="1"/>
          <p:nvPr/>
        </p:nvSpPr>
        <p:spPr>
          <a:xfrm>
            <a:off x="896112" y="2071116"/>
            <a:ext cx="2788920" cy="45720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Un fournisseur met à jour un modèle en silence ; le codage change en cours de série</a:t>
            </a:r>
            <a:endParaRPr lang="en-US" sz="850" dirty="0"/>
          </a:p>
        </p:txBody>
      </p:sp>
      <p:sp>
        <p:nvSpPr>
          <p:cNvPr id="33" name="Text 28"/>
          <p:cNvSpPr txBox="1"/>
          <p:nvPr/>
        </p:nvSpPr>
        <p:spPr>
          <a:xfrm>
            <a:off x="3840480" y="2071116"/>
            <a:ext cx="201168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La série publiée change pour des raisons non documentées</a:t>
            </a:r>
            <a:endParaRPr lang="en-US" sz="850" dirty="0"/>
          </a:p>
        </p:txBody>
      </p:sp>
      <p:sp>
        <p:nvSpPr>
          <p:cNvPr id="34" name="Text 29"/>
          <p:cNvSpPr txBox="1"/>
          <p:nvPr/>
        </p:nvSpPr>
        <p:spPr>
          <a:xfrm>
            <a:off x="6035040" y="2071116"/>
            <a:ext cx="256032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Figer les versions ; retester avant tout changement ; auto-héberger sur le chemin critique</a:t>
            </a:r>
            <a:endParaRPr lang="en-US" sz="850" dirty="0"/>
          </a:p>
        </p:txBody>
      </p:sp>
      <p:sp>
        <p:nvSpPr>
          <p:cNvPr id="35" name="Shape 30"/>
          <p:cNvSpPr/>
          <p:nvPr/>
        </p:nvSpPr>
        <p:spPr>
          <a:xfrm>
            <a:off x="457200" y="2569464"/>
            <a:ext cx="8229600" cy="457200"/>
          </a:xfrm>
          <a:prstGeom prst="roundRect">
            <a:avLst>
              <a:gd name="adj" fmla="val 10000"/>
            </a:avLst>
          </a:prstGeom>
          <a:solidFill>
            <a:srgbClr val="F4F7F5"/>
          </a:solidFill>
          <a:ln w="9525">
            <a:solidFill>
              <a:srgbClr val="D5DED9"/>
            </a:solidFill>
            <a:prstDash val="solid"/>
          </a:ln>
        </p:spPr>
      </p:sp>
      <p:sp>
        <p:nvSpPr>
          <p:cNvPr id="36" name="Shape 31"/>
          <p:cNvSpPr/>
          <p:nvPr/>
        </p:nvSpPr>
        <p:spPr>
          <a:xfrm>
            <a:off x="5943600" y="2569464"/>
            <a:ext cx="2743200" cy="457200"/>
          </a:xfrm>
          <a:prstGeom prst="roundRect">
            <a:avLst>
              <a:gd name="adj" fmla="val 10000"/>
            </a:avLst>
          </a:prstGeom>
          <a:solidFill>
            <a:srgbClr val="E8F5EF"/>
          </a:solidFill>
          <a:ln w="9525">
            <a:solidFill>
              <a:srgbClr val="00A86A"/>
            </a:solidFill>
            <a:prstDash val="solid"/>
          </a:ln>
        </p:spPr>
      </p:sp>
      <p:sp>
        <p:nvSpPr>
          <p:cNvPr id="37" name="Shape 32"/>
          <p:cNvSpPr/>
          <p:nvPr/>
        </p:nvSpPr>
        <p:spPr>
          <a:xfrm>
            <a:off x="548640" y="2660904"/>
            <a:ext cx="274320" cy="274320"/>
          </a:xfrm>
          <a:prstGeom prst="ellipse">
            <a:avLst/>
          </a:prstGeom>
          <a:solidFill>
            <a:srgbClr val="B83B2E">
              <a:alpha val="22000"/>
            </a:srgbClr>
          </a:solidFill>
          <a:ln/>
        </p:spPr>
      </p:sp>
      <p:pic>
        <p:nvPicPr>
          <p:cNvPr id="38" name="Image 2" descr="preencoded.png"/>
          <p:cNvPicPr>
            <a:picLocks noChangeAspect="1"/>
          </p:cNvPicPr>
          <p:nvPr/>
        </p:nvPicPr>
        <p:blipFill>
          <a:blip r:embed="rId5"/>
          <a:stretch>
            <a:fillRect/>
          </a:stretch>
        </p:blipFill>
        <p:spPr>
          <a:xfrm>
            <a:off x="614477" y="2726741"/>
            <a:ext cx="142646" cy="142646"/>
          </a:xfrm>
          <a:prstGeom prst="rect">
            <a:avLst/>
          </a:prstGeom>
        </p:spPr>
      </p:pic>
      <p:sp>
        <p:nvSpPr>
          <p:cNvPr id="39" name="Text 33"/>
          <p:cNvSpPr txBox="1"/>
          <p:nvPr/>
        </p:nvSpPr>
        <p:spPr>
          <a:xfrm>
            <a:off x="896112" y="2569464"/>
            <a:ext cx="2788920" cy="45720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Un classifieur de métiers se dégrade avec l'évolution du marché du travail</a:t>
            </a:r>
            <a:endParaRPr lang="en-US" sz="850" dirty="0"/>
          </a:p>
        </p:txBody>
      </p:sp>
      <p:sp>
        <p:nvSpPr>
          <p:cNvPr id="40" name="Text 34"/>
          <p:cNvSpPr txBox="1"/>
          <p:nvPr/>
        </p:nvSpPr>
        <p:spPr>
          <a:xfrm>
            <a:off x="3840480" y="2569464"/>
            <a:ext cx="201168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Érosion lente de la qualité, découverte par un utilisateur externe</a:t>
            </a:r>
            <a:endParaRPr lang="en-US" sz="850" dirty="0"/>
          </a:p>
        </p:txBody>
      </p:sp>
      <p:sp>
        <p:nvSpPr>
          <p:cNvPr id="41" name="Text 35"/>
          <p:cNvSpPr txBox="1"/>
          <p:nvPr/>
        </p:nvSpPr>
        <p:spPr>
          <a:xfrm>
            <a:off x="6035040" y="2569464"/>
            <a:ext cx="256032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Suivi de la dérive, revalidation planifiée et résultats par catégorie</a:t>
            </a:r>
            <a:endParaRPr lang="en-US" sz="850" dirty="0"/>
          </a:p>
        </p:txBody>
      </p:sp>
      <p:sp>
        <p:nvSpPr>
          <p:cNvPr id="42" name="Shape 36"/>
          <p:cNvSpPr/>
          <p:nvPr/>
        </p:nvSpPr>
        <p:spPr>
          <a:xfrm>
            <a:off x="457200" y="3067812"/>
            <a:ext cx="8229600" cy="457200"/>
          </a:xfrm>
          <a:prstGeom prst="roundRect">
            <a:avLst>
              <a:gd name="adj" fmla="val 10000"/>
            </a:avLst>
          </a:prstGeom>
          <a:solidFill>
            <a:srgbClr val="F4F7F5"/>
          </a:solidFill>
          <a:ln w="9525">
            <a:solidFill>
              <a:srgbClr val="D5DED9"/>
            </a:solidFill>
            <a:prstDash val="solid"/>
          </a:ln>
        </p:spPr>
      </p:sp>
      <p:sp>
        <p:nvSpPr>
          <p:cNvPr id="43" name="Shape 37"/>
          <p:cNvSpPr/>
          <p:nvPr/>
        </p:nvSpPr>
        <p:spPr>
          <a:xfrm>
            <a:off x="5943600" y="3067812"/>
            <a:ext cx="2743200" cy="457200"/>
          </a:xfrm>
          <a:prstGeom prst="roundRect">
            <a:avLst>
              <a:gd name="adj" fmla="val 10000"/>
            </a:avLst>
          </a:prstGeom>
          <a:solidFill>
            <a:srgbClr val="E8F5EF"/>
          </a:solidFill>
          <a:ln w="9525">
            <a:solidFill>
              <a:srgbClr val="00A86A"/>
            </a:solidFill>
            <a:prstDash val="solid"/>
          </a:ln>
        </p:spPr>
      </p:sp>
      <p:sp>
        <p:nvSpPr>
          <p:cNvPr id="44" name="Shape 38"/>
          <p:cNvSpPr/>
          <p:nvPr/>
        </p:nvSpPr>
        <p:spPr>
          <a:xfrm>
            <a:off x="548640" y="3159252"/>
            <a:ext cx="274320" cy="274320"/>
          </a:xfrm>
          <a:prstGeom prst="ellipse">
            <a:avLst/>
          </a:prstGeom>
          <a:solidFill>
            <a:srgbClr val="B83B2E">
              <a:alpha val="22000"/>
            </a:srgbClr>
          </a:solidFill>
          <a:ln/>
        </p:spPr>
      </p:sp>
      <p:pic>
        <p:nvPicPr>
          <p:cNvPr id="45" name="Image 3" descr="preencoded.png"/>
          <p:cNvPicPr>
            <a:picLocks noChangeAspect="1"/>
          </p:cNvPicPr>
          <p:nvPr/>
        </p:nvPicPr>
        <p:blipFill>
          <a:blip r:embed="rId6"/>
          <a:stretch>
            <a:fillRect/>
          </a:stretch>
        </p:blipFill>
        <p:spPr>
          <a:xfrm>
            <a:off x="614477" y="3225089"/>
            <a:ext cx="142646" cy="142646"/>
          </a:xfrm>
          <a:prstGeom prst="rect">
            <a:avLst/>
          </a:prstGeom>
        </p:spPr>
      </p:pic>
      <p:sp>
        <p:nvSpPr>
          <p:cNvPr id="46" name="Text 39"/>
          <p:cNvSpPr txBox="1"/>
          <p:nvPr/>
        </p:nvSpPr>
        <p:spPr>
          <a:xfrm>
            <a:off x="896112" y="3067812"/>
            <a:ext cx="2788920" cy="45720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Un traitement non surveillé tourne tout le week-end sur une API payante</a:t>
            </a:r>
            <a:endParaRPr lang="en-US" sz="850" dirty="0"/>
          </a:p>
        </p:txBody>
      </p:sp>
      <p:sp>
        <p:nvSpPr>
          <p:cNvPr id="47" name="Text 40"/>
          <p:cNvSpPr txBox="1"/>
          <p:nvPr/>
        </p:nvSpPr>
        <p:spPr>
          <a:xfrm>
            <a:off x="3840480" y="3067812"/>
            <a:ext cx="201168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Un dépassement qui entame la crédibilité auprès des finances</a:t>
            </a:r>
            <a:endParaRPr lang="en-US" sz="850" dirty="0"/>
          </a:p>
        </p:txBody>
      </p:sp>
      <p:sp>
        <p:nvSpPr>
          <p:cNvPr id="48" name="Text 41"/>
          <p:cNvSpPr txBox="1"/>
          <p:nvPr/>
        </p:nvSpPr>
        <p:spPr>
          <a:xfrm>
            <a:off x="6035040" y="3067812"/>
            <a:ext cx="256032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Plafonds stricts dans la passerelle, quotas par équipe, alertes sur le rythme de dépense</a:t>
            </a:r>
            <a:endParaRPr lang="en-US" sz="850" dirty="0"/>
          </a:p>
        </p:txBody>
      </p:sp>
      <p:sp>
        <p:nvSpPr>
          <p:cNvPr id="49" name="Shape 42"/>
          <p:cNvSpPr/>
          <p:nvPr/>
        </p:nvSpPr>
        <p:spPr>
          <a:xfrm>
            <a:off x="457200" y="3566160"/>
            <a:ext cx="8229600" cy="457200"/>
          </a:xfrm>
          <a:prstGeom prst="roundRect">
            <a:avLst>
              <a:gd name="adj" fmla="val 10000"/>
            </a:avLst>
          </a:prstGeom>
          <a:solidFill>
            <a:srgbClr val="F4F7F5"/>
          </a:solidFill>
          <a:ln w="9525">
            <a:solidFill>
              <a:srgbClr val="D5DED9"/>
            </a:solidFill>
            <a:prstDash val="solid"/>
          </a:ln>
        </p:spPr>
      </p:sp>
      <p:sp>
        <p:nvSpPr>
          <p:cNvPr id="50" name="Shape 43"/>
          <p:cNvSpPr/>
          <p:nvPr/>
        </p:nvSpPr>
        <p:spPr>
          <a:xfrm>
            <a:off x="5943600" y="3566160"/>
            <a:ext cx="2743200" cy="457200"/>
          </a:xfrm>
          <a:prstGeom prst="roundRect">
            <a:avLst>
              <a:gd name="adj" fmla="val 10000"/>
            </a:avLst>
          </a:prstGeom>
          <a:solidFill>
            <a:srgbClr val="E8F5EF"/>
          </a:solidFill>
          <a:ln w="9525">
            <a:solidFill>
              <a:srgbClr val="00A86A"/>
            </a:solidFill>
            <a:prstDash val="solid"/>
          </a:ln>
        </p:spPr>
      </p:sp>
      <p:sp>
        <p:nvSpPr>
          <p:cNvPr id="51" name="Shape 44"/>
          <p:cNvSpPr/>
          <p:nvPr/>
        </p:nvSpPr>
        <p:spPr>
          <a:xfrm>
            <a:off x="548640" y="3657600"/>
            <a:ext cx="274320" cy="274320"/>
          </a:xfrm>
          <a:prstGeom prst="ellipse">
            <a:avLst/>
          </a:prstGeom>
          <a:solidFill>
            <a:srgbClr val="B83B2E">
              <a:alpha val="22000"/>
            </a:srgbClr>
          </a:solidFill>
          <a:ln/>
        </p:spPr>
      </p:sp>
      <p:pic>
        <p:nvPicPr>
          <p:cNvPr id="52" name="Image 4" descr="preencoded.png"/>
          <p:cNvPicPr>
            <a:picLocks noChangeAspect="1"/>
          </p:cNvPicPr>
          <p:nvPr/>
        </p:nvPicPr>
        <p:blipFill>
          <a:blip r:embed="rId7"/>
          <a:stretch>
            <a:fillRect/>
          </a:stretch>
        </p:blipFill>
        <p:spPr>
          <a:xfrm>
            <a:off x="614477" y="3723437"/>
            <a:ext cx="142646" cy="142646"/>
          </a:xfrm>
          <a:prstGeom prst="rect">
            <a:avLst/>
          </a:prstGeom>
        </p:spPr>
      </p:pic>
      <p:sp>
        <p:nvSpPr>
          <p:cNvPr id="53" name="Text 45"/>
          <p:cNvSpPr txBox="1"/>
          <p:nvPr/>
        </p:nvSpPr>
        <p:spPr>
          <a:xfrm>
            <a:off x="896112" y="3566160"/>
            <a:ext cx="2788920" cy="45720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Un pilote réussi ne peut pas passer en production : pas de plateforme</a:t>
            </a:r>
            <a:endParaRPr lang="en-US" sz="850" dirty="0"/>
          </a:p>
        </p:txBody>
      </p:sp>
      <p:sp>
        <p:nvSpPr>
          <p:cNvPr id="54" name="Text 46"/>
          <p:cNvSpPr txBox="1"/>
          <p:nvPr/>
        </p:nvSpPr>
        <p:spPr>
          <a:xfrm>
            <a:off x="3840480" y="3566160"/>
            <a:ext cx="201168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Pilotes à perpétuité : enthousiasme épuisé, rien en production après deux ans</a:t>
            </a:r>
            <a:endParaRPr lang="en-US" sz="850" dirty="0"/>
          </a:p>
        </p:txBody>
      </p:sp>
      <p:sp>
        <p:nvSpPr>
          <p:cNvPr id="55" name="Text 47"/>
          <p:cNvSpPr txBox="1"/>
          <p:nvPr/>
        </p:nvSpPr>
        <p:spPr>
          <a:xfrm>
            <a:off x="6035040" y="3566160"/>
            <a:ext cx="2560320" cy="45720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Plateforme avant le deuxième cas d'usage ; chemin de promotion exigé dès le départ</a:t>
            </a:r>
            <a:endParaRPr lang="en-US" sz="850" dirty="0"/>
          </a:p>
        </p:txBody>
      </p:sp>
      <p:sp>
        <p:nvSpPr>
          <p:cNvPr id="56" name="Shape 48"/>
          <p:cNvSpPr/>
          <p:nvPr/>
        </p:nvSpPr>
        <p:spPr>
          <a:xfrm>
            <a:off x="457200" y="4160520"/>
            <a:ext cx="8229600" cy="438912"/>
          </a:xfrm>
          <a:prstGeom prst="roundRect">
            <a:avLst>
              <a:gd name="adj" fmla="val 12500"/>
            </a:avLst>
          </a:prstGeom>
          <a:solidFill>
            <a:srgbClr val="E8F5EF"/>
          </a:solidFill>
          <a:ln w="15875">
            <a:solidFill>
              <a:srgbClr val="00A86A"/>
            </a:solidFill>
            <a:prstDash val="solid"/>
          </a:ln>
        </p:spPr>
      </p:sp>
      <p:sp>
        <p:nvSpPr>
          <p:cNvPr id="57" name="Shape 49"/>
          <p:cNvSpPr/>
          <p:nvPr/>
        </p:nvSpPr>
        <p:spPr>
          <a:xfrm>
            <a:off x="566928" y="4233672"/>
            <a:ext cx="292608" cy="292608"/>
          </a:xfrm>
          <a:prstGeom prst="ellipse">
            <a:avLst/>
          </a:prstGeom>
          <a:solidFill>
            <a:srgbClr val="00A86A">
              <a:alpha val="22000"/>
            </a:srgbClr>
          </a:solidFill>
          <a:ln/>
        </p:spPr>
      </p:sp>
      <p:pic>
        <p:nvPicPr>
          <p:cNvPr id="58" name="Image 5" descr="preencoded.png"/>
          <p:cNvPicPr>
            <a:picLocks noChangeAspect="1"/>
          </p:cNvPicPr>
          <p:nvPr/>
        </p:nvPicPr>
        <p:blipFill>
          <a:blip r:embed="rId8"/>
          <a:stretch>
            <a:fillRect/>
          </a:stretch>
        </p:blipFill>
        <p:spPr>
          <a:xfrm>
            <a:off x="637154" y="4303898"/>
            <a:ext cx="152156" cy="152156"/>
          </a:xfrm>
          <a:prstGeom prst="rect">
            <a:avLst/>
          </a:prstGeom>
        </p:spPr>
      </p:pic>
      <p:sp>
        <p:nvSpPr>
          <p:cNvPr id="59" name="Text 50"/>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50" b="1" kern="0" spc="150" dirty="0">
                <a:solidFill>
                  <a:srgbClr val="00704A"/>
                </a:solidFill>
                <a:latin typeface="Calibri" pitchFamily="34" charset="0"/>
                <a:ea typeface="Calibri" pitchFamily="34" charset="-122"/>
                <a:cs typeface="Calibri" pitchFamily="34" charset="-120"/>
              </a:rPr>
              <a:t>À RETENIR   </a:t>
            </a:r>
            <a:r>
              <a:rPr lang="en-US" sz="1050" dirty="0">
                <a:solidFill>
                  <a:srgbClr val="231F20"/>
                </a:solidFill>
                <a:latin typeface="Calibri" pitchFamily="34" charset="0"/>
                <a:ea typeface="Calibri" pitchFamily="34" charset="-122"/>
                <a:cs typeface="Calibri" pitchFamily="34" charset="-120"/>
              </a:rPr>
              <a:t>Aucun de ces contrôles n'est coûteux — et tous coûtent bien moins avant la première mise en production qu'après l'incident.</a:t>
            </a:r>
            <a:endParaRPr lang="en-US" sz="1050" dirty="0"/>
          </a:p>
        </p:txBody>
      </p:sp>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05</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Coûts &amp; budget</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Où va réellement l'argent sur cinq ans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La structure des coûts</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Répartition sur cinq ans</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Trois scénarios de coût total</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Seuils de rentabilité</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Où les budgets dérapent</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Maîtrise des coûts (FinOps)</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Construire la demande</a:t>
            </a:r>
            <a:endParaRPr lang="en-US" sz="1000" dirty="0"/>
          </a:p>
        </p:txBody>
      </p:sp>
      <p:sp>
        <p:nvSpPr>
          <p:cNvPr id="15" name="Shape 13"/>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6" name="Shape 14"/>
          <p:cNvSpPr/>
          <p:nvPr/>
        </p:nvSpPr>
        <p:spPr>
          <a:xfrm>
            <a:off x="6355080" y="1325880"/>
            <a:ext cx="1920240" cy="1920240"/>
          </a:xfrm>
          <a:prstGeom prst="ellipse">
            <a:avLst/>
          </a:prstGeom>
          <a:solidFill>
            <a:srgbClr val="FFFFFF">
              <a:alpha val="18000"/>
            </a:srgbClr>
          </a:solidFill>
          <a:ln/>
        </p:spPr>
      </p:sp>
      <p:sp>
        <p:nvSpPr>
          <p:cNvPr id="17" name="Shape 15"/>
          <p:cNvSpPr/>
          <p:nvPr/>
        </p:nvSpPr>
        <p:spPr>
          <a:xfrm>
            <a:off x="6720840" y="1691640"/>
            <a:ext cx="1188720" cy="1188720"/>
          </a:xfrm>
          <a:prstGeom prst="ellipse">
            <a:avLst/>
          </a:prstGeom>
          <a:solidFill>
            <a:srgbClr val="FFFFFF"/>
          </a:solidFill>
          <a:ln/>
        </p:spPr>
      </p:sp>
      <p:pic>
        <p:nvPicPr>
          <p:cNvPr id="18"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19" name="Shape 16"/>
          <p:cNvSpPr/>
          <p:nvPr/>
        </p:nvSpPr>
        <p:spPr>
          <a:xfrm>
            <a:off x="6510528" y="4014216"/>
            <a:ext cx="109728" cy="109728"/>
          </a:xfrm>
          <a:prstGeom prst="ellipse">
            <a:avLst/>
          </a:prstGeom>
          <a:solidFill>
            <a:srgbClr val="FFFFFF">
              <a:alpha val="40000"/>
            </a:srgbClr>
          </a:solidFill>
          <a:ln/>
        </p:spPr>
      </p:sp>
      <p:sp>
        <p:nvSpPr>
          <p:cNvPr id="20" name="Shape 17"/>
          <p:cNvSpPr/>
          <p:nvPr/>
        </p:nvSpPr>
        <p:spPr>
          <a:xfrm>
            <a:off x="6784848" y="4014216"/>
            <a:ext cx="109728" cy="109728"/>
          </a:xfrm>
          <a:prstGeom prst="ellipse">
            <a:avLst/>
          </a:prstGeom>
          <a:solidFill>
            <a:srgbClr val="FFFFFF">
              <a:alpha val="40000"/>
            </a:srgbClr>
          </a:solidFill>
          <a:ln/>
        </p:spPr>
      </p:sp>
      <p:sp>
        <p:nvSpPr>
          <p:cNvPr id="21" name="Shape 18"/>
          <p:cNvSpPr/>
          <p:nvPr/>
        </p:nvSpPr>
        <p:spPr>
          <a:xfrm>
            <a:off x="7059168" y="4014216"/>
            <a:ext cx="109728" cy="109728"/>
          </a:xfrm>
          <a:prstGeom prst="ellipse">
            <a:avLst/>
          </a:prstGeom>
          <a:solidFill>
            <a:srgbClr val="FFFFFF">
              <a:alpha val="40000"/>
            </a:srgbClr>
          </a:solidFill>
          <a:ln/>
        </p:spPr>
      </p:sp>
      <p:sp>
        <p:nvSpPr>
          <p:cNvPr id="22" name="Shape 19"/>
          <p:cNvSpPr/>
          <p:nvPr/>
        </p:nvSpPr>
        <p:spPr>
          <a:xfrm>
            <a:off x="7333488" y="4014216"/>
            <a:ext cx="109728" cy="109728"/>
          </a:xfrm>
          <a:prstGeom prst="ellipse">
            <a:avLst/>
          </a:prstGeom>
          <a:solidFill>
            <a:srgbClr val="FFFFFF">
              <a:alpha val="40000"/>
            </a:srgbClr>
          </a:solidFill>
          <a:ln/>
        </p:spPr>
      </p:sp>
      <p:sp>
        <p:nvSpPr>
          <p:cNvPr id="23" name="Shape 20"/>
          <p:cNvSpPr/>
          <p:nvPr/>
        </p:nvSpPr>
        <p:spPr>
          <a:xfrm>
            <a:off x="7589520" y="3995928"/>
            <a:ext cx="146304" cy="146304"/>
          </a:xfrm>
          <a:prstGeom prst="ellipse">
            <a:avLst/>
          </a:prstGeom>
          <a:solidFill>
            <a:srgbClr val="F5C242"/>
          </a:solidFill>
          <a:ln/>
        </p:spPr>
      </p:sp>
      <p:sp>
        <p:nvSpPr>
          <p:cNvPr id="24" name="Shape 21"/>
          <p:cNvSpPr/>
          <p:nvPr/>
        </p:nvSpPr>
        <p:spPr>
          <a:xfrm>
            <a:off x="7882128" y="4014216"/>
            <a:ext cx="109728" cy="109728"/>
          </a:xfrm>
          <a:prstGeom prst="ellipse">
            <a:avLst/>
          </a:prstGeom>
          <a:solidFill>
            <a:srgbClr val="FFFFFF">
              <a:alpha val="40000"/>
            </a:srgbClr>
          </a:solidFill>
          <a:ln/>
        </p:spPr>
      </p:sp>
      <p:sp>
        <p:nvSpPr>
          <p:cNvPr id="25" name="Text 22"/>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46</a:t>
            </a:r>
            <a:endParaRPr lang="en-US" sz="850" dirty="0"/>
          </a:p>
        </p:txBody>
      </p:sp>
    </p:spTree>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STRUCTURE DES COÛTS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La structure complète des coûts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 matériel et les frais d'API sont les coûts visibles. Ce sont rarement les plus importants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47</a:t>
            </a:r>
            <a:endParaRPr lang="en-US" sz="850" dirty="0"/>
          </a:p>
        </p:txBody>
      </p:sp>
      <p:sp>
        <p:nvSpPr>
          <p:cNvPr id="18" name="Shape 15"/>
          <p:cNvSpPr/>
          <p:nvPr/>
        </p:nvSpPr>
        <p:spPr>
          <a:xfrm>
            <a:off x="457200" y="1371600"/>
            <a:ext cx="1975104" cy="1271016"/>
          </a:xfrm>
          <a:prstGeom prst="roundRect">
            <a:avLst>
              <a:gd name="adj" fmla="val 5755"/>
            </a:avLst>
          </a:prstGeom>
          <a:solidFill>
            <a:srgbClr val="E8F5EF"/>
          </a:solidFill>
          <a:ln w="15875">
            <a:solidFill>
              <a:srgbClr val="C4621D"/>
            </a:solidFill>
            <a:prstDash val="solid"/>
          </a:ln>
        </p:spPr>
      </p:sp>
      <p:sp>
        <p:nvSpPr>
          <p:cNvPr id="19" name="Shape 16"/>
          <p:cNvSpPr/>
          <p:nvPr/>
        </p:nvSpPr>
        <p:spPr>
          <a:xfrm>
            <a:off x="585216" y="1499616"/>
            <a:ext cx="310896" cy="310896"/>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2020824"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01</a:t>
            </a:r>
            <a:endParaRPr lang="en-US" sz="900" dirty="0"/>
          </a:p>
        </p:txBody>
      </p:sp>
      <p:sp>
        <p:nvSpPr>
          <p:cNvPr id="22" name="Text 18"/>
          <p:cNvSpPr txBox="1"/>
          <p:nvPr/>
        </p:nvSpPr>
        <p:spPr>
          <a:xfrm>
            <a:off x="1005840" y="1499616"/>
            <a:ext cx="10424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Personnel</a:t>
            </a:r>
            <a:endParaRPr lang="en-US" sz="1050" dirty="0"/>
          </a:p>
        </p:txBody>
      </p:sp>
      <p:sp>
        <p:nvSpPr>
          <p:cNvPr id="23" name="Text 19"/>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Salaires, charges, recrutement et rotation. Généralement le premier poste, de loin.</a:t>
            </a:r>
            <a:endParaRPr lang="en-US" sz="900" dirty="0"/>
          </a:p>
        </p:txBody>
      </p:sp>
      <p:sp>
        <p:nvSpPr>
          <p:cNvPr id="24" name="Shape 20"/>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5" name="Shape 21"/>
          <p:cNvSpPr/>
          <p:nvPr/>
        </p:nvSpPr>
        <p:spPr>
          <a:xfrm>
            <a:off x="2670048" y="1499616"/>
            <a:ext cx="310896" cy="310896"/>
          </a:xfrm>
          <a:prstGeom prst="ellipse">
            <a:avLst/>
          </a:prstGeom>
          <a:solidFill>
            <a:srgbClr val="C4621D">
              <a:alpha val="22000"/>
            </a:srgbClr>
          </a:solidFill>
          <a:ln/>
        </p:spPr>
      </p:sp>
      <p:pic>
        <p:nvPicPr>
          <p:cNvPr id="26"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7" name="Text 22"/>
          <p:cNvSpPr txBox="1"/>
          <p:nvPr/>
        </p:nvSpPr>
        <p:spPr>
          <a:xfrm>
            <a:off x="4105656"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02</a:t>
            </a:r>
            <a:endParaRPr lang="en-US" sz="900" dirty="0"/>
          </a:p>
        </p:txBody>
      </p:sp>
      <p:sp>
        <p:nvSpPr>
          <p:cNvPr id="28" name="Text 23"/>
          <p:cNvSpPr txBox="1"/>
          <p:nvPr/>
        </p:nvSpPr>
        <p:spPr>
          <a:xfrm>
            <a:off x="3090672" y="1499616"/>
            <a:ext cx="10424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Calcul et stockage</a:t>
            </a:r>
            <a:endParaRPr lang="en-US" sz="1050" dirty="0"/>
          </a:p>
        </p:txBody>
      </p:sp>
      <p:sp>
        <p:nvSpPr>
          <p:cNvPr id="29" name="Text 24"/>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Achat de matériel ou consommation cloud, stockage, sauvegarde, transferts.</a:t>
            </a:r>
            <a:endParaRPr lang="en-US" sz="900" dirty="0"/>
          </a:p>
        </p:txBody>
      </p:sp>
      <p:sp>
        <p:nvSpPr>
          <p:cNvPr id="30" name="Shape 25"/>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31" name="Shape 26"/>
          <p:cNvSpPr/>
          <p:nvPr/>
        </p:nvSpPr>
        <p:spPr>
          <a:xfrm>
            <a:off x="4754880" y="1499616"/>
            <a:ext cx="310896" cy="310896"/>
          </a:xfrm>
          <a:prstGeom prst="ellipse">
            <a:avLst/>
          </a:prstGeom>
          <a:solidFill>
            <a:srgbClr val="C4621D">
              <a:alpha val="22000"/>
            </a:srgbClr>
          </a:solidFill>
          <a:ln/>
        </p:spPr>
      </p:sp>
      <p:pic>
        <p:nvPicPr>
          <p:cNvPr id="32"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3" name="Text 27"/>
          <p:cNvSpPr txBox="1"/>
          <p:nvPr/>
        </p:nvSpPr>
        <p:spPr>
          <a:xfrm>
            <a:off x="6190488"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03</a:t>
            </a:r>
            <a:endParaRPr lang="en-US" sz="900" dirty="0"/>
          </a:p>
        </p:txBody>
      </p:sp>
      <p:sp>
        <p:nvSpPr>
          <p:cNvPr id="34" name="Text 28"/>
          <p:cNvSpPr txBox="1"/>
          <p:nvPr/>
        </p:nvSpPr>
        <p:spPr>
          <a:xfrm>
            <a:off x="5175504" y="1499616"/>
            <a:ext cx="104241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Données et annotation</a:t>
            </a:r>
            <a:endParaRPr lang="en-US" sz="1050" dirty="0"/>
          </a:p>
        </p:txBody>
      </p:sp>
      <p:sp>
        <p:nvSpPr>
          <p:cNvPr id="35" name="Text 29"/>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Codage, consignes, arbitrage et entretien des jeux de référence.</a:t>
            </a:r>
            <a:endParaRPr lang="en-US" sz="900" dirty="0"/>
          </a:p>
        </p:txBody>
      </p:sp>
      <p:sp>
        <p:nvSpPr>
          <p:cNvPr id="36" name="Shape 30"/>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7" name="Shape 31"/>
          <p:cNvSpPr/>
          <p:nvPr/>
        </p:nvSpPr>
        <p:spPr>
          <a:xfrm>
            <a:off x="6839712" y="1499616"/>
            <a:ext cx="310896" cy="310896"/>
          </a:xfrm>
          <a:prstGeom prst="ellipse">
            <a:avLst/>
          </a:prstGeom>
          <a:solidFill>
            <a:srgbClr val="C4621D">
              <a:alpha val="22000"/>
            </a:srgbClr>
          </a:solidFill>
          <a:ln/>
        </p:spPr>
      </p:sp>
      <p:pic>
        <p:nvPicPr>
          <p:cNvPr id="38"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9" name="Text 32"/>
          <p:cNvSpPr txBox="1"/>
          <p:nvPr/>
        </p:nvSpPr>
        <p:spPr>
          <a:xfrm>
            <a:off x="8275320" y="1481328"/>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04</a:t>
            </a:r>
            <a:endParaRPr lang="en-US" sz="900" dirty="0"/>
          </a:p>
        </p:txBody>
      </p:sp>
      <p:sp>
        <p:nvSpPr>
          <p:cNvPr id="40" name="Text 33"/>
          <p:cNvSpPr txBox="1"/>
          <p:nvPr/>
        </p:nvSpPr>
        <p:spPr>
          <a:xfrm>
            <a:off x="7260336" y="1499616"/>
            <a:ext cx="104241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Logiciels et licences</a:t>
            </a:r>
            <a:endParaRPr lang="en-US" sz="1050" dirty="0"/>
          </a:p>
        </p:txBody>
      </p:sp>
      <p:sp>
        <p:nvSpPr>
          <p:cNvPr id="41" name="Text 34"/>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Plateforme, MLOps, annotation, sécurité, supervision — et renouvellements.</a:t>
            </a:r>
            <a:endParaRPr lang="en-US" sz="900" dirty="0"/>
          </a:p>
        </p:txBody>
      </p:sp>
      <p:sp>
        <p:nvSpPr>
          <p:cNvPr id="42" name="Shape 35"/>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43" name="Shape 36"/>
          <p:cNvSpPr/>
          <p:nvPr/>
        </p:nvSpPr>
        <p:spPr>
          <a:xfrm>
            <a:off x="585216" y="2880360"/>
            <a:ext cx="310896" cy="310896"/>
          </a:xfrm>
          <a:prstGeom prst="ellipse">
            <a:avLst/>
          </a:prstGeom>
          <a:solidFill>
            <a:srgbClr val="C4621D">
              <a:alpha val="22000"/>
            </a:srgbClr>
          </a:solidFill>
          <a:ln/>
        </p:spPr>
      </p:sp>
      <p:pic>
        <p:nvPicPr>
          <p:cNvPr id="44"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5" name="Text 37"/>
          <p:cNvSpPr txBox="1"/>
          <p:nvPr/>
        </p:nvSpPr>
        <p:spPr>
          <a:xfrm>
            <a:off x="2020824"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05</a:t>
            </a:r>
            <a:endParaRPr lang="en-US" sz="900" dirty="0"/>
          </a:p>
        </p:txBody>
      </p:sp>
      <p:sp>
        <p:nvSpPr>
          <p:cNvPr id="46" name="Text 38"/>
          <p:cNvSpPr txBox="1"/>
          <p:nvPr/>
        </p:nvSpPr>
        <p:spPr>
          <a:xfrm>
            <a:off x="1005840" y="2880360"/>
            <a:ext cx="104241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Locaux techniques</a:t>
            </a:r>
            <a:endParaRPr lang="en-US" sz="1050" dirty="0"/>
          </a:p>
        </p:txBody>
      </p:sp>
      <p:sp>
        <p:nvSpPr>
          <p:cNvPr id="47" name="Text 39"/>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Électricité, secours, climatisation, espace. Sur site uniquement ; souvent un autre budget.</a:t>
            </a:r>
            <a:endParaRPr lang="en-US" sz="900" dirty="0"/>
          </a:p>
        </p:txBody>
      </p:sp>
      <p:sp>
        <p:nvSpPr>
          <p:cNvPr id="48" name="Shape 40"/>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9" name="Shape 41"/>
          <p:cNvSpPr/>
          <p:nvPr/>
        </p:nvSpPr>
        <p:spPr>
          <a:xfrm>
            <a:off x="2670048" y="2880360"/>
            <a:ext cx="310896" cy="310896"/>
          </a:xfrm>
          <a:prstGeom prst="ellipse">
            <a:avLst/>
          </a:prstGeom>
          <a:solidFill>
            <a:srgbClr val="C4621D">
              <a:alpha val="22000"/>
            </a:srgbClr>
          </a:solidFill>
          <a:ln/>
        </p:spPr>
      </p:sp>
      <p:pic>
        <p:nvPicPr>
          <p:cNvPr id="50"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51" name="Text 42"/>
          <p:cNvSpPr txBox="1"/>
          <p:nvPr/>
        </p:nvSpPr>
        <p:spPr>
          <a:xfrm>
            <a:off x="4105656"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06</a:t>
            </a:r>
            <a:endParaRPr lang="en-US" sz="900" dirty="0"/>
          </a:p>
        </p:txBody>
      </p:sp>
      <p:sp>
        <p:nvSpPr>
          <p:cNvPr id="52" name="Text 43"/>
          <p:cNvSpPr txBox="1"/>
          <p:nvPr/>
        </p:nvSpPr>
        <p:spPr>
          <a:xfrm>
            <a:off x="3090672" y="2880360"/>
            <a:ext cx="104241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Gouvernance et assurance</a:t>
            </a:r>
            <a:endParaRPr lang="en-US" sz="1050" dirty="0"/>
          </a:p>
        </p:txBody>
      </p:sp>
      <p:sp>
        <p:nvSpPr>
          <p:cNvPr id="53" name="Text 44"/>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Revue juridique, analyses d'impact, tests de sécurité, audit, documentation.</a:t>
            </a:r>
            <a:endParaRPr lang="en-US" sz="900" dirty="0"/>
          </a:p>
        </p:txBody>
      </p:sp>
      <p:sp>
        <p:nvSpPr>
          <p:cNvPr id="54" name="Shape 45"/>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55" name="Shape 46"/>
          <p:cNvSpPr/>
          <p:nvPr/>
        </p:nvSpPr>
        <p:spPr>
          <a:xfrm>
            <a:off x="4754880" y="2880360"/>
            <a:ext cx="310896" cy="310896"/>
          </a:xfrm>
          <a:prstGeom prst="ellipse">
            <a:avLst/>
          </a:prstGeom>
          <a:solidFill>
            <a:srgbClr val="C4621D">
              <a:alpha val="22000"/>
            </a:srgbClr>
          </a:solidFill>
          <a:ln/>
        </p:spPr>
      </p:sp>
      <p:pic>
        <p:nvPicPr>
          <p:cNvPr id="56"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7" name="Text 47"/>
          <p:cNvSpPr txBox="1"/>
          <p:nvPr/>
        </p:nvSpPr>
        <p:spPr>
          <a:xfrm>
            <a:off x="6190488" y="2862072"/>
            <a:ext cx="292608" cy="182880"/>
          </a:xfrm>
          <a:prstGeom prst="rect">
            <a:avLst/>
          </a:prstGeom>
          <a:noFill/>
          <a:ln/>
        </p:spPr>
        <p:txBody>
          <a:bodyPr wrap="square" lIns="0" tIns="0" rIns="0" bIns="0" rtlCol="0" anchor="t"/>
          <a:lstStyle/>
          <a:p>
            <a:pPr marL="0" indent="0" algn="r">
              <a:buNone/>
            </a:pPr>
            <a:r>
              <a:rPr lang="en-US" sz="900" b="1" dirty="0">
                <a:solidFill>
                  <a:srgbClr val="C4621D"/>
                </a:solidFill>
                <a:latin typeface="Calibri" pitchFamily="34" charset="0"/>
                <a:ea typeface="Calibri" pitchFamily="34" charset="-122"/>
                <a:cs typeface="Calibri" pitchFamily="34" charset="-120"/>
              </a:rPr>
              <a:t>07</a:t>
            </a:r>
            <a:endParaRPr lang="en-US" sz="900" dirty="0"/>
          </a:p>
        </p:txBody>
      </p:sp>
      <p:sp>
        <p:nvSpPr>
          <p:cNvPr id="58" name="Text 48"/>
          <p:cNvSpPr txBox="1"/>
          <p:nvPr/>
        </p:nvSpPr>
        <p:spPr>
          <a:xfrm>
            <a:off x="5175504" y="2880360"/>
            <a:ext cx="104241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Conduite du changement</a:t>
            </a:r>
            <a:endParaRPr lang="en-US" sz="1050" dirty="0"/>
          </a:p>
        </p:txBody>
      </p:sp>
      <p:sp>
        <p:nvSpPr>
          <p:cNvPr id="59" name="Text 49"/>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Programme, formation, temps des agents et communication.</a:t>
            </a:r>
            <a:endParaRPr lang="en-US" sz="900" dirty="0"/>
          </a:p>
        </p:txBody>
      </p:sp>
      <p:sp>
        <p:nvSpPr>
          <p:cNvPr id="60" name="Shape 50"/>
          <p:cNvSpPr/>
          <p:nvPr/>
        </p:nvSpPr>
        <p:spPr>
          <a:xfrm>
            <a:off x="6711696" y="2752344"/>
            <a:ext cx="1975104" cy="1271016"/>
          </a:xfrm>
          <a:prstGeom prst="roundRect">
            <a:avLst>
              <a:gd name="adj" fmla="val 5755"/>
            </a:avLst>
          </a:prstGeom>
          <a:solidFill>
            <a:srgbClr val="E8F5EF"/>
          </a:solidFill>
          <a:ln w="15875">
            <a:solidFill>
              <a:srgbClr val="B83B2E"/>
            </a:solidFill>
            <a:prstDash val="solid"/>
          </a:ln>
        </p:spPr>
      </p:sp>
      <p:sp>
        <p:nvSpPr>
          <p:cNvPr id="61" name="Shape 51"/>
          <p:cNvSpPr/>
          <p:nvPr/>
        </p:nvSpPr>
        <p:spPr>
          <a:xfrm>
            <a:off x="6839712" y="2880360"/>
            <a:ext cx="310896" cy="310896"/>
          </a:xfrm>
          <a:prstGeom prst="ellipse">
            <a:avLst/>
          </a:prstGeom>
          <a:solidFill>
            <a:srgbClr val="B83B2E">
              <a:alpha val="22000"/>
            </a:srgbClr>
          </a:solidFill>
          <a:ln/>
        </p:spPr>
      </p:sp>
      <p:pic>
        <p:nvPicPr>
          <p:cNvPr id="62"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63" name="Text 52"/>
          <p:cNvSpPr txBox="1"/>
          <p:nvPr/>
        </p:nvSpPr>
        <p:spPr>
          <a:xfrm>
            <a:off x="8275320" y="2862072"/>
            <a:ext cx="292608" cy="182880"/>
          </a:xfrm>
          <a:prstGeom prst="rect">
            <a:avLst/>
          </a:prstGeom>
          <a:noFill/>
          <a:ln/>
        </p:spPr>
        <p:txBody>
          <a:bodyPr wrap="square" lIns="0" tIns="0" rIns="0" bIns="0" rtlCol="0" anchor="t"/>
          <a:lstStyle/>
          <a:p>
            <a:pPr marL="0" indent="0" algn="r">
              <a:buNone/>
            </a:pPr>
            <a:r>
              <a:rPr lang="en-US" sz="900" b="1" dirty="0">
                <a:solidFill>
                  <a:srgbClr val="B83B2E"/>
                </a:solidFill>
                <a:latin typeface="Calibri" pitchFamily="34" charset="0"/>
                <a:ea typeface="Calibri" pitchFamily="34" charset="-122"/>
                <a:cs typeface="Calibri" pitchFamily="34" charset="-120"/>
              </a:rPr>
              <a:t>08</a:t>
            </a:r>
            <a:endParaRPr lang="en-US" sz="900" dirty="0"/>
          </a:p>
        </p:txBody>
      </p:sp>
      <p:sp>
        <p:nvSpPr>
          <p:cNvPr id="64" name="Text 53"/>
          <p:cNvSpPr txBox="1"/>
          <p:nvPr/>
        </p:nvSpPr>
        <p:spPr>
          <a:xfrm>
            <a:off x="7260336" y="2880360"/>
            <a:ext cx="104241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Exploitation et maintenance</a:t>
            </a:r>
            <a:endParaRPr lang="en-US" sz="1050" dirty="0"/>
          </a:p>
        </p:txBody>
      </p:sp>
      <p:sp>
        <p:nvSpPr>
          <p:cNvPr id="65" name="Text 54"/>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Prévoir 15 à 25 % du coût de construction chaque année. Le poste le plus souvent oublié.</a:t>
            </a:r>
            <a:endParaRPr lang="en-US" sz="900" dirty="0"/>
          </a:p>
        </p:txBody>
      </p:sp>
      <p:sp>
        <p:nvSpPr>
          <p:cNvPr id="66" name="Shape 55"/>
          <p:cNvSpPr/>
          <p:nvPr/>
        </p:nvSpPr>
        <p:spPr>
          <a:xfrm>
            <a:off x="457200" y="4133088"/>
            <a:ext cx="8229600" cy="457200"/>
          </a:xfrm>
          <a:prstGeom prst="roundRect">
            <a:avLst>
              <a:gd name="adj" fmla="val 12000"/>
            </a:avLst>
          </a:prstGeom>
          <a:solidFill>
            <a:srgbClr val="E8F5EF"/>
          </a:solidFill>
          <a:ln w="15875">
            <a:solidFill>
              <a:srgbClr val="C4621D"/>
            </a:solidFill>
            <a:prstDash val="solid"/>
          </a:ln>
        </p:spPr>
      </p:sp>
      <p:sp>
        <p:nvSpPr>
          <p:cNvPr id="67" name="Shape 56"/>
          <p:cNvSpPr/>
          <p:nvPr/>
        </p:nvSpPr>
        <p:spPr>
          <a:xfrm>
            <a:off x="566928" y="4215384"/>
            <a:ext cx="292608" cy="292608"/>
          </a:xfrm>
          <a:prstGeom prst="ellipse">
            <a:avLst/>
          </a:prstGeom>
          <a:solidFill>
            <a:srgbClr val="C4621D">
              <a:alpha val="22000"/>
            </a:srgbClr>
          </a:solidFill>
          <a:ln/>
        </p:spPr>
      </p:sp>
      <p:pic>
        <p:nvPicPr>
          <p:cNvPr id="68"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9" name="Text 57"/>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Si un budget IA est surtout du matériel, ce n'est pas le budget d'une capacité — c'est celui d'un équipement que personne n'est payé pour exploiter.</a:t>
            </a:r>
            <a:endParaRPr lang="en-US" sz="1000" dirty="0"/>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RÉPARTITION DES COÛTS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Où va l'argent sur cinq ans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Répartition illustrative pour un institut de taille moyenne avec deux ou trois usages en production</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48</a:t>
            </a:r>
            <a:endParaRPr lang="en-US" sz="850" dirty="0"/>
          </a:p>
        </p:txBody>
      </p:sp>
      <p:sp>
        <p:nvSpPr>
          <p:cNvPr id="18" name="Shape 15"/>
          <p:cNvSpPr/>
          <p:nvPr/>
        </p:nvSpPr>
        <p:spPr>
          <a:xfrm>
            <a:off x="457200" y="1371600"/>
            <a:ext cx="4206240" cy="3154680"/>
          </a:xfrm>
          <a:prstGeom prst="roundRect">
            <a:avLst>
              <a:gd name="adj" fmla="val 2319"/>
            </a:avLst>
          </a:prstGeom>
          <a:solidFill>
            <a:srgbClr val="F4F7F5"/>
          </a:solidFill>
          <a:ln w="9525">
            <a:solidFill>
              <a:srgbClr val="D5DED9"/>
            </a:solidFill>
            <a:prstDash val="solid"/>
          </a:ln>
        </p:spPr>
      </p:sp>
      <p:sp>
        <p:nvSpPr>
          <p:cNvPr id="19" name="Text 16"/>
          <p:cNvSpPr txBox="1"/>
          <p:nvPr/>
        </p:nvSpPr>
        <p:spPr>
          <a:xfrm>
            <a:off x="640080" y="1463040"/>
            <a:ext cx="38404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Part du coût total sur cinq ans (%)</a:t>
            </a:r>
            <a:endParaRPr lang="en-US" sz="1100" dirty="0"/>
          </a:p>
        </p:txBody>
      </p:sp>
      <p:graphicFrame>
        <p:nvGraphicFramePr>
          <p:cNvPr id="20" name="Chart 0"/>
          <p:cNvGraphicFramePr/>
          <p:nvPr/>
        </p:nvGraphicFramePr>
        <p:xfrm>
          <a:off x="548640" y="1737360"/>
          <a:ext cx="40233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7"/>
          <p:cNvSpPr/>
          <p:nvPr/>
        </p:nvSpPr>
        <p:spPr>
          <a:xfrm>
            <a:off x="4846320" y="1371600"/>
            <a:ext cx="3840480" cy="713232"/>
          </a:xfrm>
          <a:prstGeom prst="roundRect">
            <a:avLst>
              <a:gd name="adj" fmla="val 10256"/>
            </a:avLst>
          </a:prstGeom>
          <a:solidFill>
            <a:srgbClr val="F4F7F5"/>
          </a:solidFill>
          <a:ln w="9525">
            <a:solidFill>
              <a:srgbClr val="D5DED9"/>
            </a:solidFill>
            <a:prstDash val="solid"/>
          </a:ln>
        </p:spPr>
      </p:sp>
      <p:sp>
        <p:nvSpPr>
          <p:cNvPr id="22" name="Shape 18"/>
          <p:cNvSpPr/>
          <p:nvPr/>
        </p:nvSpPr>
        <p:spPr>
          <a:xfrm>
            <a:off x="4956048" y="1554480"/>
            <a:ext cx="347472" cy="347472"/>
          </a:xfrm>
          <a:prstGeom prst="ellipse">
            <a:avLst/>
          </a:prstGeom>
          <a:solidFill>
            <a:srgbClr val="C4621D">
              <a:alpha val="22000"/>
            </a:srgbClr>
          </a:solidFill>
          <a:ln/>
        </p:spPr>
      </p:sp>
      <p:pic>
        <p:nvPicPr>
          <p:cNvPr id="23" name="Image 0" descr="preencoded.png"/>
          <p:cNvPicPr>
            <a:picLocks noChangeAspect="1"/>
          </p:cNvPicPr>
          <p:nvPr/>
        </p:nvPicPr>
        <p:blipFill>
          <a:blip r:embed="rId4"/>
          <a:stretch>
            <a:fillRect/>
          </a:stretch>
        </p:blipFill>
        <p:spPr>
          <a:xfrm>
            <a:off x="5039441" y="1637873"/>
            <a:ext cx="180685" cy="180685"/>
          </a:xfrm>
          <a:prstGeom prst="rect">
            <a:avLst/>
          </a:prstGeom>
        </p:spPr>
      </p:pic>
      <p:sp>
        <p:nvSpPr>
          <p:cNvPr id="24" name="Text 19"/>
          <p:cNvSpPr txBox="1"/>
          <p:nvPr/>
        </p:nvSpPr>
        <p:spPr>
          <a:xfrm>
            <a:off x="5440680" y="14356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personnel domine</a:t>
            </a:r>
            <a:endParaRPr lang="en-US" sz="1100" dirty="0"/>
          </a:p>
        </p:txBody>
      </p:sp>
      <p:sp>
        <p:nvSpPr>
          <p:cNvPr id="25" name="Text 20"/>
          <p:cNvSpPr txBox="1"/>
          <p:nvPr/>
        </p:nvSpPr>
        <p:spPr>
          <a:xfrm>
            <a:off x="5440680" y="1664208"/>
            <a:ext cx="3182112"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Près de la moitié du coût est salariale : les effectifs pèsent plus que l'hébergement.</a:t>
            </a:r>
            <a:endParaRPr lang="en-US" sz="900" dirty="0"/>
          </a:p>
        </p:txBody>
      </p:sp>
      <p:sp>
        <p:nvSpPr>
          <p:cNvPr id="26" name="Shape 21"/>
          <p:cNvSpPr/>
          <p:nvPr/>
        </p:nvSpPr>
        <p:spPr>
          <a:xfrm>
            <a:off x="4846320" y="2171700"/>
            <a:ext cx="3840480" cy="713232"/>
          </a:xfrm>
          <a:prstGeom prst="roundRect">
            <a:avLst>
              <a:gd name="adj" fmla="val 10256"/>
            </a:avLst>
          </a:prstGeom>
          <a:solidFill>
            <a:srgbClr val="F4F7F5"/>
          </a:solidFill>
          <a:ln w="9525">
            <a:solidFill>
              <a:srgbClr val="D5DED9"/>
            </a:solidFill>
            <a:prstDash val="solid"/>
          </a:ln>
        </p:spPr>
      </p:sp>
      <p:sp>
        <p:nvSpPr>
          <p:cNvPr id="27" name="Shape 22"/>
          <p:cNvSpPr/>
          <p:nvPr/>
        </p:nvSpPr>
        <p:spPr>
          <a:xfrm>
            <a:off x="4956048" y="2354580"/>
            <a:ext cx="347472" cy="347472"/>
          </a:xfrm>
          <a:prstGeom prst="ellipse">
            <a:avLst/>
          </a:prstGeom>
          <a:solidFill>
            <a:srgbClr val="C4621D">
              <a:alpha val="22000"/>
            </a:srgbClr>
          </a:solidFill>
          <a:ln/>
        </p:spPr>
      </p:sp>
      <p:pic>
        <p:nvPicPr>
          <p:cNvPr id="28" name="Image 1" descr="preencoded.png"/>
          <p:cNvPicPr>
            <a:picLocks noChangeAspect="1"/>
          </p:cNvPicPr>
          <p:nvPr/>
        </p:nvPicPr>
        <p:blipFill>
          <a:blip r:embed="rId5"/>
          <a:stretch>
            <a:fillRect/>
          </a:stretch>
        </p:blipFill>
        <p:spPr>
          <a:xfrm>
            <a:off x="5039441" y="2437973"/>
            <a:ext cx="180685" cy="180685"/>
          </a:xfrm>
          <a:prstGeom prst="rect">
            <a:avLst/>
          </a:prstGeom>
        </p:spPr>
      </p:pic>
      <p:sp>
        <p:nvSpPr>
          <p:cNvPr id="29" name="Text 23"/>
          <p:cNvSpPr txBox="1"/>
          <p:nvPr/>
        </p:nvSpPr>
        <p:spPr>
          <a:xfrm>
            <a:off x="5440680" y="22357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calcul est minoritaire</a:t>
            </a:r>
            <a:endParaRPr lang="en-US" sz="1100" dirty="0"/>
          </a:p>
        </p:txBody>
      </p:sp>
      <p:sp>
        <p:nvSpPr>
          <p:cNvPr id="30" name="Text 24"/>
          <p:cNvSpPr txBox="1"/>
          <p:nvPr/>
        </p:nvSpPr>
        <p:spPr>
          <a:xfrm>
            <a:off x="5440680" y="2464308"/>
            <a:ext cx="3182112"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Matériel et locaux dépassent rarement un quart du total.</a:t>
            </a:r>
            <a:endParaRPr lang="en-US" sz="900" dirty="0"/>
          </a:p>
        </p:txBody>
      </p:sp>
      <p:sp>
        <p:nvSpPr>
          <p:cNvPr id="31" name="Shape 25"/>
          <p:cNvSpPr/>
          <p:nvPr/>
        </p:nvSpPr>
        <p:spPr>
          <a:xfrm>
            <a:off x="4846320" y="2971800"/>
            <a:ext cx="3840480" cy="713232"/>
          </a:xfrm>
          <a:prstGeom prst="roundRect">
            <a:avLst>
              <a:gd name="adj" fmla="val 10256"/>
            </a:avLst>
          </a:prstGeom>
          <a:solidFill>
            <a:srgbClr val="F4F7F5"/>
          </a:solidFill>
          <a:ln w="9525">
            <a:solidFill>
              <a:srgbClr val="D5DED9"/>
            </a:solidFill>
            <a:prstDash val="solid"/>
          </a:ln>
        </p:spPr>
      </p:sp>
      <p:sp>
        <p:nvSpPr>
          <p:cNvPr id="32" name="Shape 26"/>
          <p:cNvSpPr/>
          <p:nvPr/>
        </p:nvSpPr>
        <p:spPr>
          <a:xfrm>
            <a:off x="4956048" y="3154680"/>
            <a:ext cx="347472" cy="347472"/>
          </a:xfrm>
          <a:prstGeom prst="ellipse">
            <a:avLst/>
          </a:prstGeom>
          <a:solidFill>
            <a:srgbClr val="C4621D">
              <a:alpha val="22000"/>
            </a:srgbClr>
          </a:solidFill>
          <a:ln/>
        </p:spPr>
      </p:sp>
      <p:pic>
        <p:nvPicPr>
          <p:cNvPr id="33" name="Image 2" descr="preencoded.png"/>
          <p:cNvPicPr>
            <a:picLocks noChangeAspect="1"/>
          </p:cNvPicPr>
          <p:nvPr/>
        </p:nvPicPr>
        <p:blipFill>
          <a:blip r:embed="rId6"/>
          <a:stretch>
            <a:fillRect/>
          </a:stretch>
        </p:blipFill>
        <p:spPr>
          <a:xfrm>
            <a:off x="5039441" y="3238073"/>
            <a:ext cx="180685" cy="180685"/>
          </a:xfrm>
          <a:prstGeom prst="rect">
            <a:avLst/>
          </a:prstGeom>
        </p:spPr>
      </p:pic>
      <p:sp>
        <p:nvSpPr>
          <p:cNvPr id="34" name="Text 27"/>
          <p:cNvSpPr txBox="1"/>
          <p:nvPr/>
        </p:nvSpPr>
        <p:spPr>
          <a:xfrm>
            <a:off x="5440680" y="30358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La gouvernance a un coût</a:t>
            </a:r>
            <a:endParaRPr lang="en-US" sz="1100" dirty="0"/>
          </a:p>
        </p:txBody>
      </p:sp>
      <p:sp>
        <p:nvSpPr>
          <p:cNvPr id="35" name="Text 28"/>
          <p:cNvSpPr txBox="1"/>
          <p:nvPr/>
        </p:nvSpPr>
        <p:spPr>
          <a:xfrm>
            <a:off x="5440680" y="3264408"/>
            <a:ext cx="3182112"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L'assurance est un effort réel et récurrent. Budgétez-la, sinon elle est prise sur la production.</a:t>
            </a:r>
            <a:endParaRPr lang="en-US" sz="900" dirty="0"/>
          </a:p>
        </p:txBody>
      </p:sp>
      <p:sp>
        <p:nvSpPr>
          <p:cNvPr id="36" name="Shape 29"/>
          <p:cNvSpPr/>
          <p:nvPr/>
        </p:nvSpPr>
        <p:spPr>
          <a:xfrm>
            <a:off x="4846320" y="3771900"/>
            <a:ext cx="3840480" cy="713232"/>
          </a:xfrm>
          <a:prstGeom prst="roundRect">
            <a:avLst>
              <a:gd name="adj" fmla="val 10256"/>
            </a:avLst>
          </a:prstGeom>
          <a:solidFill>
            <a:srgbClr val="F4F7F5"/>
          </a:solidFill>
          <a:ln w="9525">
            <a:solidFill>
              <a:srgbClr val="D5DED9"/>
            </a:solidFill>
            <a:prstDash val="solid"/>
          </a:ln>
        </p:spPr>
      </p:sp>
      <p:sp>
        <p:nvSpPr>
          <p:cNvPr id="37" name="Shape 30"/>
          <p:cNvSpPr/>
          <p:nvPr/>
        </p:nvSpPr>
        <p:spPr>
          <a:xfrm>
            <a:off x="4956048" y="3954780"/>
            <a:ext cx="347472" cy="347472"/>
          </a:xfrm>
          <a:prstGeom prst="ellipse">
            <a:avLst/>
          </a:prstGeom>
          <a:solidFill>
            <a:srgbClr val="C4621D">
              <a:alpha val="22000"/>
            </a:srgbClr>
          </a:solidFill>
          <a:ln/>
        </p:spPr>
      </p:sp>
      <p:pic>
        <p:nvPicPr>
          <p:cNvPr id="38" name="Image 3" descr="preencoded.png"/>
          <p:cNvPicPr>
            <a:picLocks noChangeAspect="1"/>
          </p:cNvPicPr>
          <p:nvPr/>
        </p:nvPicPr>
        <p:blipFill>
          <a:blip r:embed="rId7"/>
          <a:stretch>
            <a:fillRect/>
          </a:stretch>
        </p:blipFill>
        <p:spPr>
          <a:xfrm>
            <a:off x="5039441" y="4038173"/>
            <a:ext cx="180685" cy="180685"/>
          </a:xfrm>
          <a:prstGeom prst="rect">
            <a:avLst/>
          </a:prstGeom>
        </p:spPr>
      </p:pic>
      <p:sp>
        <p:nvSpPr>
          <p:cNvPr id="39" name="Text 31"/>
          <p:cNvSpPr txBox="1"/>
          <p:nvPr/>
        </p:nvSpPr>
        <p:spPr>
          <a:xfrm>
            <a:off x="5440680" y="3835908"/>
            <a:ext cx="315468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L'annotation est un investissement</a:t>
            </a:r>
            <a:endParaRPr lang="en-US" sz="1100" dirty="0"/>
          </a:p>
        </p:txBody>
      </p:sp>
      <p:sp>
        <p:nvSpPr>
          <p:cNvPr id="40" name="Text 32"/>
          <p:cNvSpPr txBox="1"/>
          <p:nvPr/>
        </p:nvSpPr>
        <p:spPr>
          <a:xfrm>
            <a:off x="5440680" y="4064508"/>
            <a:ext cx="3182112"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jeu de référence survit à tous les modèles entraînés dessus.</a:t>
            </a:r>
            <a:endParaRPr lang="en-US" sz="900" dirty="0"/>
          </a:p>
        </p:txBody>
      </p:sp>
      <p:sp>
        <p:nvSpPr>
          <p:cNvPr id="41" name="Text 33"/>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Modèle de planification illustratif fondé sur l'expérience du secteur public — pas des mesures. Remplacez par vos propres coûts unitaires.</a:t>
            </a:r>
            <a:endParaRPr lang="en-US" sz="850" dirty="0"/>
          </a:p>
        </p:txBody>
      </p:sp>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COMPARAISON DE SCÉNARIOS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Coût total sur cinq ans : trois scénarios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Même institut, mêmes deux usages, trois choix de déploiement (illustratif, en milliers d'unités)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49</a:t>
            </a:r>
            <a:endParaRPr lang="en-US" sz="850" dirty="0"/>
          </a:p>
        </p:txBody>
      </p:sp>
      <p:sp>
        <p:nvSpPr>
          <p:cNvPr id="18" name="Shape 15"/>
          <p:cNvSpPr/>
          <p:nvPr/>
        </p:nvSpPr>
        <p:spPr>
          <a:xfrm>
            <a:off x="457200" y="1371600"/>
            <a:ext cx="5394960" cy="3154680"/>
          </a:xfrm>
          <a:prstGeom prst="roundRect">
            <a:avLst>
              <a:gd name="adj" fmla="val 2319"/>
            </a:avLst>
          </a:prstGeom>
          <a:solidFill>
            <a:srgbClr val="F4F7F5"/>
          </a:solidFill>
          <a:ln w="9525">
            <a:solidFill>
              <a:srgbClr val="D5DED9"/>
            </a:solidFill>
            <a:prstDash val="solid"/>
          </a:ln>
        </p:spPr>
      </p:sp>
      <p:graphicFrame>
        <p:nvGraphicFramePr>
          <p:cNvPr id="19" name="Chart 0"/>
          <p:cNvGraphicFramePr/>
          <p:nvPr/>
        </p:nvGraphicFramePr>
        <p:xfrm>
          <a:off x="548640" y="1417320"/>
          <a:ext cx="521208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6"/>
          <p:cNvSpPr/>
          <p:nvPr/>
        </p:nvSpPr>
        <p:spPr>
          <a:xfrm>
            <a:off x="6035040" y="1371600"/>
            <a:ext cx="2651760" cy="731520"/>
          </a:xfrm>
          <a:prstGeom prst="roundRect">
            <a:avLst>
              <a:gd name="adj" fmla="val 10000"/>
            </a:avLst>
          </a:prstGeom>
          <a:solidFill>
            <a:srgbClr val="F4F7F5"/>
          </a:solidFill>
          <a:ln w="9525">
            <a:solidFill>
              <a:srgbClr val="D5DED9"/>
            </a:solidFill>
            <a:prstDash val="solid"/>
          </a:ln>
        </p:spPr>
      </p:sp>
      <p:sp>
        <p:nvSpPr>
          <p:cNvPr id="21" name="Text 17"/>
          <p:cNvSpPr txBox="1"/>
          <p:nvPr/>
        </p:nvSpPr>
        <p:spPr>
          <a:xfrm>
            <a:off x="6126480" y="1417320"/>
            <a:ext cx="1143000" cy="640080"/>
          </a:xfrm>
          <a:prstGeom prst="rect">
            <a:avLst/>
          </a:prstGeom>
          <a:noFill/>
          <a:ln/>
        </p:spPr>
        <p:txBody>
          <a:bodyPr wrap="square" lIns="0" tIns="0" rIns="0" bIns="0" rtlCol="0" anchor="ctr"/>
          <a:lstStyle/>
          <a:p>
            <a:pPr marL="0" indent="0">
              <a:buNone/>
            </a:pPr>
            <a:r>
              <a:rPr lang="en-US" sz="2500" b="1" dirty="0">
                <a:solidFill>
                  <a:srgbClr val="00A86A"/>
                </a:solidFill>
                <a:latin typeface="Calibri" pitchFamily="34" charset="0"/>
                <a:ea typeface="Calibri" pitchFamily="34" charset="-122"/>
                <a:cs typeface="Calibri" pitchFamily="34" charset="-120"/>
              </a:rPr>
              <a:t>3 600</a:t>
            </a:r>
            <a:endParaRPr lang="en-US" sz="2500" dirty="0"/>
          </a:p>
        </p:txBody>
      </p:sp>
      <p:sp>
        <p:nvSpPr>
          <p:cNvPr id="22" name="Text 18"/>
          <p:cNvSpPr txBox="1"/>
          <p:nvPr/>
        </p:nvSpPr>
        <p:spPr>
          <a:xfrm>
            <a:off x="7296912" y="1435608"/>
            <a:ext cx="1344168"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Scénario A</a:t>
            </a:r>
            <a:endParaRPr lang="en-US" sz="1000" dirty="0"/>
          </a:p>
        </p:txBody>
      </p:sp>
      <p:sp>
        <p:nvSpPr>
          <p:cNvPr id="23" name="Text 19"/>
          <p:cNvSpPr txBox="1"/>
          <p:nvPr/>
        </p:nvSpPr>
        <p:spPr>
          <a:xfrm>
            <a:off x="7296912" y="1618488"/>
            <a:ext cx="1344168" cy="45720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Résultats rapides ; le coût suit directement l'usage</a:t>
            </a:r>
            <a:endParaRPr lang="en-US" sz="800" dirty="0"/>
          </a:p>
        </p:txBody>
      </p:sp>
      <p:sp>
        <p:nvSpPr>
          <p:cNvPr id="24" name="Shape 20"/>
          <p:cNvSpPr/>
          <p:nvPr/>
        </p:nvSpPr>
        <p:spPr>
          <a:xfrm>
            <a:off x="6035040" y="2194560"/>
            <a:ext cx="2651760" cy="731520"/>
          </a:xfrm>
          <a:prstGeom prst="roundRect">
            <a:avLst>
              <a:gd name="adj" fmla="val 10000"/>
            </a:avLst>
          </a:prstGeom>
          <a:solidFill>
            <a:srgbClr val="E8F5EF"/>
          </a:solidFill>
          <a:ln w="15875">
            <a:solidFill>
              <a:srgbClr val="00A86A"/>
            </a:solidFill>
            <a:prstDash val="solid"/>
          </a:ln>
        </p:spPr>
      </p:sp>
      <p:sp>
        <p:nvSpPr>
          <p:cNvPr id="25" name="Text 21"/>
          <p:cNvSpPr txBox="1"/>
          <p:nvPr/>
        </p:nvSpPr>
        <p:spPr>
          <a:xfrm>
            <a:off x="6126480" y="2240280"/>
            <a:ext cx="1143000" cy="640080"/>
          </a:xfrm>
          <a:prstGeom prst="rect">
            <a:avLst/>
          </a:prstGeom>
          <a:noFill/>
          <a:ln/>
        </p:spPr>
        <p:txBody>
          <a:bodyPr wrap="square" lIns="0" tIns="0" rIns="0" bIns="0" rtlCol="0" anchor="ctr"/>
          <a:lstStyle/>
          <a:p>
            <a:pPr marL="0" indent="0">
              <a:buNone/>
            </a:pPr>
            <a:r>
              <a:rPr lang="en-US" sz="2500" b="1" dirty="0">
                <a:solidFill>
                  <a:srgbClr val="00704A"/>
                </a:solidFill>
                <a:latin typeface="Calibri" pitchFamily="34" charset="0"/>
                <a:ea typeface="Calibri" pitchFamily="34" charset="-122"/>
                <a:cs typeface="Calibri" pitchFamily="34" charset="-120"/>
              </a:rPr>
              <a:t>4 320</a:t>
            </a:r>
            <a:endParaRPr lang="en-US" sz="2500" dirty="0"/>
          </a:p>
        </p:txBody>
      </p:sp>
      <p:sp>
        <p:nvSpPr>
          <p:cNvPr id="26" name="Text 22"/>
          <p:cNvSpPr txBox="1"/>
          <p:nvPr/>
        </p:nvSpPr>
        <p:spPr>
          <a:xfrm>
            <a:off x="7296912" y="2258568"/>
            <a:ext cx="1344168"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Scénario B</a:t>
            </a:r>
            <a:endParaRPr lang="en-US" sz="1000" dirty="0"/>
          </a:p>
        </p:txBody>
      </p:sp>
      <p:sp>
        <p:nvSpPr>
          <p:cNvPr id="27" name="Text 23"/>
          <p:cNvSpPr txBox="1"/>
          <p:nvPr/>
        </p:nvSpPr>
        <p:spPr>
          <a:xfrm>
            <a:off x="7296912" y="2441448"/>
            <a:ext cx="1344168" cy="45720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Capacité propre pour T3–T2, capacité ponctuelle pour le reste</a:t>
            </a:r>
            <a:endParaRPr lang="en-US" sz="800" dirty="0"/>
          </a:p>
        </p:txBody>
      </p:sp>
      <p:sp>
        <p:nvSpPr>
          <p:cNvPr id="28" name="Shape 24"/>
          <p:cNvSpPr/>
          <p:nvPr/>
        </p:nvSpPr>
        <p:spPr>
          <a:xfrm>
            <a:off x="6035040" y="3017520"/>
            <a:ext cx="2651760" cy="731520"/>
          </a:xfrm>
          <a:prstGeom prst="roundRect">
            <a:avLst>
              <a:gd name="adj" fmla="val 10000"/>
            </a:avLst>
          </a:prstGeom>
          <a:solidFill>
            <a:srgbClr val="F4F7F5"/>
          </a:solidFill>
          <a:ln w="9525">
            <a:solidFill>
              <a:srgbClr val="D5DED9"/>
            </a:solidFill>
            <a:prstDash val="solid"/>
          </a:ln>
        </p:spPr>
      </p:sp>
      <p:sp>
        <p:nvSpPr>
          <p:cNvPr id="29" name="Text 25"/>
          <p:cNvSpPr txBox="1"/>
          <p:nvPr/>
        </p:nvSpPr>
        <p:spPr>
          <a:xfrm>
            <a:off x="6126480" y="3063240"/>
            <a:ext cx="1143000" cy="640080"/>
          </a:xfrm>
          <a:prstGeom prst="rect">
            <a:avLst/>
          </a:prstGeom>
          <a:noFill/>
          <a:ln/>
        </p:spPr>
        <p:txBody>
          <a:bodyPr wrap="square" lIns="0" tIns="0" rIns="0" bIns="0" rtlCol="0" anchor="ctr"/>
          <a:lstStyle/>
          <a:p>
            <a:pPr marL="0" indent="0">
              <a:buNone/>
            </a:pPr>
            <a:r>
              <a:rPr lang="en-US" sz="2500" b="1" dirty="0">
                <a:solidFill>
                  <a:srgbClr val="00553A"/>
                </a:solidFill>
                <a:latin typeface="Calibri" pitchFamily="34" charset="0"/>
                <a:ea typeface="Calibri" pitchFamily="34" charset="-122"/>
                <a:cs typeface="Calibri" pitchFamily="34" charset="-120"/>
              </a:rPr>
              <a:t>5 450</a:t>
            </a:r>
            <a:endParaRPr lang="en-US" sz="2500" dirty="0"/>
          </a:p>
        </p:txBody>
      </p:sp>
      <p:sp>
        <p:nvSpPr>
          <p:cNvPr id="30" name="Text 26"/>
          <p:cNvSpPr txBox="1"/>
          <p:nvPr/>
        </p:nvSpPr>
        <p:spPr>
          <a:xfrm>
            <a:off x="7296912" y="3081528"/>
            <a:ext cx="1344168" cy="18288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Scénario C</a:t>
            </a:r>
            <a:endParaRPr lang="en-US" sz="1000" dirty="0"/>
          </a:p>
        </p:txBody>
      </p:sp>
      <p:sp>
        <p:nvSpPr>
          <p:cNvPr id="31" name="Text 27"/>
          <p:cNvSpPr txBox="1"/>
          <p:nvPr/>
        </p:nvSpPr>
        <p:spPr>
          <a:xfrm>
            <a:off x="7296912" y="3264408"/>
            <a:ext cx="1344168" cy="45720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Contrôle total ; rentable seulement à forte utilisation</a:t>
            </a:r>
            <a:endParaRPr lang="en-US" sz="800" dirty="0"/>
          </a:p>
        </p:txBody>
      </p:sp>
      <p:sp>
        <p:nvSpPr>
          <p:cNvPr id="32" name="Shape 28"/>
          <p:cNvSpPr/>
          <p:nvPr/>
        </p:nvSpPr>
        <p:spPr>
          <a:xfrm>
            <a:off x="6035040" y="3840480"/>
            <a:ext cx="2651760" cy="685800"/>
          </a:xfrm>
          <a:prstGeom prst="roundRect">
            <a:avLst>
              <a:gd name="adj" fmla="val 10667"/>
            </a:avLst>
          </a:prstGeom>
          <a:solidFill>
            <a:srgbClr val="FBF3DF"/>
          </a:solidFill>
          <a:ln w="9525">
            <a:solidFill>
              <a:srgbClr val="D49A00"/>
            </a:solidFill>
            <a:prstDash val="solid"/>
          </a:ln>
        </p:spPr>
      </p:sp>
      <p:sp>
        <p:nvSpPr>
          <p:cNvPr id="33" name="Text 29"/>
          <p:cNvSpPr txBox="1"/>
          <p:nvPr/>
        </p:nvSpPr>
        <p:spPr>
          <a:xfrm>
            <a:off x="6144768" y="3840480"/>
            <a:ext cx="2450592" cy="685800"/>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L'hébergement fait varier environ un tiers du total. Les effectifs, davantage.</a:t>
            </a:r>
            <a:endParaRPr lang="en-US" sz="950" dirty="0"/>
          </a:p>
        </p:txBody>
      </p:sp>
      <p:sp>
        <p:nvSpPr>
          <p:cNvPr id="34" name="Text 30"/>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Modèle illustratif : 2 usages, 6–8 ETP, un nœud à 4 GPU en B, une petite grappe en C. Pas un devis — à reconstruire avec vos coûts.</a:t>
            </a:r>
            <a:endParaRPr lang="en-US" sz="850" dirty="0"/>
          </a:p>
        </p:txBody>
      </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SEUILS DE RENTABILITÉ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Comment la réponse change avec le volume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Les trois mêmes scénarios à charge croissante. Les points de croisement sont les vrais points de décision</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50</a:t>
            </a:r>
            <a:endParaRPr lang="en-US" sz="850" dirty="0"/>
          </a:p>
        </p:txBody>
      </p:sp>
      <p:sp>
        <p:nvSpPr>
          <p:cNvPr id="18" name="Shape 15"/>
          <p:cNvSpPr/>
          <p:nvPr/>
        </p:nvSpPr>
        <p:spPr>
          <a:xfrm>
            <a:off x="457200" y="1371600"/>
            <a:ext cx="5120640" cy="3154680"/>
          </a:xfrm>
          <a:prstGeom prst="roundRect">
            <a:avLst>
              <a:gd name="adj" fmla="val 2319"/>
            </a:avLst>
          </a:prstGeom>
          <a:solidFill>
            <a:srgbClr val="F4F7F5"/>
          </a:solidFill>
          <a:ln w="9525">
            <a:solidFill>
              <a:srgbClr val="D5DED9"/>
            </a:solidFill>
            <a:prstDash val="solid"/>
          </a:ln>
        </p:spPr>
      </p:sp>
      <p:graphicFrame>
        <p:nvGraphicFramePr>
          <p:cNvPr id="19" name="Chart 0"/>
          <p:cNvGraphicFramePr/>
          <p:nvPr/>
        </p:nvGraphicFramePr>
        <p:xfrm>
          <a:off x="548640" y="1417320"/>
          <a:ext cx="493776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6"/>
          <p:cNvSpPr/>
          <p:nvPr/>
        </p:nvSpPr>
        <p:spPr>
          <a:xfrm>
            <a:off x="5760720" y="1371600"/>
            <a:ext cx="2926080" cy="713232"/>
          </a:xfrm>
          <a:prstGeom prst="roundRect">
            <a:avLst>
              <a:gd name="adj" fmla="val 10256"/>
            </a:avLst>
          </a:prstGeom>
          <a:solidFill>
            <a:srgbClr val="F4F7F5"/>
          </a:solidFill>
          <a:ln w="9525">
            <a:solidFill>
              <a:srgbClr val="D5DED9"/>
            </a:solidFill>
            <a:prstDash val="solid"/>
          </a:ln>
        </p:spPr>
      </p:sp>
      <p:sp>
        <p:nvSpPr>
          <p:cNvPr id="21" name="Shape 17"/>
          <p:cNvSpPr/>
          <p:nvPr/>
        </p:nvSpPr>
        <p:spPr>
          <a:xfrm>
            <a:off x="5870448" y="1481328"/>
            <a:ext cx="146304" cy="146304"/>
          </a:xfrm>
          <a:prstGeom prst="ellipse">
            <a:avLst/>
          </a:prstGeom>
          <a:solidFill>
            <a:srgbClr val="00A86A"/>
          </a:solidFill>
          <a:ln/>
        </p:spPr>
      </p:sp>
      <p:sp>
        <p:nvSpPr>
          <p:cNvPr id="22" name="Text 18"/>
          <p:cNvSpPr txBox="1"/>
          <p:nvPr/>
        </p:nvSpPr>
        <p:spPr>
          <a:xfrm>
            <a:off x="6108192" y="14264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Faible volume : A gagne</a:t>
            </a:r>
            <a:endParaRPr lang="en-US" sz="1100" dirty="0"/>
          </a:p>
        </p:txBody>
      </p:sp>
      <p:sp>
        <p:nvSpPr>
          <p:cNvPr id="23" name="Text 19"/>
          <p:cNvSpPr txBox="1"/>
          <p:nvPr/>
        </p:nvSpPr>
        <p:spPr>
          <a:xfrm>
            <a:off x="5870448" y="1682496"/>
            <a:ext cx="274320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Pilotes et charges modestes coûtent moins cher en service géré.</a:t>
            </a:r>
            <a:endParaRPr lang="en-US" sz="900" dirty="0"/>
          </a:p>
        </p:txBody>
      </p:sp>
      <p:sp>
        <p:nvSpPr>
          <p:cNvPr id="24" name="Shape 20"/>
          <p:cNvSpPr/>
          <p:nvPr/>
        </p:nvSpPr>
        <p:spPr>
          <a:xfrm>
            <a:off x="5760720" y="2171700"/>
            <a:ext cx="2926080" cy="713232"/>
          </a:xfrm>
          <a:prstGeom prst="roundRect">
            <a:avLst>
              <a:gd name="adj" fmla="val 10256"/>
            </a:avLst>
          </a:prstGeom>
          <a:solidFill>
            <a:srgbClr val="F4F7F5"/>
          </a:solidFill>
          <a:ln w="9525">
            <a:solidFill>
              <a:srgbClr val="D5DED9"/>
            </a:solidFill>
            <a:prstDash val="solid"/>
          </a:ln>
        </p:spPr>
      </p:sp>
      <p:sp>
        <p:nvSpPr>
          <p:cNvPr id="25" name="Shape 21"/>
          <p:cNvSpPr/>
          <p:nvPr/>
        </p:nvSpPr>
        <p:spPr>
          <a:xfrm>
            <a:off x="5870448" y="2281428"/>
            <a:ext cx="146304" cy="146304"/>
          </a:xfrm>
          <a:prstGeom prst="ellipse">
            <a:avLst/>
          </a:prstGeom>
          <a:solidFill>
            <a:srgbClr val="D49A00"/>
          </a:solidFill>
          <a:ln/>
        </p:spPr>
      </p:sp>
      <p:sp>
        <p:nvSpPr>
          <p:cNvPr id="26" name="Text 22"/>
          <p:cNvSpPr txBox="1"/>
          <p:nvPr/>
        </p:nvSpPr>
        <p:spPr>
          <a:xfrm>
            <a:off x="6108192" y="22265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Volume moyen : B gagne</a:t>
            </a:r>
            <a:endParaRPr lang="en-US" sz="1100" dirty="0"/>
          </a:p>
        </p:txBody>
      </p:sp>
      <p:sp>
        <p:nvSpPr>
          <p:cNvPr id="27" name="Text 23"/>
          <p:cNvSpPr txBox="1"/>
          <p:nvPr/>
        </p:nvSpPr>
        <p:spPr>
          <a:xfrm>
            <a:off x="5870448" y="2482596"/>
            <a:ext cx="274320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charge stable justifie une base propre et du ponctuel en complément.</a:t>
            </a:r>
            <a:endParaRPr lang="en-US" sz="900" dirty="0"/>
          </a:p>
        </p:txBody>
      </p:sp>
      <p:sp>
        <p:nvSpPr>
          <p:cNvPr id="28" name="Shape 24"/>
          <p:cNvSpPr/>
          <p:nvPr/>
        </p:nvSpPr>
        <p:spPr>
          <a:xfrm>
            <a:off x="5760720" y="2971800"/>
            <a:ext cx="2926080" cy="713232"/>
          </a:xfrm>
          <a:prstGeom prst="roundRect">
            <a:avLst>
              <a:gd name="adj" fmla="val 10256"/>
            </a:avLst>
          </a:prstGeom>
          <a:solidFill>
            <a:srgbClr val="F4F7F5"/>
          </a:solidFill>
          <a:ln w="9525">
            <a:solidFill>
              <a:srgbClr val="D5DED9"/>
            </a:solidFill>
            <a:prstDash val="solid"/>
          </a:ln>
        </p:spPr>
      </p:sp>
      <p:sp>
        <p:nvSpPr>
          <p:cNvPr id="29" name="Shape 25"/>
          <p:cNvSpPr/>
          <p:nvPr/>
        </p:nvSpPr>
        <p:spPr>
          <a:xfrm>
            <a:off x="5870448" y="3081528"/>
            <a:ext cx="146304" cy="146304"/>
          </a:xfrm>
          <a:prstGeom prst="ellipse">
            <a:avLst/>
          </a:prstGeom>
          <a:solidFill>
            <a:srgbClr val="00553A"/>
          </a:solidFill>
          <a:ln/>
        </p:spPr>
      </p:sp>
      <p:sp>
        <p:nvSpPr>
          <p:cNvPr id="30" name="Text 26"/>
          <p:cNvSpPr txBox="1"/>
          <p:nvPr/>
        </p:nvSpPr>
        <p:spPr>
          <a:xfrm>
            <a:off x="6108192" y="30266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Fort volume : C gagne</a:t>
            </a:r>
            <a:endParaRPr lang="en-US" sz="1100" dirty="0"/>
          </a:p>
        </p:txBody>
      </p:sp>
      <p:sp>
        <p:nvSpPr>
          <p:cNvPr id="31" name="Text 27"/>
          <p:cNvSpPr txBox="1"/>
          <p:nvPr/>
        </p:nvSpPr>
        <p:spPr>
          <a:xfrm>
            <a:off x="5870448" y="3282696"/>
            <a:ext cx="274320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Seule une forte utilisation soutenue rentabilise un parc complet.</a:t>
            </a:r>
            <a:endParaRPr lang="en-US" sz="900" dirty="0"/>
          </a:p>
        </p:txBody>
      </p:sp>
      <p:sp>
        <p:nvSpPr>
          <p:cNvPr id="32" name="Shape 28"/>
          <p:cNvSpPr/>
          <p:nvPr/>
        </p:nvSpPr>
        <p:spPr>
          <a:xfrm>
            <a:off x="5760720" y="3771900"/>
            <a:ext cx="2926080" cy="713232"/>
          </a:xfrm>
          <a:prstGeom prst="roundRect">
            <a:avLst>
              <a:gd name="adj" fmla="val 10256"/>
            </a:avLst>
          </a:prstGeom>
          <a:solidFill>
            <a:srgbClr val="F8E9E7"/>
          </a:solidFill>
          <a:ln w="15875">
            <a:solidFill>
              <a:srgbClr val="B83B2E"/>
            </a:solidFill>
            <a:prstDash val="solid"/>
          </a:ln>
        </p:spPr>
      </p:sp>
      <p:sp>
        <p:nvSpPr>
          <p:cNvPr id="33" name="Shape 29"/>
          <p:cNvSpPr/>
          <p:nvPr/>
        </p:nvSpPr>
        <p:spPr>
          <a:xfrm>
            <a:off x="5870448" y="3881628"/>
            <a:ext cx="146304" cy="146304"/>
          </a:xfrm>
          <a:prstGeom prst="ellipse">
            <a:avLst/>
          </a:prstGeom>
          <a:solidFill>
            <a:srgbClr val="B83B2E"/>
          </a:solidFill>
          <a:ln/>
        </p:spPr>
      </p:sp>
      <p:sp>
        <p:nvSpPr>
          <p:cNvPr id="34" name="Text 30"/>
          <p:cNvSpPr txBox="1"/>
          <p:nvPr/>
        </p:nvSpPr>
        <p:spPr>
          <a:xfrm>
            <a:off x="6108192" y="3826764"/>
            <a:ext cx="2514600" cy="256032"/>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La classification prime</a:t>
            </a:r>
            <a:endParaRPr lang="en-US" sz="1100" dirty="0"/>
          </a:p>
        </p:txBody>
      </p:sp>
      <p:sp>
        <p:nvSpPr>
          <p:cNvPr id="35" name="Text 31"/>
          <p:cNvSpPr txBox="1"/>
          <p:nvPr/>
        </p:nvSpPr>
        <p:spPr>
          <a:xfrm>
            <a:off x="5870448" y="4082796"/>
            <a:ext cx="2743200" cy="3840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Pour des données T3, l'option A n'a jamais été possible, quel que soit le volume.</a:t>
            </a:r>
            <a:endParaRPr lang="en-US" sz="900" dirty="0"/>
          </a:p>
        </p:txBody>
      </p:sp>
      <p:sp>
        <p:nvSpPr>
          <p:cNvPr id="36" name="Text 32"/>
          <p:cNvSpPr txBox="1"/>
          <p:nvPr/>
        </p:nvSpPr>
        <p:spPr>
          <a:xfrm>
            <a:off x="457200" y="4645152"/>
            <a:ext cx="7498080" cy="182880"/>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Modèle illustratif. La forme — une capacité propre plate croisant une consommation croissante — est robuste ; les croisements dépendent de vos coûts.</a:t>
            </a:r>
            <a:endParaRPr lang="en-US" sz="850" dirty="0"/>
          </a:p>
        </p:txBody>
      </p:sp>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RISQUES DE DÉPASSEMENT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Sept endroits où le budget dérape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Chacun a déjà interrompu, retardé ou mis en difficulté un programme public d'IA</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51</a:t>
            </a:r>
            <a:endParaRPr lang="en-US" sz="850" dirty="0"/>
          </a:p>
        </p:txBody>
      </p:sp>
      <p:sp>
        <p:nvSpPr>
          <p:cNvPr id="18" name="Shape 15"/>
          <p:cNvSpPr/>
          <p:nvPr/>
        </p:nvSpPr>
        <p:spPr>
          <a:xfrm>
            <a:off x="457200" y="1371600"/>
            <a:ext cx="1975104" cy="1545336"/>
          </a:xfrm>
          <a:prstGeom prst="roundRect">
            <a:avLst>
              <a:gd name="adj" fmla="val 4734"/>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C4621D">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Transferts de données</a:t>
            </a:r>
            <a:endParaRPr lang="en-US" sz="1100" dirty="0"/>
          </a:p>
        </p:txBody>
      </p:sp>
      <p:sp>
        <p:nvSpPr>
          <p:cNvPr id="22" name="Text 18"/>
          <p:cNvSpPr txBox="1"/>
          <p:nvPr/>
        </p:nvSpPr>
        <p:spPr>
          <a:xfrm>
            <a:off x="585216"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Des allers-retours répétés entre niveaux : non plafonnés et invisibles jusqu'à la facture.</a:t>
            </a:r>
            <a:endParaRPr lang="en-US" sz="950" dirty="0"/>
          </a:p>
        </p:txBody>
      </p:sp>
      <p:sp>
        <p:nvSpPr>
          <p:cNvPr id="23" name="Shape 19"/>
          <p:cNvSpPr/>
          <p:nvPr/>
        </p:nvSpPr>
        <p:spPr>
          <a:xfrm>
            <a:off x="2542032" y="1371600"/>
            <a:ext cx="1975104" cy="1545336"/>
          </a:xfrm>
          <a:prstGeom prst="roundRect">
            <a:avLst>
              <a:gd name="adj" fmla="val 4734"/>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C4621D">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GPU inactifs</a:t>
            </a:r>
            <a:endParaRPr lang="en-US" sz="1100" dirty="0"/>
          </a:p>
        </p:txBody>
      </p:sp>
      <p:sp>
        <p:nvSpPr>
          <p:cNvPr id="27" name="Text 22"/>
          <p:cNvSpPr txBox="1"/>
          <p:nvPr/>
        </p:nvSpPr>
        <p:spPr>
          <a:xfrm>
            <a:off x="2670048"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Machines de développement allumées la nuit et le week-end. Le plus fréquent, le plus simple à corriger.</a:t>
            </a:r>
            <a:endParaRPr lang="en-US" sz="950" dirty="0"/>
          </a:p>
        </p:txBody>
      </p:sp>
      <p:sp>
        <p:nvSpPr>
          <p:cNvPr id="28" name="Shape 23"/>
          <p:cNvSpPr/>
          <p:nvPr/>
        </p:nvSpPr>
        <p:spPr>
          <a:xfrm>
            <a:off x="4626864" y="1371600"/>
            <a:ext cx="1975104" cy="1545336"/>
          </a:xfrm>
          <a:prstGeom prst="roundRect">
            <a:avLst>
              <a:gd name="adj" fmla="val 4734"/>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Réindexation</a:t>
            </a:r>
            <a:endParaRPr lang="en-US" sz="1100" dirty="0"/>
          </a:p>
        </p:txBody>
      </p:sp>
      <p:sp>
        <p:nvSpPr>
          <p:cNvPr id="32" name="Text 26"/>
          <p:cNvSpPr txBox="1"/>
          <p:nvPr/>
        </p:nvSpPr>
        <p:spPr>
          <a:xfrm>
            <a:off x="4754880"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Chaque mise à jour des documents revectorise tout ; le coût croît en silence.</a:t>
            </a:r>
            <a:endParaRPr lang="en-US" sz="950" dirty="0"/>
          </a:p>
        </p:txBody>
      </p:sp>
      <p:sp>
        <p:nvSpPr>
          <p:cNvPr id="33" name="Shape 27"/>
          <p:cNvSpPr/>
          <p:nvPr/>
        </p:nvSpPr>
        <p:spPr>
          <a:xfrm>
            <a:off x="6711696" y="1371600"/>
            <a:ext cx="1975104" cy="1545336"/>
          </a:xfrm>
          <a:prstGeom prst="roundRect">
            <a:avLst>
              <a:gd name="adj" fmla="val 4734"/>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C4621D">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Annotation sous-estimée</a:t>
            </a:r>
            <a:endParaRPr lang="en-US" sz="1100" dirty="0"/>
          </a:p>
        </p:txBody>
      </p:sp>
      <p:sp>
        <p:nvSpPr>
          <p:cNvPr id="37" name="Text 30"/>
          <p:cNvSpPr txBox="1"/>
          <p:nvPr/>
        </p:nvSpPr>
        <p:spPr>
          <a:xfrm>
            <a:off x="6839712" y="1865376"/>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Consignes, arbitrage et recodage après révision de nomenclature sont un vrai travail.</a:t>
            </a:r>
            <a:endParaRPr lang="en-US" sz="950" dirty="0"/>
          </a:p>
        </p:txBody>
      </p:sp>
      <p:sp>
        <p:nvSpPr>
          <p:cNvPr id="38" name="Shape 31"/>
          <p:cNvSpPr/>
          <p:nvPr/>
        </p:nvSpPr>
        <p:spPr>
          <a:xfrm>
            <a:off x="457200" y="3026664"/>
            <a:ext cx="1975104" cy="1545336"/>
          </a:xfrm>
          <a:prstGeom prst="roundRect">
            <a:avLst>
              <a:gd name="adj" fmla="val 4734"/>
            </a:avLst>
          </a:prstGeom>
          <a:solidFill>
            <a:srgbClr val="F4F7F5"/>
          </a:solidFill>
          <a:ln w="9525">
            <a:solidFill>
              <a:srgbClr val="D5DED9"/>
            </a:solidFill>
            <a:prstDash val="solid"/>
          </a:ln>
        </p:spPr>
      </p:sp>
      <p:sp>
        <p:nvSpPr>
          <p:cNvPr id="39" name="Shape 32"/>
          <p:cNvSpPr/>
          <p:nvPr/>
        </p:nvSpPr>
        <p:spPr>
          <a:xfrm>
            <a:off x="585216" y="3154680"/>
            <a:ext cx="310896" cy="310896"/>
          </a:xfrm>
          <a:prstGeom prst="ellipse">
            <a:avLst/>
          </a:prstGeom>
          <a:solidFill>
            <a:srgbClr val="C4621D">
              <a:alpha val="22000"/>
            </a:srgbClr>
          </a:solidFill>
          <a:ln/>
        </p:spPr>
      </p:sp>
      <p:pic>
        <p:nvPicPr>
          <p:cNvPr id="40" name="Image 4" descr="preencoded.png"/>
          <p:cNvPicPr>
            <a:picLocks noChangeAspect="1"/>
          </p:cNvPicPr>
          <p:nvPr/>
        </p:nvPicPr>
        <p:blipFill>
          <a:blip r:embed="rId7"/>
          <a:stretch>
            <a:fillRect/>
          </a:stretch>
        </p:blipFill>
        <p:spPr>
          <a:xfrm>
            <a:off x="659831" y="3229295"/>
            <a:ext cx="161666" cy="161666"/>
          </a:xfrm>
          <a:prstGeom prst="rect">
            <a:avLst/>
          </a:prstGeom>
        </p:spPr>
      </p:pic>
      <p:sp>
        <p:nvSpPr>
          <p:cNvPr id="41" name="Text 33"/>
          <p:cNvSpPr txBox="1"/>
          <p:nvPr/>
        </p:nvSpPr>
        <p:spPr>
          <a:xfrm>
            <a:off x="1005840" y="3154680"/>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Assurance « gratuite »</a:t>
            </a:r>
            <a:endParaRPr lang="en-US" sz="1100" dirty="0"/>
          </a:p>
        </p:txBody>
      </p:sp>
      <p:sp>
        <p:nvSpPr>
          <p:cNvPr id="42" name="Text 34"/>
          <p:cNvSpPr txBox="1"/>
          <p:nvPr/>
        </p:nvSpPr>
        <p:spPr>
          <a:xfrm>
            <a:off x="585216"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Sécurité, juridique et revue méthodologique se paient de toute façon en temps.</a:t>
            </a:r>
            <a:endParaRPr lang="en-US" sz="950" dirty="0"/>
          </a:p>
        </p:txBody>
      </p:sp>
      <p:sp>
        <p:nvSpPr>
          <p:cNvPr id="43" name="Shape 35"/>
          <p:cNvSpPr/>
          <p:nvPr/>
        </p:nvSpPr>
        <p:spPr>
          <a:xfrm>
            <a:off x="2542032" y="3026664"/>
            <a:ext cx="1975104" cy="1545336"/>
          </a:xfrm>
          <a:prstGeom prst="roundRect">
            <a:avLst>
              <a:gd name="adj" fmla="val 4734"/>
            </a:avLst>
          </a:prstGeom>
          <a:solidFill>
            <a:srgbClr val="F4F7F5"/>
          </a:solidFill>
          <a:ln w="9525">
            <a:solidFill>
              <a:srgbClr val="D5DED9"/>
            </a:solidFill>
            <a:prstDash val="solid"/>
          </a:ln>
        </p:spPr>
      </p:sp>
      <p:sp>
        <p:nvSpPr>
          <p:cNvPr id="44" name="Shape 36"/>
          <p:cNvSpPr/>
          <p:nvPr/>
        </p:nvSpPr>
        <p:spPr>
          <a:xfrm>
            <a:off x="2670048" y="3154680"/>
            <a:ext cx="310896" cy="310896"/>
          </a:xfrm>
          <a:prstGeom prst="ellipse">
            <a:avLst/>
          </a:prstGeom>
          <a:solidFill>
            <a:srgbClr val="B83B2E">
              <a:alpha val="22000"/>
            </a:srgbClr>
          </a:solidFill>
          <a:ln/>
        </p:spPr>
      </p:sp>
      <p:pic>
        <p:nvPicPr>
          <p:cNvPr id="45" name="Image 5" descr="preencoded.png"/>
          <p:cNvPicPr>
            <a:picLocks noChangeAspect="1"/>
          </p:cNvPicPr>
          <p:nvPr/>
        </p:nvPicPr>
        <p:blipFill>
          <a:blip r:embed="rId8"/>
          <a:stretch>
            <a:fillRect/>
          </a:stretch>
        </p:blipFill>
        <p:spPr>
          <a:xfrm>
            <a:off x="2744663" y="3229295"/>
            <a:ext cx="161666" cy="161666"/>
          </a:xfrm>
          <a:prstGeom prst="rect">
            <a:avLst/>
          </a:prstGeom>
        </p:spPr>
      </p:pic>
      <p:sp>
        <p:nvSpPr>
          <p:cNvPr id="46" name="Text 37"/>
          <p:cNvSpPr txBox="1"/>
          <p:nvPr/>
        </p:nvSpPr>
        <p:spPr>
          <a:xfrm>
            <a:off x="3090672" y="3154680"/>
            <a:ext cx="1316736"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231F20"/>
                </a:solidFill>
                <a:latin typeface="Calibri" pitchFamily="34" charset="0"/>
                <a:ea typeface="Calibri" pitchFamily="34" charset="-122"/>
                <a:cs typeface="Calibri" pitchFamily="34" charset="-120"/>
              </a:rPr>
              <a:t>Pas de budget d'exploitation</a:t>
            </a:r>
            <a:endParaRPr lang="en-US" sz="1100" dirty="0"/>
          </a:p>
        </p:txBody>
      </p:sp>
      <p:sp>
        <p:nvSpPr>
          <p:cNvPr id="47" name="Text 38"/>
          <p:cNvSpPr txBox="1"/>
          <p:nvPr/>
        </p:nvSpPr>
        <p:spPr>
          <a:xfrm>
            <a:off x="2670048"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Le projet se clôt ; la dépendance reste et se dégrade jusqu'à l'échec public.</a:t>
            </a:r>
            <a:endParaRPr lang="en-US" sz="950" dirty="0"/>
          </a:p>
        </p:txBody>
      </p:sp>
      <p:sp>
        <p:nvSpPr>
          <p:cNvPr id="48" name="Shape 39"/>
          <p:cNvSpPr/>
          <p:nvPr/>
        </p:nvSpPr>
        <p:spPr>
          <a:xfrm>
            <a:off x="4626864" y="3026664"/>
            <a:ext cx="1975104" cy="1545336"/>
          </a:xfrm>
          <a:prstGeom prst="roundRect">
            <a:avLst>
              <a:gd name="adj" fmla="val 4734"/>
            </a:avLst>
          </a:prstGeom>
          <a:solidFill>
            <a:srgbClr val="F4F7F5"/>
          </a:solidFill>
          <a:ln w="9525">
            <a:solidFill>
              <a:srgbClr val="D5DED9"/>
            </a:solidFill>
            <a:prstDash val="solid"/>
          </a:ln>
        </p:spPr>
      </p:sp>
      <p:sp>
        <p:nvSpPr>
          <p:cNvPr id="49" name="Shape 40"/>
          <p:cNvSpPr/>
          <p:nvPr/>
        </p:nvSpPr>
        <p:spPr>
          <a:xfrm>
            <a:off x="4754880" y="3154680"/>
            <a:ext cx="310896" cy="310896"/>
          </a:xfrm>
          <a:prstGeom prst="ellipse">
            <a:avLst/>
          </a:prstGeom>
          <a:solidFill>
            <a:srgbClr val="C4621D">
              <a:alpha val="22000"/>
            </a:srgbClr>
          </a:solidFill>
          <a:ln/>
        </p:spPr>
      </p:sp>
      <p:pic>
        <p:nvPicPr>
          <p:cNvPr id="50" name="Image 6" descr="preencoded.png"/>
          <p:cNvPicPr>
            <a:picLocks noChangeAspect="1"/>
          </p:cNvPicPr>
          <p:nvPr/>
        </p:nvPicPr>
        <p:blipFill>
          <a:blip r:embed="rId9"/>
          <a:stretch>
            <a:fillRect/>
          </a:stretch>
        </p:blipFill>
        <p:spPr>
          <a:xfrm>
            <a:off x="4829495" y="3229295"/>
            <a:ext cx="161666" cy="161666"/>
          </a:xfrm>
          <a:prstGeom prst="rect">
            <a:avLst/>
          </a:prstGeom>
        </p:spPr>
      </p:pic>
      <p:sp>
        <p:nvSpPr>
          <p:cNvPr id="51" name="Text 41"/>
          <p:cNvSpPr txBox="1"/>
          <p:nvPr/>
        </p:nvSpPr>
        <p:spPr>
          <a:xfrm>
            <a:off x="5175504" y="3154680"/>
            <a:ext cx="1316736" cy="310896"/>
          </a:xfrm>
          <a:prstGeom prst="rect">
            <a:avLst/>
          </a:prstGeom>
          <a:noFill/>
          <a:ln/>
        </p:spPr>
        <p:txBody>
          <a:bodyPr wrap="square" lIns="0" tIns="0" rIns="0" bIns="0" rtlCol="0" anchor="ctr">
            <a:normAutofit/>
          </a:bodyPr>
          <a:lstStyle/>
          <a:p>
            <a:pPr marL="0" indent="0">
              <a:buNone/>
            </a:pPr>
            <a:r>
              <a:rPr lang="en-US" sz="1100" b="1" dirty="0">
                <a:solidFill>
                  <a:srgbClr val="231F20"/>
                </a:solidFill>
                <a:latin typeface="Calibri" pitchFamily="34" charset="0"/>
                <a:ea typeface="Calibri" pitchFamily="34" charset="-122"/>
                <a:cs typeface="Calibri" pitchFamily="34" charset="-120"/>
              </a:rPr>
              <a:t>Départs</a:t>
            </a:r>
            <a:endParaRPr lang="en-US" sz="1100" dirty="0"/>
          </a:p>
        </p:txBody>
      </p:sp>
      <p:sp>
        <p:nvSpPr>
          <p:cNvPr id="52" name="Text 42"/>
          <p:cNvSpPr txBox="1"/>
          <p:nvPr/>
        </p:nvSpPr>
        <p:spPr>
          <a:xfrm>
            <a:off x="4754880" y="3520440"/>
            <a:ext cx="1719072" cy="996696"/>
          </a:xfrm>
          <a:prstGeom prst="rect">
            <a:avLst/>
          </a:prstGeom>
          <a:noFill/>
          <a:ln/>
        </p:spPr>
        <p:txBody>
          <a:bodyPr wrap="square" lIns="0" tIns="0" rIns="0" bIns="0" rtlCol="0" anchor="t"/>
          <a:lstStyle/>
          <a:p>
            <a:pPr marL="0" indent="0">
              <a:lnSpc>
                <a:spcPct val="105000"/>
              </a:lnSpc>
              <a:buNone/>
            </a:pPr>
            <a:r>
              <a:rPr lang="en-US" sz="950" dirty="0">
                <a:solidFill>
                  <a:srgbClr val="5E6964"/>
                </a:solidFill>
                <a:latin typeface="Calibri" pitchFamily="34" charset="0"/>
                <a:ea typeface="Calibri" pitchFamily="34" charset="-122"/>
                <a:cs typeface="Calibri" pitchFamily="34" charset="-120"/>
              </a:rPr>
              <a:t>Perdre le seul ingénieur qui connaît la chaîne coûte des mois — voire la capacité.</a:t>
            </a:r>
            <a:endParaRPr lang="en-US" sz="950" dirty="0"/>
          </a:p>
        </p:txBody>
      </p:sp>
      <p:sp>
        <p:nvSpPr>
          <p:cNvPr id="53" name="Shape 43"/>
          <p:cNvSpPr/>
          <p:nvPr/>
        </p:nvSpPr>
        <p:spPr>
          <a:xfrm>
            <a:off x="6711696" y="3026664"/>
            <a:ext cx="1975104" cy="1545336"/>
          </a:xfrm>
          <a:prstGeom prst="roundRect">
            <a:avLst>
              <a:gd name="adj" fmla="val 4734"/>
            </a:avLst>
          </a:prstGeom>
          <a:solidFill>
            <a:srgbClr val="E8F5EF"/>
          </a:solidFill>
          <a:ln w="15875">
            <a:solidFill>
              <a:srgbClr val="C4621D"/>
            </a:solidFill>
            <a:prstDash val="solid"/>
          </a:ln>
        </p:spPr>
      </p:sp>
      <p:sp>
        <p:nvSpPr>
          <p:cNvPr id="54" name="Shape 44"/>
          <p:cNvSpPr/>
          <p:nvPr/>
        </p:nvSpPr>
        <p:spPr>
          <a:xfrm>
            <a:off x="6839712" y="3154680"/>
            <a:ext cx="310896" cy="310896"/>
          </a:xfrm>
          <a:prstGeom prst="ellipse">
            <a:avLst/>
          </a:prstGeom>
          <a:solidFill>
            <a:srgbClr val="C4621D">
              <a:alpha val="22000"/>
            </a:srgbClr>
          </a:solidFill>
          <a:ln/>
        </p:spPr>
      </p:sp>
      <p:pic>
        <p:nvPicPr>
          <p:cNvPr id="55" name="Image 7" descr="preencoded.png"/>
          <p:cNvPicPr>
            <a:picLocks noChangeAspect="1"/>
          </p:cNvPicPr>
          <p:nvPr/>
        </p:nvPicPr>
        <p:blipFill>
          <a:blip r:embed="rId10"/>
          <a:stretch>
            <a:fillRect/>
          </a:stretch>
        </p:blipFill>
        <p:spPr>
          <a:xfrm>
            <a:off x="6914327" y="3229295"/>
            <a:ext cx="161666" cy="161666"/>
          </a:xfrm>
          <a:prstGeom prst="rect">
            <a:avLst/>
          </a:prstGeom>
        </p:spPr>
      </p:pic>
      <p:sp>
        <p:nvSpPr>
          <p:cNvPr id="56" name="Text 45"/>
          <p:cNvSpPr txBox="1"/>
          <p:nvPr/>
        </p:nvSpPr>
        <p:spPr>
          <a:xfrm>
            <a:off x="7242048" y="3154680"/>
            <a:ext cx="1335024" cy="310896"/>
          </a:xfrm>
          <a:prstGeom prst="rect">
            <a:avLst/>
          </a:prstGeom>
          <a:noFill/>
          <a:ln/>
        </p:spPr>
        <p:txBody>
          <a:bodyPr wrap="square" lIns="0" tIns="0" rIns="0" bIns="0" rtlCol="0" anchor="ctr"/>
          <a:lstStyle/>
          <a:p>
            <a:pPr marL="0" indent="0">
              <a:buNone/>
            </a:pPr>
            <a:r>
              <a:rPr lang="en-US" sz="900" b="1" kern="0" spc="150" dirty="0">
                <a:solidFill>
                  <a:srgbClr val="C4621D"/>
                </a:solidFill>
                <a:latin typeface="Calibri" pitchFamily="34" charset="0"/>
                <a:ea typeface="Calibri" pitchFamily="34" charset="-122"/>
                <a:cs typeface="Calibri" pitchFamily="34" charset="-120"/>
              </a:rPr>
              <a:t>À RETENIR</a:t>
            </a:r>
            <a:endParaRPr lang="en-US" sz="900" dirty="0"/>
          </a:p>
        </p:txBody>
      </p:sp>
      <p:sp>
        <p:nvSpPr>
          <p:cNvPr id="57" name="Text 46"/>
          <p:cNvSpPr txBox="1"/>
          <p:nvPr/>
        </p:nvSpPr>
        <p:spPr>
          <a:xfrm>
            <a:off x="6839712" y="3538728"/>
            <a:ext cx="1719072" cy="960120"/>
          </a:xfrm>
          <a:prstGeom prst="rect">
            <a:avLst/>
          </a:prstGeom>
          <a:noFill/>
          <a:ln/>
        </p:spPr>
        <p:txBody>
          <a:bodyPr wrap="square" lIns="0" tIns="0" rIns="0" bIns="0" rtlCol="0" anchor="t"/>
          <a:lstStyle/>
          <a:p>
            <a:pPr marL="0" indent="0">
              <a:buNone/>
            </a:pPr>
            <a:r>
              <a:rPr lang="en-US" sz="1000" b="1" dirty="0">
                <a:solidFill>
                  <a:srgbClr val="231F20"/>
                </a:solidFill>
                <a:latin typeface="Calibri" pitchFamily="34" charset="0"/>
                <a:ea typeface="Calibri" pitchFamily="34" charset="-122"/>
                <a:cs typeface="Calibri" pitchFamily="34" charset="-120"/>
              </a:rPr>
              <a:t>Inscrivez les sept au dossier comme risques nommés avec des responsables. Un risque documenté est un coût maîtrisé.</a:t>
            </a:r>
            <a:endParaRPr lang="en-US" sz="1000" dirty="0"/>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MAÎTRISE DES COÛTS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Des contrôles de coûts adaptés au secteur public</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L'imputation d'abord : on ne gère pas ce qu'on ne peut attribuer à une équipe et à un objectif</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52</a:t>
            </a:r>
            <a:endParaRPr lang="en-US" sz="850" dirty="0"/>
          </a:p>
        </p:txBody>
      </p:sp>
      <p:sp>
        <p:nvSpPr>
          <p:cNvPr id="18" name="Shape 15"/>
          <p:cNvSpPr/>
          <p:nvPr/>
        </p:nvSpPr>
        <p:spPr>
          <a:xfrm>
            <a:off x="457200" y="1325880"/>
            <a:ext cx="310896" cy="310896"/>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531815" y="1400495"/>
            <a:ext cx="161666" cy="161666"/>
          </a:xfrm>
          <a:prstGeom prst="rect">
            <a:avLst/>
          </a:prstGeom>
        </p:spPr>
      </p:pic>
      <p:sp>
        <p:nvSpPr>
          <p:cNvPr id="20" name="Text 16"/>
          <p:cNvSpPr txBox="1"/>
          <p:nvPr/>
        </p:nvSpPr>
        <p:spPr>
          <a:xfrm>
            <a:off x="868680" y="1325880"/>
            <a:ext cx="2743200" cy="310896"/>
          </a:xfrm>
          <a:prstGeom prst="rect">
            <a:avLst/>
          </a:prstGeom>
          <a:noFill/>
          <a:ln/>
        </p:spPr>
        <p:txBody>
          <a:bodyPr wrap="square" lIns="0" tIns="0" rIns="0" bIns="0" rtlCol="0" anchor="ctr"/>
          <a:lstStyle/>
          <a:p>
            <a:pPr marL="0" indent="0">
              <a:buNone/>
            </a:pPr>
            <a:r>
              <a:rPr lang="en-US" sz="1050" b="1" kern="0" spc="200" dirty="0">
                <a:solidFill>
                  <a:srgbClr val="C4621D"/>
                </a:solidFill>
                <a:latin typeface="Calibri" pitchFamily="34" charset="0"/>
                <a:ea typeface="Calibri" pitchFamily="34" charset="-122"/>
                <a:cs typeface="Calibri" pitchFamily="34" charset="-120"/>
              </a:rPr>
              <a:t>GARDE-FOUS</a:t>
            </a:r>
            <a:endParaRPr lang="en-US" sz="1050" dirty="0"/>
          </a:p>
        </p:txBody>
      </p:sp>
      <p:sp>
        <p:nvSpPr>
          <p:cNvPr id="21" name="Shape 17"/>
          <p:cNvSpPr/>
          <p:nvPr/>
        </p:nvSpPr>
        <p:spPr>
          <a:xfrm>
            <a:off x="457200" y="1755648"/>
            <a:ext cx="4023360" cy="621792"/>
          </a:xfrm>
          <a:prstGeom prst="roundRect">
            <a:avLst>
              <a:gd name="adj" fmla="val 11765"/>
            </a:avLst>
          </a:prstGeom>
          <a:solidFill>
            <a:srgbClr val="F4F7F5"/>
          </a:solidFill>
          <a:ln w="9525">
            <a:solidFill>
              <a:srgbClr val="D5DED9"/>
            </a:solidFill>
            <a:prstDash val="solid"/>
          </a:ln>
        </p:spPr>
      </p:sp>
      <p:sp>
        <p:nvSpPr>
          <p:cNvPr id="22" name="Shape 18"/>
          <p:cNvSpPr/>
          <p:nvPr/>
        </p:nvSpPr>
        <p:spPr>
          <a:xfrm>
            <a:off x="566928" y="1901952"/>
            <a:ext cx="329184" cy="329184"/>
          </a:xfrm>
          <a:prstGeom prst="ellipse">
            <a:avLst/>
          </a:prstGeom>
          <a:solidFill>
            <a:srgbClr val="C4621D"/>
          </a:solidFill>
          <a:ln/>
        </p:spPr>
      </p:sp>
      <p:sp>
        <p:nvSpPr>
          <p:cNvPr id="23" name="Text 19"/>
          <p:cNvSpPr txBox="1"/>
          <p:nvPr/>
        </p:nvSpPr>
        <p:spPr>
          <a:xfrm>
            <a:off x="566928" y="19019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1005840" y="1810512"/>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Imputer chaque appel</a:t>
            </a:r>
            <a:endParaRPr lang="en-US" sz="1100" dirty="0"/>
          </a:p>
        </p:txBody>
      </p:sp>
      <p:sp>
        <p:nvSpPr>
          <p:cNvPr id="25" name="Text 21"/>
          <p:cNvSpPr txBox="1"/>
          <p:nvPr/>
        </p:nvSpPr>
        <p:spPr>
          <a:xfrm>
            <a:off x="1005840" y="2048256"/>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Marquer chaque requête d'un code projet via la passerelle.</a:t>
            </a:r>
            <a:endParaRPr lang="en-US" sz="900" dirty="0"/>
          </a:p>
        </p:txBody>
      </p:sp>
      <p:sp>
        <p:nvSpPr>
          <p:cNvPr id="26" name="Shape 22"/>
          <p:cNvSpPr/>
          <p:nvPr/>
        </p:nvSpPr>
        <p:spPr>
          <a:xfrm>
            <a:off x="457200" y="2468880"/>
            <a:ext cx="4023360" cy="621792"/>
          </a:xfrm>
          <a:prstGeom prst="roundRect">
            <a:avLst>
              <a:gd name="adj" fmla="val 11765"/>
            </a:avLst>
          </a:prstGeom>
          <a:solidFill>
            <a:srgbClr val="F4F7F5"/>
          </a:solidFill>
          <a:ln w="9525">
            <a:solidFill>
              <a:srgbClr val="D5DED9"/>
            </a:solidFill>
            <a:prstDash val="solid"/>
          </a:ln>
        </p:spPr>
      </p:sp>
      <p:sp>
        <p:nvSpPr>
          <p:cNvPr id="27" name="Shape 23"/>
          <p:cNvSpPr/>
          <p:nvPr/>
        </p:nvSpPr>
        <p:spPr>
          <a:xfrm>
            <a:off x="566928" y="2615184"/>
            <a:ext cx="329184" cy="329184"/>
          </a:xfrm>
          <a:prstGeom prst="ellipse">
            <a:avLst/>
          </a:prstGeom>
          <a:solidFill>
            <a:srgbClr val="C4621D"/>
          </a:solidFill>
          <a:ln/>
        </p:spPr>
      </p:sp>
      <p:sp>
        <p:nvSpPr>
          <p:cNvPr id="28" name="Text 24"/>
          <p:cNvSpPr txBox="1"/>
          <p:nvPr/>
        </p:nvSpPr>
        <p:spPr>
          <a:xfrm>
            <a:off x="566928" y="2615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1005840" y="2523744"/>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Plafonner, pas seulement alerter</a:t>
            </a:r>
            <a:endParaRPr lang="en-US" sz="1100" dirty="0"/>
          </a:p>
        </p:txBody>
      </p:sp>
      <p:sp>
        <p:nvSpPr>
          <p:cNvPr id="30" name="Text 26"/>
          <p:cNvSpPr txBox="1"/>
          <p:nvPr/>
        </p:nvSpPr>
        <p:spPr>
          <a:xfrm>
            <a:off x="1005840" y="2761488"/>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Des plafonds qui bloquent — un tableau de bord n'arrête pas un week-end.</a:t>
            </a:r>
            <a:endParaRPr lang="en-US" sz="900" dirty="0"/>
          </a:p>
        </p:txBody>
      </p:sp>
      <p:sp>
        <p:nvSpPr>
          <p:cNvPr id="31" name="Shape 27"/>
          <p:cNvSpPr/>
          <p:nvPr/>
        </p:nvSpPr>
        <p:spPr>
          <a:xfrm>
            <a:off x="457200" y="3182112"/>
            <a:ext cx="4023360" cy="621792"/>
          </a:xfrm>
          <a:prstGeom prst="roundRect">
            <a:avLst>
              <a:gd name="adj" fmla="val 11765"/>
            </a:avLst>
          </a:prstGeom>
          <a:solidFill>
            <a:srgbClr val="F4F7F5"/>
          </a:solidFill>
          <a:ln w="9525">
            <a:solidFill>
              <a:srgbClr val="D5DED9"/>
            </a:solidFill>
            <a:prstDash val="solid"/>
          </a:ln>
        </p:spPr>
      </p:sp>
      <p:sp>
        <p:nvSpPr>
          <p:cNvPr id="32" name="Shape 28"/>
          <p:cNvSpPr/>
          <p:nvPr/>
        </p:nvSpPr>
        <p:spPr>
          <a:xfrm>
            <a:off x="566928" y="3328416"/>
            <a:ext cx="329184" cy="329184"/>
          </a:xfrm>
          <a:prstGeom prst="ellipse">
            <a:avLst/>
          </a:prstGeom>
          <a:solidFill>
            <a:srgbClr val="C4621D"/>
          </a:solidFill>
          <a:ln/>
        </p:spPr>
      </p:sp>
      <p:sp>
        <p:nvSpPr>
          <p:cNvPr id="33" name="Text 29"/>
          <p:cNvSpPr txBox="1"/>
          <p:nvPr/>
        </p:nvSpPr>
        <p:spPr>
          <a:xfrm>
            <a:off x="566928" y="33284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1005840" y="3236976"/>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Arrêt automatique</a:t>
            </a:r>
            <a:endParaRPr lang="en-US" sz="1100" dirty="0"/>
          </a:p>
        </p:txBody>
      </p:sp>
      <p:sp>
        <p:nvSpPr>
          <p:cNvPr id="35" name="Text 31"/>
          <p:cNvSpPr txBox="1"/>
          <p:nvPr/>
        </p:nvSpPr>
        <p:spPr>
          <a:xfrm>
            <a:off x="1005840" y="3474720"/>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machines inactives s'arrêtent selon un horaire, sauf prolongation.</a:t>
            </a:r>
            <a:endParaRPr lang="en-US" sz="900" dirty="0"/>
          </a:p>
        </p:txBody>
      </p:sp>
      <p:sp>
        <p:nvSpPr>
          <p:cNvPr id="36" name="Shape 32"/>
          <p:cNvSpPr/>
          <p:nvPr/>
        </p:nvSpPr>
        <p:spPr>
          <a:xfrm>
            <a:off x="457200" y="3895344"/>
            <a:ext cx="4023360" cy="621792"/>
          </a:xfrm>
          <a:prstGeom prst="roundRect">
            <a:avLst>
              <a:gd name="adj" fmla="val 11765"/>
            </a:avLst>
          </a:prstGeom>
          <a:solidFill>
            <a:srgbClr val="F4F7F5"/>
          </a:solidFill>
          <a:ln w="9525">
            <a:solidFill>
              <a:srgbClr val="D5DED9"/>
            </a:solidFill>
            <a:prstDash val="solid"/>
          </a:ln>
        </p:spPr>
      </p:sp>
      <p:sp>
        <p:nvSpPr>
          <p:cNvPr id="37" name="Shape 33"/>
          <p:cNvSpPr/>
          <p:nvPr/>
        </p:nvSpPr>
        <p:spPr>
          <a:xfrm>
            <a:off x="566928" y="4041648"/>
            <a:ext cx="329184" cy="329184"/>
          </a:xfrm>
          <a:prstGeom prst="ellipse">
            <a:avLst/>
          </a:prstGeom>
          <a:solidFill>
            <a:srgbClr val="C4621D"/>
          </a:solidFill>
          <a:ln/>
        </p:spPr>
      </p:sp>
      <p:sp>
        <p:nvSpPr>
          <p:cNvPr id="38" name="Text 34"/>
          <p:cNvSpPr txBox="1"/>
          <p:nvPr/>
        </p:nvSpPr>
        <p:spPr>
          <a:xfrm>
            <a:off x="566928" y="4041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1005840" y="3950208"/>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Quotas et seuils</a:t>
            </a:r>
            <a:endParaRPr lang="en-US" sz="1100" dirty="0"/>
          </a:p>
        </p:txBody>
      </p:sp>
      <p:sp>
        <p:nvSpPr>
          <p:cNvPr id="40" name="Text 36"/>
          <p:cNvSpPr txBox="1"/>
          <p:nvPr/>
        </p:nvSpPr>
        <p:spPr>
          <a:xfrm>
            <a:off x="1005840" y="4187952"/>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Quotas par équipe, avec circuit d'approbation au-delà d'un seuil.</a:t>
            </a:r>
            <a:endParaRPr lang="en-US" sz="900" dirty="0"/>
          </a:p>
        </p:txBody>
      </p:sp>
      <p:sp>
        <p:nvSpPr>
          <p:cNvPr id="41" name="Shape 37"/>
          <p:cNvSpPr/>
          <p:nvPr/>
        </p:nvSpPr>
        <p:spPr>
          <a:xfrm>
            <a:off x="4663440" y="1325880"/>
            <a:ext cx="310896" cy="310896"/>
          </a:xfrm>
          <a:prstGeom prst="ellipse">
            <a:avLst/>
          </a:prstGeom>
          <a:solidFill>
            <a:srgbClr val="C4621D">
              <a:alpha val="22000"/>
            </a:srgbClr>
          </a:solidFill>
          <a:ln/>
        </p:spPr>
      </p:sp>
      <p:pic>
        <p:nvPicPr>
          <p:cNvPr id="42" name="Image 1" descr="preencoded.png"/>
          <p:cNvPicPr>
            <a:picLocks noChangeAspect="1"/>
          </p:cNvPicPr>
          <p:nvPr/>
        </p:nvPicPr>
        <p:blipFill>
          <a:blip r:embed="rId4"/>
          <a:stretch>
            <a:fillRect/>
          </a:stretch>
        </p:blipFill>
        <p:spPr>
          <a:xfrm>
            <a:off x="4738055" y="1400495"/>
            <a:ext cx="161666" cy="161666"/>
          </a:xfrm>
          <a:prstGeom prst="rect">
            <a:avLst/>
          </a:prstGeom>
        </p:spPr>
      </p:pic>
      <p:sp>
        <p:nvSpPr>
          <p:cNvPr id="43" name="Text 38"/>
          <p:cNvSpPr txBox="1"/>
          <p:nvPr/>
        </p:nvSpPr>
        <p:spPr>
          <a:xfrm>
            <a:off x="5074920" y="1325880"/>
            <a:ext cx="2743200" cy="310896"/>
          </a:xfrm>
          <a:prstGeom prst="rect">
            <a:avLst/>
          </a:prstGeom>
          <a:noFill/>
          <a:ln/>
        </p:spPr>
        <p:txBody>
          <a:bodyPr wrap="square" lIns="0" tIns="0" rIns="0" bIns="0" rtlCol="0" anchor="ctr"/>
          <a:lstStyle/>
          <a:p>
            <a:pPr marL="0" indent="0">
              <a:buNone/>
            </a:pPr>
            <a:r>
              <a:rPr lang="en-US" sz="1050" b="1" kern="0" spc="200" dirty="0">
                <a:solidFill>
                  <a:srgbClr val="C4621D"/>
                </a:solidFill>
                <a:latin typeface="Calibri" pitchFamily="34" charset="0"/>
                <a:ea typeface="Calibri" pitchFamily="34" charset="-122"/>
                <a:cs typeface="Calibri" pitchFamily="34" charset="-120"/>
              </a:rPr>
              <a:t>EFFICACITÉ</a:t>
            </a:r>
            <a:endParaRPr lang="en-US" sz="1050" dirty="0"/>
          </a:p>
        </p:txBody>
      </p:sp>
      <p:sp>
        <p:nvSpPr>
          <p:cNvPr id="44" name="Shape 39"/>
          <p:cNvSpPr/>
          <p:nvPr/>
        </p:nvSpPr>
        <p:spPr>
          <a:xfrm>
            <a:off x="4663440" y="1755648"/>
            <a:ext cx="4023360" cy="621792"/>
          </a:xfrm>
          <a:prstGeom prst="roundRect">
            <a:avLst>
              <a:gd name="adj" fmla="val 11765"/>
            </a:avLst>
          </a:prstGeom>
          <a:solidFill>
            <a:srgbClr val="F9EDE4"/>
          </a:solidFill>
          <a:ln w="15875">
            <a:solidFill>
              <a:srgbClr val="C4621D"/>
            </a:solidFill>
            <a:prstDash val="solid"/>
          </a:ln>
        </p:spPr>
      </p:sp>
      <p:sp>
        <p:nvSpPr>
          <p:cNvPr id="45" name="Shape 40"/>
          <p:cNvSpPr/>
          <p:nvPr/>
        </p:nvSpPr>
        <p:spPr>
          <a:xfrm>
            <a:off x="4773168" y="1901952"/>
            <a:ext cx="329184" cy="329184"/>
          </a:xfrm>
          <a:prstGeom prst="ellipse">
            <a:avLst/>
          </a:prstGeom>
          <a:solidFill>
            <a:srgbClr val="C4621D"/>
          </a:solidFill>
          <a:ln/>
        </p:spPr>
      </p:sp>
      <p:sp>
        <p:nvSpPr>
          <p:cNvPr id="46" name="Text 41"/>
          <p:cNvSpPr txBox="1"/>
          <p:nvPr/>
        </p:nvSpPr>
        <p:spPr>
          <a:xfrm>
            <a:off x="4773168" y="190195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7" name="Text 42"/>
          <p:cNvSpPr txBox="1"/>
          <p:nvPr/>
        </p:nvSpPr>
        <p:spPr>
          <a:xfrm>
            <a:off x="5212080" y="1810512"/>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Le plus petit modèle suffisant</a:t>
            </a:r>
            <a:endParaRPr lang="en-US" sz="1100" dirty="0"/>
          </a:p>
        </p:txBody>
      </p:sp>
      <p:sp>
        <p:nvSpPr>
          <p:cNvPr id="48" name="Text 43"/>
          <p:cNvSpPr txBox="1"/>
          <p:nvPr/>
        </p:nvSpPr>
        <p:spPr>
          <a:xfrm>
            <a:off x="5212080" y="2048256"/>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Commencer petit ou auto-hébergé ; monter en gamme si les tests l'exigent.</a:t>
            </a:r>
            <a:endParaRPr lang="en-US" sz="900" dirty="0"/>
          </a:p>
        </p:txBody>
      </p:sp>
      <p:sp>
        <p:nvSpPr>
          <p:cNvPr id="49" name="Shape 44"/>
          <p:cNvSpPr/>
          <p:nvPr/>
        </p:nvSpPr>
        <p:spPr>
          <a:xfrm>
            <a:off x="4663440" y="2468880"/>
            <a:ext cx="4023360" cy="621792"/>
          </a:xfrm>
          <a:prstGeom prst="roundRect">
            <a:avLst>
              <a:gd name="adj" fmla="val 11765"/>
            </a:avLst>
          </a:prstGeom>
          <a:solidFill>
            <a:srgbClr val="F4F7F5"/>
          </a:solidFill>
          <a:ln w="9525">
            <a:solidFill>
              <a:srgbClr val="D5DED9"/>
            </a:solidFill>
            <a:prstDash val="solid"/>
          </a:ln>
        </p:spPr>
      </p:sp>
      <p:sp>
        <p:nvSpPr>
          <p:cNvPr id="50" name="Shape 45"/>
          <p:cNvSpPr/>
          <p:nvPr/>
        </p:nvSpPr>
        <p:spPr>
          <a:xfrm>
            <a:off x="4773168" y="2615184"/>
            <a:ext cx="329184" cy="329184"/>
          </a:xfrm>
          <a:prstGeom prst="ellipse">
            <a:avLst/>
          </a:prstGeom>
          <a:solidFill>
            <a:srgbClr val="C4621D"/>
          </a:solidFill>
          <a:ln/>
        </p:spPr>
      </p:sp>
      <p:sp>
        <p:nvSpPr>
          <p:cNvPr id="51" name="Text 46"/>
          <p:cNvSpPr txBox="1"/>
          <p:nvPr/>
        </p:nvSpPr>
        <p:spPr>
          <a:xfrm>
            <a:off x="4773168" y="26151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2" name="Text 47"/>
          <p:cNvSpPr txBox="1"/>
          <p:nvPr/>
        </p:nvSpPr>
        <p:spPr>
          <a:xfrm>
            <a:off x="5212080" y="2523744"/>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Cache et traitement par lots</a:t>
            </a:r>
            <a:endParaRPr lang="en-US" sz="1100" dirty="0"/>
          </a:p>
        </p:txBody>
      </p:sp>
      <p:sp>
        <p:nvSpPr>
          <p:cNvPr id="53" name="Text 48"/>
          <p:cNvSpPr txBox="1"/>
          <p:nvPr/>
        </p:nvSpPr>
        <p:spPr>
          <a:xfrm>
            <a:off x="5212080" y="2761488"/>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Réutiliser les résultats ; le traitement par lots coûte moins cher.</a:t>
            </a:r>
            <a:endParaRPr lang="en-US" sz="900" dirty="0"/>
          </a:p>
        </p:txBody>
      </p:sp>
      <p:sp>
        <p:nvSpPr>
          <p:cNvPr id="54" name="Shape 49"/>
          <p:cNvSpPr/>
          <p:nvPr/>
        </p:nvSpPr>
        <p:spPr>
          <a:xfrm>
            <a:off x="4663440" y="3182112"/>
            <a:ext cx="4023360" cy="621792"/>
          </a:xfrm>
          <a:prstGeom prst="roundRect">
            <a:avLst>
              <a:gd name="adj" fmla="val 11765"/>
            </a:avLst>
          </a:prstGeom>
          <a:solidFill>
            <a:srgbClr val="F4F7F5"/>
          </a:solidFill>
          <a:ln w="9525">
            <a:solidFill>
              <a:srgbClr val="D5DED9"/>
            </a:solidFill>
            <a:prstDash val="solid"/>
          </a:ln>
        </p:spPr>
      </p:sp>
      <p:sp>
        <p:nvSpPr>
          <p:cNvPr id="55" name="Shape 50"/>
          <p:cNvSpPr/>
          <p:nvPr/>
        </p:nvSpPr>
        <p:spPr>
          <a:xfrm>
            <a:off x="4773168" y="3328416"/>
            <a:ext cx="329184" cy="329184"/>
          </a:xfrm>
          <a:prstGeom prst="ellipse">
            <a:avLst/>
          </a:prstGeom>
          <a:solidFill>
            <a:srgbClr val="C4621D"/>
          </a:solidFill>
          <a:ln/>
        </p:spPr>
      </p:sp>
      <p:sp>
        <p:nvSpPr>
          <p:cNvPr id="56" name="Text 51"/>
          <p:cNvSpPr txBox="1"/>
          <p:nvPr/>
        </p:nvSpPr>
        <p:spPr>
          <a:xfrm>
            <a:off x="4773168" y="332841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7" name="Text 52"/>
          <p:cNvSpPr txBox="1"/>
          <p:nvPr/>
        </p:nvSpPr>
        <p:spPr>
          <a:xfrm>
            <a:off x="5212080" y="3236976"/>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S'engager une fois la charge connue</a:t>
            </a:r>
            <a:endParaRPr lang="en-US" sz="1100" dirty="0"/>
          </a:p>
        </p:txBody>
      </p:sp>
      <p:sp>
        <p:nvSpPr>
          <p:cNvPr id="58" name="Text 53"/>
          <p:cNvSpPr txBox="1"/>
          <p:nvPr/>
        </p:nvSpPr>
        <p:spPr>
          <a:xfrm>
            <a:off x="5212080" y="3474720"/>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réservations font économiser — après un historique réel.</a:t>
            </a:r>
            <a:endParaRPr lang="en-US" sz="900" dirty="0"/>
          </a:p>
        </p:txBody>
      </p:sp>
      <p:sp>
        <p:nvSpPr>
          <p:cNvPr id="59" name="Shape 54"/>
          <p:cNvSpPr/>
          <p:nvPr/>
        </p:nvSpPr>
        <p:spPr>
          <a:xfrm>
            <a:off x="4663440" y="3895344"/>
            <a:ext cx="4023360" cy="621792"/>
          </a:xfrm>
          <a:prstGeom prst="roundRect">
            <a:avLst>
              <a:gd name="adj" fmla="val 11765"/>
            </a:avLst>
          </a:prstGeom>
          <a:solidFill>
            <a:srgbClr val="F4F7F5"/>
          </a:solidFill>
          <a:ln w="9525">
            <a:solidFill>
              <a:srgbClr val="D5DED9"/>
            </a:solidFill>
            <a:prstDash val="solid"/>
          </a:ln>
        </p:spPr>
      </p:sp>
      <p:sp>
        <p:nvSpPr>
          <p:cNvPr id="60" name="Shape 55"/>
          <p:cNvSpPr/>
          <p:nvPr/>
        </p:nvSpPr>
        <p:spPr>
          <a:xfrm>
            <a:off x="4773168" y="4041648"/>
            <a:ext cx="329184" cy="329184"/>
          </a:xfrm>
          <a:prstGeom prst="ellipse">
            <a:avLst/>
          </a:prstGeom>
          <a:solidFill>
            <a:srgbClr val="C4621D"/>
          </a:solidFill>
          <a:ln/>
        </p:spPr>
      </p:sp>
      <p:sp>
        <p:nvSpPr>
          <p:cNvPr id="61" name="Text 56"/>
          <p:cNvSpPr txBox="1"/>
          <p:nvPr/>
        </p:nvSpPr>
        <p:spPr>
          <a:xfrm>
            <a:off x="4773168" y="40416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62" name="Text 57"/>
          <p:cNvSpPr txBox="1"/>
          <p:nvPr/>
        </p:nvSpPr>
        <p:spPr>
          <a:xfrm>
            <a:off x="5212080" y="3950208"/>
            <a:ext cx="3383280" cy="23774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Suivre coûts et avancement ensemble</a:t>
            </a:r>
            <a:endParaRPr lang="en-US" sz="1100" dirty="0"/>
          </a:p>
        </p:txBody>
      </p:sp>
      <p:sp>
        <p:nvSpPr>
          <p:cNvPr id="63" name="Text 58"/>
          <p:cNvSpPr txBox="1"/>
          <p:nvPr/>
        </p:nvSpPr>
        <p:spPr>
          <a:xfrm>
            <a:off x="5212080" y="4187952"/>
            <a:ext cx="3401568" cy="29260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réunion mensuelle, mêmes personnes, pour l'avancement et la dépense.</a:t>
            </a:r>
            <a:endParaRPr lang="en-US" sz="900" dirty="0"/>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LA DEMANDE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53044" y="278892"/>
            <a:ext cx="118872" cy="118872"/>
          </a:xfrm>
          <a:prstGeom prst="ellipse">
            <a:avLst/>
          </a:prstGeom>
          <a:solidFill>
            <a:srgbClr val="C4621D"/>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Construire la demande budgétaire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Une demande qu'un comité peut approuver — et qu'un auditeur pourra défendre ensuite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53</a:t>
            </a:r>
            <a:endParaRPr lang="en-US" sz="850" dirty="0"/>
          </a:p>
        </p:txBody>
      </p:sp>
      <p:sp>
        <p:nvSpPr>
          <p:cNvPr id="18" name="Shape 15"/>
          <p:cNvSpPr/>
          <p:nvPr/>
        </p:nvSpPr>
        <p:spPr>
          <a:xfrm>
            <a:off x="457200" y="1371600"/>
            <a:ext cx="4023360" cy="2697480"/>
          </a:xfrm>
          <a:prstGeom prst="roundRect">
            <a:avLst>
              <a:gd name="adj" fmla="val 2712"/>
            </a:avLst>
          </a:prstGeom>
          <a:solidFill>
            <a:srgbClr val="E8F5EF"/>
          </a:solidFill>
          <a:ln w="9525">
            <a:solidFill>
              <a:srgbClr val="00704A"/>
            </a:solidFill>
            <a:prstDash val="solid"/>
          </a:ln>
        </p:spPr>
      </p:sp>
      <p:sp>
        <p:nvSpPr>
          <p:cNvPr id="19" name="Shape 16"/>
          <p:cNvSpPr/>
          <p:nvPr/>
        </p:nvSpPr>
        <p:spPr>
          <a:xfrm>
            <a:off x="594360" y="1463040"/>
            <a:ext cx="384048" cy="384048"/>
          </a:xfrm>
          <a:prstGeom prst="ellipse">
            <a:avLst/>
          </a:prstGeom>
          <a:solidFill>
            <a:srgbClr val="00704A"/>
          </a:solidFill>
          <a:ln/>
        </p:spPr>
      </p:sp>
      <p:pic>
        <p:nvPicPr>
          <p:cNvPr id="20" name="Image 0" descr="preencoded.png"/>
          <p:cNvPicPr>
            <a:picLocks noChangeAspect="1"/>
          </p:cNvPicPr>
          <p:nvPr/>
        </p:nvPicPr>
        <p:blipFill>
          <a:blip r:embed="rId3"/>
          <a:stretch>
            <a:fillRect/>
          </a:stretch>
        </p:blipFill>
        <p:spPr>
          <a:xfrm>
            <a:off x="686532" y="1555212"/>
            <a:ext cx="199705" cy="199705"/>
          </a:xfrm>
          <a:prstGeom prst="rect">
            <a:avLst/>
          </a:prstGeom>
        </p:spPr>
      </p:pic>
      <p:sp>
        <p:nvSpPr>
          <p:cNvPr id="21" name="Text 17"/>
          <p:cNvSpPr txBox="1"/>
          <p:nvPr/>
        </p:nvSpPr>
        <p:spPr>
          <a:xfrm>
            <a:off x="1078992" y="1444752"/>
            <a:ext cx="2743200" cy="237744"/>
          </a:xfrm>
          <a:prstGeom prst="rect">
            <a:avLst/>
          </a:prstGeom>
          <a:noFill/>
          <a:ln/>
        </p:spPr>
        <p:txBody>
          <a:bodyPr wrap="square" lIns="0" tIns="0" rIns="0" bIns="0" rtlCol="0" anchor="t"/>
          <a:lstStyle/>
          <a:p>
            <a:pPr marL="0" indent="0">
              <a:buNone/>
            </a:pPr>
            <a:r>
              <a:rPr lang="en-US" sz="1400" b="1" dirty="0">
                <a:solidFill>
                  <a:srgbClr val="00704A"/>
                </a:solidFill>
                <a:latin typeface="Calibri" pitchFamily="34" charset="0"/>
                <a:ea typeface="Calibri" pitchFamily="34" charset="-122"/>
                <a:cs typeface="Calibri" pitchFamily="34" charset="-120"/>
              </a:rPr>
              <a:t>À FAIRE</a:t>
            </a:r>
            <a:endParaRPr lang="en-US" sz="1400" dirty="0"/>
          </a:p>
        </p:txBody>
      </p:sp>
      <p:sp>
        <p:nvSpPr>
          <p:cNvPr id="22" name="Text 18"/>
          <p:cNvSpPr txBox="1"/>
          <p:nvPr/>
        </p:nvSpPr>
        <p:spPr>
          <a:xfrm>
            <a:off x="1078992" y="1673352"/>
            <a:ext cx="3291840" cy="18288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Ce que contient une demande défendable</a:t>
            </a:r>
            <a:endParaRPr lang="en-US" sz="950" dirty="0"/>
          </a:p>
        </p:txBody>
      </p:sp>
      <p:pic>
        <p:nvPicPr>
          <p:cNvPr id="23" name="Image 1" descr="preencoded.png"/>
          <p:cNvPicPr>
            <a:picLocks noChangeAspect="1"/>
          </p:cNvPicPr>
          <p:nvPr/>
        </p:nvPicPr>
        <p:blipFill>
          <a:blip r:embed="rId4"/>
          <a:stretch>
            <a:fillRect/>
          </a:stretch>
        </p:blipFill>
        <p:spPr>
          <a:xfrm>
            <a:off x="621792" y="2011680"/>
            <a:ext cx="137160" cy="137160"/>
          </a:xfrm>
          <a:prstGeom prst="rect">
            <a:avLst/>
          </a:prstGeom>
        </p:spPr>
      </p:pic>
      <p:sp>
        <p:nvSpPr>
          <p:cNvPr id="24" name="Text 19"/>
          <p:cNvSpPr txBox="1"/>
          <p:nvPr/>
        </p:nvSpPr>
        <p:spPr>
          <a:xfrm>
            <a:off x="832104" y="1984248"/>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Exprimer les bénéfices en résultats statistiques : délais, qualité</a:t>
            </a:r>
            <a:endParaRPr lang="en-US" sz="900" dirty="0"/>
          </a:p>
        </p:txBody>
      </p:sp>
      <p:pic>
        <p:nvPicPr>
          <p:cNvPr id="25" name="Image 2" descr="preencoded.png"/>
          <p:cNvPicPr>
            <a:picLocks noChangeAspect="1"/>
          </p:cNvPicPr>
          <p:nvPr/>
        </p:nvPicPr>
        <p:blipFill>
          <a:blip r:embed="rId4"/>
          <a:stretch>
            <a:fillRect/>
          </a:stretch>
        </p:blipFill>
        <p:spPr>
          <a:xfrm>
            <a:off x="621792" y="2304288"/>
            <a:ext cx="137160" cy="137160"/>
          </a:xfrm>
          <a:prstGeom prst="rect">
            <a:avLst/>
          </a:prstGeom>
        </p:spPr>
      </p:pic>
      <p:sp>
        <p:nvSpPr>
          <p:cNvPr id="26" name="Text 20"/>
          <p:cNvSpPr txBox="1"/>
          <p:nvPr/>
        </p:nvSpPr>
        <p:spPr>
          <a:xfrm>
            <a:off x="832104" y="2276856"/>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Comparer le coût par enregistrement avant et après, avec preuves</a:t>
            </a:r>
            <a:endParaRPr lang="en-US" sz="900" dirty="0"/>
          </a:p>
        </p:txBody>
      </p:sp>
      <p:pic>
        <p:nvPicPr>
          <p:cNvPr id="27" name="Image 3" descr="preencoded.png"/>
          <p:cNvPicPr>
            <a:picLocks noChangeAspect="1"/>
          </p:cNvPicPr>
          <p:nvPr/>
        </p:nvPicPr>
        <p:blipFill>
          <a:blip r:embed="rId4"/>
          <a:stretch>
            <a:fillRect/>
          </a:stretch>
        </p:blipFill>
        <p:spPr>
          <a:xfrm>
            <a:off x="621792" y="2596896"/>
            <a:ext cx="137160" cy="137160"/>
          </a:xfrm>
          <a:prstGeom prst="rect">
            <a:avLst/>
          </a:prstGeom>
        </p:spPr>
      </p:pic>
      <p:sp>
        <p:nvSpPr>
          <p:cNvPr id="28" name="Text 21"/>
          <p:cNvSpPr txBox="1"/>
          <p:nvPr/>
        </p:nvSpPr>
        <p:spPr>
          <a:xfrm>
            <a:off x="832104" y="2569464"/>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Demander une plateforme à financement récurrent, pas un projet</a:t>
            </a:r>
            <a:endParaRPr lang="en-US" sz="900" dirty="0"/>
          </a:p>
        </p:txBody>
      </p:sp>
      <p:pic>
        <p:nvPicPr>
          <p:cNvPr id="29" name="Image 4" descr="preencoded.png"/>
          <p:cNvPicPr>
            <a:picLocks noChangeAspect="1"/>
          </p:cNvPicPr>
          <p:nvPr/>
        </p:nvPicPr>
        <p:blipFill>
          <a:blip r:embed="rId4"/>
          <a:stretch>
            <a:fillRect/>
          </a:stretch>
        </p:blipFill>
        <p:spPr>
          <a:xfrm>
            <a:off x="621792" y="2889504"/>
            <a:ext cx="137160" cy="137160"/>
          </a:xfrm>
          <a:prstGeom prst="rect">
            <a:avLst/>
          </a:prstGeom>
        </p:spPr>
      </p:pic>
      <p:sp>
        <p:nvSpPr>
          <p:cNvPr id="30" name="Text 22"/>
          <p:cNvSpPr txBox="1"/>
          <p:nvPr/>
        </p:nvSpPr>
        <p:spPr>
          <a:xfrm>
            <a:off x="832104" y="2862072"/>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Phaser : pilote → plateforme → extension, avec décisions</a:t>
            </a:r>
            <a:endParaRPr lang="en-US" sz="900" dirty="0"/>
          </a:p>
        </p:txBody>
      </p:sp>
      <p:pic>
        <p:nvPicPr>
          <p:cNvPr id="31" name="Image 5" descr="preencoded.png"/>
          <p:cNvPicPr>
            <a:picLocks noChangeAspect="1"/>
          </p:cNvPicPr>
          <p:nvPr/>
        </p:nvPicPr>
        <p:blipFill>
          <a:blip r:embed="rId4"/>
          <a:stretch>
            <a:fillRect/>
          </a:stretch>
        </p:blipFill>
        <p:spPr>
          <a:xfrm>
            <a:off x="621792" y="3182112"/>
            <a:ext cx="137160" cy="137160"/>
          </a:xfrm>
          <a:prstGeom prst="rect">
            <a:avLst/>
          </a:prstGeom>
        </p:spPr>
      </p:pic>
      <p:sp>
        <p:nvSpPr>
          <p:cNvPr id="32" name="Text 23"/>
          <p:cNvSpPr txBox="1"/>
          <p:nvPr/>
        </p:nvSpPr>
        <p:spPr>
          <a:xfrm>
            <a:off x="832104" y="3154680"/>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Inclure exploitation, renouvellement et fin de vie</a:t>
            </a:r>
            <a:endParaRPr lang="en-US" sz="900" dirty="0"/>
          </a:p>
        </p:txBody>
      </p:sp>
      <p:pic>
        <p:nvPicPr>
          <p:cNvPr id="33" name="Image 6" descr="preencoded.png"/>
          <p:cNvPicPr>
            <a:picLocks noChangeAspect="1"/>
          </p:cNvPicPr>
          <p:nvPr/>
        </p:nvPicPr>
        <p:blipFill>
          <a:blip r:embed="rId4"/>
          <a:stretch>
            <a:fillRect/>
          </a:stretch>
        </p:blipFill>
        <p:spPr>
          <a:xfrm>
            <a:off x="621792" y="3474720"/>
            <a:ext cx="137160" cy="137160"/>
          </a:xfrm>
          <a:prstGeom prst="rect">
            <a:avLst/>
          </a:prstGeom>
        </p:spPr>
      </p:pic>
      <p:sp>
        <p:nvSpPr>
          <p:cNvPr id="34" name="Text 24"/>
          <p:cNvSpPr txBox="1"/>
          <p:nvPr/>
        </p:nvSpPr>
        <p:spPr>
          <a:xfrm>
            <a:off x="832104" y="3447288"/>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Annoncer d'emblée la position sur la confidentialité</a:t>
            </a:r>
            <a:endParaRPr lang="en-US" sz="900" dirty="0"/>
          </a:p>
        </p:txBody>
      </p:sp>
      <p:pic>
        <p:nvPicPr>
          <p:cNvPr id="35" name="Image 7" descr="preencoded.png"/>
          <p:cNvPicPr>
            <a:picLocks noChangeAspect="1"/>
          </p:cNvPicPr>
          <p:nvPr/>
        </p:nvPicPr>
        <p:blipFill>
          <a:blip r:embed="rId4"/>
          <a:stretch>
            <a:fillRect/>
          </a:stretch>
        </p:blipFill>
        <p:spPr>
          <a:xfrm>
            <a:off x="621792" y="3767328"/>
            <a:ext cx="137160" cy="137160"/>
          </a:xfrm>
          <a:prstGeom prst="rect">
            <a:avLst/>
          </a:prstGeom>
        </p:spPr>
      </p:pic>
      <p:sp>
        <p:nvSpPr>
          <p:cNvPr id="36" name="Text 25"/>
          <p:cNvSpPr txBox="1"/>
          <p:nvPr/>
        </p:nvSpPr>
        <p:spPr>
          <a:xfrm>
            <a:off x="832104" y="3739896"/>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Nommer les inconnues ; proposer un plafond et une date de revue</a:t>
            </a:r>
            <a:endParaRPr lang="en-US" sz="900" dirty="0"/>
          </a:p>
        </p:txBody>
      </p:sp>
      <p:sp>
        <p:nvSpPr>
          <p:cNvPr id="37" name="Shape 26"/>
          <p:cNvSpPr/>
          <p:nvPr/>
        </p:nvSpPr>
        <p:spPr>
          <a:xfrm>
            <a:off x="4663440" y="1371600"/>
            <a:ext cx="4023360" cy="2697480"/>
          </a:xfrm>
          <a:prstGeom prst="roundRect">
            <a:avLst>
              <a:gd name="adj" fmla="val 2712"/>
            </a:avLst>
          </a:prstGeom>
          <a:solidFill>
            <a:srgbClr val="FBF0EE"/>
          </a:solidFill>
          <a:ln w="9525">
            <a:solidFill>
              <a:srgbClr val="B83B2E"/>
            </a:solidFill>
            <a:prstDash val="solid"/>
          </a:ln>
        </p:spPr>
      </p:sp>
      <p:sp>
        <p:nvSpPr>
          <p:cNvPr id="38" name="Shape 27"/>
          <p:cNvSpPr/>
          <p:nvPr/>
        </p:nvSpPr>
        <p:spPr>
          <a:xfrm>
            <a:off x="4800600" y="1463040"/>
            <a:ext cx="384048" cy="384048"/>
          </a:xfrm>
          <a:prstGeom prst="ellipse">
            <a:avLst/>
          </a:prstGeom>
          <a:solidFill>
            <a:srgbClr val="B83B2E"/>
          </a:solidFill>
          <a:ln/>
        </p:spPr>
      </p:sp>
      <p:pic>
        <p:nvPicPr>
          <p:cNvPr id="39" name="Image 8" descr="preencoded.png"/>
          <p:cNvPicPr>
            <a:picLocks noChangeAspect="1"/>
          </p:cNvPicPr>
          <p:nvPr/>
        </p:nvPicPr>
        <p:blipFill>
          <a:blip r:embed="rId5"/>
          <a:stretch>
            <a:fillRect/>
          </a:stretch>
        </p:blipFill>
        <p:spPr>
          <a:xfrm>
            <a:off x="4892772" y="1555212"/>
            <a:ext cx="199705" cy="199705"/>
          </a:xfrm>
          <a:prstGeom prst="rect">
            <a:avLst/>
          </a:prstGeom>
        </p:spPr>
      </p:pic>
      <p:sp>
        <p:nvSpPr>
          <p:cNvPr id="40" name="Text 28"/>
          <p:cNvSpPr txBox="1"/>
          <p:nvPr/>
        </p:nvSpPr>
        <p:spPr>
          <a:xfrm>
            <a:off x="5285232" y="1444752"/>
            <a:ext cx="2743200" cy="237744"/>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À ÉVITER</a:t>
            </a:r>
            <a:endParaRPr lang="en-US" sz="1400" dirty="0"/>
          </a:p>
        </p:txBody>
      </p:sp>
      <p:sp>
        <p:nvSpPr>
          <p:cNvPr id="41" name="Text 29"/>
          <p:cNvSpPr txBox="1"/>
          <p:nvPr/>
        </p:nvSpPr>
        <p:spPr>
          <a:xfrm>
            <a:off x="5285232" y="1673352"/>
            <a:ext cx="3291840" cy="182880"/>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Ce qui fait renvoyer une demande</a:t>
            </a:r>
            <a:endParaRPr lang="en-US" sz="950" dirty="0"/>
          </a:p>
        </p:txBody>
      </p:sp>
      <p:pic>
        <p:nvPicPr>
          <p:cNvPr id="42" name="Image 9" descr="preencoded.png"/>
          <p:cNvPicPr>
            <a:picLocks noChangeAspect="1"/>
          </p:cNvPicPr>
          <p:nvPr/>
        </p:nvPicPr>
        <p:blipFill>
          <a:blip r:embed="rId6"/>
          <a:stretch>
            <a:fillRect/>
          </a:stretch>
        </p:blipFill>
        <p:spPr>
          <a:xfrm>
            <a:off x="4828032" y="2011680"/>
            <a:ext cx="137160" cy="137160"/>
          </a:xfrm>
          <a:prstGeom prst="rect">
            <a:avLst/>
          </a:prstGeom>
        </p:spPr>
      </p:pic>
      <p:sp>
        <p:nvSpPr>
          <p:cNvPr id="43" name="Text 30"/>
          <p:cNvSpPr txBox="1"/>
          <p:nvPr/>
        </p:nvSpPr>
        <p:spPr>
          <a:xfrm>
            <a:off x="5038344" y="1984248"/>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Mettre en avant la technologie ou une architecture de modèle</a:t>
            </a:r>
            <a:endParaRPr lang="en-US" sz="900" dirty="0"/>
          </a:p>
        </p:txBody>
      </p:sp>
      <p:pic>
        <p:nvPicPr>
          <p:cNvPr id="44" name="Image 10" descr="preencoded.png"/>
          <p:cNvPicPr>
            <a:picLocks noChangeAspect="1"/>
          </p:cNvPicPr>
          <p:nvPr/>
        </p:nvPicPr>
        <p:blipFill>
          <a:blip r:embed="rId6"/>
          <a:stretch>
            <a:fillRect/>
          </a:stretch>
        </p:blipFill>
        <p:spPr>
          <a:xfrm>
            <a:off x="4828032" y="2304288"/>
            <a:ext cx="137160" cy="137160"/>
          </a:xfrm>
          <a:prstGeom prst="rect">
            <a:avLst/>
          </a:prstGeom>
        </p:spPr>
      </p:pic>
      <p:sp>
        <p:nvSpPr>
          <p:cNvPr id="45" name="Text 31"/>
          <p:cNvSpPr txBox="1"/>
          <p:nvPr/>
        </p:nvSpPr>
        <p:spPr>
          <a:xfrm>
            <a:off x="5038344" y="2276856"/>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Promettre des suppressions de postes — promettre un redéploiement</a:t>
            </a:r>
            <a:endParaRPr lang="en-US" sz="900" dirty="0"/>
          </a:p>
        </p:txBody>
      </p:sp>
      <p:pic>
        <p:nvPicPr>
          <p:cNvPr id="46" name="Image 11" descr="preencoded.png"/>
          <p:cNvPicPr>
            <a:picLocks noChangeAspect="1"/>
          </p:cNvPicPr>
          <p:nvPr/>
        </p:nvPicPr>
        <p:blipFill>
          <a:blip r:embed="rId6"/>
          <a:stretch>
            <a:fillRect/>
          </a:stretch>
        </p:blipFill>
        <p:spPr>
          <a:xfrm>
            <a:off x="4828032" y="2596896"/>
            <a:ext cx="137160" cy="137160"/>
          </a:xfrm>
          <a:prstGeom prst="rect">
            <a:avLst/>
          </a:prstGeom>
        </p:spPr>
      </p:pic>
      <p:sp>
        <p:nvSpPr>
          <p:cNvPr id="47" name="Text 32"/>
          <p:cNvSpPr txBox="1"/>
          <p:nvPr/>
        </p:nvSpPr>
        <p:spPr>
          <a:xfrm>
            <a:off x="5038344" y="2569464"/>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Présenter une précision sans référence humaine</a:t>
            </a:r>
            <a:endParaRPr lang="en-US" sz="900" dirty="0"/>
          </a:p>
        </p:txBody>
      </p:sp>
      <p:pic>
        <p:nvPicPr>
          <p:cNvPr id="48" name="Image 12" descr="preencoded.png"/>
          <p:cNvPicPr>
            <a:picLocks noChangeAspect="1"/>
          </p:cNvPicPr>
          <p:nvPr/>
        </p:nvPicPr>
        <p:blipFill>
          <a:blip r:embed="rId6"/>
          <a:stretch>
            <a:fillRect/>
          </a:stretch>
        </p:blipFill>
        <p:spPr>
          <a:xfrm>
            <a:off x="4828032" y="2889504"/>
            <a:ext cx="137160" cy="137160"/>
          </a:xfrm>
          <a:prstGeom prst="rect">
            <a:avLst/>
          </a:prstGeom>
        </p:spPr>
      </p:pic>
      <p:sp>
        <p:nvSpPr>
          <p:cNvPr id="49" name="Text 33"/>
          <p:cNvSpPr txBox="1"/>
          <p:nvPr/>
        </p:nvSpPr>
        <p:spPr>
          <a:xfrm>
            <a:off x="5038344" y="2862072"/>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Demander du matériel avant un usage testé et des données annotées</a:t>
            </a:r>
            <a:endParaRPr lang="en-US" sz="900" dirty="0"/>
          </a:p>
        </p:txBody>
      </p:sp>
      <p:pic>
        <p:nvPicPr>
          <p:cNvPr id="50" name="Image 13" descr="preencoded.png"/>
          <p:cNvPicPr>
            <a:picLocks noChangeAspect="1"/>
          </p:cNvPicPr>
          <p:nvPr/>
        </p:nvPicPr>
        <p:blipFill>
          <a:blip r:embed="rId6"/>
          <a:stretch>
            <a:fillRect/>
          </a:stretch>
        </p:blipFill>
        <p:spPr>
          <a:xfrm>
            <a:off x="4828032" y="3182112"/>
            <a:ext cx="137160" cy="137160"/>
          </a:xfrm>
          <a:prstGeom prst="rect">
            <a:avLst/>
          </a:prstGeom>
        </p:spPr>
      </p:pic>
      <p:sp>
        <p:nvSpPr>
          <p:cNvPr id="51" name="Text 34"/>
          <p:cNvSpPr txBox="1"/>
          <p:nvPr/>
        </p:nvSpPr>
        <p:spPr>
          <a:xfrm>
            <a:off x="5038344" y="3154680"/>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Noyer l'effort de gouvernance dans une ligne de production</a:t>
            </a:r>
            <a:endParaRPr lang="en-US" sz="900" dirty="0"/>
          </a:p>
        </p:txBody>
      </p:sp>
      <p:pic>
        <p:nvPicPr>
          <p:cNvPr id="52" name="Image 14" descr="preencoded.png"/>
          <p:cNvPicPr>
            <a:picLocks noChangeAspect="1"/>
          </p:cNvPicPr>
          <p:nvPr/>
        </p:nvPicPr>
        <p:blipFill>
          <a:blip r:embed="rId6"/>
          <a:stretch>
            <a:fillRect/>
          </a:stretch>
        </p:blipFill>
        <p:spPr>
          <a:xfrm>
            <a:off x="4828032" y="3474720"/>
            <a:ext cx="137160" cy="137160"/>
          </a:xfrm>
          <a:prstGeom prst="rect">
            <a:avLst/>
          </a:prstGeom>
        </p:spPr>
      </p:pic>
      <p:sp>
        <p:nvSpPr>
          <p:cNvPr id="53" name="Text 35"/>
          <p:cNvSpPr txBox="1"/>
          <p:nvPr/>
        </p:nvSpPr>
        <p:spPr>
          <a:xfrm>
            <a:off x="5038344" y="3447288"/>
            <a:ext cx="3511296" cy="29260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Citer des tests de fournisseurs comme preuve sur vos données</a:t>
            </a:r>
            <a:endParaRPr lang="en-US" sz="900" dirty="0"/>
          </a:p>
        </p:txBody>
      </p:sp>
      <p:sp>
        <p:nvSpPr>
          <p:cNvPr id="54" name="Shape 36"/>
          <p:cNvSpPr/>
          <p:nvPr/>
        </p:nvSpPr>
        <p:spPr>
          <a:xfrm>
            <a:off x="457200" y="4160520"/>
            <a:ext cx="8229600" cy="438912"/>
          </a:xfrm>
          <a:prstGeom prst="roundRect">
            <a:avLst>
              <a:gd name="adj" fmla="val 12500"/>
            </a:avLst>
          </a:prstGeom>
          <a:solidFill>
            <a:srgbClr val="E8F5EF"/>
          </a:solidFill>
          <a:ln w="15875">
            <a:solidFill>
              <a:srgbClr val="C4621D"/>
            </a:solidFill>
            <a:prstDash val="solid"/>
          </a:ln>
        </p:spPr>
      </p:sp>
      <p:sp>
        <p:nvSpPr>
          <p:cNvPr id="55" name="Shape 37"/>
          <p:cNvSpPr/>
          <p:nvPr/>
        </p:nvSpPr>
        <p:spPr>
          <a:xfrm>
            <a:off x="566928" y="4233672"/>
            <a:ext cx="292608" cy="292608"/>
          </a:xfrm>
          <a:prstGeom prst="ellipse">
            <a:avLst/>
          </a:prstGeom>
          <a:solidFill>
            <a:srgbClr val="C4621D">
              <a:alpha val="22000"/>
            </a:srgbClr>
          </a:solidFill>
          <a:ln/>
        </p:spPr>
      </p:sp>
      <p:pic>
        <p:nvPicPr>
          <p:cNvPr id="56" name="Image 15" descr="preencoded.png"/>
          <p:cNvPicPr>
            <a:picLocks noChangeAspect="1"/>
          </p:cNvPicPr>
          <p:nvPr/>
        </p:nvPicPr>
        <p:blipFill>
          <a:blip r:embed="rId7"/>
          <a:stretch>
            <a:fillRect/>
          </a:stretch>
        </p:blipFill>
        <p:spPr>
          <a:xfrm>
            <a:off x="637154" y="4303898"/>
            <a:ext cx="152156" cy="152156"/>
          </a:xfrm>
          <a:prstGeom prst="rect">
            <a:avLst/>
          </a:prstGeom>
        </p:spPr>
      </p:pic>
      <p:sp>
        <p:nvSpPr>
          <p:cNvPr id="57" name="Text 38"/>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La phrase la plus forte d'un dossier IA est une comparaison mesurée avec le processus actuel, sur vos propres données. Le reste n'est qu'affirmation.</a:t>
            </a:r>
            <a:endParaRPr lang="en-US" sz="1000" dirty="0"/>
          </a:p>
        </p:txBody>
      </p:sp>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97196"/>
            <a:ext cx="9144000" cy="146304"/>
          </a:xfrm>
          <a:prstGeom prst="rect">
            <a:avLst/>
          </a:prstGeom>
          <a:solidFill>
            <a:srgbClr val="F5C242"/>
          </a:solidFill>
          <a:ln/>
        </p:spPr>
      </p:sp>
      <p:sp>
        <p:nvSpPr>
          <p:cNvPr id="3" name="Text 1"/>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a:t>
            </a:r>
            <a:endParaRPr lang="en-US" sz="1050" dirty="0"/>
          </a:p>
        </p:txBody>
      </p:sp>
      <p:sp>
        <p:nvSpPr>
          <p:cNvPr id="4" name="Text 2"/>
          <p:cNvSpPr txBox="1"/>
          <p:nvPr/>
        </p:nvSpPr>
        <p:spPr>
          <a:xfrm>
            <a:off x="502920" y="731520"/>
            <a:ext cx="2743200" cy="1188720"/>
          </a:xfrm>
          <a:prstGeom prst="rect">
            <a:avLst/>
          </a:prstGeom>
          <a:noFill/>
          <a:ln/>
        </p:spPr>
        <p:txBody>
          <a:bodyPr wrap="square" lIns="0" tIns="0" rIns="0" bIns="0" rtlCol="0" anchor="t"/>
          <a:lstStyle/>
          <a:p>
            <a:pPr marL="0" indent="0">
              <a:buNone/>
            </a:pPr>
            <a:r>
              <a:rPr lang="en-US" sz="8800" b="1" dirty="0">
                <a:solidFill>
                  <a:srgbClr val="F5C242"/>
                </a:solidFill>
                <a:latin typeface="Calibri" pitchFamily="34" charset="0"/>
                <a:ea typeface="Calibri" pitchFamily="34" charset="-122"/>
                <a:cs typeface="Calibri" pitchFamily="34" charset="-120"/>
              </a:rPr>
              <a:t>06</a:t>
            </a:r>
            <a:endParaRPr lang="en-US" sz="8800" dirty="0"/>
          </a:p>
        </p:txBody>
      </p:sp>
      <p:sp>
        <p:nvSpPr>
          <p:cNvPr id="5" name="Text 3"/>
          <p:cNvSpPr txBox="1"/>
          <p:nvPr/>
        </p:nvSpPr>
        <p:spPr>
          <a:xfrm>
            <a:off x="548640" y="1874520"/>
            <a:ext cx="5394960" cy="54864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Calibri" pitchFamily="34" charset="0"/>
                <a:ea typeface="Calibri" pitchFamily="34" charset="-122"/>
                <a:cs typeface="Calibri" pitchFamily="34" charset="-120"/>
              </a:rPr>
              <a:t>Équipes &amp; feuille de route</a:t>
            </a:r>
            <a:endParaRPr lang="en-US" sz="3200" dirty="0"/>
          </a:p>
        </p:txBody>
      </p:sp>
      <p:sp>
        <p:nvSpPr>
          <p:cNvPr id="6" name="Text 4"/>
          <p:cNvSpPr txBox="1"/>
          <p:nvPr/>
        </p:nvSpPr>
        <p:spPr>
          <a:xfrm>
            <a:off x="548640" y="2514600"/>
            <a:ext cx="5029200" cy="548640"/>
          </a:xfrm>
          <a:prstGeom prst="rect">
            <a:avLst/>
          </a:prstGeom>
          <a:noFill/>
          <a:ln/>
        </p:spPr>
        <p:txBody>
          <a:bodyPr wrap="square" lIns="0" tIns="0" rIns="0" bIns="0" rtlCol="0" anchor="t"/>
          <a:lstStyle/>
          <a:p>
            <a:pPr marL="0" indent="0">
              <a:buNone/>
            </a:pPr>
            <a:r>
              <a:rPr lang="en-US" sz="1500" i="1" dirty="0">
                <a:solidFill>
                  <a:srgbClr val="E6F6EE"/>
                </a:solidFill>
                <a:latin typeface="Calibri" pitchFamily="34" charset="0"/>
                <a:ea typeface="Calibri" pitchFamily="34" charset="-122"/>
                <a:cs typeface="Calibri" pitchFamily="34" charset="-120"/>
              </a:rPr>
              <a:t>De qui avons-nous besoin — et dans quel ordre construire ?</a:t>
            </a:r>
            <a:endParaRPr lang="en-US" sz="1500" dirty="0"/>
          </a:p>
        </p:txBody>
      </p:sp>
      <p:sp>
        <p:nvSpPr>
          <p:cNvPr id="7" name="Text 5"/>
          <p:cNvSpPr txBox="1"/>
          <p:nvPr/>
        </p:nvSpPr>
        <p:spPr>
          <a:xfrm>
            <a:off x="548640" y="3291840"/>
            <a:ext cx="2743200" cy="182880"/>
          </a:xfrm>
          <a:prstGeom prst="rect">
            <a:avLst/>
          </a:prstGeom>
          <a:noFill/>
          <a:ln/>
        </p:spPr>
        <p:txBody>
          <a:bodyPr wrap="square" lIns="0" tIns="0" rIns="0" bIns="0" rtlCol="0" anchor="t"/>
          <a:lstStyle/>
          <a:p>
            <a:pPr marL="0" indent="0">
              <a:buNone/>
            </a:pPr>
            <a:r>
              <a:rPr lang="en-US" sz="900" b="1" kern="0" spc="200" dirty="0">
                <a:solidFill>
                  <a:srgbClr val="F5C242"/>
                </a:solidFill>
                <a:latin typeface="Calibri" pitchFamily="34" charset="0"/>
                <a:ea typeface="Calibri" pitchFamily="34" charset="-122"/>
                <a:cs typeface="Calibri" pitchFamily="34" charset="-120"/>
              </a:rPr>
              <a:t>DANS CETTE SECTION</a:t>
            </a:r>
            <a:endParaRPr lang="en-US" sz="900" dirty="0"/>
          </a:p>
        </p:txBody>
      </p:sp>
      <p:sp>
        <p:nvSpPr>
          <p:cNvPr id="8" name="Text 6"/>
          <p:cNvSpPr txBox="1"/>
          <p:nvPr/>
        </p:nvSpPr>
        <p:spPr>
          <a:xfrm>
            <a:off x="54864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L'équipe nécessaire</a:t>
            </a:r>
            <a:endParaRPr lang="en-US" sz="1000" dirty="0"/>
          </a:p>
        </p:txBody>
      </p:sp>
      <p:sp>
        <p:nvSpPr>
          <p:cNvPr id="9" name="Text 7"/>
          <p:cNvSpPr txBox="1"/>
          <p:nvPr/>
        </p:nvSpPr>
        <p:spPr>
          <a:xfrm>
            <a:off x="54864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La réalité du recrutement</a:t>
            </a:r>
            <a:endParaRPr lang="en-US" sz="1000" dirty="0"/>
          </a:p>
        </p:txBody>
      </p:sp>
      <p:sp>
        <p:nvSpPr>
          <p:cNvPr id="10" name="Text 8"/>
          <p:cNvSpPr txBox="1"/>
          <p:nvPr/>
        </p:nvSpPr>
        <p:spPr>
          <a:xfrm>
            <a:off x="54864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Ce que chacun doit apprendre</a:t>
            </a:r>
            <a:endParaRPr lang="en-US" sz="1000" dirty="0"/>
          </a:p>
        </p:txBody>
      </p:sp>
      <p:sp>
        <p:nvSpPr>
          <p:cNvPr id="11" name="Text 9"/>
          <p:cNvSpPr txBox="1"/>
          <p:nvPr/>
        </p:nvSpPr>
        <p:spPr>
          <a:xfrm>
            <a:off x="54864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Modèle de maturité</a:t>
            </a:r>
            <a:endParaRPr lang="en-US" sz="1000" dirty="0"/>
          </a:p>
        </p:txBody>
      </p:sp>
      <p:sp>
        <p:nvSpPr>
          <p:cNvPr id="12" name="Text 10"/>
          <p:cNvSpPr txBox="1"/>
          <p:nvPr/>
        </p:nvSpPr>
        <p:spPr>
          <a:xfrm>
            <a:off x="3154680" y="3529584"/>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Feuille de route sur 24 mois</a:t>
            </a:r>
            <a:endParaRPr lang="en-US" sz="1000" dirty="0"/>
          </a:p>
        </p:txBody>
      </p:sp>
      <p:sp>
        <p:nvSpPr>
          <p:cNvPr id="13" name="Text 11"/>
          <p:cNvSpPr txBox="1"/>
          <p:nvPr/>
        </p:nvSpPr>
        <p:spPr>
          <a:xfrm>
            <a:off x="3154680" y="3767328"/>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Erreurs classiques</a:t>
            </a:r>
            <a:endParaRPr lang="en-US" sz="1000" dirty="0"/>
          </a:p>
        </p:txBody>
      </p:sp>
      <p:sp>
        <p:nvSpPr>
          <p:cNvPr id="14" name="Text 12"/>
          <p:cNvSpPr txBox="1"/>
          <p:nvPr/>
        </p:nvSpPr>
        <p:spPr>
          <a:xfrm>
            <a:off x="3154680" y="4005072"/>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Liste de vérification</a:t>
            </a:r>
            <a:endParaRPr lang="en-US" sz="1000" dirty="0"/>
          </a:p>
        </p:txBody>
      </p:sp>
      <p:sp>
        <p:nvSpPr>
          <p:cNvPr id="15" name="Text 13"/>
          <p:cNvSpPr txBox="1"/>
          <p:nvPr/>
        </p:nvSpPr>
        <p:spPr>
          <a:xfrm>
            <a:off x="3154680" y="4242816"/>
            <a:ext cx="2560320" cy="219456"/>
          </a:xfrm>
          <a:prstGeom prst="rect">
            <a:avLst/>
          </a:prstGeom>
          <a:noFill/>
          <a:ln/>
        </p:spPr>
        <p:txBody>
          <a:bodyPr wrap="square" lIns="0" tIns="0" rIns="0" bIns="0" rtlCol="0" anchor="t"/>
          <a:lstStyle/>
          <a:p>
            <a:pPr marL="0" indent="0">
              <a:buNone/>
            </a:pPr>
            <a:r>
              <a:rPr lang="en-US" sz="1000" dirty="0">
                <a:solidFill>
                  <a:srgbClr val="FFFFFF"/>
                </a:solidFill>
                <a:latin typeface="Calibri" pitchFamily="34" charset="0"/>
                <a:ea typeface="Calibri" pitchFamily="34" charset="-122"/>
                <a:cs typeface="Calibri" pitchFamily="34" charset="-120"/>
              </a:rPr>
              <a:t>›  Dix messages clés</a:t>
            </a:r>
            <a:endParaRPr lang="en-US" sz="1000" dirty="0"/>
          </a:p>
        </p:txBody>
      </p:sp>
      <p:sp>
        <p:nvSpPr>
          <p:cNvPr id="16" name="Shape 14"/>
          <p:cNvSpPr/>
          <p:nvPr/>
        </p:nvSpPr>
        <p:spPr>
          <a:xfrm>
            <a:off x="5989320" y="960120"/>
            <a:ext cx="2651760" cy="2651760"/>
          </a:xfrm>
          <a:prstGeom prst="ellipse">
            <a:avLst/>
          </a:prstGeom>
          <a:solidFill>
            <a:srgbClr val="FFFFFF">
              <a:alpha val="10000"/>
            </a:srgbClr>
          </a:solidFill>
          <a:ln w="12700">
            <a:solidFill>
              <a:srgbClr val="FFFFFF">
                <a:alpha val="40000"/>
              </a:srgbClr>
            </a:solidFill>
            <a:prstDash val="solid"/>
          </a:ln>
        </p:spPr>
      </p:sp>
      <p:sp>
        <p:nvSpPr>
          <p:cNvPr id="17" name="Shape 15"/>
          <p:cNvSpPr/>
          <p:nvPr/>
        </p:nvSpPr>
        <p:spPr>
          <a:xfrm>
            <a:off x="6355080" y="1325880"/>
            <a:ext cx="1920240" cy="1920240"/>
          </a:xfrm>
          <a:prstGeom prst="ellipse">
            <a:avLst/>
          </a:prstGeom>
          <a:solidFill>
            <a:srgbClr val="FFFFFF">
              <a:alpha val="18000"/>
            </a:srgbClr>
          </a:solidFill>
          <a:ln/>
        </p:spPr>
      </p:sp>
      <p:sp>
        <p:nvSpPr>
          <p:cNvPr id="18" name="Shape 16"/>
          <p:cNvSpPr/>
          <p:nvPr/>
        </p:nvSpPr>
        <p:spPr>
          <a:xfrm>
            <a:off x="6720840" y="1691640"/>
            <a:ext cx="1188720" cy="1188720"/>
          </a:xfrm>
          <a:prstGeom prst="ellipse">
            <a:avLst/>
          </a:prstGeom>
          <a:solidFill>
            <a:srgbClr val="FFFFFF"/>
          </a:solidFill>
          <a:ln/>
        </p:spPr>
      </p:sp>
      <p:pic>
        <p:nvPicPr>
          <p:cNvPr id="19" name="Image 0" descr="preencoded.png"/>
          <p:cNvPicPr>
            <a:picLocks noChangeAspect="1"/>
          </p:cNvPicPr>
          <p:nvPr/>
        </p:nvPicPr>
        <p:blipFill>
          <a:blip r:embed="rId4"/>
          <a:stretch>
            <a:fillRect/>
          </a:stretch>
        </p:blipFill>
        <p:spPr>
          <a:xfrm>
            <a:off x="6995160" y="1965960"/>
            <a:ext cx="640080" cy="640080"/>
          </a:xfrm>
          <a:prstGeom prst="rect">
            <a:avLst/>
          </a:prstGeom>
        </p:spPr>
      </p:pic>
      <p:sp>
        <p:nvSpPr>
          <p:cNvPr id="20" name="Shape 17"/>
          <p:cNvSpPr/>
          <p:nvPr/>
        </p:nvSpPr>
        <p:spPr>
          <a:xfrm>
            <a:off x="6510528" y="4014216"/>
            <a:ext cx="109728" cy="109728"/>
          </a:xfrm>
          <a:prstGeom prst="ellipse">
            <a:avLst/>
          </a:prstGeom>
          <a:solidFill>
            <a:srgbClr val="FFFFFF">
              <a:alpha val="40000"/>
            </a:srgbClr>
          </a:solidFill>
          <a:ln/>
        </p:spPr>
      </p:sp>
      <p:sp>
        <p:nvSpPr>
          <p:cNvPr id="21" name="Shape 18"/>
          <p:cNvSpPr/>
          <p:nvPr/>
        </p:nvSpPr>
        <p:spPr>
          <a:xfrm>
            <a:off x="6784848" y="4014216"/>
            <a:ext cx="109728" cy="109728"/>
          </a:xfrm>
          <a:prstGeom prst="ellipse">
            <a:avLst/>
          </a:prstGeom>
          <a:solidFill>
            <a:srgbClr val="FFFFFF">
              <a:alpha val="40000"/>
            </a:srgbClr>
          </a:solidFill>
          <a:ln/>
        </p:spPr>
      </p:sp>
      <p:sp>
        <p:nvSpPr>
          <p:cNvPr id="22" name="Shape 19"/>
          <p:cNvSpPr/>
          <p:nvPr/>
        </p:nvSpPr>
        <p:spPr>
          <a:xfrm>
            <a:off x="7059168" y="4014216"/>
            <a:ext cx="109728" cy="109728"/>
          </a:xfrm>
          <a:prstGeom prst="ellipse">
            <a:avLst/>
          </a:prstGeom>
          <a:solidFill>
            <a:srgbClr val="FFFFFF">
              <a:alpha val="40000"/>
            </a:srgbClr>
          </a:solidFill>
          <a:ln/>
        </p:spPr>
      </p:sp>
      <p:sp>
        <p:nvSpPr>
          <p:cNvPr id="23" name="Shape 20"/>
          <p:cNvSpPr/>
          <p:nvPr/>
        </p:nvSpPr>
        <p:spPr>
          <a:xfrm>
            <a:off x="7333488" y="4014216"/>
            <a:ext cx="109728" cy="109728"/>
          </a:xfrm>
          <a:prstGeom prst="ellipse">
            <a:avLst/>
          </a:prstGeom>
          <a:solidFill>
            <a:srgbClr val="FFFFFF">
              <a:alpha val="40000"/>
            </a:srgbClr>
          </a:solidFill>
          <a:ln/>
        </p:spPr>
      </p:sp>
      <p:sp>
        <p:nvSpPr>
          <p:cNvPr id="24" name="Shape 21"/>
          <p:cNvSpPr/>
          <p:nvPr/>
        </p:nvSpPr>
        <p:spPr>
          <a:xfrm>
            <a:off x="7607808" y="4014216"/>
            <a:ext cx="109728" cy="109728"/>
          </a:xfrm>
          <a:prstGeom prst="ellipse">
            <a:avLst/>
          </a:prstGeom>
          <a:solidFill>
            <a:srgbClr val="FFFFFF">
              <a:alpha val="40000"/>
            </a:srgbClr>
          </a:solidFill>
          <a:ln/>
        </p:spPr>
      </p:sp>
      <p:sp>
        <p:nvSpPr>
          <p:cNvPr id="25" name="Shape 22"/>
          <p:cNvSpPr/>
          <p:nvPr/>
        </p:nvSpPr>
        <p:spPr>
          <a:xfrm>
            <a:off x="7863840" y="3995928"/>
            <a:ext cx="146304" cy="146304"/>
          </a:xfrm>
          <a:prstGeom prst="ellipse">
            <a:avLst/>
          </a:prstGeom>
          <a:solidFill>
            <a:srgbClr val="F5C242"/>
          </a:solidFill>
          <a:ln/>
        </p:spPr>
      </p:sp>
      <p:sp>
        <p:nvSpPr>
          <p:cNvPr id="26" name="Text 23"/>
          <p:cNvSpPr txBox="1"/>
          <p:nvPr/>
        </p:nvSpPr>
        <p:spPr>
          <a:xfrm>
            <a:off x="7772400" y="4709160"/>
            <a:ext cx="914400" cy="182880"/>
          </a:xfrm>
          <a:prstGeom prst="rect">
            <a:avLst/>
          </a:prstGeom>
          <a:noFill/>
          <a:ln/>
        </p:spPr>
        <p:txBody>
          <a:bodyPr wrap="square" lIns="0" tIns="0" rIns="0" bIns="0" rtlCol="0" anchor="t"/>
          <a:lstStyle/>
          <a:p>
            <a:pPr marL="0" indent="0" algn="r">
              <a:buNone/>
            </a:pPr>
            <a:r>
              <a:rPr lang="en-US" sz="850" dirty="0">
                <a:solidFill>
                  <a:srgbClr val="E6F6EE"/>
                </a:solidFill>
                <a:latin typeface="Calibri" pitchFamily="34" charset="0"/>
                <a:ea typeface="Calibri" pitchFamily="34" charset="-122"/>
                <a:cs typeface="Calibri" pitchFamily="34" charset="-120"/>
              </a:rPr>
              <a:t>54</a:t>
            </a:r>
            <a:endParaRPr lang="en-US" sz="850" dirty="0"/>
          </a:p>
        </p:txBody>
      </p:sp>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RÔLES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L'équipe dont vous avez réellement besoin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Indicatif pour un institut moyen avec deux ou trois usages en production. Le message : la rareté, pas l'effectif</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55</a:t>
            </a:r>
            <a:endParaRPr lang="en-US" sz="850" dirty="0"/>
          </a:p>
        </p:txBody>
      </p:sp>
      <p:sp>
        <p:nvSpPr>
          <p:cNvPr id="18" name="Text 15"/>
          <p:cNvSpPr txBox="1"/>
          <p:nvPr/>
        </p:nvSpPr>
        <p:spPr>
          <a:xfrm>
            <a:off x="548640" y="1298448"/>
            <a:ext cx="24231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RÔLE</a:t>
            </a:r>
            <a:endParaRPr lang="en-US" sz="900" dirty="0"/>
          </a:p>
        </p:txBody>
      </p:sp>
      <p:sp>
        <p:nvSpPr>
          <p:cNvPr id="19" name="Text 16"/>
          <p:cNvSpPr txBox="1"/>
          <p:nvPr/>
        </p:nvSpPr>
        <p:spPr>
          <a:xfrm>
            <a:off x="3154680" y="1298448"/>
            <a:ext cx="45720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ETP</a:t>
            </a:r>
            <a:endParaRPr lang="en-US" sz="900" dirty="0"/>
          </a:p>
        </p:txBody>
      </p:sp>
      <p:sp>
        <p:nvSpPr>
          <p:cNvPr id="20" name="Text 17"/>
          <p:cNvSpPr txBox="1"/>
          <p:nvPr/>
        </p:nvSpPr>
        <p:spPr>
          <a:xfrm>
            <a:off x="3794760" y="1298448"/>
            <a:ext cx="3337560" cy="237744"/>
          </a:xfrm>
          <a:prstGeom prst="rect">
            <a:avLst/>
          </a:prstGeom>
          <a:noFill/>
          <a:ln/>
        </p:spPr>
        <p:txBody>
          <a:bodyPr wrap="square" lIns="0" tIns="0" rIns="0" bIns="0" rtlCol="0" anchor="ctr"/>
          <a:lstStyle/>
          <a:p>
            <a:pPr marL="0" indent="0" algn="l">
              <a:buNone/>
            </a:pPr>
            <a:r>
              <a:rPr lang="en-US" sz="900" b="1" kern="0" spc="150" dirty="0">
                <a:solidFill>
                  <a:srgbClr val="00704A"/>
                </a:solidFill>
                <a:latin typeface="Calibri" pitchFamily="34" charset="0"/>
                <a:ea typeface="Calibri" pitchFamily="34" charset="-122"/>
                <a:cs typeface="Calibri" pitchFamily="34" charset="-120"/>
              </a:rPr>
              <a:t>CE DONT IL EST RESPONSABLE</a:t>
            </a:r>
            <a:endParaRPr lang="en-US" sz="900" dirty="0"/>
          </a:p>
        </p:txBody>
      </p:sp>
      <p:sp>
        <p:nvSpPr>
          <p:cNvPr id="21" name="Text 18"/>
          <p:cNvSpPr txBox="1"/>
          <p:nvPr/>
        </p:nvSpPr>
        <p:spPr>
          <a:xfrm>
            <a:off x="7315200" y="1298448"/>
            <a:ext cx="1280160" cy="237744"/>
          </a:xfrm>
          <a:prstGeom prst="rect">
            <a:avLst/>
          </a:prstGeom>
          <a:noFill/>
          <a:ln/>
        </p:spPr>
        <p:txBody>
          <a:bodyPr wrap="square" lIns="0" tIns="0" rIns="0" bIns="0" rtlCol="0" anchor="ctr"/>
          <a:lstStyle/>
          <a:p>
            <a:pPr marL="0" indent="0" algn="ctr">
              <a:buNone/>
            </a:pPr>
            <a:r>
              <a:rPr lang="en-US" sz="900" b="1" kern="0" spc="150" dirty="0">
                <a:solidFill>
                  <a:srgbClr val="00704A"/>
                </a:solidFill>
                <a:latin typeface="Calibri" pitchFamily="34" charset="0"/>
                <a:ea typeface="Calibri" pitchFamily="34" charset="-122"/>
                <a:cs typeface="Calibri" pitchFamily="34" charset="-120"/>
              </a:rPr>
              <a:t>MARCHÉ</a:t>
            </a:r>
            <a:endParaRPr lang="en-US" sz="900" dirty="0"/>
          </a:p>
        </p:txBody>
      </p:sp>
      <p:sp>
        <p:nvSpPr>
          <p:cNvPr id="22" name="Shape 19"/>
          <p:cNvSpPr/>
          <p:nvPr/>
        </p:nvSpPr>
        <p:spPr>
          <a:xfrm>
            <a:off x="457200" y="1572768"/>
            <a:ext cx="8229600" cy="274320"/>
          </a:xfrm>
          <a:prstGeom prst="roundRect">
            <a:avLst>
              <a:gd name="adj" fmla="val 16667"/>
            </a:avLst>
          </a:prstGeom>
          <a:solidFill>
            <a:srgbClr val="F4F7F5"/>
          </a:solidFill>
          <a:ln w="9525">
            <a:solidFill>
              <a:srgbClr val="D5DED9"/>
            </a:solidFill>
            <a:prstDash val="solid"/>
          </a:ln>
        </p:spPr>
      </p:sp>
      <p:sp>
        <p:nvSpPr>
          <p:cNvPr id="23" name="Shape 20"/>
          <p:cNvSpPr/>
          <p:nvPr/>
        </p:nvSpPr>
        <p:spPr>
          <a:xfrm>
            <a:off x="548640" y="1572768"/>
            <a:ext cx="274320" cy="274320"/>
          </a:xfrm>
          <a:prstGeom prst="ellipse">
            <a:avLst/>
          </a:prstGeom>
          <a:solidFill>
            <a:srgbClr val="B83B2E">
              <a:alpha val="22000"/>
            </a:srgbClr>
          </a:solidFill>
          <a:ln/>
        </p:spPr>
      </p:sp>
      <p:pic>
        <p:nvPicPr>
          <p:cNvPr id="24" name="Image 0" descr="preencoded.png"/>
          <p:cNvPicPr>
            <a:picLocks noChangeAspect="1"/>
          </p:cNvPicPr>
          <p:nvPr/>
        </p:nvPicPr>
        <p:blipFill>
          <a:blip r:embed="rId3"/>
          <a:stretch>
            <a:fillRect/>
          </a:stretch>
        </p:blipFill>
        <p:spPr>
          <a:xfrm>
            <a:off x="614477" y="1638605"/>
            <a:ext cx="142646" cy="142646"/>
          </a:xfrm>
          <a:prstGeom prst="rect">
            <a:avLst/>
          </a:prstGeom>
        </p:spPr>
      </p:pic>
      <p:sp>
        <p:nvSpPr>
          <p:cNvPr id="25" name="Text 21"/>
          <p:cNvSpPr txBox="1"/>
          <p:nvPr/>
        </p:nvSpPr>
        <p:spPr>
          <a:xfrm>
            <a:off x="896112" y="1572768"/>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Responsable de l'usage</a:t>
            </a:r>
            <a:endParaRPr lang="en-US" sz="850" dirty="0"/>
          </a:p>
        </p:txBody>
      </p:sp>
      <p:sp>
        <p:nvSpPr>
          <p:cNvPr id="26" name="Text 22"/>
          <p:cNvSpPr txBox="1"/>
          <p:nvPr/>
        </p:nvSpPr>
        <p:spPr>
          <a:xfrm>
            <a:off x="3154680" y="1572768"/>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0,5–1</a:t>
            </a:r>
            <a:endParaRPr lang="en-US" sz="850" dirty="0"/>
          </a:p>
        </p:txBody>
      </p:sp>
      <p:sp>
        <p:nvSpPr>
          <p:cNvPr id="27" name="Text 23"/>
          <p:cNvSpPr txBox="1"/>
          <p:nvPr/>
        </p:nvSpPr>
        <p:spPr>
          <a:xfrm>
            <a:off x="3794760" y="1572768"/>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Le problème statistique, les critères de succès, la décision de poursuivre</a:t>
            </a:r>
            <a:endParaRPr lang="en-US" sz="850" dirty="0"/>
          </a:p>
        </p:txBody>
      </p:sp>
      <p:sp>
        <p:nvSpPr>
          <p:cNvPr id="28" name="Shape 24"/>
          <p:cNvSpPr/>
          <p:nvPr/>
        </p:nvSpPr>
        <p:spPr>
          <a:xfrm>
            <a:off x="7315200" y="1600200"/>
            <a:ext cx="1280160" cy="219456"/>
          </a:xfrm>
          <a:prstGeom prst="roundRect">
            <a:avLst>
              <a:gd name="adj" fmla="val 50000"/>
            </a:avLst>
          </a:prstGeom>
          <a:solidFill>
            <a:srgbClr val="0E7C86">
              <a:alpha val="15000"/>
            </a:srgbClr>
          </a:solidFill>
          <a:ln w="9525">
            <a:solidFill>
              <a:srgbClr val="0E7C86"/>
            </a:solidFill>
            <a:prstDash val="solid"/>
          </a:ln>
        </p:spPr>
      </p:sp>
      <p:sp>
        <p:nvSpPr>
          <p:cNvPr id="29" name="Text 25"/>
          <p:cNvSpPr txBox="1"/>
          <p:nvPr/>
        </p:nvSpPr>
        <p:spPr>
          <a:xfrm>
            <a:off x="7315200" y="1600200"/>
            <a:ext cx="12801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Personnel existant</a:t>
            </a:r>
            <a:endParaRPr lang="en-US" sz="850" dirty="0"/>
          </a:p>
        </p:txBody>
      </p:sp>
      <p:sp>
        <p:nvSpPr>
          <p:cNvPr id="30" name="Shape 26"/>
          <p:cNvSpPr/>
          <p:nvPr/>
        </p:nvSpPr>
        <p:spPr>
          <a:xfrm>
            <a:off x="457200" y="1883664"/>
            <a:ext cx="8229600" cy="274320"/>
          </a:xfrm>
          <a:prstGeom prst="roundRect">
            <a:avLst>
              <a:gd name="adj" fmla="val 16667"/>
            </a:avLst>
          </a:prstGeom>
          <a:solidFill>
            <a:srgbClr val="F4F7F5"/>
          </a:solidFill>
          <a:ln w="9525">
            <a:solidFill>
              <a:srgbClr val="D5DED9"/>
            </a:solidFill>
            <a:prstDash val="solid"/>
          </a:ln>
        </p:spPr>
      </p:sp>
      <p:sp>
        <p:nvSpPr>
          <p:cNvPr id="31" name="Shape 27"/>
          <p:cNvSpPr/>
          <p:nvPr/>
        </p:nvSpPr>
        <p:spPr>
          <a:xfrm>
            <a:off x="548640" y="1883664"/>
            <a:ext cx="274320" cy="274320"/>
          </a:xfrm>
          <a:prstGeom prst="ellipse">
            <a:avLst/>
          </a:prstGeom>
          <a:solidFill>
            <a:srgbClr val="B83B2E">
              <a:alpha val="22000"/>
            </a:srgbClr>
          </a:solidFill>
          <a:ln/>
        </p:spPr>
      </p:sp>
      <p:pic>
        <p:nvPicPr>
          <p:cNvPr id="32" name="Image 1" descr="preencoded.png"/>
          <p:cNvPicPr>
            <a:picLocks noChangeAspect="1"/>
          </p:cNvPicPr>
          <p:nvPr/>
        </p:nvPicPr>
        <p:blipFill>
          <a:blip r:embed="rId4"/>
          <a:stretch>
            <a:fillRect/>
          </a:stretch>
        </p:blipFill>
        <p:spPr>
          <a:xfrm>
            <a:off x="614477" y="1949501"/>
            <a:ext cx="142646" cy="142646"/>
          </a:xfrm>
          <a:prstGeom prst="rect">
            <a:avLst/>
          </a:prstGeom>
        </p:spPr>
      </p:pic>
      <p:sp>
        <p:nvSpPr>
          <p:cNvPr id="33" name="Text 28"/>
          <p:cNvSpPr txBox="1"/>
          <p:nvPr/>
        </p:nvSpPr>
        <p:spPr>
          <a:xfrm>
            <a:off x="896112" y="1883664"/>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Méthodologue formé à l'IA</a:t>
            </a:r>
            <a:endParaRPr lang="en-US" sz="850" dirty="0"/>
          </a:p>
        </p:txBody>
      </p:sp>
      <p:sp>
        <p:nvSpPr>
          <p:cNvPr id="34" name="Text 29"/>
          <p:cNvSpPr txBox="1"/>
          <p:nvPr/>
        </p:nvSpPr>
        <p:spPr>
          <a:xfrm>
            <a:off x="3154680" y="1883664"/>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1–2</a:t>
            </a:r>
            <a:endParaRPr lang="en-US" sz="850" dirty="0"/>
          </a:p>
        </p:txBody>
      </p:sp>
      <p:sp>
        <p:nvSpPr>
          <p:cNvPr id="35" name="Text 30"/>
          <p:cNvSpPr txBox="1"/>
          <p:nvPr/>
        </p:nvSpPr>
        <p:spPr>
          <a:xfrm>
            <a:off x="3794760" y="1883664"/>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Plan d'évaluation, référence humaine, solidité des résultats</a:t>
            </a:r>
            <a:endParaRPr lang="en-US" sz="850" dirty="0"/>
          </a:p>
        </p:txBody>
      </p:sp>
      <p:sp>
        <p:nvSpPr>
          <p:cNvPr id="36" name="Shape 31"/>
          <p:cNvSpPr/>
          <p:nvPr/>
        </p:nvSpPr>
        <p:spPr>
          <a:xfrm>
            <a:off x="7315200" y="1911096"/>
            <a:ext cx="1280160" cy="219456"/>
          </a:xfrm>
          <a:prstGeom prst="roundRect">
            <a:avLst>
              <a:gd name="adj" fmla="val 50000"/>
            </a:avLst>
          </a:prstGeom>
          <a:solidFill>
            <a:srgbClr val="00A86A">
              <a:alpha val="15000"/>
            </a:srgbClr>
          </a:solidFill>
          <a:ln w="9525">
            <a:solidFill>
              <a:srgbClr val="00A86A"/>
            </a:solidFill>
            <a:prstDash val="solid"/>
          </a:ln>
        </p:spPr>
      </p:sp>
      <p:sp>
        <p:nvSpPr>
          <p:cNvPr id="37" name="Text 32"/>
          <p:cNvSpPr txBox="1"/>
          <p:nvPr/>
        </p:nvSpPr>
        <p:spPr>
          <a:xfrm>
            <a:off x="7315200" y="1911096"/>
            <a:ext cx="12801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À former en interne</a:t>
            </a:r>
            <a:endParaRPr lang="en-US" sz="850" dirty="0"/>
          </a:p>
        </p:txBody>
      </p:sp>
      <p:sp>
        <p:nvSpPr>
          <p:cNvPr id="38" name="Shape 33"/>
          <p:cNvSpPr/>
          <p:nvPr/>
        </p:nvSpPr>
        <p:spPr>
          <a:xfrm>
            <a:off x="457200" y="2194560"/>
            <a:ext cx="8229600" cy="274320"/>
          </a:xfrm>
          <a:prstGeom prst="roundRect">
            <a:avLst>
              <a:gd name="adj" fmla="val 16667"/>
            </a:avLst>
          </a:prstGeom>
          <a:solidFill>
            <a:srgbClr val="F4F7F5"/>
          </a:solidFill>
          <a:ln w="9525">
            <a:solidFill>
              <a:srgbClr val="D5DED9"/>
            </a:solidFill>
            <a:prstDash val="solid"/>
          </a:ln>
        </p:spPr>
      </p:sp>
      <p:sp>
        <p:nvSpPr>
          <p:cNvPr id="39" name="Shape 34"/>
          <p:cNvSpPr/>
          <p:nvPr/>
        </p:nvSpPr>
        <p:spPr>
          <a:xfrm>
            <a:off x="548640" y="2194560"/>
            <a:ext cx="274320" cy="274320"/>
          </a:xfrm>
          <a:prstGeom prst="ellipse">
            <a:avLst/>
          </a:prstGeom>
          <a:solidFill>
            <a:srgbClr val="B83B2E">
              <a:alpha val="22000"/>
            </a:srgbClr>
          </a:solidFill>
          <a:ln/>
        </p:spPr>
      </p:sp>
      <p:pic>
        <p:nvPicPr>
          <p:cNvPr id="40" name="Image 2" descr="preencoded.png"/>
          <p:cNvPicPr>
            <a:picLocks noChangeAspect="1"/>
          </p:cNvPicPr>
          <p:nvPr/>
        </p:nvPicPr>
        <p:blipFill>
          <a:blip r:embed="rId5"/>
          <a:stretch>
            <a:fillRect/>
          </a:stretch>
        </p:blipFill>
        <p:spPr>
          <a:xfrm>
            <a:off x="614477" y="2260397"/>
            <a:ext cx="142646" cy="142646"/>
          </a:xfrm>
          <a:prstGeom prst="rect">
            <a:avLst/>
          </a:prstGeom>
        </p:spPr>
      </p:pic>
      <p:sp>
        <p:nvSpPr>
          <p:cNvPr id="41" name="Text 35"/>
          <p:cNvSpPr txBox="1"/>
          <p:nvPr/>
        </p:nvSpPr>
        <p:spPr>
          <a:xfrm>
            <a:off x="896112" y="2194560"/>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Ingénieur de données</a:t>
            </a:r>
            <a:endParaRPr lang="en-US" sz="850" dirty="0"/>
          </a:p>
        </p:txBody>
      </p:sp>
      <p:sp>
        <p:nvSpPr>
          <p:cNvPr id="42" name="Text 36"/>
          <p:cNvSpPr txBox="1"/>
          <p:nvPr/>
        </p:nvSpPr>
        <p:spPr>
          <a:xfrm>
            <a:off x="3154680" y="2194560"/>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1–2</a:t>
            </a:r>
            <a:endParaRPr lang="en-US" sz="850" dirty="0"/>
          </a:p>
        </p:txBody>
      </p:sp>
      <p:sp>
        <p:nvSpPr>
          <p:cNvPr id="43" name="Text 37"/>
          <p:cNvSpPr txBox="1"/>
          <p:nvPr/>
        </p:nvSpPr>
        <p:spPr>
          <a:xfrm>
            <a:off x="3794760" y="2194560"/>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Chaînes de traitement, plateforme, instantanés, traçabilité, qualité</a:t>
            </a:r>
            <a:endParaRPr lang="en-US" sz="850" dirty="0"/>
          </a:p>
        </p:txBody>
      </p:sp>
      <p:sp>
        <p:nvSpPr>
          <p:cNvPr id="44" name="Shape 38"/>
          <p:cNvSpPr/>
          <p:nvPr/>
        </p:nvSpPr>
        <p:spPr>
          <a:xfrm>
            <a:off x="7315200" y="2221992"/>
            <a:ext cx="1280160" cy="219456"/>
          </a:xfrm>
          <a:prstGeom prst="roundRect">
            <a:avLst>
              <a:gd name="adj" fmla="val 50000"/>
            </a:avLst>
          </a:prstGeom>
          <a:solidFill>
            <a:srgbClr val="B83B2E">
              <a:alpha val="15000"/>
            </a:srgbClr>
          </a:solidFill>
          <a:ln w="9525">
            <a:solidFill>
              <a:srgbClr val="B83B2E"/>
            </a:solidFill>
            <a:prstDash val="solid"/>
          </a:ln>
        </p:spPr>
      </p:sp>
      <p:sp>
        <p:nvSpPr>
          <p:cNvPr id="45" name="Text 39"/>
          <p:cNvSpPr txBox="1"/>
          <p:nvPr/>
        </p:nvSpPr>
        <p:spPr>
          <a:xfrm>
            <a:off x="7315200" y="2221992"/>
            <a:ext cx="12801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Très rare</a:t>
            </a:r>
            <a:endParaRPr lang="en-US" sz="850" dirty="0"/>
          </a:p>
        </p:txBody>
      </p:sp>
      <p:sp>
        <p:nvSpPr>
          <p:cNvPr id="46" name="Shape 40"/>
          <p:cNvSpPr/>
          <p:nvPr/>
        </p:nvSpPr>
        <p:spPr>
          <a:xfrm>
            <a:off x="457200" y="2505456"/>
            <a:ext cx="8229600" cy="274320"/>
          </a:xfrm>
          <a:prstGeom prst="roundRect">
            <a:avLst>
              <a:gd name="adj" fmla="val 16667"/>
            </a:avLst>
          </a:prstGeom>
          <a:solidFill>
            <a:srgbClr val="F4F7F5"/>
          </a:solidFill>
          <a:ln w="9525">
            <a:solidFill>
              <a:srgbClr val="D5DED9"/>
            </a:solidFill>
            <a:prstDash val="solid"/>
          </a:ln>
        </p:spPr>
      </p:sp>
      <p:sp>
        <p:nvSpPr>
          <p:cNvPr id="47" name="Shape 41"/>
          <p:cNvSpPr/>
          <p:nvPr/>
        </p:nvSpPr>
        <p:spPr>
          <a:xfrm>
            <a:off x="548640" y="2505456"/>
            <a:ext cx="274320" cy="274320"/>
          </a:xfrm>
          <a:prstGeom prst="ellipse">
            <a:avLst/>
          </a:prstGeom>
          <a:solidFill>
            <a:srgbClr val="B83B2E">
              <a:alpha val="22000"/>
            </a:srgbClr>
          </a:solidFill>
          <a:ln/>
        </p:spPr>
      </p:sp>
      <p:pic>
        <p:nvPicPr>
          <p:cNvPr id="48" name="Image 3" descr="preencoded.png"/>
          <p:cNvPicPr>
            <a:picLocks noChangeAspect="1"/>
          </p:cNvPicPr>
          <p:nvPr/>
        </p:nvPicPr>
        <p:blipFill>
          <a:blip r:embed="rId6"/>
          <a:stretch>
            <a:fillRect/>
          </a:stretch>
        </p:blipFill>
        <p:spPr>
          <a:xfrm>
            <a:off x="614477" y="2571293"/>
            <a:ext cx="142646" cy="142646"/>
          </a:xfrm>
          <a:prstGeom prst="rect">
            <a:avLst/>
          </a:prstGeom>
        </p:spPr>
      </p:pic>
      <p:sp>
        <p:nvSpPr>
          <p:cNvPr id="49" name="Text 42"/>
          <p:cNvSpPr txBox="1"/>
          <p:nvPr/>
        </p:nvSpPr>
        <p:spPr>
          <a:xfrm>
            <a:off x="896112" y="2505456"/>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Ingénieur IA / data scientist</a:t>
            </a:r>
            <a:endParaRPr lang="en-US" sz="850" dirty="0"/>
          </a:p>
        </p:txBody>
      </p:sp>
      <p:sp>
        <p:nvSpPr>
          <p:cNvPr id="50" name="Text 43"/>
          <p:cNvSpPr txBox="1"/>
          <p:nvPr/>
        </p:nvSpPr>
        <p:spPr>
          <a:xfrm>
            <a:off x="3154680" y="2505456"/>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1–2</a:t>
            </a:r>
            <a:endParaRPr lang="en-US" sz="850" dirty="0"/>
          </a:p>
        </p:txBody>
      </p:sp>
      <p:sp>
        <p:nvSpPr>
          <p:cNvPr id="51" name="Text 44"/>
          <p:cNvSpPr txBox="1"/>
          <p:nvPr/>
        </p:nvSpPr>
        <p:spPr>
          <a:xfrm>
            <a:off x="3794760" y="2505456"/>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Modélisation, affinage, conception du RAG, banc d'évaluation</a:t>
            </a:r>
            <a:endParaRPr lang="en-US" sz="850" dirty="0"/>
          </a:p>
        </p:txBody>
      </p:sp>
      <p:sp>
        <p:nvSpPr>
          <p:cNvPr id="52" name="Shape 45"/>
          <p:cNvSpPr/>
          <p:nvPr/>
        </p:nvSpPr>
        <p:spPr>
          <a:xfrm>
            <a:off x="7315200" y="2532888"/>
            <a:ext cx="1280160" cy="219456"/>
          </a:xfrm>
          <a:prstGeom prst="roundRect">
            <a:avLst>
              <a:gd name="adj" fmla="val 50000"/>
            </a:avLst>
          </a:prstGeom>
          <a:solidFill>
            <a:srgbClr val="D49A00">
              <a:alpha val="15000"/>
            </a:srgbClr>
          </a:solidFill>
          <a:ln w="9525">
            <a:solidFill>
              <a:srgbClr val="D49A00"/>
            </a:solidFill>
            <a:prstDash val="solid"/>
          </a:ln>
        </p:spPr>
      </p:sp>
      <p:sp>
        <p:nvSpPr>
          <p:cNvPr id="53" name="Text 46"/>
          <p:cNvSpPr txBox="1"/>
          <p:nvPr/>
        </p:nvSpPr>
        <p:spPr>
          <a:xfrm>
            <a:off x="7315200" y="2532888"/>
            <a:ext cx="1280160" cy="219456"/>
          </a:xfrm>
          <a:prstGeom prst="rect">
            <a:avLst/>
          </a:prstGeom>
          <a:noFill/>
          <a:ln/>
        </p:spPr>
        <p:txBody>
          <a:bodyPr wrap="square" lIns="0" tIns="0" rIns="0" bIns="0" rtlCol="0" anchor="ctr"/>
          <a:lstStyle/>
          <a:p>
            <a:pPr marL="0" indent="0" algn="ctr">
              <a:buNone/>
            </a:pPr>
            <a:r>
              <a:rPr lang="en-US" sz="850" b="1" kern="0" spc="50" dirty="0">
                <a:solidFill>
                  <a:srgbClr val="D49A00"/>
                </a:solidFill>
                <a:latin typeface="Calibri" pitchFamily="34" charset="0"/>
                <a:ea typeface="Calibri" pitchFamily="34" charset="-122"/>
                <a:cs typeface="Calibri" pitchFamily="34" charset="-120"/>
              </a:rPr>
              <a:t>Concurrentiel</a:t>
            </a:r>
            <a:endParaRPr lang="en-US" sz="850" dirty="0"/>
          </a:p>
        </p:txBody>
      </p:sp>
      <p:sp>
        <p:nvSpPr>
          <p:cNvPr id="54" name="Shape 47"/>
          <p:cNvSpPr/>
          <p:nvPr/>
        </p:nvSpPr>
        <p:spPr>
          <a:xfrm>
            <a:off x="457200" y="2816352"/>
            <a:ext cx="8229600" cy="274320"/>
          </a:xfrm>
          <a:prstGeom prst="roundRect">
            <a:avLst>
              <a:gd name="adj" fmla="val 16667"/>
            </a:avLst>
          </a:prstGeom>
          <a:solidFill>
            <a:srgbClr val="F4F7F5"/>
          </a:solidFill>
          <a:ln w="9525">
            <a:solidFill>
              <a:srgbClr val="D5DED9"/>
            </a:solidFill>
            <a:prstDash val="solid"/>
          </a:ln>
        </p:spPr>
      </p:sp>
      <p:sp>
        <p:nvSpPr>
          <p:cNvPr id="55" name="Shape 48"/>
          <p:cNvSpPr/>
          <p:nvPr/>
        </p:nvSpPr>
        <p:spPr>
          <a:xfrm>
            <a:off x="548640" y="2816352"/>
            <a:ext cx="274320" cy="274320"/>
          </a:xfrm>
          <a:prstGeom prst="ellipse">
            <a:avLst/>
          </a:prstGeom>
          <a:solidFill>
            <a:srgbClr val="B83B2E">
              <a:alpha val="22000"/>
            </a:srgbClr>
          </a:solidFill>
          <a:ln/>
        </p:spPr>
      </p:sp>
      <p:pic>
        <p:nvPicPr>
          <p:cNvPr id="56" name="Image 4" descr="preencoded.png"/>
          <p:cNvPicPr>
            <a:picLocks noChangeAspect="1"/>
          </p:cNvPicPr>
          <p:nvPr/>
        </p:nvPicPr>
        <p:blipFill>
          <a:blip r:embed="rId7"/>
          <a:stretch>
            <a:fillRect/>
          </a:stretch>
        </p:blipFill>
        <p:spPr>
          <a:xfrm>
            <a:off x="614477" y="2882189"/>
            <a:ext cx="142646" cy="142646"/>
          </a:xfrm>
          <a:prstGeom prst="rect">
            <a:avLst/>
          </a:prstGeom>
        </p:spPr>
      </p:pic>
      <p:sp>
        <p:nvSpPr>
          <p:cNvPr id="57" name="Text 49"/>
          <p:cNvSpPr txBox="1"/>
          <p:nvPr/>
        </p:nvSpPr>
        <p:spPr>
          <a:xfrm>
            <a:off x="896112" y="2816352"/>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Ingénieur plateforme / MLOps</a:t>
            </a:r>
            <a:endParaRPr lang="en-US" sz="850" dirty="0"/>
          </a:p>
        </p:txBody>
      </p:sp>
      <p:sp>
        <p:nvSpPr>
          <p:cNvPr id="58" name="Text 50"/>
          <p:cNvSpPr txBox="1"/>
          <p:nvPr/>
        </p:nvSpPr>
        <p:spPr>
          <a:xfrm>
            <a:off x="3154680" y="2816352"/>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1–2</a:t>
            </a:r>
            <a:endParaRPr lang="en-US" sz="850" dirty="0"/>
          </a:p>
        </p:txBody>
      </p:sp>
      <p:sp>
        <p:nvSpPr>
          <p:cNvPr id="59" name="Text 51"/>
          <p:cNvSpPr txBox="1"/>
          <p:nvPr/>
        </p:nvSpPr>
        <p:spPr>
          <a:xfrm>
            <a:off x="3794760" y="2816352"/>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Service, passerelle, environnements, supervision, exploitation des GPU</a:t>
            </a:r>
            <a:endParaRPr lang="en-US" sz="850" dirty="0"/>
          </a:p>
        </p:txBody>
      </p:sp>
      <p:sp>
        <p:nvSpPr>
          <p:cNvPr id="60" name="Shape 52"/>
          <p:cNvSpPr/>
          <p:nvPr/>
        </p:nvSpPr>
        <p:spPr>
          <a:xfrm>
            <a:off x="7315200" y="2843784"/>
            <a:ext cx="1280160" cy="219456"/>
          </a:xfrm>
          <a:prstGeom prst="roundRect">
            <a:avLst>
              <a:gd name="adj" fmla="val 50000"/>
            </a:avLst>
          </a:prstGeom>
          <a:solidFill>
            <a:srgbClr val="B83B2E">
              <a:alpha val="15000"/>
            </a:srgbClr>
          </a:solidFill>
          <a:ln w="9525">
            <a:solidFill>
              <a:srgbClr val="B83B2E"/>
            </a:solidFill>
            <a:prstDash val="solid"/>
          </a:ln>
        </p:spPr>
      </p:sp>
      <p:sp>
        <p:nvSpPr>
          <p:cNvPr id="61" name="Text 53"/>
          <p:cNvSpPr txBox="1"/>
          <p:nvPr/>
        </p:nvSpPr>
        <p:spPr>
          <a:xfrm>
            <a:off x="7315200" y="2843784"/>
            <a:ext cx="1280160" cy="219456"/>
          </a:xfrm>
          <a:prstGeom prst="rect">
            <a:avLst/>
          </a:prstGeom>
          <a:noFill/>
          <a:ln/>
        </p:spPr>
        <p:txBody>
          <a:bodyPr wrap="square" lIns="0" tIns="0" rIns="0" bIns="0" rtlCol="0" anchor="ctr"/>
          <a:lstStyle/>
          <a:p>
            <a:pPr marL="0" indent="0" algn="ctr">
              <a:buNone/>
            </a:pPr>
            <a:r>
              <a:rPr lang="en-US" sz="850" b="1" kern="0" spc="50" dirty="0">
                <a:solidFill>
                  <a:srgbClr val="B83B2E"/>
                </a:solidFill>
                <a:latin typeface="Calibri" pitchFamily="34" charset="0"/>
                <a:ea typeface="Calibri" pitchFamily="34" charset="-122"/>
                <a:cs typeface="Calibri" pitchFamily="34" charset="-120"/>
              </a:rPr>
              <a:t>Rare</a:t>
            </a:r>
            <a:endParaRPr lang="en-US" sz="850" dirty="0"/>
          </a:p>
        </p:txBody>
      </p:sp>
      <p:sp>
        <p:nvSpPr>
          <p:cNvPr id="62" name="Shape 54"/>
          <p:cNvSpPr/>
          <p:nvPr/>
        </p:nvSpPr>
        <p:spPr>
          <a:xfrm>
            <a:off x="457200" y="3127248"/>
            <a:ext cx="8229600" cy="274320"/>
          </a:xfrm>
          <a:prstGeom prst="roundRect">
            <a:avLst>
              <a:gd name="adj" fmla="val 16667"/>
            </a:avLst>
          </a:prstGeom>
          <a:solidFill>
            <a:srgbClr val="F4F7F5"/>
          </a:solidFill>
          <a:ln w="9525">
            <a:solidFill>
              <a:srgbClr val="D5DED9"/>
            </a:solidFill>
            <a:prstDash val="solid"/>
          </a:ln>
        </p:spPr>
      </p:sp>
      <p:sp>
        <p:nvSpPr>
          <p:cNvPr id="63" name="Shape 55"/>
          <p:cNvSpPr/>
          <p:nvPr/>
        </p:nvSpPr>
        <p:spPr>
          <a:xfrm>
            <a:off x="548640" y="3127248"/>
            <a:ext cx="274320" cy="274320"/>
          </a:xfrm>
          <a:prstGeom prst="ellipse">
            <a:avLst/>
          </a:prstGeom>
          <a:solidFill>
            <a:srgbClr val="B83B2E">
              <a:alpha val="22000"/>
            </a:srgbClr>
          </a:solidFill>
          <a:ln/>
        </p:spPr>
      </p:sp>
      <p:pic>
        <p:nvPicPr>
          <p:cNvPr id="64" name="Image 5" descr="preencoded.png"/>
          <p:cNvPicPr>
            <a:picLocks noChangeAspect="1"/>
          </p:cNvPicPr>
          <p:nvPr/>
        </p:nvPicPr>
        <p:blipFill>
          <a:blip r:embed="rId8"/>
          <a:stretch>
            <a:fillRect/>
          </a:stretch>
        </p:blipFill>
        <p:spPr>
          <a:xfrm>
            <a:off x="614477" y="3193085"/>
            <a:ext cx="142646" cy="142646"/>
          </a:xfrm>
          <a:prstGeom prst="rect">
            <a:avLst/>
          </a:prstGeom>
        </p:spPr>
      </p:pic>
      <p:sp>
        <p:nvSpPr>
          <p:cNvPr id="65" name="Text 56"/>
          <p:cNvSpPr txBox="1"/>
          <p:nvPr/>
        </p:nvSpPr>
        <p:spPr>
          <a:xfrm>
            <a:off x="896112" y="3127248"/>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Sécurité et protection des données</a:t>
            </a:r>
            <a:endParaRPr lang="en-US" sz="850" dirty="0"/>
          </a:p>
        </p:txBody>
      </p:sp>
      <p:sp>
        <p:nvSpPr>
          <p:cNvPr id="66" name="Text 57"/>
          <p:cNvSpPr txBox="1"/>
          <p:nvPr/>
        </p:nvSpPr>
        <p:spPr>
          <a:xfrm>
            <a:off x="3154680" y="3127248"/>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0,3</a:t>
            </a:r>
            <a:endParaRPr lang="en-US" sz="850" dirty="0"/>
          </a:p>
        </p:txBody>
      </p:sp>
      <p:sp>
        <p:nvSpPr>
          <p:cNvPr id="67" name="Text 58"/>
          <p:cNvSpPr txBox="1"/>
          <p:nvPr/>
        </p:nvSpPr>
        <p:spPr>
          <a:xfrm>
            <a:off x="3794760" y="3127248"/>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Classification, analyses d'impact, contrôles, incidents</a:t>
            </a:r>
            <a:endParaRPr lang="en-US" sz="850" dirty="0"/>
          </a:p>
        </p:txBody>
      </p:sp>
      <p:sp>
        <p:nvSpPr>
          <p:cNvPr id="68" name="Shape 59"/>
          <p:cNvSpPr/>
          <p:nvPr/>
        </p:nvSpPr>
        <p:spPr>
          <a:xfrm>
            <a:off x="7315200" y="3154680"/>
            <a:ext cx="1280160" cy="219456"/>
          </a:xfrm>
          <a:prstGeom prst="roundRect">
            <a:avLst>
              <a:gd name="adj" fmla="val 50000"/>
            </a:avLst>
          </a:prstGeom>
          <a:solidFill>
            <a:srgbClr val="0E7C86">
              <a:alpha val="15000"/>
            </a:srgbClr>
          </a:solidFill>
          <a:ln w="9525">
            <a:solidFill>
              <a:srgbClr val="0E7C86"/>
            </a:solidFill>
            <a:prstDash val="solid"/>
          </a:ln>
        </p:spPr>
      </p:sp>
      <p:sp>
        <p:nvSpPr>
          <p:cNvPr id="69" name="Text 60"/>
          <p:cNvSpPr txBox="1"/>
          <p:nvPr/>
        </p:nvSpPr>
        <p:spPr>
          <a:xfrm>
            <a:off x="7315200" y="3154680"/>
            <a:ext cx="12801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Personnel existant</a:t>
            </a:r>
            <a:endParaRPr lang="en-US" sz="850" dirty="0"/>
          </a:p>
        </p:txBody>
      </p:sp>
      <p:sp>
        <p:nvSpPr>
          <p:cNvPr id="70" name="Shape 61"/>
          <p:cNvSpPr/>
          <p:nvPr/>
        </p:nvSpPr>
        <p:spPr>
          <a:xfrm>
            <a:off x="457200" y="3438144"/>
            <a:ext cx="8229600" cy="274320"/>
          </a:xfrm>
          <a:prstGeom prst="roundRect">
            <a:avLst>
              <a:gd name="adj" fmla="val 16667"/>
            </a:avLst>
          </a:prstGeom>
          <a:solidFill>
            <a:srgbClr val="F4F7F5"/>
          </a:solidFill>
          <a:ln w="9525">
            <a:solidFill>
              <a:srgbClr val="D5DED9"/>
            </a:solidFill>
            <a:prstDash val="solid"/>
          </a:ln>
        </p:spPr>
      </p:sp>
      <p:sp>
        <p:nvSpPr>
          <p:cNvPr id="71" name="Shape 62"/>
          <p:cNvSpPr/>
          <p:nvPr/>
        </p:nvSpPr>
        <p:spPr>
          <a:xfrm>
            <a:off x="548640" y="3438144"/>
            <a:ext cx="274320" cy="274320"/>
          </a:xfrm>
          <a:prstGeom prst="ellipse">
            <a:avLst/>
          </a:prstGeom>
          <a:solidFill>
            <a:srgbClr val="B83B2E">
              <a:alpha val="22000"/>
            </a:srgbClr>
          </a:solidFill>
          <a:ln/>
        </p:spPr>
      </p:sp>
      <p:pic>
        <p:nvPicPr>
          <p:cNvPr id="72" name="Image 6" descr="preencoded.png"/>
          <p:cNvPicPr>
            <a:picLocks noChangeAspect="1"/>
          </p:cNvPicPr>
          <p:nvPr/>
        </p:nvPicPr>
        <p:blipFill>
          <a:blip r:embed="rId9"/>
          <a:stretch>
            <a:fillRect/>
          </a:stretch>
        </p:blipFill>
        <p:spPr>
          <a:xfrm>
            <a:off x="614477" y="3503981"/>
            <a:ext cx="142646" cy="142646"/>
          </a:xfrm>
          <a:prstGeom prst="rect">
            <a:avLst/>
          </a:prstGeom>
        </p:spPr>
      </p:pic>
      <p:sp>
        <p:nvSpPr>
          <p:cNvPr id="73" name="Text 63"/>
          <p:cNvSpPr txBox="1"/>
          <p:nvPr/>
        </p:nvSpPr>
        <p:spPr>
          <a:xfrm>
            <a:off x="896112" y="3438144"/>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Annotateurs métier</a:t>
            </a:r>
            <a:endParaRPr lang="en-US" sz="850" dirty="0"/>
          </a:p>
        </p:txBody>
      </p:sp>
      <p:sp>
        <p:nvSpPr>
          <p:cNvPr id="74" name="Text 64"/>
          <p:cNvSpPr txBox="1"/>
          <p:nvPr/>
        </p:nvSpPr>
        <p:spPr>
          <a:xfrm>
            <a:off x="3154680" y="3438144"/>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Variable</a:t>
            </a:r>
            <a:endParaRPr lang="en-US" sz="850" dirty="0"/>
          </a:p>
        </p:txBody>
      </p:sp>
      <p:sp>
        <p:nvSpPr>
          <p:cNvPr id="75" name="Text 65"/>
          <p:cNvSpPr txBox="1"/>
          <p:nvPr/>
        </p:nvSpPr>
        <p:spPr>
          <a:xfrm>
            <a:off x="3794760" y="3438144"/>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Annotation, consignes, arbitrage, entretien du jeu de référence</a:t>
            </a:r>
            <a:endParaRPr lang="en-US" sz="850" dirty="0"/>
          </a:p>
        </p:txBody>
      </p:sp>
      <p:sp>
        <p:nvSpPr>
          <p:cNvPr id="76" name="Shape 66"/>
          <p:cNvSpPr/>
          <p:nvPr/>
        </p:nvSpPr>
        <p:spPr>
          <a:xfrm>
            <a:off x="7315200" y="3465576"/>
            <a:ext cx="1280160" cy="219456"/>
          </a:xfrm>
          <a:prstGeom prst="roundRect">
            <a:avLst>
              <a:gd name="adj" fmla="val 50000"/>
            </a:avLst>
          </a:prstGeom>
          <a:solidFill>
            <a:srgbClr val="00A86A">
              <a:alpha val="15000"/>
            </a:srgbClr>
          </a:solidFill>
          <a:ln w="9525">
            <a:solidFill>
              <a:srgbClr val="00A86A"/>
            </a:solidFill>
            <a:prstDash val="solid"/>
          </a:ln>
        </p:spPr>
      </p:sp>
      <p:sp>
        <p:nvSpPr>
          <p:cNvPr id="77" name="Text 67"/>
          <p:cNvSpPr txBox="1"/>
          <p:nvPr/>
        </p:nvSpPr>
        <p:spPr>
          <a:xfrm>
            <a:off x="7315200" y="3465576"/>
            <a:ext cx="1280160" cy="219456"/>
          </a:xfrm>
          <a:prstGeom prst="rect">
            <a:avLst/>
          </a:prstGeom>
          <a:noFill/>
          <a:ln/>
        </p:spPr>
        <p:txBody>
          <a:bodyPr wrap="square" lIns="0" tIns="0" rIns="0" bIns="0" rtlCol="0" anchor="ctr"/>
          <a:lstStyle/>
          <a:p>
            <a:pPr marL="0" indent="0" algn="ctr">
              <a:buNone/>
            </a:pPr>
            <a:r>
              <a:rPr lang="en-US" sz="850" b="1" kern="0" spc="50" dirty="0">
                <a:solidFill>
                  <a:srgbClr val="00A86A"/>
                </a:solidFill>
                <a:latin typeface="Calibri" pitchFamily="34" charset="0"/>
                <a:ea typeface="Calibri" pitchFamily="34" charset="-122"/>
                <a:cs typeface="Calibri" pitchFamily="34" charset="-120"/>
              </a:rPr>
              <a:t>Votre atout caché</a:t>
            </a:r>
            <a:endParaRPr lang="en-US" sz="850" dirty="0"/>
          </a:p>
        </p:txBody>
      </p:sp>
      <p:sp>
        <p:nvSpPr>
          <p:cNvPr id="78" name="Shape 68"/>
          <p:cNvSpPr/>
          <p:nvPr/>
        </p:nvSpPr>
        <p:spPr>
          <a:xfrm>
            <a:off x="457200" y="3749040"/>
            <a:ext cx="8229600" cy="274320"/>
          </a:xfrm>
          <a:prstGeom prst="roundRect">
            <a:avLst>
              <a:gd name="adj" fmla="val 16667"/>
            </a:avLst>
          </a:prstGeom>
          <a:solidFill>
            <a:srgbClr val="F4F7F5"/>
          </a:solidFill>
          <a:ln w="9525">
            <a:solidFill>
              <a:srgbClr val="D5DED9"/>
            </a:solidFill>
            <a:prstDash val="solid"/>
          </a:ln>
        </p:spPr>
      </p:sp>
      <p:sp>
        <p:nvSpPr>
          <p:cNvPr id="79" name="Shape 69"/>
          <p:cNvSpPr/>
          <p:nvPr/>
        </p:nvSpPr>
        <p:spPr>
          <a:xfrm>
            <a:off x="548640" y="3749040"/>
            <a:ext cx="274320" cy="274320"/>
          </a:xfrm>
          <a:prstGeom prst="ellipse">
            <a:avLst/>
          </a:prstGeom>
          <a:solidFill>
            <a:srgbClr val="B83B2E">
              <a:alpha val="22000"/>
            </a:srgbClr>
          </a:solidFill>
          <a:ln/>
        </p:spPr>
      </p:sp>
      <p:pic>
        <p:nvPicPr>
          <p:cNvPr id="80" name="Image 7" descr="preencoded.png"/>
          <p:cNvPicPr>
            <a:picLocks noChangeAspect="1"/>
          </p:cNvPicPr>
          <p:nvPr/>
        </p:nvPicPr>
        <p:blipFill>
          <a:blip r:embed="rId10"/>
          <a:stretch>
            <a:fillRect/>
          </a:stretch>
        </p:blipFill>
        <p:spPr>
          <a:xfrm>
            <a:off x="614477" y="3814877"/>
            <a:ext cx="142646" cy="142646"/>
          </a:xfrm>
          <a:prstGeom prst="rect">
            <a:avLst/>
          </a:prstGeom>
        </p:spPr>
      </p:pic>
      <p:sp>
        <p:nvSpPr>
          <p:cNvPr id="81" name="Text 70"/>
          <p:cNvSpPr txBox="1"/>
          <p:nvPr/>
        </p:nvSpPr>
        <p:spPr>
          <a:xfrm>
            <a:off x="896112" y="3749040"/>
            <a:ext cx="2103120" cy="274320"/>
          </a:xfrm>
          <a:prstGeom prst="rect">
            <a:avLst/>
          </a:prstGeom>
          <a:noFill/>
          <a:ln/>
        </p:spPr>
        <p:txBody>
          <a:bodyPr wrap="square" lIns="0" tIns="0" rIns="0" bIns="0" rtlCol="0" anchor="ctr"/>
          <a:lstStyle/>
          <a:p>
            <a:pPr marL="0" indent="0">
              <a:buNone/>
            </a:pPr>
            <a:r>
              <a:rPr lang="en-US" sz="850" b="1" dirty="0">
                <a:solidFill>
                  <a:srgbClr val="231F20"/>
                </a:solidFill>
                <a:latin typeface="Calibri" pitchFamily="34" charset="0"/>
                <a:ea typeface="Calibri" pitchFamily="34" charset="-122"/>
                <a:cs typeface="Calibri" pitchFamily="34" charset="-120"/>
              </a:rPr>
              <a:t>Responsable conduite du changement</a:t>
            </a:r>
            <a:endParaRPr lang="en-US" sz="850" dirty="0"/>
          </a:p>
        </p:txBody>
      </p:sp>
      <p:sp>
        <p:nvSpPr>
          <p:cNvPr id="82" name="Text 71"/>
          <p:cNvSpPr txBox="1"/>
          <p:nvPr/>
        </p:nvSpPr>
        <p:spPr>
          <a:xfrm>
            <a:off x="3154680" y="3749040"/>
            <a:ext cx="457200" cy="27432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0,5</a:t>
            </a:r>
            <a:endParaRPr lang="en-US" sz="850" dirty="0"/>
          </a:p>
        </p:txBody>
      </p:sp>
      <p:sp>
        <p:nvSpPr>
          <p:cNvPr id="83" name="Text 72"/>
          <p:cNvSpPr txBox="1"/>
          <p:nvPr/>
        </p:nvSpPr>
        <p:spPr>
          <a:xfrm>
            <a:off x="3794760" y="3749040"/>
            <a:ext cx="3337560" cy="274320"/>
          </a:xfrm>
          <a:prstGeom prst="rect">
            <a:avLst/>
          </a:prstGeom>
          <a:noFill/>
          <a:ln/>
        </p:spPr>
        <p:txBody>
          <a:bodyPr wrap="square" lIns="0" tIns="0" rIns="0" bIns="0" rtlCol="0" anchor="ctr"/>
          <a:lstStyle/>
          <a:p>
            <a:pPr marL="0" indent="0" algn="l">
              <a:buNone/>
            </a:pPr>
            <a:r>
              <a:rPr lang="en-US" sz="850" dirty="0">
                <a:solidFill>
                  <a:srgbClr val="231F20"/>
                </a:solidFill>
                <a:latin typeface="Calibri" pitchFamily="34" charset="0"/>
                <a:ea typeface="Calibri" pitchFamily="34" charset="-122"/>
                <a:cs typeface="Calibri" pitchFamily="34" charset="-120"/>
              </a:rPr>
              <a:t>Formation, communication, adoption, effets sur les métiers</a:t>
            </a:r>
            <a:endParaRPr lang="en-US" sz="850" dirty="0"/>
          </a:p>
        </p:txBody>
      </p:sp>
      <p:sp>
        <p:nvSpPr>
          <p:cNvPr id="84" name="Shape 73"/>
          <p:cNvSpPr/>
          <p:nvPr/>
        </p:nvSpPr>
        <p:spPr>
          <a:xfrm>
            <a:off x="7315200" y="3776472"/>
            <a:ext cx="1280160" cy="219456"/>
          </a:xfrm>
          <a:prstGeom prst="roundRect">
            <a:avLst>
              <a:gd name="adj" fmla="val 50000"/>
            </a:avLst>
          </a:prstGeom>
          <a:solidFill>
            <a:srgbClr val="0E7C86">
              <a:alpha val="15000"/>
            </a:srgbClr>
          </a:solidFill>
          <a:ln w="9525">
            <a:solidFill>
              <a:srgbClr val="0E7C86"/>
            </a:solidFill>
            <a:prstDash val="solid"/>
          </a:ln>
        </p:spPr>
      </p:sp>
      <p:sp>
        <p:nvSpPr>
          <p:cNvPr id="85" name="Text 74"/>
          <p:cNvSpPr txBox="1"/>
          <p:nvPr/>
        </p:nvSpPr>
        <p:spPr>
          <a:xfrm>
            <a:off x="7315200" y="3776472"/>
            <a:ext cx="1280160" cy="219456"/>
          </a:xfrm>
          <a:prstGeom prst="rect">
            <a:avLst/>
          </a:prstGeom>
          <a:noFill/>
          <a:ln/>
        </p:spPr>
        <p:txBody>
          <a:bodyPr wrap="square" lIns="0" tIns="0" rIns="0" bIns="0" rtlCol="0" anchor="ctr"/>
          <a:lstStyle/>
          <a:p>
            <a:pPr marL="0" indent="0" algn="ctr">
              <a:buNone/>
            </a:pPr>
            <a:r>
              <a:rPr lang="en-US" sz="850" b="1" kern="0" spc="50" dirty="0">
                <a:solidFill>
                  <a:srgbClr val="0E7C86"/>
                </a:solidFill>
                <a:latin typeface="Calibri" pitchFamily="34" charset="0"/>
                <a:ea typeface="Calibri" pitchFamily="34" charset="-122"/>
                <a:cs typeface="Calibri" pitchFamily="34" charset="-120"/>
              </a:rPr>
              <a:t>Personnel existant</a:t>
            </a:r>
            <a:endParaRPr lang="en-US" sz="850" dirty="0"/>
          </a:p>
        </p:txBody>
      </p:sp>
      <p:sp>
        <p:nvSpPr>
          <p:cNvPr id="86" name="Shape 75"/>
          <p:cNvSpPr/>
          <p:nvPr/>
        </p:nvSpPr>
        <p:spPr>
          <a:xfrm>
            <a:off x="457200" y="4160520"/>
            <a:ext cx="8229600" cy="438912"/>
          </a:xfrm>
          <a:prstGeom prst="roundRect">
            <a:avLst>
              <a:gd name="adj" fmla="val 12500"/>
            </a:avLst>
          </a:prstGeom>
          <a:solidFill>
            <a:srgbClr val="E8F5EF"/>
          </a:solidFill>
          <a:ln w="15875">
            <a:solidFill>
              <a:srgbClr val="B83B2E"/>
            </a:solidFill>
            <a:prstDash val="solid"/>
          </a:ln>
        </p:spPr>
      </p:sp>
      <p:sp>
        <p:nvSpPr>
          <p:cNvPr id="87" name="Shape 76"/>
          <p:cNvSpPr/>
          <p:nvPr/>
        </p:nvSpPr>
        <p:spPr>
          <a:xfrm>
            <a:off x="566928" y="4233672"/>
            <a:ext cx="292608" cy="292608"/>
          </a:xfrm>
          <a:prstGeom prst="ellipse">
            <a:avLst/>
          </a:prstGeom>
          <a:solidFill>
            <a:srgbClr val="B83B2E">
              <a:alpha val="22000"/>
            </a:srgbClr>
          </a:solidFill>
          <a:ln/>
        </p:spPr>
      </p:sp>
      <p:pic>
        <p:nvPicPr>
          <p:cNvPr id="88" name="Image 8" descr="preencoded.png"/>
          <p:cNvPicPr>
            <a:picLocks noChangeAspect="1"/>
          </p:cNvPicPr>
          <p:nvPr/>
        </p:nvPicPr>
        <p:blipFill>
          <a:blip r:embed="rId11"/>
          <a:stretch>
            <a:fillRect/>
          </a:stretch>
        </p:blipFill>
        <p:spPr>
          <a:xfrm>
            <a:off x="637154" y="4303898"/>
            <a:ext cx="152156" cy="152156"/>
          </a:xfrm>
          <a:prstGeom prst="rect">
            <a:avLst/>
          </a:prstGeom>
        </p:spPr>
      </p:pic>
      <p:sp>
        <p:nvSpPr>
          <p:cNvPr id="89" name="Text 77"/>
          <p:cNvSpPr txBox="1"/>
          <p:nvPr/>
        </p:nvSpPr>
        <p:spPr>
          <a:xfrm>
            <a:off x="960120" y="4160520"/>
            <a:ext cx="7589520" cy="438912"/>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À RETENIR   </a:t>
            </a:r>
            <a:r>
              <a:rPr lang="en-US" sz="950" dirty="0">
                <a:solidFill>
                  <a:srgbClr val="231F20"/>
                </a:solidFill>
                <a:latin typeface="Calibri" pitchFamily="34" charset="0"/>
                <a:ea typeface="Calibri" pitchFamily="34" charset="-122"/>
                <a:cs typeface="Calibri" pitchFamily="34" charset="-120"/>
              </a:rPr>
              <a:t>La plupart des instituts recrutent trop de data scientists et pas assez d'ingénieurs de données et de plateforme. Résultat : d'excellents notebooks qui n'arrivent jamais en production.</a:t>
            </a:r>
            <a:endParaRPr lang="en-US" sz="950" dirty="0"/>
          </a:p>
        </p:txBody>
      </p:sp>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RECRUTEMENT ET FIDÉLISATION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La réalité du recrutement dans un institut public</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Vous ne gagnerez pas sur les salaires. Vous pouvez gagner sur presque tout le reste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56</a:t>
            </a:r>
            <a:endParaRPr lang="en-US" sz="850" dirty="0"/>
          </a:p>
        </p:txBody>
      </p:sp>
      <p:sp>
        <p:nvSpPr>
          <p:cNvPr id="18" name="Shape 15"/>
          <p:cNvSpPr/>
          <p:nvPr/>
        </p:nvSpPr>
        <p:spPr>
          <a:xfrm>
            <a:off x="457200" y="1371600"/>
            <a:ext cx="3200400" cy="1078992"/>
          </a:xfrm>
          <a:prstGeom prst="roundRect">
            <a:avLst>
              <a:gd name="adj" fmla="val 6780"/>
            </a:avLst>
          </a:prstGeom>
          <a:solidFill>
            <a:srgbClr val="FBF0EE"/>
          </a:solidFill>
          <a:ln w="9525">
            <a:solidFill>
              <a:srgbClr val="B83B2E"/>
            </a:solidFill>
            <a:prstDash val="solid"/>
          </a:ln>
        </p:spPr>
      </p:sp>
      <p:sp>
        <p:nvSpPr>
          <p:cNvPr id="19" name="Shape 16"/>
          <p:cNvSpPr/>
          <p:nvPr/>
        </p:nvSpPr>
        <p:spPr>
          <a:xfrm>
            <a:off x="566928" y="1463040"/>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41543" y="1537655"/>
            <a:ext cx="161666" cy="161666"/>
          </a:xfrm>
          <a:prstGeom prst="rect">
            <a:avLst/>
          </a:prstGeom>
        </p:spPr>
      </p:pic>
      <p:sp>
        <p:nvSpPr>
          <p:cNvPr id="21" name="Text 17"/>
          <p:cNvSpPr txBox="1"/>
          <p:nvPr/>
        </p:nvSpPr>
        <p:spPr>
          <a:xfrm>
            <a:off x="950976" y="1463040"/>
            <a:ext cx="265176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Ce que vous ne pouvez pas offrir</a:t>
            </a:r>
            <a:endParaRPr lang="en-US" sz="1100" dirty="0"/>
          </a:p>
        </p:txBody>
      </p:sp>
      <p:sp>
        <p:nvSpPr>
          <p:cNvPr id="22" name="Text 18"/>
          <p:cNvSpPr txBox="1"/>
          <p:nvPr/>
        </p:nvSpPr>
        <p:spPr>
          <a:xfrm>
            <a:off x="566928" y="1810512"/>
            <a:ext cx="2999232"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salaires du privé pour des ingénieurs IA et plateforme expérimentés. Acceptez-le et organisez-vous en conséquence.</a:t>
            </a:r>
            <a:endParaRPr lang="en-US" sz="900" dirty="0"/>
          </a:p>
        </p:txBody>
      </p:sp>
      <p:sp>
        <p:nvSpPr>
          <p:cNvPr id="23" name="Shape 19"/>
          <p:cNvSpPr/>
          <p:nvPr/>
        </p:nvSpPr>
        <p:spPr>
          <a:xfrm>
            <a:off x="457200" y="2560320"/>
            <a:ext cx="3200400" cy="1097280"/>
          </a:xfrm>
          <a:prstGeom prst="roundRect">
            <a:avLst>
              <a:gd name="adj" fmla="val 6667"/>
            </a:avLst>
          </a:prstGeom>
          <a:solidFill>
            <a:srgbClr val="E8F5EF"/>
          </a:solidFill>
          <a:ln w="15875">
            <a:solidFill>
              <a:srgbClr val="00A86A"/>
            </a:solidFill>
            <a:prstDash val="solid"/>
          </a:ln>
        </p:spPr>
      </p:sp>
      <p:sp>
        <p:nvSpPr>
          <p:cNvPr id="24" name="Shape 20"/>
          <p:cNvSpPr/>
          <p:nvPr/>
        </p:nvSpPr>
        <p:spPr>
          <a:xfrm>
            <a:off x="566928" y="2651760"/>
            <a:ext cx="310896" cy="310896"/>
          </a:xfrm>
          <a:prstGeom prst="ellipse">
            <a:avLst/>
          </a:prstGeom>
          <a:solidFill>
            <a:srgbClr val="00A86A">
              <a:alpha val="22000"/>
            </a:srgbClr>
          </a:solidFill>
          <a:ln/>
        </p:spPr>
      </p:sp>
      <p:pic>
        <p:nvPicPr>
          <p:cNvPr id="25" name="Image 1" descr="preencoded.png"/>
          <p:cNvPicPr>
            <a:picLocks noChangeAspect="1"/>
          </p:cNvPicPr>
          <p:nvPr/>
        </p:nvPicPr>
        <p:blipFill>
          <a:blip r:embed="rId4"/>
          <a:stretch>
            <a:fillRect/>
          </a:stretch>
        </p:blipFill>
        <p:spPr>
          <a:xfrm>
            <a:off x="641543" y="2726375"/>
            <a:ext cx="161666" cy="161666"/>
          </a:xfrm>
          <a:prstGeom prst="rect">
            <a:avLst/>
          </a:prstGeom>
        </p:spPr>
      </p:pic>
      <p:sp>
        <p:nvSpPr>
          <p:cNvPr id="26" name="Text 21"/>
          <p:cNvSpPr txBox="1"/>
          <p:nvPr/>
        </p:nvSpPr>
        <p:spPr>
          <a:xfrm>
            <a:off x="950976" y="2651760"/>
            <a:ext cx="2651760" cy="310896"/>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Ce que vous pouvez vraiment offrir</a:t>
            </a:r>
            <a:endParaRPr lang="en-US" sz="1100" dirty="0"/>
          </a:p>
        </p:txBody>
      </p:sp>
      <p:sp>
        <p:nvSpPr>
          <p:cNvPr id="27" name="Text 22"/>
          <p:cNvSpPr txBox="1"/>
          <p:nvPr/>
        </p:nvSpPr>
        <p:spPr>
          <a:xfrm>
            <a:off x="566928" y="2999232"/>
            <a:ext cx="2999232" cy="62179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mission d'intérêt public, des données exceptionnelles, la rigueur, la publication, des budgets de formation, la stabilité et des horaires prévisibles.</a:t>
            </a:r>
            <a:endParaRPr lang="en-US" sz="900" dirty="0"/>
          </a:p>
        </p:txBody>
      </p:sp>
      <p:sp>
        <p:nvSpPr>
          <p:cNvPr id="28" name="Text 23"/>
          <p:cNvSpPr txBox="1"/>
          <p:nvPr/>
        </p:nvSpPr>
        <p:spPr>
          <a:xfrm>
            <a:off x="3886200" y="1325880"/>
            <a:ext cx="45720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CINQ STRATÉGIES QUI FONCTIONNENT</a:t>
            </a:r>
            <a:endParaRPr lang="en-US" sz="900" dirty="0"/>
          </a:p>
        </p:txBody>
      </p:sp>
      <p:sp>
        <p:nvSpPr>
          <p:cNvPr id="29" name="Shape 24"/>
          <p:cNvSpPr/>
          <p:nvPr/>
        </p:nvSpPr>
        <p:spPr>
          <a:xfrm>
            <a:off x="3886200" y="1600200"/>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3960815" y="1674815"/>
            <a:ext cx="161666" cy="161666"/>
          </a:xfrm>
          <a:prstGeom prst="rect">
            <a:avLst/>
          </a:prstGeom>
        </p:spPr>
      </p:pic>
      <p:sp>
        <p:nvSpPr>
          <p:cNvPr id="31" name="Text 25"/>
          <p:cNvSpPr txBox="1"/>
          <p:nvPr/>
        </p:nvSpPr>
        <p:spPr>
          <a:xfrm>
            <a:off x="4315968" y="1572768"/>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Former en interne</a:t>
            </a:r>
            <a:endParaRPr lang="en-US" sz="1100" dirty="0"/>
          </a:p>
        </p:txBody>
      </p:sp>
      <p:sp>
        <p:nvSpPr>
          <p:cNvPr id="32" name="Text 26"/>
          <p:cNvSpPr txBox="1"/>
          <p:nvPr/>
        </p:nvSpPr>
        <p:spPr>
          <a:xfrm>
            <a:off x="4315968" y="1755648"/>
            <a:ext cx="43891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Faire des méthodologues des praticiens de l'IA — ils connaissent déjà les données.</a:t>
            </a:r>
            <a:endParaRPr lang="en-US" sz="900" dirty="0"/>
          </a:p>
        </p:txBody>
      </p:sp>
      <p:sp>
        <p:nvSpPr>
          <p:cNvPr id="33" name="Shape 27"/>
          <p:cNvSpPr/>
          <p:nvPr/>
        </p:nvSpPr>
        <p:spPr>
          <a:xfrm>
            <a:off x="3886200" y="2020824"/>
            <a:ext cx="310896" cy="310896"/>
          </a:xfrm>
          <a:prstGeom prst="ellipse">
            <a:avLst/>
          </a:prstGeom>
          <a:solidFill>
            <a:srgbClr val="B83B2E">
              <a:alpha val="22000"/>
            </a:srgbClr>
          </a:solidFill>
          <a:ln/>
        </p:spPr>
      </p:sp>
      <p:pic>
        <p:nvPicPr>
          <p:cNvPr id="34" name="Image 3" descr="preencoded.png"/>
          <p:cNvPicPr>
            <a:picLocks noChangeAspect="1"/>
          </p:cNvPicPr>
          <p:nvPr/>
        </p:nvPicPr>
        <p:blipFill>
          <a:blip r:embed="rId6"/>
          <a:stretch>
            <a:fillRect/>
          </a:stretch>
        </p:blipFill>
        <p:spPr>
          <a:xfrm>
            <a:off x="3960815" y="2095439"/>
            <a:ext cx="161666" cy="161666"/>
          </a:xfrm>
          <a:prstGeom prst="rect">
            <a:avLst/>
          </a:prstGeom>
        </p:spPr>
      </p:pic>
      <p:sp>
        <p:nvSpPr>
          <p:cNvPr id="35" name="Text 28"/>
          <p:cNvSpPr txBox="1"/>
          <p:nvPr/>
        </p:nvSpPr>
        <p:spPr>
          <a:xfrm>
            <a:off x="4315968" y="1993392"/>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S'associer plutôt qu'acheter</a:t>
            </a:r>
            <a:endParaRPr lang="en-US" sz="1100" dirty="0"/>
          </a:p>
        </p:txBody>
      </p:sp>
      <p:sp>
        <p:nvSpPr>
          <p:cNvPr id="36" name="Text 29"/>
          <p:cNvSpPr txBox="1"/>
          <p:nvPr/>
        </p:nvSpPr>
        <p:spPr>
          <a:xfrm>
            <a:off x="4315968" y="2176272"/>
            <a:ext cx="43891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Universités, centres de formation, instituts pairs et partenaires au développement.</a:t>
            </a:r>
            <a:endParaRPr lang="en-US" sz="900" dirty="0"/>
          </a:p>
        </p:txBody>
      </p:sp>
      <p:sp>
        <p:nvSpPr>
          <p:cNvPr id="37" name="Shape 30"/>
          <p:cNvSpPr/>
          <p:nvPr/>
        </p:nvSpPr>
        <p:spPr>
          <a:xfrm>
            <a:off x="3886200" y="2441448"/>
            <a:ext cx="310896" cy="310896"/>
          </a:xfrm>
          <a:prstGeom prst="ellipse">
            <a:avLst/>
          </a:prstGeom>
          <a:solidFill>
            <a:srgbClr val="B83B2E">
              <a:alpha val="22000"/>
            </a:srgbClr>
          </a:solidFill>
          <a:ln/>
        </p:spPr>
      </p:sp>
      <p:pic>
        <p:nvPicPr>
          <p:cNvPr id="38" name="Image 4" descr="preencoded.png"/>
          <p:cNvPicPr>
            <a:picLocks noChangeAspect="1"/>
          </p:cNvPicPr>
          <p:nvPr/>
        </p:nvPicPr>
        <p:blipFill>
          <a:blip r:embed="rId7"/>
          <a:stretch>
            <a:fillRect/>
          </a:stretch>
        </p:blipFill>
        <p:spPr>
          <a:xfrm>
            <a:off x="3960815" y="2516063"/>
            <a:ext cx="161666" cy="161666"/>
          </a:xfrm>
          <a:prstGeom prst="rect">
            <a:avLst/>
          </a:prstGeom>
        </p:spPr>
      </p:pic>
      <p:sp>
        <p:nvSpPr>
          <p:cNvPr id="39" name="Text 31"/>
          <p:cNvSpPr txBox="1"/>
          <p:nvPr/>
        </p:nvSpPr>
        <p:spPr>
          <a:xfrm>
            <a:off x="4315968" y="2414016"/>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Mutualiser entre administrations</a:t>
            </a:r>
            <a:endParaRPr lang="en-US" sz="1100" dirty="0"/>
          </a:p>
        </p:txBody>
      </p:sp>
      <p:sp>
        <p:nvSpPr>
          <p:cNvPr id="40" name="Text 32"/>
          <p:cNvSpPr txBox="1"/>
          <p:nvPr/>
        </p:nvSpPr>
        <p:spPr>
          <a:xfrm>
            <a:off x="4315968" y="2596896"/>
            <a:ext cx="43891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équipe nationale de plateforme est plus facile à pourvoir qu'une par agence.</a:t>
            </a:r>
            <a:endParaRPr lang="en-US" sz="900" dirty="0"/>
          </a:p>
        </p:txBody>
      </p:sp>
      <p:sp>
        <p:nvSpPr>
          <p:cNvPr id="41" name="Shape 33"/>
          <p:cNvSpPr/>
          <p:nvPr/>
        </p:nvSpPr>
        <p:spPr>
          <a:xfrm>
            <a:off x="3886200" y="2862072"/>
            <a:ext cx="310896" cy="310896"/>
          </a:xfrm>
          <a:prstGeom prst="ellipse">
            <a:avLst/>
          </a:prstGeom>
          <a:solidFill>
            <a:srgbClr val="B83B2E">
              <a:alpha val="22000"/>
            </a:srgbClr>
          </a:solidFill>
          <a:ln/>
        </p:spPr>
      </p:sp>
      <p:pic>
        <p:nvPicPr>
          <p:cNvPr id="42" name="Image 5" descr="preencoded.png"/>
          <p:cNvPicPr>
            <a:picLocks noChangeAspect="1"/>
          </p:cNvPicPr>
          <p:nvPr/>
        </p:nvPicPr>
        <p:blipFill>
          <a:blip r:embed="rId8"/>
          <a:stretch>
            <a:fillRect/>
          </a:stretch>
        </p:blipFill>
        <p:spPr>
          <a:xfrm>
            <a:off x="3960815" y="2936687"/>
            <a:ext cx="161666" cy="161666"/>
          </a:xfrm>
          <a:prstGeom prst="rect">
            <a:avLst/>
          </a:prstGeom>
        </p:spPr>
      </p:pic>
      <p:sp>
        <p:nvSpPr>
          <p:cNvPr id="43" name="Text 34"/>
          <p:cNvSpPr txBox="1"/>
          <p:nvPr/>
        </p:nvSpPr>
        <p:spPr>
          <a:xfrm>
            <a:off x="4315968" y="2834640"/>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Imposer le transfert aux prestataires</a:t>
            </a:r>
            <a:endParaRPr lang="en-US" sz="1100" dirty="0"/>
          </a:p>
        </p:txBody>
      </p:sp>
      <p:sp>
        <p:nvSpPr>
          <p:cNvPr id="44" name="Text 35"/>
          <p:cNvSpPr txBox="1"/>
          <p:nvPr/>
        </p:nvSpPr>
        <p:spPr>
          <a:xfrm>
            <a:off x="4315968" y="3017520"/>
            <a:ext cx="43891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Faire du transfert de compétences un livrable, vérifié avant le paiement final.</a:t>
            </a:r>
            <a:endParaRPr lang="en-US" sz="900" dirty="0"/>
          </a:p>
        </p:txBody>
      </p:sp>
      <p:sp>
        <p:nvSpPr>
          <p:cNvPr id="45" name="Shape 36"/>
          <p:cNvSpPr/>
          <p:nvPr/>
        </p:nvSpPr>
        <p:spPr>
          <a:xfrm>
            <a:off x="3886200" y="3282696"/>
            <a:ext cx="310896" cy="310896"/>
          </a:xfrm>
          <a:prstGeom prst="ellipse">
            <a:avLst/>
          </a:prstGeom>
          <a:solidFill>
            <a:srgbClr val="B83B2E">
              <a:alpha val="22000"/>
            </a:srgbClr>
          </a:solidFill>
          <a:ln/>
        </p:spPr>
      </p:sp>
      <p:pic>
        <p:nvPicPr>
          <p:cNvPr id="46" name="Image 6" descr="preencoded.png"/>
          <p:cNvPicPr>
            <a:picLocks noChangeAspect="1"/>
          </p:cNvPicPr>
          <p:nvPr/>
        </p:nvPicPr>
        <p:blipFill>
          <a:blip r:embed="rId9"/>
          <a:stretch>
            <a:fillRect/>
          </a:stretch>
        </p:blipFill>
        <p:spPr>
          <a:xfrm>
            <a:off x="3960815" y="3357311"/>
            <a:ext cx="161666" cy="161666"/>
          </a:xfrm>
          <a:prstGeom prst="rect">
            <a:avLst/>
          </a:prstGeom>
        </p:spPr>
      </p:pic>
      <p:sp>
        <p:nvSpPr>
          <p:cNvPr id="47" name="Text 37"/>
          <p:cNvSpPr txBox="1"/>
          <p:nvPr/>
        </p:nvSpPr>
        <p:spPr>
          <a:xfrm>
            <a:off x="4315968" y="3255264"/>
            <a:ext cx="4389120" cy="18288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Créer une filière technique</a:t>
            </a:r>
            <a:endParaRPr lang="en-US" sz="1100" dirty="0"/>
          </a:p>
        </p:txBody>
      </p:sp>
      <p:sp>
        <p:nvSpPr>
          <p:cNvPr id="48" name="Text 38"/>
          <p:cNvSpPr txBox="1"/>
          <p:nvPr/>
        </p:nvSpPr>
        <p:spPr>
          <a:xfrm>
            <a:off x="4315968" y="3438144"/>
            <a:ext cx="4389120" cy="1828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Des grades techniques seniors, pour progresser sans passer au management.</a:t>
            </a:r>
            <a:endParaRPr lang="en-US" sz="900" dirty="0"/>
          </a:p>
        </p:txBody>
      </p:sp>
      <p:sp>
        <p:nvSpPr>
          <p:cNvPr id="49" name="Shape 39"/>
          <p:cNvSpPr/>
          <p:nvPr/>
        </p:nvSpPr>
        <p:spPr>
          <a:xfrm>
            <a:off x="457200" y="3840480"/>
            <a:ext cx="8229600" cy="731520"/>
          </a:xfrm>
          <a:prstGeom prst="roundRect">
            <a:avLst>
              <a:gd name="adj" fmla="val 7500"/>
            </a:avLst>
          </a:prstGeom>
          <a:solidFill>
            <a:srgbClr val="D49A00">
              <a:alpha val="13000"/>
            </a:srgbClr>
          </a:solidFill>
          <a:ln w="12700">
            <a:solidFill>
              <a:srgbClr val="D49A00"/>
            </a:solidFill>
            <a:prstDash val="solid"/>
          </a:ln>
        </p:spPr>
      </p:sp>
      <p:sp>
        <p:nvSpPr>
          <p:cNvPr id="50" name="Shape 40"/>
          <p:cNvSpPr/>
          <p:nvPr/>
        </p:nvSpPr>
        <p:spPr>
          <a:xfrm>
            <a:off x="566928" y="4059936"/>
            <a:ext cx="292608" cy="292608"/>
          </a:xfrm>
          <a:prstGeom prst="ellipse">
            <a:avLst/>
          </a:prstGeom>
          <a:solidFill>
            <a:srgbClr val="D49A00">
              <a:alpha val="22000"/>
            </a:srgbClr>
          </a:solidFill>
          <a:ln/>
        </p:spPr>
      </p:sp>
      <p:pic>
        <p:nvPicPr>
          <p:cNvPr id="51" name="Image 7" descr="preencoded.png"/>
          <p:cNvPicPr>
            <a:picLocks noChangeAspect="1"/>
          </p:cNvPicPr>
          <p:nvPr/>
        </p:nvPicPr>
        <p:blipFill>
          <a:blip r:embed="rId10"/>
          <a:stretch>
            <a:fillRect/>
          </a:stretch>
        </p:blipFill>
        <p:spPr>
          <a:xfrm>
            <a:off x="637154" y="4130162"/>
            <a:ext cx="152156" cy="152156"/>
          </a:xfrm>
          <a:prstGeom prst="rect">
            <a:avLst/>
          </a:prstGeom>
        </p:spPr>
      </p:pic>
      <p:sp>
        <p:nvSpPr>
          <p:cNvPr id="52" name="Text 41"/>
          <p:cNvSpPr txBox="1"/>
          <p:nvPr/>
        </p:nvSpPr>
        <p:spPr>
          <a:xfrm>
            <a:off x="960120" y="3840480"/>
            <a:ext cx="7589520" cy="731520"/>
          </a:xfrm>
          <a:prstGeom prst="rect">
            <a:avLst/>
          </a:prstGeom>
          <a:noFill/>
          <a:ln/>
        </p:spPr>
        <p:txBody>
          <a:bodyPr wrap="square" lIns="0" tIns="0" rIns="0" bIns="0" rtlCol="0" anchor="ctr"/>
          <a:lstStyle/>
          <a:p>
            <a:pPr marL="0" indent="0">
              <a:buNone/>
            </a:pPr>
            <a:r>
              <a:rPr lang="en-US" sz="1000" b="1" dirty="0">
                <a:solidFill>
                  <a:srgbClr val="8A6400"/>
                </a:solidFill>
                <a:latin typeface="Calibri" pitchFamily="34" charset="0"/>
                <a:ea typeface="Calibri" pitchFamily="34" charset="-122"/>
                <a:cs typeface="Calibri" pitchFamily="34" charset="-120"/>
              </a:rPr>
              <a:t>La dépendance à éviter :  </a:t>
            </a:r>
            <a:r>
              <a:rPr lang="en-US" sz="1000" dirty="0">
                <a:solidFill>
                  <a:srgbClr val="231F20"/>
                </a:solidFill>
                <a:latin typeface="Calibri" pitchFamily="34" charset="0"/>
                <a:ea typeface="Calibri" pitchFamily="34" charset="-122"/>
                <a:cs typeface="Calibri" pitchFamily="34" charset="-120"/>
              </a:rPr>
              <a:t>externaliser totalement la plateforme rend l'institut incapable d'évaluer, d'exploiter ou de quitter ses propres systèmes. Achetez des outils et de l'aide — jamais la compréhension de la façon dont vos statistiques sont produites.</a:t>
            </a:r>
            <a:endParaRPr lang="en-US" sz="1000" dirty="0"/>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COMPÉTENCES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Ce que chaque groupe doit apprendre</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Trois parcours différents. L'écueil : une même introduction générique pour tous</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57</a:t>
            </a:r>
            <a:endParaRPr lang="en-US" sz="850" dirty="0"/>
          </a:p>
        </p:txBody>
      </p:sp>
      <p:sp>
        <p:nvSpPr>
          <p:cNvPr id="18" name="Shape 15"/>
          <p:cNvSpPr/>
          <p:nvPr/>
        </p:nvSpPr>
        <p:spPr>
          <a:xfrm>
            <a:off x="457200" y="1371600"/>
            <a:ext cx="2651760" cy="2633472"/>
          </a:xfrm>
          <a:prstGeom prst="roundRect">
            <a:avLst>
              <a:gd name="adj" fmla="val 2778"/>
            </a:avLst>
          </a:prstGeom>
          <a:solidFill>
            <a:srgbClr val="F4F7F5"/>
          </a:solidFill>
          <a:ln w="9525">
            <a:solidFill>
              <a:srgbClr val="D5DED9"/>
            </a:solidFill>
            <a:prstDash val="solid"/>
          </a:ln>
        </p:spPr>
      </p:sp>
      <p:sp>
        <p:nvSpPr>
          <p:cNvPr id="19" name="Shape 16"/>
          <p:cNvSpPr/>
          <p:nvPr/>
        </p:nvSpPr>
        <p:spPr>
          <a:xfrm>
            <a:off x="594360" y="1481328"/>
            <a:ext cx="402336" cy="402336"/>
          </a:xfrm>
          <a:prstGeom prst="ellipse">
            <a:avLst/>
          </a:prstGeom>
          <a:solidFill>
            <a:srgbClr val="00A86A"/>
          </a:solidFill>
          <a:ln/>
        </p:spPr>
      </p:sp>
      <p:pic>
        <p:nvPicPr>
          <p:cNvPr id="20" name="Image 0" descr="preencoded.png"/>
          <p:cNvPicPr>
            <a:picLocks noChangeAspect="1"/>
          </p:cNvPicPr>
          <p:nvPr/>
        </p:nvPicPr>
        <p:blipFill>
          <a:blip r:embed="rId3"/>
          <a:stretch>
            <a:fillRect/>
          </a:stretch>
        </p:blipFill>
        <p:spPr>
          <a:xfrm>
            <a:off x="690921" y="1577889"/>
            <a:ext cx="209215" cy="209215"/>
          </a:xfrm>
          <a:prstGeom prst="rect">
            <a:avLst/>
          </a:prstGeom>
        </p:spPr>
      </p:pic>
      <p:sp>
        <p:nvSpPr>
          <p:cNvPr id="21" name="Text 17"/>
          <p:cNvSpPr txBox="1"/>
          <p:nvPr/>
        </p:nvSpPr>
        <p:spPr>
          <a:xfrm>
            <a:off x="1097280" y="1481328"/>
            <a:ext cx="1920240" cy="40233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Statisticiens et méthodologues</a:t>
            </a:r>
            <a:endParaRPr lang="en-US" sz="1150" dirty="0"/>
          </a:p>
        </p:txBody>
      </p:sp>
      <p:pic>
        <p:nvPicPr>
          <p:cNvPr id="22" name="Image 1" descr="preencoded.png"/>
          <p:cNvPicPr>
            <a:picLocks noChangeAspect="1"/>
          </p:cNvPicPr>
          <p:nvPr/>
        </p:nvPicPr>
        <p:blipFill>
          <a:blip r:embed="rId4"/>
          <a:stretch>
            <a:fillRect/>
          </a:stretch>
        </p:blipFill>
        <p:spPr>
          <a:xfrm>
            <a:off x="594360" y="2039112"/>
            <a:ext cx="137160" cy="137160"/>
          </a:xfrm>
          <a:prstGeom prst="rect">
            <a:avLst/>
          </a:prstGeom>
        </p:spPr>
      </p:pic>
      <p:sp>
        <p:nvSpPr>
          <p:cNvPr id="23" name="Text 18"/>
          <p:cNvSpPr txBox="1"/>
          <p:nvPr/>
        </p:nvSpPr>
        <p:spPr>
          <a:xfrm>
            <a:off x="804672" y="2011680"/>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Apprentissage supervisé et différences avec l'inférence par modèle</a:t>
            </a:r>
            <a:endParaRPr lang="en-US" sz="900" dirty="0"/>
          </a:p>
        </p:txBody>
      </p:sp>
      <p:pic>
        <p:nvPicPr>
          <p:cNvPr id="24" name="Image 2" descr="preencoded.png"/>
          <p:cNvPicPr>
            <a:picLocks noChangeAspect="1"/>
          </p:cNvPicPr>
          <p:nvPr/>
        </p:nvPicPr>
        <p:blipFill>
          <a:blip r:embed="rId4"/>
          <a:stretch>
            <a:fillRect/>
          </a:stretch>
        </p:blipFill>
        <p:spPr>
          <a:xfrm>
            <a:off x="594360" y="2432304"/>
            <a:ext cx="137160" cy="137160"/>
          </a:xfrm>
          <a:prstGeom prst="rect">
            <a:avLst/>
          </a:prstGeom>
        </p:spPr>
      </p:pic>
      <p:sp>
        <p:nvSpPr>
          <p:cNvPr id="25" name="Text 19"/>
          <p:cNvSpPr txBox="1"/>
          <p:nvPr/>
        </p:nvSpPr>
        <p:spPr>
          <a:xfrm>
            <a:off x="804672" y="2404872"/>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Évaluation : précision, rappel, calibration, seuils</a:t>
            </a:r>
            <a:endParaRPr lang="en-US" sz="900" dirty="0"/>
          </a:p>
        </p:txBody>
      </p:sp>
      <p:pic>
        <p:nvPicPr>
          <p:cNvPr id="26" name="Image 3" descr="preencoded.png"/>
          <p:cNvPicPr>
            <a:picLocks noChangeAspect="1"/>
          </p:cNvPicPr>
          <p:nvPr/>
        </p:nvPicPr>
        <p:blipFill>
          <a:blip r:embed="rId4"/>
          <a:stretch>
            <a:fillRect/>
          </a:stretch>
        </p:blipFill>
        <p:spPr>
          <a:xfrm>
            <a:off x="594360" y="2825496"/>
            <a:ext cx="137160" cy="137160"/>
          </a:xfrm>
          <a:prstGeom prst="rect">
            <a:avLst/>
          </a:prstGeom>
        </p:spPr>
      </p:pic>
      <p:sp>
        <p:nvSpPr>
          <p:cNvPr id="27" name="Text 20"/>
          <p:cNvSpPr txBox="1"/>
          <p:nvPr/>
        </p:nvSpPr>
        <p:spPr>
          <a:xfrm>
            <a:off x="804672" y="2798064"/>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Python ou R, gestion de versions, environnements reproductibles</a:t>
            </a:r>
            <a:endParaRPr lang="en-US" sz="900" dirty="0"/>
          </a:p>
        </p:txBody>
      </p:sp>
      <p:pic>
        <p:nvPicPr>
          <p:cNvPr id="28" name="Image 4" descr="preencoded.png"/>
          <p:cNvPicPr>
            <a:picLocks noChangeAspect="1"/>
          </p:cNvPicPr>
          <p:nvPr/>
        </p:nvPicPr>
        <p:blipFill>
          <a:blip r:embed="rId4"/>
          <a:stretch>
            <a:fillRect/>
          </a:stretch>
        </p:blipFill>
        <p:spPr>
          <a:xfrm>
            <a:off x="594360" y="3218688"/>
            <a:ext cx="137160" cy="137160"/>
          </a:xfrm>
          <a:prstGeom prst="rect">
            <a:avLst/>
          </a:prstGeom>
        </p:spPr>
      </p:pic>
      <p:sp>
        <p:nvSpPr>
          <p:cNvPr id="29" name="Text 21"/>
          <p:cNvSpPr txBox="1"/>
          <p:nvPr/>
        </p:nvSpPr>
        <p:spPr>
          <a:xfrm>
            <a:off x="804672" y="3191256"/>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RAG et prompts, assez pour juger de la fiabilité</a:t>
            </a:r>
            <a:endParaRPr lang="en-US" sz="900" dirty="0"/>
          </a:p>
        </p:txBody>
      </p:sp>
      <p:pic>
        <p:nvPicPr>
          <p:cNvPr id="30" name="Image 5" descr="preencoded.png"/>
          <p:cNvPicPr>
            <a:picLocks noChangeAspect="1"/>
          </p:cNvPicPr>
          <p:nvPr/>
        </p:nvPicPr>
        <p:blipFill>
          <a:blip r:embed="rId4"/>
          <a:stretch>
            <a:fillRect/>
          </a:stretch>
        </p:blipFill>
        <p:spPr>
          <a:xfrm>
            <a:off x="594360" y="3611880"/>
            <a:ext cx="137160" cy="137160"/>
          </a:xfrm>
          <a:prstGeom prst="rect">
            <a:avLst/>
          </a:prstGeom>
        </p:spPr>
      </p:pic>
      <p:sp>
        <p:nvSpPr>
          <p:cNvPr id="31" name="Text 22"/>
          <p:cNvSpPr txBox="1"/>
          <p:nvPr/>
        </p:nvSpPr>
        <p:spPr>
          <a:xfrm>
            <a:off x="804672" y="3584448"/>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Biais, dérive et dégradation silencieuse des modèles</a:t>
            </a:r>
            <a:endParaRPr lang="en-US" sz="900" dirty="0"/>
          </a:p>
        </p:txBody>
      </p:sp>
      <p:sp>
        <p:nvSpPr>
          <p:cNvPr id="32" name="Shape 23"/>
          <p:cNvSpPr/>
          <p:nvPr/>
        </p:nvSpPr>
        <p:spPr>
          <a:xfrm>
            <a:off x="3246120" y="1371600"/>
            <a:ext cx="2651760" cy="2633472"/>
          </a:xfrm>
          <a:prstGeom prst="roundRect">
            <a:avLst>
              <a:gd name="adj" fmla="val 2778"/>
            </a:avLst>
          </a:prstGeom>
          <a:solidFill>
            <a:srgbClr val="F4F7F5"/>
          </a:solidFill>
          <a:ln w="9525">
            <a:solidFill>
              <a:srgbClr val="D5DED9"/>
            </a:solidFill>
            <a:prstDash val="solid"/>
          </a:ln>
        </p:spPr>
      </p:sp>
      <p:sp>
        <p:nvSpPr>
          <p:cNvPr id="33" name="Shape 24"/>
          <p:cNvSpPr/>
          <p:nvPr/>
        </p:nvSpPr>
        <p:spPr>
          <a:xfrm>
            <a:off x="3383280" y="1481328"/>
            <a:ext cx="402336" cy="402336"/>
          </a:xfrm>
          <a:prstGeom prst="ellipse">
            <a:avLst/>
          </a:prstGeom>
          <a:solidFill>
            <a:srgbClr val="0E7C86"/>
          </a:solidFill>
          <a:ln/>
        </p:spPr>
      </p:sp>
      <p:pic>
        <p:nvPicPr>
          <p:cNvPr id="34" name="Image 6" descr="preencoded.png"/>
          <p:cNvPicPr>
            <a:picLocks noChangeAspect="1"/>
          </p:cNvPicPr>
          <p:nvPr/>
        </p:nvPicPr>
        <p:blipFill>
          <a:blip r:embed="rId5"/>
          <a:stretch>
            <a:fillRect/>
          </a:stretch>
        </p:blipFill>
        <p:spPr>
          <a:xfrm>
            <a:off x="3479841" y="1577889"/>
            <a:ext cx="209215" cy="209215"/>
          </a:xfrm>
          <a:prstGeom prst="rect">
            <a:avLst/>
          </a:prstGeom>
        </p:spPr>
      </p:pic>
      <p:sp>
        <p:nvSpPr>
          <p:cNvPr id="35" name="Text 25"/>
          <p:cNvSpPr txBox="1"/>
          <p:nvPr/>
        </p:nvSpPr>
        <p:spPr>
          <a:xfrm>
            <a:off x="3886200" y="1481328"/>
            <a:ext cx="1920240" cy="40233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Informatique, plateforme et sécurité</a:t>
            </a:r>
            <a:endParaRPr lang="en-US" sz="1150" dirty="0"/>
          </a:p>
        </p:txBody>
      </p:sp>
      <p:pic>
        <p:nvPicPr>
          <p:cNvPr id="36" name="Image 7" descr="preencoded.png"/>
          <p:cNvPicPr>
            <a:picLocks noChangeAspect="1"/>
          </p:cNvPicPr>
          <p:nvPr/>
        </p:nvPicPr>
        <p:blipFill>
          <a:blip r:embed="rId6"/>
          <a:stretch>
            <a:fillRect/>
          </a:stretch>
        </p:blipFill>
        <p:spPr>
          <a:xfrm>
            <a:off x="3383280" y="2039112"/>
            <a:ext cx="137160" cy="137160"/>
          </a:xfrm>
          <a:prstGeom prst="rect">
            <a:avLst/>
          </a:prstGeom>
        </p:spPr>
      </p:pic>
      <p:sp>
        <p:nvSpPr>
          <p:cNvPr id="37" name="Text 26"/>
          <p:cNvSpPr txBox="1"/>
          <p:nvPr/>
        </p:nvSpPr>
        <p:spPr>
          <a:xfrm>
            <a:off x="3593592" y="2011680"/>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Conteneurs et orchestration (Kubernetes ou Slurm)</a:t>
            </a:r>
            <a:endParaRPr lang="en-US" sz="900" dirty="0"/>
          </a:p>
        </p:txBody>
      </p:sp>
      <p:pic>
        <p:nvPicPr>
          <p:cNvPr id="38" name="Image 8" descr="preencoded.png"/>
          <p:cNvPicPr>
            <a:picLocks noChangeAspect="1"/>
          </p:cNvPicPr>
          <p:nvPr/>
        </p:nvPicPr>
        <p:blipFill>
          <a:blip r:embed="rId6"/>
          <a:stretch>
            <a:fillRect/>
          </a:stretch>
        </p:blipFill>
        <p:spPr>
          <a:xfrm>
            <a:off x="3383280" y="2432304"/>
            <a:ext cx="137160" cy="137160"/>
          </a:xfrm>
          <a:prstGeom prst="rect">
            <a:avLst/>
          </a:prstGeom>
        </p:spPr>
      </p:pic>
      <p:sp>
        <p:nvSpPr>
          <p:cNvPr id="39" name="Text 27"/>
          <p:cNvSpPr txBox="1"/>
          <p:nvPr/>
        </p:nvSpPr>
        <p:spPr>
          <a:xfrm>
            <a:off x="3593592" y="2404872"/>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Exploitation GPU : pilotes, ordonnancement, partage, suivi</a:t>
            </a:r>
            <a:endParaRPr lang="en-US" sz="900" dirty="0"/>
          </a:p>
        </p:txBody>
      </p:sp>
      <p:pic>
        <p:nvPicPr>
          <p:cNvPr id="40" name="Image 9" descr="preencoded.png"/>
          <p:cNvPicPr>
            <a:picLocks noChangeAspect="1"/>
          </p:cNvPicPr>
          <p:nvPr/>
        </p:nvPicPr>
        <p:blipFill>
          <a:blip r:embed="rId6"/>
          <a:stretch>
            <a:fillRect/>
          </a:stretch>
        </p:blipFill>
        <p:spPr>
          <a:xfrm>
            <a:off x="3383280" y="2825496"/>
            <a:ext cx="137160" cy="137160"/>
          </a:xfrm>
          <a:prstGeom prst="rect">
            <a:avLst/>
          </a:prstGeom>
        </p:spPr>
      </p:pic>
      <p:sp>
        <p:nvSpPr>
          <p:cNvPr id="41" name="Text 28"/>
          <p:cNvSpPr txBox="1"/>
          <p:nvPr/>
        </p:nvSpPr>
        <p:spPr>
          <a:xfrm>
            <a:off x="3593592" y="2798064"/>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Service de modèles, passerelles, index vectoriels</a:t>
            </a:r>
            <a:endParaRPr lang="en-US" sz="900" dirty="0"/>
          </a:p>
        </p:txBody>
      </p:sp>
      <p:pic>
        <p:nvPicPr>
          <p:cNvPr id="42" name="Image 10" descr="preencoded.png"/>
          <p:cNvPicPr>
            <a:picLocks noChangeAspect="1"/>
          </p:cNvPicPr>
          <p:nvPr/>
        </p:nvPicPr>
        <p:blipFill>
          <a:blip r:embed="rId6"/>
          <a:stretch>
            <a:fillRect/>
          </a:stretch>
        </p:blipFill>
        <p:spPr>
          <a:xfrm>
            <a:off x="3383280" y="3218688"/>
            <a:ext cx="137160" cy="137160"/>
          </a:xfrm>
          <a:prstGeom prst="rect">
            <a:avLst/>
          </a:prstGeom>
        </p:spPr>
      </p:pic>
      <p:sp>
        <p:nvSpPr>
          <p:cNvPr id="43" name="Text 29"/>
          <p:cNvSpPr txBox="1"/>
          <p:nvPr/>
        </p:nvSpPr>
        <p:spPr>
          <a:xfrm>
            <a:off x="3593592" y="3191256"/>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Intégration continue pour modèles, données et prompts</a:t>
            </a:r>
            <a:endParaRPr lang="en-US" sz="900" dirty="0"/>
          </a:p>
        </p:txBody>
      </p:sp>
      <p:pic>
        <p:nvPicPr>
          <p:cNvPr id="44" name="Image 11" descr="preencoded.png"/>
          <p:cNvPicPr>
            <a:picLocks noChangeAspect="1"/>
          </p:cNvPicPr>
          <p:nvPr/>
        </p:nvPicPr>
        <p:blipFill>
          <a:blip r:embed="rId6"/>
          <a:stretch>
            <a:fillRect/>
          </a:stretch>
        </p:blipFill>
        <p:spPr>
          <a:xfrm>
            <a:off x="3383280" y="3611880"/>
            <a:ext cx="137160" cy="137160"/>
          </a:xfrm>
          <a:prstGeom prst="rect">
            <a:avLst/>
          </a:prstGeom>
        </p:spPr>
      </p:pic>
      <p:sp>
        <p:nvSpPr>
          <p:cNvPr id="45" name="Text 30"/>
          <p:cNvSpPr txBox="1"/>
          <p:nvPr/>
        </p:nvSpPr>
        <p:spPr>
          <a:xfrm>
            <a:off x="3593592" y="3584448"/>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Sécurité IA : injection de requête, fuites, chaîne d'approvisionnement</a:t>
            </a:r>
            <a:endParaRPr lang="en-US" sz="900" dirty="0"/>
          </a:p>
        </p:txBody>
      </p:sp>
      <p:sp>
        <p:nvSpPr>
          <p:cNvPr id="46" name="Shape 31"/>
          <p:cNvSpPr/>
          <p:nvPr/>
        </p:nvSpPr>
        <p:spPr>
          <a:xfrm>
            <a:off x="6035040" y="1371600"/>
            <a:ext cx="2651760" cy="2633472"/>
          </a:xfrm>
          <a:prstGeom prst="roundRect">
            <a:avLst>
              <a:gd name="adj" fmla="val 2778"/>
            </a:avLst>
          </a:prstGeom>
          <a:solidFill>
            <a:srgbClr val="F4F7F5"/>
          </a:solidFill>
          <a:ln w="9525">
            <a:solidFill>
              <a:srgbClr val="D5DED9"/>
            </a:solidFill>
            <a:prstDash val="solid"/>
          </a:ln>
        </p:spPr>
      </p:sp>
      <p:sp>
        <p:nvSpPr>
          <p:cNvPr id="47" name="Shape 32"/>
          <p:cNvSpPr/>
          <p:nvPr/>
        </p:nvSpPr>
        <p:spPr>
          <a:xfrm>
            <a:off x="6172200" y="1481328"/>
            <a:ext cx="402336" cy="402336"/>
          </a:xfrm>
          <a:prstGeom prst="ellipse">
            <a:avLst/>
          </a:prstGeom>
          <a:solidFill>
            <a:srgbClr val="D49A00"/>
          </a:solidFill>
          <a:ln/>
        </p:spPr>
      </p:sp>
      <p:pic>
        <p:nvPicPr>
          <p:cNvPr id="48" name="Image 12" descr="preencoded.png"/>
          <p:cNvPicPr>
            <a:picLocks noChangeAspect="1"/>
          </p:cNvPicPr>
          <p:nvPr/>
        </p:nvPicPr>
        <p:blipFill>
          <a:blip r:embed="rId7"/>
          <a:stretch>
            <a:fillRect/>
          </a:stretch>
        </p:blipFill>
        <p:spPr>
          <a:xfrm>
            <a:off x="6268761" y="1577889"/>
            <a:ext cx="209215" cy="209215"/>
          </a:xfrm>
          <a:prstGeom prst="rect">
            <a:avLst/>
          </a:prstGeom>
        </p:spPr>
      </p:pic>
      <p:sp>
        <p:nvSpPr>
          <p:cNvPr id="49" name="Text 33"/>
          <p:cNvSpPr txBox="1"/>
          <p:nvPr/>
        </p:nvSpPr>
        <p:spPr>
          <a:xfrm>
            <a:off x="6675120" y="1481328"/>
            <a:ext cx="1920240" cy="40233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Direction et contrôle</a:t>
            </a:r>
            <a:endParaRPr lang="en-US" sz="1150" dirty="0"/>
          </a:p>
        </p:txBody>
      </p:sp>
      <p:pic>
        <p:nvPicPr>
          <p:cNvPr id="50" name="Image 13" descr="preencoded.png"/>
          <p:cNvPicPr>
            <a:picLocks noChangeAspect="1"/>
          </p:cNvPicPr>
          <p:nvPr/>
        </p:nvPicPr>
        <p:blipFill>
          <a:blip r:embed="rId8"/>
          <a:stretch>
            <a:fillRect/>
          </a:stretch>
        </p:blipFill>
        <p:spPr>
          <a:xfrm>
            <a:off x="6172200" y="2039112"/>
            <a:ext cx="137160" cy="137160"/>
          </a:xfrm>
          <a:prstGeom prst="rect">
            <a:avLst/>
          </a:prstGeom>
        </p:spPr>
      </p:pic>
      <p:sp>
        <p:nvSpPr>
          <p:cNvPr id="51" name="Text 34"/>
          <p:cNvSpPr txBox="1"/>
          <p:nvPr/>
        </p:nvSpPr>
        <p:spPr>
          <a:xfrm>
            <a:off x="6382512" y="2011680"/>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Ce que l'IA sait et ne sait pas faire, sans discours commercial</a:t>
            </a:r>
            <a:endParaRPr lang="en-US" sz="900" dirty="0"/>
          </a:p>
        </p:txBody>
      </p:sp>
      <p:pic>
        <p:nvPicPr>
          <p:cNvPr id="52" name="Image 14" descr="preencoded.png"/>
          <p:cNvPicPr>
            <a:picLocks noChangeAspect="1"/>
          </p:cNvPicPr>
          <p:nvPr/>
        </p:nvPicPr>
        <p:blipFill>
          <a:blip r:embed="rId8"/>
          <a:stretch>
            <a:fillRect/>
          </a:stretch>
        </p:blipFill>
        <p:spPr>
          <a:xfrm>
            <a:off x="6172200" y="2432304"/>
            <a:ext cx="137160" cy="137160"/>
          </a:xfrm>
          <a:prstGeom prst="rect">
            <a:avLst/>
          </a:prstGeom>
        </p:spPr>
      </p:pic>
      <p:sp>
        <p:nvSpPr>
          <p:cNvPr id="53" name="Text 35"/>
          <p:cNvSpPr txBox="1"/>
          <p:nvPr/>
        </p:nvSpPr>
        <p:spPr>
          <a:xfrm>
            <a:off x="6382512" y="2404872"/>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Lire un rapport d'évaluation</a:t>
            </a:r>
            <a:endParaRPr lang="en-US" sz="900" dirty="0"/>
          </a:p>
        </p:txBody>
      </p:sp>
      <p:pic>
        <p:nvPicPr>
          <p:cNvPr id="54" name="Image 15" descr="preencoded.png"/>
          <p:cNvPicPr>
            <a:picLocks noChangeAspect="1"/>
          </p:cNvPicPr>
          <p:nvPr/>
        </p:nvPicPr>
        <p:blipFill>
          <a:blip r:embed="rId8"/>
          <a:stretch>
            <a:fillRect/>
          </a:stretch>
        </p:blipFill>
        <p:spPr>
          <a:xfrm>
            <a:off x="6172200" y="2825496"/>
            <a:ext cx="137160" cy="137160"/>
          </a:xfrm>
          <a:prstGeom prst="rect">
            <a:avLst/>
          </a:prstGeom>
        </p:spPr>
      </p:pic>
      <p:sp>
        <p:nvSpPr>
          <p:cNvPr id="55" name="Text 36"/>
          <p:cNvSpPr txBox="1"/>
          <p:nvPr/>
        </p:nvSpPr>
        <p:spPr>
          <a:xfrm>
            <a:off x="6382512" y="2798064"/>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Les facteurs de coût qui comptent vraiment</a:t>
            </a:r>
            <a:endParaRPr lang="en-US" sz="900" dirty="0"/>
          </a:p>
        </p:txBody>
      </p:sp>
      <p:pic>
        <p:nvPicPr>
          <p:cNvPr id="56" name="Image 16" descr="preencoded.png"/>
          <p:cNvPicPr>
            <a:picLocks noChangeAspect="1"/>
          </p:cNvPicPr>
          <p:nvPr/>
        </p:nvPicPr>
        <p:blipFill>
          <a:blip r:embed="rId8"/>
          <a:stretch>
            <a:fillRect/>
          </a:stretch>
        </p:blipFill>
        <p:spPr>
          <a:xfrm>
            <a:off x="6172200" y="3218688"/>
            <a:ext cx="137160" cy="137160"/>
          </a:xfrm>
          <a:prstGeom prst="rect">
            <a:avLst/>
          </a:prstGeom>
        </p:spPr>
      </p:pic>
      <p:sp>
        <p:nvSpPr>
          <p:cNvPr id="57" name="Text 37"/>
          <p:cNvSpPr txBox="1"/>
          <p:nvPr/>
        </p:nvSpPr>
        <p:spPr>
          <a:xfrm>
            <a:off x="6382512" y="3191256"/>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Obligations : confidentialité, données, transparence</a:t>
            </a:r>
            <a:endParaRPr lang="en-US" sz="900" dirty="0"/>
          </a:p>
        </p:txBody>
      </p:sp>
      <p:pic>
        <p:nvPicPr>
          <p:cNvPr id="58" name="Image 17" descr="preencoded.png"/>
          <p:cNvPicPr>
            <a:picLocks noChangeAspect="1"/>
          </p:cNvPicPr>
          <p:nvPr/>
        </p:nvPicPr>
        <p:blipFill>
          <a:blip r:embed="rId8"/>
          <a:stretch>
            <a:fillRect/>
          </a:stretch>
        </p:blipFill>
        <p:spPr>
          <a:xfrm>
            <a:off x="6172200" y="3611880"/>
            <a:ext cx="137160" cy="137160"/>
          </a:xfrm>
          <a:prstGeom prst="rect">
            <a:avLst/>
          </a:prstGeom>
        </p:spPr>
      </p:pic>
      <p:sp>
        <p:nvSpPr>
          <p:cNvPr id="59" name="Text 38"/>
          <p:cNvSpPr txBox="1"/>
          <p:nvPr/>
        </p:nvSpPr>
        <p:spPr>
          <a:xfrm>
            <a:off x="6382512" y="3584448"/>
            <a:ext cx="2167128" cy="393192"/>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Quand et comment arrêter un projet</a:t>
            </a:r>
            <a:endParaRPr lang="en-US" sz="900" dirty="0"/>
          </a:p>
        </p:txBody>
      </p:sp>
      <p:sp>
        <p:nvSpPr>
          <p:cNvPr id="60" name="Shape 39"/>
          <p:cNvSpPr/>
          <p:nvPr/>
        </p:nvSpPr>
        <p:spPr>
          <a:xfrm>
            <a:off x="457200" y="4114800"/>
            <a:ext cx="8229600" cy="475488"/>
          </a:xfrm>
          <a:prstGeom prst="roundRect">
            <a:avLst>
              <a:gd name="adj" fmla="val 11538"/>
            </a:avLst>
          </a:prstGeom>
          <a:solidFill>
            <a:srgbClr val="D49A00">
              <a:alpha val="13000"/>
            </a:srgbClr>
          </a:solidFill>
          <a:ln w="12700">
            <a:solidFill>
              <a:srgbClr val="D49A00"/>
            </a:solidFill>
            <a:prstDash val="solid"/>
          </a:ln>
        </p:spPr>
      </p:sp>
      <p:sp>
        <p:nvSpPr>
          <p:cNvPr id="61" name="Shape 40"/>
          <p:cNvSpPr/>
          <p:nvPr/>
        </p:nvSpPr>
        <p:spPr>
          <a:xfrm>
            <a:off x="566928" y="4206240"/>
            <a:ext cx="292608" cy="292608"/>
          </a:xfrm>
          <a:prstGeom prst="ellipse">
            <a:avLst/>
          </a:prstGeom>
          <a:solidFill>
            <a:srgbClr val="D49A00">
              <a:alpha val="22000"/>
            </a:srgbClr>
          </a:solidFill>
          <a:ln/>
        </p:spPr>
      </p:sp>
      <p:pic>
        <p:nvPicPr>
          <p:cNvPr id="62" name="Image 18" descr="preencoded.png"/>
          <p:cNvPicPr>
            <a:picLocks noChangeAspect="1"/>
          </p:cNvPicPr>
          <p:nvPr/>
        </p:nvPicPr>
        <p:blipFill>
          <a:blip r:embed="rId9"/>
          <a:stretch>
            <a:fillRect/>
          </a:stretch>
        </p:blipFill>
        <p:spPr>
          <a:xfrm>
            <a:off x="637154" y="4276466"/>
            <a:ext cx="152156" cy="152156"/>
          </a:xfrm>
          <a:prstGeom prst="rect">
            <a:avLst/>
          </a:prstGeom>
        </p:spPr>
      </p:pic>
      <p:sp>
        <p:nvSpPr>
          <p:cNvPr id="63" name="Text 41"/>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950" b="1" dirty="0">
                <a:solidFill>
                  <a:srgbClr val="8A6400"/>
                </a:solidFill>
                <a:latin typeface="Calibri" pitchFamily="34" charset="0"/>
                <a:ea typeface="Calibri" pitchFamily="34" charset="-122"/>
                <a:cs typeface="Calibri" pitchFamily="34" charset="-120"/>
              </a:rPr>
              <a:t>Le format compte plus que le contenu.  </a:t>
            </a:r>
            <a:r>
              <a:rPr lang="en-US" sz="950" dirty="0">
                <a:solidFill>
                  <a:srgbClr val="231F20"/>
                </a:solidFill>
                <a:latin typeface="Calibri" pitchFamily="34" charset="0"/>
                <a:ea typeface="Calibri" pitchFamily="34" charset="-122"/>
                <a:cs typeface="Calibri" pitchFamily="34" charset="-120"/>
              </a:rPr>
              <a:t>Les cours en ligne génériques sont peu suivis et peu appliqués. Ce qui marche : un apprentissage lié à un vrai cas d'usage interne, avec du temps protégé, un mentor et un livrable utile.</a:t>
            </a:r>
            <a:endParaRPr lang="en-US" sz="950" dirty="0"/>
          </a:p>
        </p:txBody>
      </p:sp>
    </p:spTree>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MATURITÉ</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Un modèle de maturité en cinq niveaux</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Soyez lucide sur le point de départ. La plupart des instituts se situent entre les niveaux 1 et 2</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58</a:t>
            </a:r>
            <a:endParaRPr lang="en-US" sz="850" dirty="0"/>
          </a:p>
        </p:txBody>
      </p:sp>
      <p:sp>
        <p:nvSpPr>
          <p:cNvPr id="18" name="Shape 15"/>
          <p:cNvSpPr/>
          <p:nvPr/>
        </p:nvSpPr>
        <p:spPr>
          <a:xfrm>
            <a:off x="457200" y="1810512"/>
            <a:ext cx="1554480" cy="566928"/>
          </a:xfrm>
          <a:prstGeom prst="roundRect">
            <a:avLst>
              <a:gd name="adj" fmla="val 9677"/>
            </a:avLst>
          </a:prstGeom>
          <a:solidFill>
            <a:srgbClr val="9ED9C0"/>
          </a:solidFill>
          <a:ln/>
        </p:spPr>
      </p:sp>
      <p:sp>
        <p:nvSpPr>
          <p:cNvPr id="19" name="Text 16"/>
          <p:cNvSpPr txBox="1"/>
          <p:nvPr/>
        </p:nvSpPr>
        <p:spPr>
          <a:xfrm>
            <a:off x="548640" y="1865376"/>
            <a:ext cx="1371600" cy="182880"/>
          </a:xfrm>
          <a:prstGeom prst="rect">
            <a:avLst/>
          </a:prstGeom>
          <a:noFill/>
          <a:ln/>
        </p:spPr>
        <p:txBody>
          <a:bodyPr wrap="square" lIns="0" tIns="0" rIns="0" bIns="0" rtlCol="0" anchor="t"/>
          <a:lstStyle/>
          <a:p>
            <a:pPr marL="0" indent="0">
              <a:buNone/>
            </a:pPr>
            <a:r>
              <a:rPr lang="en-US" sz="850" b="1" kern="0" spc="150" dirty="0">
                <a:solidFill>
                  <a:srgbClr val="231F20"/>
                </a:solidFill>
                <a:latin typeface="Calibri" pitchFamily="34" charset="0"/>
                <a:ea typeface="Calibri" pitchFamily="34" charset="-122"/>
                <a:cs typeface="Calibri" pitchFamily="34" charset="-120"/>
              </a:rPr>
              <a:t>NIVEAU 1</a:t>
            </a:r>
            <a:endParaRPr lang="en-US" sz="850" dirty="0"/>
          </a:p>
        </p:txBody>
      </p:sp>
      <p:sp>
        <p:nvSpPr>
          <p:cNvPr id="20" name="Text 17"/>
          <p:cNvSpPr txBox="1"/>
          <p:nvPr/>
        </p:nvSpPr>
        <p:spPr>
          <a:xfrm>
            <a:off x="548640" y="2048256"/>
            <a:ext cx="1371600" cy="274320"/>
          </a:xfrm>
          <a:prstGeom prst="rect">
            <a:avLst/>
          </a:prstGeom>
          <a:noFill/>
          <a:ln/>
        </p:spPr>
        <p:txBody>
          <a:bodyPr wrap="square" lIns="0" tIns="0" rIns="0" bIns="0" rtlCol="0" anchor="t">
            <a:normAutofit/>
          </a:bodyPr>
          <a:lstStyle/>
          <a:p>
            <a:pPr marL="0" indent="0">
              <a:buNone/>
            </a:pPr>
            <a:r>
              <a:rPr lang="en-US" sz="1400" b="1" dirty="0">
                <a:solidFill>
                  <a:srgbClr val="231F20"/>
                </a:solidFill>
                <a:latin typeface="Calibri" pitchFamily="34" charset="0"/>
                <a:ea typeface="Calibri" pitchFamily="34" charset="-122"/>
                <a:cs typeface="Calibri" pitchFamily="34" charset="-120"/>
              </a:rPr>
              <a:t>Ponctuel</a:t>
            </a:r>
            <a:endParaRPr lang="en-US" sz="1400" dirty="0"/>
          </a:p>
        </p:txBody>
      </p:sp>
      <p:sp>
        <p:nvSpPr>
          <p:cNvPr id="21" name="Shape 18"/>
          <p:cNvSpPr/>
          <p:nvPr/>
        </p:nvSpPr>
        <p:spPr>
          <a:xfrm>
            <a:off x="457200" y="2450592"/>
            <a:ext cx="1554480" cy="1527048"/>
          </a:xfrm>
          <a:prstGeom prst="roundRect">
            <a:avLst>
              <a:gd name="adj" fmla="val 4790"/>
            </a:avLst>
          </a:prstGeom>
          <a:solidFill>
            <a:srgbClr val="F4F7F5"/>
          </a:solidFill>
          <a:ln w="9525">
            <a:solidFill>
              <a:srgbClr val="D5DED9"/>
            </a:solidFill>
            <a:prstDash val="solid"/>
          </a:ln>
        </p:spPr>
      </p:sp>
      <p:sp>
        <p:nvSpPr>
          <p:cNvPr id="22" name="Text 19"/>
          <p:cNvSpPr txBox="1"/>
          <p:nvPr/>
        </p:nvSpPr>
        <p:spPr>
          <a:xfrm>
            <a:off x="548640" y="2523744"/>
            <a:ext cx="1371600" cy="91440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Expériences individuelles sur postes personnels ; aucun environnement partagé.</a:t>
            </a:r>
            <a:endParaRPr lang="en-US" sz="850" dirty="0"/>
          </a:p>
        </p:txBody>
      </p:sp>
      <p:sp>
        <p:nvSpPr>
          <p:cNvPr id="23" name="Text 20"/>
          <p:cNvSpPr txBox="1"/>
          <p:nvPr/>
        </p:nvSpPr>
        <p:spPr>
          <a:xfrm>
            <a:off x="54864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SIGNE</a:t>
            </a:r>
            <a:endParaRPr lang="en-US" sz="750" dirty="0"/>
          </a:p>
        </p:txBody>
      </p:sp>
      <p:sp>
        <p:nvSpPr>
          <p:cNvPr id="24" name="Text 21"/>
          <p:cNvSpPr txBox="1"/>
          <p:nvPr/>
        </p:nvSpPr>
        <p:spPr>
          <a:xfrm>
            <a:off x="548640" y="3429000"/>
            <a:ext cx="1371600" cy="5029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Personne ne sait ce qui tourne ni qui en est responsable.</a:t>
            </a:r>
            <a:endParaRPr lang="en-US" sz="850" dirty="0"/>
          </a:p>
        </p:txBody>
      </p:sp>
      <p:sp>
        <p:nvSpPr>
          <p:cNvPr id="25" name="Shape 22"/>
          <p:cNvSpPr/>
          <p:nvPr/>
        </p:nvSpPr>
        <p:spPr>
          <a:xfrm>
            <a:off x="2125980" y="1700784"/>
            <a:ext cx="1554480" cy="566928"/>
          </a:xfrm>
          <a:prstGeom prst="roundRect">
            <a:avLst>
              <a:gd name="adj" fmla="val 9677"/>
            </a:avLst>
          </a:prstGeom>
          <a:solidFill>
            <a:srgbClr val="57BD92"/>
          </a:solidFill>
          <a:ln/>
        </p:spPr>
      </p:sp>
      <p:sp>
        <p:nvSpPr>
          <p:cNvPr id="26" name="Text 23"/>
          <p:cNvSpPr txBox="1"/>
          <p:nvPr/>
        </p:nvSpPr>
        <p:spPr>
          <a:xfrm>
            <a:off x="2217420" y="1755648"/>
            <a:ext cx="1371600" cy="182880"/>
          </a:xfrm>
          <a:prstGeom prst="rect">
            <a:avLst/>
          </a:prstGeom>
          <a:noFill/>
          <a:ln/>
        </p:spPr>
        <p:txBody>
          <a:bodyPr wrap="square" lIns="0" tIns="0" rIns="0" bIns="0" rtlCol="0" anchor="t"/>
          <a:lstStyle/>
          <a:p>
            <a:pPr marL="0" indent="0">
              <a:buNone/>
            </a:pPr>
            <a:r>
              <a:rPr lang="en-US" sz="850" b="1" kern="0" spc="150" dirty="0">
                <a:solidFill>
                  <a:srgbClr val="231F20"/>
                </a:solidFill>
                <a:latin typeface="Calibri" pitchFamily="34" charset="0"/>
                <a:ea typeface="Calibri" pitchFamily="34" charset="-122"/>
                <a:cs typeface="Calibri" pitchFamily="34" charset="-120"/>
              </a:rPr>
              <a:t>NIVEAU 2</a:t>
            </a:r>
            <a:endParaRPr lang="en-US" sz="850" dirty="0"/>
          </a:p>
        </p:txBody>
      </p:sp>
      <p:sp>
        <p:nvSpPr>
          <p:cNvPr id="27" name="Text 24"/>
          <p:cNvSpPr txBox="1"/>
          <p:nvPr/>
        </p:nvSpPr>
        <p:spPr>
          <a:xfrm>
            <a:off x="2217420" y="1938528"/>
            <a:ext cx="1371600" cy="274320"/>
          </a:xfrm>
          <a:prstGeom prst="rect">
            <a:avLst/>
          </a:prstGeom>
          <a:noFill/>
          <a:ln/>
        </p:spPr>
        <p:txBody>
          <a:bodyPr wrap="square" lIns="0" tIns="0" rIns="0" bIns="0" rtlCol="0" anchor="t">
            <a:normAutofit/>
          </a:bodyPr>
          <a:lstStyle/>
          <a:p>
            <a:pPr marL="0" indent="0">
              <a:buNone/>
            </a:pPr>
            <a:r>
              <a:rPr lang="en-US" sz="1400" b="1" dirty="0">
                <a:solidFill>
                  <a:srgbClr val="231F20"/>
                </a:solidFill>
                <a:latin typeface="Calibri" pitchFamily="34" charset="0"/>
                <a:ea typeface="Calibri" pitchFamily="34" charset="-122"/>
                <a:cs typeface="Calibri" pitchFamily="34" charset="-120"/>
              </a:rPr>
              <a:t>Outillé</a:t>
            </a:r>
            <a:endParaRPr lang="en-US" sz="1400" dirty="0"/>
          </a:p>
        </p:txBody>
      </p:sp>
      <p:sp>
        <p:nvSpPr>
          <p:cNvPr id="28" name="Shape 25"/>
          <p:cNvSpPr/>
          <p:nvPr/>
        </p:nvSpPr>
        <p:spPr>
          <a:xfrm>
            <a:off x="2125980" y="2340864"/>
            <a:ext cx="1554480" cy="1636776"/>
          </a:xfrm>
          <a:prstGeom prst="roundRect">
            <a:avLst>
              <a:gd name="adj" fmla="val 4706"/>
            </a:avLst>
          </a:prstGeom>
          <a:solidFill>
            <a:srgbClr val="F4F7F5"/>
          </a:solidFill>
          <a:ln w="9525">
            <a:solidFill>
              <a:srgbClr val="D5DED9"/>
            </a:solidFill>
            <a:prstDash val="solid"/>
          </a:ln>
        </p:spPr>
      </p:sp>
      <p:sp>
        <p:nvSpPr>
          <p:cNvPr id="29" name="Text 26"/>
          <p:cNvSpPr txBox="1"/>
          <p:nvPr/>
        </p:nvSpPr>
        <p:spPr>
          <a:xfrm>
            <a:off x="2217420" y="2414016"/>
            <a:ext cx="1371600" cy="91440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Environnement partagé, politique de classification en projet, un pilote proche de la production.</a:t>
            </a:r>
            <a:endParaRPr lang="en-US" sz="850" dirty="0"/>
          </a:p>
        </p:txBody>
      </p:sp>
      <p:sp>
        <p:nvSpPr>
          <p:cNvPr id="30" name="Text 27"/>
          <p:cNvSpPr txBox="1"/>
          <p:nvPr/>
        </p:nvSpPr>
        <p:spPr>
          <a:xfrm>
            <a:off x="221742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SIGNE</a:t>
            </a:r>
            <a:endParaRPr lang="en-US" sz="750" dirty="0"/>
          </a:p>
        </p:txBody>
      </p:sp>
      <p:sp>
        <p:nvSpPr>
          <p:cNvPr id="31" name="Text 28"/>
          <p:cNvSpPr txBox="1"/>
          <p:nvPr/>
        </p:nvSpPr>
        <p:spPr>
          <a:xfrm>
            <a:off x="2217420" y="3429000"/>
            <a:ext cx="1371600" cy="5029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La gouvernance est réinventée à chaque projet.</a:t>
            </a:r>
            <a:endParaRPr lang="en-US" sz="850" dirty="0"/>
          </a:p>
        </p:txBody>
      </p:sp>
      <p:sp>
        <p:nvSpPr>
          <p:cNvPr id="32" name="Shape 29"/>
          <p:cNvSpPr/>
          <p:nvPr/>
        </p:nvSpPr>
        <p:spPr>
          <a:xfrm>
            <a:off x="3794760" y="1591056"/>
            <a:ext cx="1554480" cy="566928"/>
          </a:xfrm>
          <a:prstGeom prst="roundRect">
            <a:avLst>
              <a:gd name="adj" fmla="val 9677"/>
            </a:avLst>
          </a:prstGeom>
          <a:solidFill>
            <a:srgbClr val="10A06A"/>
          </a:solidFill>
          <a:ln/>
        </p:spPr>
      </p:sp>
      <p:sp>
        <p:nvSpPr>
          <p:cNvPr id="33" name="Text 30"/>
          <p:cNvSpPr txBox="1"/>
          <p:nvPr/>
        </p:nvSpPr>
        <p:spPr>
          <a:xfrm>
            <a:off x="3886200" y="1645920"/>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NIVEAU 3</a:t>
            </a:r>
            <a:endParaRPr lang="en-US" sz="850" dirty="0"/>
          </a:p>
        </p:txBody>
      </p:sp>
      <p:sp>
        <p:nvSpPr>
          <p:cNvPr id="34" name="Text 31"/>
          <p:cNvSpPr txBox="1"/>
          <p:nvPr/>
        </p:nvSpPr>
        <p:spPr>
          <a:xfrm>
            <a:off x="3886200" y="1828800"/>
            <a:ext cx="1371600" cy="274320"/>
          </a:xfrm>
          <a:prstGeom prst="rect">
            <a:avLst/>
          </a:prstGeom>
          <a:noFill/>
          <a:ln/>
        </p:spPr>
        <p:txBody>
          <a:bodyPr wrap="square" lIns="0" tIns="0" rIns="0" bIns="0" rtlCol="0" anchor="t">
            <a:normAutofit/>
          </a:bodyPr>
          <a:lstStyle/>
          <a:p>
            <a:pPr marL="0" indent="0">
              <a:buNone/>
            </a:pPr>
            <a:r>
              <a:rPr lang="en-US" sz="1400" b="1" dirty="0">
                <a:solidFill>
                  <a:srgbClr val="FFFFFF"/>
                </a:solidFill>
                <a:latin typeface="Calibri" pitchFamily="34" charset="0"/>
                <a:ea typeface="Calibri" pitchFamily="34" charset="-122"/>
                <a:cs typeface="Calibri" pitchFamily="34" charset="-120"/>
              </a:rPr>
              <a:t>Reproductible</a:t>
            </a:r>
            <a:endParaRPr lang="en-US" sz="1400" dirty="0"/>
          </a:p>
        </p:txBody>
      </p:sp>
      <p:sp>
        <p:nvSpPr>
          <p:cNvPr id="35" name="Shape 32"/>
          <p:cNvSpPr/>
          <p:nvPr/>
        </p:nvSpPr>
        <p:spPr>
          <a:xfrm>
            <a:off x="3794760" y="2231136"/>
            <a:ext cx="1554480" cy="1746504"/>
          </a:xfrm>
          <a:prstGeom prst="roundRect">
            <a:avLst>
              <a:gd name="adj" fmla="val 4706"/>
            </a:avLst>
          </a:prstGeom>
          <a:solidFill>
            <a:srgbClr val="F8E9E7"/>
          </a:solidFill>
          <a:ln w="15875">
            <a:solidFill>
              <a:srgbClr val="B83B2E"/>
            </a:solidFill>
            <a:prstDash val="solid"/>
          </a:ln>
        </p:spPr>
      </p:sp>
      <p:sp>
        <p:nvSpPr>
          <p:cNvPr id="36" name="Text 33"/>
          <p:cNvSpPr txBox="1"/>
          <p:nvPr/>
        </p:nvSpPr>
        <p:spPr>
          <a:xfrm>
            <a:off x="3886200" y="2304288"/>
            <a:ext cx="1371600" cy="91440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Plateforme, MLOps, registre, validation et banc d'évaluation en place.</a:t>
            </a:r>
            <a:endParaRPr lang="en-US" sz="850" dirty="0"/>
          </a:p>
        </p:txBody>
      </p:sp>
      <p:sp>
        <p:nvSpPr>
          <p:cNvPr id="37" name="Text 34"/>
          <p:cNvSpPr txBox="1"/>
          <p:nvPr/>
        </p:nvSpPr>
        <p:spPr>
          <a:xfrm>
            <a:off x="388620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SIGNE</a:t>
            </a:r>
            <a:endParaRPr lang="en-US" sz="750" dirty="0"/>
          </a:p>
        </p:txBody>
      </p:sp>
      <p:sp>
        <p:nvSpPr>
          <p:cNvPr id="38" name="Text 35"/>
          <p:cNvSpPr txBox="1"/>
          <p:nvPr/>
        </p:nvSpPr>
        <p:spPr>
          <a:xfrm>
            <a:off x="3886200" y="3429000"/>
            <a:ext cx="1371600" cy="5029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Une autre équipe pourrait refaire le travail.</a:t>
            </a:r>
            <a:endParaRPr lang="en-US" sz="850" dirty="0"/>
          </a:p>
        </p:txBody>
      </p:sp>
      <p:sp>
        <p:nvSpPr>
          <p:cNvPr id="39" name="Shape 36"/>
          <p:cNvSpPr/>
          <p:nvPr/>
        </p:nvSpPr>
        <p:spPr>
          <a:xfrm>
            <a:off x="5463540" y="1481328"/>
            <a:ext cx="1554480" cy="566928"/>
          </a:xfrm>
          <a:prstGeom prst="roundRect">
            <a:avLst>
              <a:gd name="adj" fmla="val 9677"/>
            </a:avLst>
          </a:prstGeom>
          <a:solidFill>
            <a:srgbClr val="008A5B"/>
          </a:solidFill>
          <a:ln/>
        </p:spPr>
      </p:sp>
      <p:sp>
        <p:nvSpPr>
          <p:cNvPr id="40" name="Text 37"/>
          <p:cNvSpPr txBox="1"/>
          <p:nvPr/>
        </p:nvSpPr>
        <p:spPr>
          <a:xfrm>
            <a:off x="5554980" y="1536192"/>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NIVEAU 4</a:t>
            </a:r>
            <a:endParaRPr lang="en-US" sz="850" dirty="0"/>
          </a:p>
        </p:txBody>
      </p:sp>
      <p:sp>
        <p:nvSpPr>
          <p:cNvPr id="41" name="Text 38"/>
          <p:cNvSpPr txBox="1"/>
          <p:nvPr/>
        </p:nvSpPr>
        <p:spPr>
          <a:xfrm>
            <a:off x="5554980" y="1719072"/>
            <a:ext cx="1371600" cy="274320"/>
          </a:xfrm>
          <a:prstGeom prst="rect">
            <a:avLst/>
          </a:prstGeom>
          <a:noFill/>
          <a:ln/>
        </p:spPr>
        <p:txBody>
          <a:bodyPr wrap="square" lIns="0" tIns="0" rIns="0" bIns="0" rtlCol="0" anchor="t">
            <a:normAutofit/>
          </a:bodyPr>
          <a:lstStyle/>
          <a:p>
            <a:pPr marL="0" indent="0">
              <a:buNone/>
            </a:pPr>
            <a:r>
              <a:rPr lang="en-US" sz="1400" b="1" dirty="0">
                <a:solidFill>
                  <a:srgbClr val="FFFFFF"/>
                </a:solidFill>
                <a:latin typeface="Calibri" pitchFamily="34" charset="0"/>
                <a:ea typeface="Calibri" pitchFamily="34" charset="-122"/>
                <a:cs typeface="Calibri" pitchFamily="34" charset="-120"/>
              </a:rPr>
              <a:t>Maîtrisé</a:t>
            </a:r>
            <a:endParaRPr lang="en-US" sz="1400" dirty="0"/>
          </a:p>
        </p:txBody>
      </p:sp>
      <p:sp>
        <p:nvSpPr>
          <p:cNvPr id="42" name="Shape 39"/>
          <p:cNvSpPr/>
          <p:nvPr/>
        </p:nvSpPr>
        <p:spPr>
          <a:xfrm>
            <a:off x="5463540" y="2121408"/>
            <a:ext cx="1554480" cy="1856232"/>
          </a:xfrm>
          <a:prstGeom prst="roundRect">
            <a:avLst>
              <a:gd name="adj" fmla="val 4706"/>
            </a:avLst>
          </a:prstGeom>
          <a:solidFill>
            <a:srgbClr val="F4F7F5"/>
          </a:solidFill>
          <a:ln w="9525">
            <a:solidFill>
              <a:srgbClr val="D5DED9"/>
            </a:solidFill>
            <a:prstDash val="solid"/>
          </a:ln>
        </p:spPr>
      </p:sp>
      <p:sp>
        <p:nvSpPr>
          <p:cNvPr id="43" name="Text 40"/>
          <p:cNvSpPr txBox="1"/>
          <p:nvPr/>
        </p:nvSpPr>
        <p:spPr>
          <a:xfrm>
            <a:off x="5554980" y="2194560"/>
            <a:ext cx="1371600" cy="91440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Modèles suivis, revalidés, coûts imputés ; IA intégrée au cadre qualité.</a:t>
            </a:r>
            <a:endParaRPr lang="en-US" sz="850" dirty="0"/>
          </a:p>
        </p:txBody>
      </p:sp>
      <p:sp>
        <p:nvSpPr>
          <p:cNvPr id="44" name="Text 41"/>
          <p:cNvSpPr txBox="1"/>
          <p:nvPr/>
        </p:nvSpPr>
        <p:spPr>
          <a:xfrm>
            <a:off x="555498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SIGNE</a:t>
            </a:r>
            <a:endParaRPr lang="en-US" sz="750" dirty="0"/>
          </a:p>
        </p:txBody>
      </p:sp>
      <p:sp>
        <p:nvSpPr>
          <p:cNvPr id="45" name="Text 42"/>
          <p:cNvSpPr txBox="1"/>
          <p:nvPr/>
        </p:nvSpPr>
        <p:spPr>
          <a:xfrm>
            <a:off x="5554980" y="3429000"/>
            <a:ext cx="1371600" cy="5029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Dérives et dépassements détectés en interne.</a:t>
            </a:r>
            <a:endParaRPr lang="en-US" sz="850" dirty="0"/>
          </a:p>
        </p:txBody>
      </p:sp>
      <p:sp>
        <p:nvSpPr>
          <p:cNvPr id="46" name="Shape 43"/>
          <p:cNvSpPr/>
          <p:nvPr/>
        </p:nvSpPr>
        <p:spPr>
          <a:xfrm>
            <a:off x="7132320" y="1371600"/>
            <a:ext cx="1554480" cy="566928"/>
          </a:xfrm>
          <a:prstGeom prst="roundRect">
            <a:avLst>
              <a:gd name="adj" fmla="val 9677"/>
            </a:avLst>
          </a:prstGeom>
          <a:solidFill>
            <a:srgbClr val="00553A"/>
          </a:solidFill>
          <a:ln/>
        </p:spPr>
      </p:sp>
      <p:sp>
        <p:nvSpPr>
          <p:cNvPr id="47" name="Text 44"/>
          <p:cNvSpPr txBox="1"/>
          <p:nvPr/>
        </p:nvSpPr>
        <p:spPr>
          <a:xfrm>
            <a:off x="7223760" y="1426464"/>
            <a:ext cx="1371600" cy="182880"/>
          </a:xfrm>
          <a:prstGeom prst="rect">
            <a:avLst/>
          </a:prstGeom>
          <a:noFill/>
          <a:ln/>
        </p:spPr>
        <p:txBody>
          <a:bodyPr wrap="square" lIns="0" tIns="0" rIns="0" bIns="0" rtlCol="0" anchor="t"/>
          <a:lstStyle/>
          <a:p>
            <a:pPr marL="0" indent="0">
              <a:buNone/>
            </a:pPr>
            <a:r>
              <a:rPr lang="en-US" sz="850" b="1" kern="0" spc="150" dirty="0">
                <a:solidFill>
                  <a:srgbClr val="FFFFFF"/>
                </a:solidFill>
                <a:latin typeface="Calibri" pitchFamily="34" charset="0"/>
                <a:ea typeface="Calibri" pitchFamily="34" charset="-122"/>
                <a:cs typeface="Calibri" pitchFamily="34" charset="-120"/>
              </a:rPr>
              <a:t>NIVEAU 5</a:t>
            </a:r>
            <a:endParaRPr lang="en-US" sz="850" dirty="0"/>
          </a:p>
        </p:txBody>
      </p:sp>
      <p:sp>
        <p:nvSpPr>
          <p:cNvPr id="48" name="Text 45"/>
          <p:cNvSpPr txBox="1"/>
          <p:nvPr/>
        </p:nvSpPr>
        <p:spPr>
          <a:xfrm>
            <a:off x="7223760" y="1609344"/>
            <a:ext cx="1371600" cy="274320"/>
          </a:xfrm>
          <a:prstGeom prst="rect">
            <a:avLst/>
          </a:prstGeom>
          <a:noFill/>
          <a:ln/>
        </p:spPr>
        <p:txBody>
          <a:bodyPr wrap="square" lIns="0" tIns="0" rIns="0" bIns="0" rtlCol="0" anchor="t">
            <a:normAutofit/>
          </a:bodyPr>
          <a:lstStyle/>
          <a:p>
            <a:pPr marL="0" indent="0">
              <a:buNone/>
            </a:pPr>
            <a:r>
              <a:rPr lang="en-US" sz="1400" b="1" dirty="0">
                <a:solidFill>
                  <a:srgbClr val="FFFFFF"/>
                </a:solidFill>
                <a:latin typeface="Calibri" pitchFamily="34" charset="0"/>
                <a:ea typeface="Calibri" pitchFamily="34" charset="-122"/>
                <a:cs typeface="Calibri" pitchFamily="34" charset="-120"/>
              </a:rPr>
              <a:t>Optimisé</a:t>
            </a:r>
            <a:endParaRPr lang="en-US" sz="1400" dirty="0"/>
          </a:p>
        </p:txBody>
      </p:sp>
      <p:sp>
        <p:nvSpPr>
          <p:cNvPr id="49" name="Shape 46"/>
          <p:cNvSpPr/>
          <p:nvPr/>
        </p:nvSpPr>
        <p:spPr>
          <a:xfrm>
            <a:off x="7132320" y="2011680"/>
            <a:ext cx="1554480" cy="1965960"/>
          </a:xfrm>
          <a:prstGeom prst="roundRect">
            <a:avLst>
              <a:gd name="adj" fmla="val 4706"/>
            </a:avLst>
          </a:prstGeom>
          <a:solidFill>
            <a:srgbClr val="F4F7F5"/>
          </a:solidFill>
          <a:ln w="9525">
            <a:solidFill>
              <a:srgbClr val="D5DED9"/>
            </a:solidFill>
            <a:prstDash val="solid"/>
          </a:ln>
        </p:spPr>
      </p:sp>
      <p:sp>
        <p:nvSpPr>
          <p:cNvPr id="50" name="Text 47"/>
          <p:cNvSpPr txBox="1"/>
          <p:nvPr/>
        </p:nvSpPr>
        <p:spPr>
          <a:xfrm>
            <a:off x="7223760" y="2084832"/>
            <a:ext cx="1371600" cy="91440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Capacité courante : nouveaux usages en production en quelques semaines ; impact mesuré.</a:t>
            </a:r>
            <a:endParaRPr lang="en-US" sz="850" dirty="0"/>
          </a:p>
        </p:txBody>
      </p:sp>
      <p:sp>
        <p:nvSpPr>
          <p:cNvPr id="51" name="Text 48"/>
          <p:cNvSpPr txBox="1"/>
          <p:nvPr/>
        </p:nvSpPr>
        <p:spPr>
          <a:xfrm>
            <a:off x="7223760" y="3264408"/>
            <a:ext cx="1371600" cy="146304"/>
          </a:xfrm>
          <a:prstGeom prst="rect">
            <a:avLst/>
          </a:prstGeom>
          <a:noFill/>
          <a:ln/>
        </p:spPr>
        <p:txBody>
          <a:bodyPr wrap="square" lIns="0" tIns="0" rIns="0" bIns="0" rtlCol="0" anchor="t"/>
          <a:lstStyle/>
          <a:p>
            <a:pPr marL="0" indent="0">
              <a:buNone/>
            </a:pPr>
            <a:r>
              <a:rPr lang="en-US" sz="750" b="1" kern="0" spc="150" dirty="0">
                <a:solidFill>
                  <a:srgbClr val="5E6964"/>
                </a:solidFill>
                <a:latin typeface="Calibri" pitchFamily="34" charset="0"/>
                <a:ea typeface="Calibri" pitchFamily="34" charset="-122"/>
                <a:cs typeface="Calibri" pitchFamily="34" charset="-120"/>
              </a:rPr>
              <a:t>SIGNE</a:t>
            </a:r>
            <a:endParaRPr lang="en-US" sz="750" dirty="0"/>
          </a:p>
        </p:txBody>
      </p:sp>
      <p:sp>
        <p:nvSpPr>
          <p:cNvPr id="52" name="Text 49"/>
          <p:cNvSpPr txBox="1"/>
          <p:nvPr/>
        </p:nvSpPr>
        <p:spPr>
          <a:xfrm>
            <a:off x="7223760" y="3429000"/>
            <a:ext cx="1371600" cy="50292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L'IA fait l'objet d'un suivi comme tout processus.</a:t>
            </a:r>
            <a:endParaRPr lang="en-US" sz="850" dirty="0"/>
          </a:p>
        </p:txBody>
      </p:sp>
      <p:sp>
        <p:nvSpPr>
          <p:cNvPr id="53" name="Shape 50"/>
          <p:cNvSpPr/>
          <p:nvPr/>
        </p:nvSpPr>
        <p:spPr>
          <a:xfrm>
            <a:off x="457200" y="4114800"/>
            <a:ext cx="8229600" cy="475488"/>
          </a:xfrm>
          <a:prstGeom prst="roundRect">
            <a:avLst>
              <a:gd name="adj" fmla="val 11538"/>
            </a:avLst>
          </a:prstGeom>
          <a:solidFill>
            <a:srgbClr val="E8F5EF"/>
          </a:solidFill>
          <a:ln w="15875">
            <a:solidFill>
              <a:srgbClr val="B83B2E"/>
            </a:solidFill>
            <a:prstDash val="solid"/>
          </a:ln>
        </p:spPr>
      </p:sp>
      <p:sp>
        <p:nvSpPr>
          <p:cNvPr id="54" name="Shape 51"/>
          <p:cNvSpPr/>
          <p:nvPr/>
        </p:nvSpPr>
        <p:spPr>
          <a:xfrm>
            <a:off x="566928" y="4206240"/>
            <a:ext cx="292608" cy="292608"/>
          </a:xfrm>
          <a:prstGeom prst="ellipse">
            <a:avLst/>
          </a:prstGeom>
          <a:solidFill>
            <a:srgbClr val="B83B2E">
              <a:alpha val="22000"/>
            </a:srgbClr>
          </a:solidFill>
          <a:ln/>
        </p:spPr>
      </p:sp>
      <p:pic>
        <p:nvPicPr>
          <p:cNvPr id="55" name="Image 0" descr="preencoded.png"/>
          <p:cNvPicPr>
            <a:picLocks noChangeAspect="1"/>
          </p:cNvPicPr>
          <p:nvPr/>
        </p:nvPicPr>
        <p:blipFill>
          <a:blip r:embed="rId3"/>
          <a:stretch>
            <a:fillRect/>
          </a:stretch>
        </p:blipFill>
        <p:spPr>
          <a:xfrm>
            <a:off x="637154" y="4276466"/>
            <a:ext cx="152156" cy="152156"/>
          </a:xfrm>
          <a:prstGeom prst="rect">
            <a:avLst/>
          </a:prstGeom>
        </p:spPr>
      </p:pic>
      <p:sp>
        <p:nvSpPr>
          <p:cNvPr id="56" name="Text 52"/>
          <p:cNvSpPr txBox="1"/>
          <p:nvPr/>
        </p:nvSpPr>
        <p:spPr>
          <a:xfrm>
            <a:off x="960120" y="4114800"/>
            <a:ext cx="7589520" cy="475488"/>
          </a:xfrm>
          <a:prstGeom prst="rect">
            <a:avLst/>
          </a:prstGeom>
          <a:noFill/>
          <a:ln/>
        </p:spPr>
        <p:txBody>
          <a:bodyPr wrap="square" lIns="0" tIns="0" rIns="0" bIns="0" rtlCol="0" anchor="ctr"/>
          <a:lstStyle/>
          <a:p>
            <a:pPr marL="0" indent="0">
              <a:buNone/>
            </a:pPr>
            <a:r>
              <a:rPr lang="en-US" sz="950" b="1" kern="0" spc="150" dirty="0">
                <a:solidFill>
                  <a:srgbClr val="00704A"/>
                </a:solidFill>
                <a:latin typeface="Calibri" pitchFamily="34" charset="0"/>
                <a:ea typeface="Calibri" pitchFamily="34" charset="-122"/>
                <a:cs typeface="Calibri" pitchFamily="34" charset="-120"/>
              </a:rPr>
              <a:t>À RETENIR   </a:t>
            </a:r>
            <a:r>
              <a:rPr lang="en-US" sz="950" dirty="0">
                <a:solidFill>
                  <a:srgbClr val="231F20"/>
                </a:solidFill>
                <a:latin typeface="Calibri" pitchFamily="34" charset="0"/>
                <a:ea typeface="Calibri" pitchFamily="34" charset="-122"/>
                <a:cs typeface="Calibri" pitchFamily="34" charset="-120"/>
              </a:rPr>
              <a:t>Évaluez-vous sur votre maillon le plus faible. Le passage du niveau 2 au niveau 3 est le plus coûteux : c'est là qu'une culture du pilote devient une discipline d'exploitation.</a:t>
            </a:r>
            <a:endParaRPr lang="en-US" sz="950" dirty="0"/>
          </a:p>
        </p:txBody>
      </p:sp>
    </p:spTree>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SÉQUENCEMENT</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Une feuille de route de 24 mois avec des jalons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Ne commencez une phase que lorsque le jalon précédent est réellement atteint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59</a:t>
            </a:r>
            <a:endParaRPr lang="en-US" sz="850" dirty="0"/>
          </a:p>
        </p:txBody>
      </p:sp>
      <p:sp>
        <p:nvSpPr>
          <p:cNvPr id="18" name="Shape 15"/>
          <p:cNvSpPr/>
          <p:nvPr/>
        </p:nvSpPr>
        <p:spPr>
          <a:xfrm>
            <a:off x="457200" y="1325880"/>
            <a:ext cx="1988820" cy="502920"/>
          </a:xfrm>
          <a:prstGeom prst="homePlate">
            <a:avLst/>
          </a:prstGeom>
          <a:solidFill>
            <a:srgbClr val="00A86A"/>
          </a:solidFill>
          <a:ln/>
        </p:spPr>
      </p:sp>
      <p:sp>
        <p:nvSpPr>
          <p:cNvPr id="19" name="Text 16"/>
          <p:cNvSpPr txBox="1"/>
          <p:nvPr/>
        </p:nvSpPr>
        <p:spPr>
          <a:xfrm>
            <a:off x="566928" y="1344168"/>
            <a:ext cx="1668780" cy="475488"/>
          </a:xfrm>
          <a:prstGeom prst="rect">
            <a:avLst/>
          </a:prstGeom>
          <a:noFill/>
          <a:ln/>
        </p:spPr>
        <p:txBody>
          <a:bodyPr wrap="square" lIns="0" tIns="0" rIns="0" bIns="0" rtlCol="0" anchor="ctr">
            <a:normAutofit/>
          </a:bodyP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0  ·  Mois 0–3
</a:t>
            </a:r>
            <a:r>
              <a:rPr lang="en-US" sz="1150" b="1" dirty="0">
                <a:solidFill>
                  <a:srgbClr val="FFFFFF"/>
                </a:solidFill>
                <a:latin typeface="Calibri" pitchFamily="34" charset="0"/>
                <a:ea typeface="Calibri" pitchFamily="34" charset="-122"/>
                <a:cs typeface="Calibri" pitchFamily="34" charset="-120"/>
              </a:rPr>
              <a:t>Fondations</a:t>
            </a:r>
            <a:endParaRPr lang="en-US" sz="1100" dirty="0"/>
          </a:p>
        </p:txBody>
      </p:sp>
      <p:sp>
        <p:nvSpPr>
          <p:cNvPr id="20" name="Shape 17"/>
          <p:cNvSpPr/>
          <p:nvPr/>
        </p:nvSpPr>
        <p:spPr>
          <a:xfrm>
            <a:off x="457200" y="1901952"/>
            <a:ext cx="1915668" cy="1700784"/>
          </a:xfrm>
          <a:prstGeom prst="roundRect">
            <a:avLst>
              <a:gd name="adj" fmla="val 4301"/>
            </a:avLst>
          </a:prstGeom>
          <a:solidFill>
            <a:srgbClr val="F4F7F5"/>
          </a:solidFill>
          <a:ln w="9525">
            <a:solidFill>
              <a:srgbClr val="D5DED9"/>
            </a:solidFill>
            <a:prstDash val="solid"/>
          </a:ln>
        </p:spPr>
      </p:sp>
      <p:pic>
        <p:nvPicPr>
          <p:cNvPr id="21" name="Image 0" descr="preencoded.png"/>
          <p:cNvPicPr>
            <a:picLocks noChangeAspect="1"/>
          </p:cNvPicPr>
          <p:nvPr/>
        </p:nvPicPr>
        <p:blipFill>
          <a:blip r:embed="rId3"/>
          <a:stretch>
            <a:fillRect/>
          </a:stretch>
        </p:blipFill>
        <p:spPr>
          <a:xfrm>
            <a:off x="548640" y="2002536"/>
            <a:ext cx="137160" cy="137160"/>
          </a:xfrm>
          <a:prstGeom prst="rect">
            <a:avLst/>
          </a:prstGeom>
        </p:spPr>
      </p:pic>
      <p:sp>
        <p:nvSpPr>
          <p:cNvPr id="22" name="Text 18"/>
          <p:cNvSpPr txBox="1"/>
          <p:nvPr/>
        </p:nvSpPr>
        <p:spPr>
          <a:xfrm>
            <a:off x="758952" y="197510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Approuver le tableau de classification</a:t>
            </a:r>
            <a:endParaRPr lang="en-US" sz="850" dirty="0"/>
          </a:p>
        </p:txBody>
      </p:sp>
      <p:pic>
        <p:nvPicPr>
          <p:cNvPr id="23" name="Image 1" descr="preencoded.png"/>
          <p:cNvPicPr>
            <a:picLocks noChangeAspect="1"/>
          </p:cNvPicPr>
          <p:nvPr/>
        </p:nvPicPr>
        <p:blipFill>
          <a:blip r:embed="rId3"/>
          <a:stretch>
            <a:fillRect/>
          </a:stretch>
        </p:blipFill>
        <p:spPr>
          <a:xfrm>
            <a:off x="548640" y="2322576"/>
            <a:ext cx="137160" cy="137160"/>
          </a:xfrm>
          <a:prstGeom prst="rect">
            <a:avLst/>
          </a:prstGeom>
        </p:spPr>
      </p:pic>
      <p:sp>
        <p:nvSpPr>
          <p:cNvPr id="24" name="Text 19"/>
          <p:cNvSpPr txBox="1"/>
          <p:nvPr/>
        </p:nvSpPr>
        <p:spPr>
          <a:xfrm>
            <a:off x="758952" y="229514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Ouvrir le registre des usages</a:t>
            </a:r>
            <a:endParaRPr lang="en-US" sz="850" dirty="0"/>
          </a:p>
        </p:txBody>
      </p:sp>
      <p:pic>
        <p:nvPicPr>
          <p:cNvPr id="25" name="Image 2" descr="preencoded.png"/>
          <p:cNvPicPr>
            <a:picLocks noChangeAspect="1"/>
          </p:cNvPicPr>
          <p:nvPr/>
        </p:nvPicPr>
        <p:blipFill>
          <a:blip r:embed="rId3"/>
          <a:stretch>
            <a:fillRect/>
          </a:stretch>
        </p:blipFill>
        <p:spPr>
          <a:xfrm>
            <a:off x="548640" y="2642616"/>
            <a:ext cx="137160" cy="137160"/>
          </a:xfrm>
          <a:prstGeom prst="rect">
            <a:avLst/>
          </a:prstGeom>
        </p:spPr>
      </p:pic>
      <p:sp>
        <p:nvSpPr>
          <p:cNvPr id="26" name="Text 20"/>
          <p:cNvSpPr txBox="1"/>
          <p:nvPr/>
        </p:nvSpPr>
        <p:spPr>
          <a:xfrm>
            <a:off x="758952" y="261518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Revue juridique et données personnelles</a:t>
            </a:r>
            <a:endParaRPr lang="en-US" sz="850" dirty="0"/>
          </a:p>
        </p:txBody>
      </p:sp>
      <p:pic>
        <p:nvPicPr>
          <p:cNvPr id="27" name="Image 3" descr="preencoded.png"/>
          <p:cNvPicPr>
            <a:picLocks noChangeAspect="1"/>
          </p:cNvPicPr>
          <p:nvPr/>
        </p:nvPicPr>
        <p:blipFill>
          <a:blip r:embed="rId3"/>
          <a:stretch>
            <a:fillRect/>
          </a:stretch>
        </p:blipFill>
        <p:spPr>
          <a:xfrm>
            <a:off x="548640" y="2962656"/>
            <a:ext cx="137160" cy="137160"/>
          </a:xfrm>
          <a:prstGeom prst="rect">
            <a:avLst/>
          </a:prstGeom>
        </p:spPr>
      </p:pic>
      <p:sp>
        <p:nvSpPr>
          <p:cNvPr id="28" name="Text 21"/>
          <p:cNvSpPr txBox="1"/>
          <p:nvPr/>
        </p:nvSpPr>
        <p:spPr>
          <a:xfrm>
            <a:off x="758952" y="293522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Bilan des compétences ; candidats internes</a:t>
            </a:r>
            <a:endParaRPr lang="en-US" sz="850" dirty="0"/>
          </a:p>
        </p:txBody>
      </p:sp>
      <p:pic>
        <p:nvPicPr>
          <p:cNvPr id="29" name="Image 4" descr="preencoded.png"/>
          <p:cNvPicPr>
            <a:picLocks noChangeAspect="1"/>
          </p:cNvPicPr>
          <p:nvPr/>
        </p:nvPicPr>
        <p:blipFill>
          <a:blip r:embed="rId3"/>
          <a:stretch>
            <a:fillRect/>
          </a:stretch>
        </p:blipFill>
        <p:spPr>
          <a:xfrm>
            <a:off x="548640" y="3282696"/>
            <a:ext cx="137160" cy="137160"/>
          </a:xfrm>
          <a:prstGeom prst="rect">
            <a:avLst/>
          </a:prstGeom>
        </p:spPr>
      </p:pic>
      <p:sp>
        <p:nvSpPr>
          <p:cNvPr id="30" name="Text 22"/>
          <p:cNvSpPr txBox="1"/>
          <p:nvPr/>
        </p:nvSpPr>
        <p:spPr>
          <a:xfrm>
            <a:off x="758952" y="325526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Choisir deux usages avec données annotées</a:t>
            </a:r>
            <a:endParaRPr lang="en-US" sz="850" dirty="0"/>
          </a:p>
        </p:txBody>
      </p:sp>
      <p:sp>
        <p:nvSpPr>
          <p:cNvPr id="31" name="Shape 23"/>
          <p:cNvSpPr/>
          <p:nvPr/>
        </p:nvSpPr>
        <p:spPr>
          <a:xfrm>
            <a:off x="45720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32" name="Text 24"/>
          <p:cNvSpPr txBox="1"/>
          <p:nvPr/>
        </p:nvSpPr>
        <p:spPr>
          <a:xfrm>
            <a:off x="548640" y="3675888"/>
            <a:ext cx="1751076" cy="475488"/>
          </a:xfrm>
          <a:prstGeom prst="rect">
            <a:avLst/>
          </a:prstGeom>
          <a:noFill/>
          <a:ln/>
        </p:spPr>
        <p:txBody>
          <a:bodyPr wrap="square" lIns="0" tIns="0" rIns="0" bIns="0" rtlCol="0" anchor="ctr"/>
          <a:lstStyle/>
          <a:p>
            <a:pPr marL="0" indent="0">
              <a:buNone/>
            </a:pPr>
            <a:r>
              <a:rPr lang="en-US" sz="750" b="1" dirty="0">
                <a:solidFill>
                  <a:srgbClr val="8A6400"/>
                </a:solidFill>
                <a:latin typeface="Calibri" pitchFamily="34" charset="0"/>
                <a:ea typeface="Calibri" pitchFamily="34" charset="-122"/>
                <a:cs typeface="Calibri" pitchFamily="34" charset="-120"/>
              </a:rPr>
              <a:t>JALON  </a:t>
            </a:r>
            <a:r>
              <a:rPr lang="en-US" sz="850" b="1" dirty="0">
                <a:solidFill>
                  <a:srgbClr val="231F20"/>
                </a:solidFill>
                <a:latin typeface="Calibri" pitchFamily="34" charset="0"/>
                <a:ea typeface="Calibri" pitchFamily="34" charset="-122"/>
                <a:cs typeface="Calibri" pitchFamily="34" charset="-120"/>
              </a:rPr>
              <a:t>Tableau signé ; deux usages testables désignés</a:t>
            </a:r>
            <a:endParaRPr lang="en-US" sz="850" dirty="0"/>
          </a:p>
        </p:txBody>
      </p:sp>
      <p:sp>
        <p:nvSpPr>
          <p:cNvPr id="33" name="Shape 25"/>
          <p:cNvSpPr/>
          <p:nvPr/>
        </p:nvSpPr>
        <p:spPr>
          <a:xfrm>
            <a:off x="2537460" y="1325880"/>
            <a:ext cx="1988820" cy="502920"/>
          </a:xfrm>
          <a:prstGeom prst="homePlate">
            <a:avLst/>
          </a:prstGeom>
          <a:solidFill>
            <a:srgbClr val="00704A"/>
          </a:solidFill>
          <a:ln/>
        </p:spPr>
      </p:sp>
      <p:sp>
        <p:nvSpPr>
          <p:cNvPr id="34" name="Text 26"/>
          <p:cNvSpPr txBox="1"/>
          <p:nvPr/>
        </p:nvSpPr>
        <p:spPr>
          <a:xfrm>
            <a:off x="2647188" y="1344168"/>
            <a:ext cx="1668780" cy="475488"/>
          </a:xfrm>
          <a:prstGeom prst="rect">
            <a:avLst/>
          </a:prstGeom>
          <a:noFill/>
          <a:ln/>
        </p:spPr>
        <p:txBody>
          <a:bodyPr wrap="square" lIns="0" tIns="0" rIns="0" bIns="0" rtlCol="0" anchor="ctr">
            <a:normAutofit/>
          </a:bodyP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1  ·  Mois 3–9
</a:t>
            </a:r>
            <a:r>
              <a:rPr lang="en-US" sz="1150" b="1" dirty="0">
                <a:solidFill>
                  <a:srgbClr val="FFFFFF"/>
                </a:solidFill>
                <a:latin typeface="Calibri" pitchFamily="34" charset="0"/>
                <a:ea typeface="Calibri" pitchFamily="34" charset="-122"/>
                <a:cs typeface="Calibri" pitchFamily="34" charset="-120"/>
              </a:rPr>
              <a:t>Plateforme minimale</a:t>
            </a:r>
            <a:endParaRPr lang="en-US" sz="1100" dirty="0"/>
          </a:p>
        </p:txBody>
      </p:sp>
      <p:sp>
        <p:nvSpPr>
          <p:cNvPr id="35" name="Shape 27"/>
          <p:cNvSpPr/>
          <p:nvPr/>
        </p:nvSpPr>
        <p:spPr>
          <a:xfrm>
            <a:off x="2537460" y="1901952"/>
            <a:ext cx="1915668" cy="1700784"/>
          </a:xfrm>
          <a:prstGeom prst="roundRect">
            <a:avLst>
              <a:gd name="adj" fmla="val 4301"/>
            </a:avLst>
          </a:prstGeom>
          <a:solidFill>
            <a:srgbClr val="F4F7F5"/>
          </a:solidFill>
          <a:ln w="9525">
            <a:solidFill>
              <a:srgbClr val="D5DED9"/>
            </a:solidFill>
            <a:prstDash val="solid"/>
          </a:ln>
        </p:spPr>
      </p:sp>
      <p:pic>
        <p:nvPicPr>
          <p:cNvPr id="36" name="Image 5" descr="preencoded.png"/>
          <p:cNvPicPr>
            <a:picLocks noChangeAspect="1"/>
          </p:cNvPicPr>
          <p:nvPr/>
        </p:nvPicPr>
        <p:blipFill>
          <a:blip r:embed="rId4"/>
          <a:stretch>
            <a:fillRect/>
          </a:stretch>
        </p:blipFill>
        <p:spPr>
          <a:xfrm>
            <a:off x="2628900" y="2002536"/>
            <a:ext cx="137160" cy="137160"/>
          </a:xfrm>
          <a:prstGeom prst="rect">
            <a:avLst/>
          </a:prstGeom>
        </p:spPr>
      </p:pic>
      <p:sp>
        <p:nvSpPr>
          <p:cNvPr id="37" name="Text 28"/>
          <p:cNvSpPr txBox="1"/>
          <p:nvPr/>
        </p:nvSpPr>
        <p:spPr>
          <a:xfrm>
            <a:off x="2839212" y="197510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Mettre en place DEV et TEST</a:t>
            </a:r>
            <a:endParaRPr lang="en-US" sz="850" dirty="0"/>
          </a:p>
        </p:txBody>
      </p:sp>
      <p:pic>
        <p:nvPicPr>
          <p:cNvPr id="38" name="Image 6" descr="preencoded.png"/>
          <p:cNvPicPr>
            <a:picLocks noChangeAspect="1"/>
          </p:cNvPicPr>
          <p:nvPr/>
        </p:nvPicPr>
        <p:blipFill>
          <a:blip r:embed="rId4"/>
          <a:stretch>
            <a:fillRect/>
          </a:stretch>
        </p:blipFill>
        <p:spPr>
          <a:xfrm>
            <a:off x="2628900" y="2322576"/>
            <a:ext cx="137160" cy="137160"/>
          </a:xfrm>
          <a:prstGeom prst="rect">
            <a:avLst/>
          </a:prstGeom>
        </p:spPr>
      </p:pic>
      <p:sp>
        <p:nvSpPr>
          <p:cNvPr id="39" name="Text 29"/>
          <p:cNvSpPr txBox="1"/>
          <p:nvPr/>
        </p:nvSpPr>
        <p:spPr>
          <a:xfrm>
            <a:off x="2839212" y="229514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Construire la passerelle : journaux, quotas</a:t>
            </a:r>
            <a:endParaRPr lang="en-US" sz="850" dirty="0"/>
          </a:p>
        </p:txBody>
      </p:sp>
      <p:pic>
        <p:nvPicPr>
          <p:cNvPr id="40" name="Image 7" descr="preencoded.png"/>
          <p:cNvPicPr>
            <a:picLocks noChangeAspect="1"/>
          </p:cNvPicPr>
          <p:nvPr/>
        </p:nvPicPr>
        <p:blipFill>
          <a:blip r:embed="rId4"/>
          <a:stretch>
            <a:fillRect/>
          </a:stretch>
        </p:blipFill>
        <p:spPr>
          <a:xfrm>
            <a:off x="2628900" y="2642616"/>
            <a:ext cx="137160" cy="137160"/>
          </a:xfrm>
          <a:prstGeom prst="rect">
            <a:avLst/>
          </a:prstGeom>
        </p:spPr>
      </p:pic>
      <p:sp>
        <p:nvSpPr>
          <p:cNvPr id="41" name="Text 30"/>
          <p:cNvSpPr txBox="1"/>
          <p:nvPr/>
        </p:nvSpPr>
        <p:spPr>
          <a:xfrm>
            <a:off x="2839212" y="261518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Authentification unique et rôles</a:t>
            </a:r>
            <a:endParaRPr lang="en-US" sz="850" dirty="0"/>
          </a:p>
        </p:txBody>
      </p:sp>
      <p:pic>
        <p:nvPicPr>
          <p:cNvPr id="42" name="Image 8" descr="preencoded.png"/>
          <p:cNvPicPr>
            <a:picLocks noChangeAspect="1"/>
          </p:cNvPicPr>
          <p:nvPr/>
        </p:nvPicPr>
        <p:blipFill>
          <a:blip r:embed="rId4"/>
          <a:stretch>
            <a:fillRect/>
          </a:stretch>
        </p:blipFill>
        <p:spPr>
          <a:xfrm>
            <a:off x="2628900" y="2962656"/>
            <a:ext cx="137160" cy="137160"/>
          </a:xfrm>
          <a:prstGeom prst="rect">
            <a:avLst/>
          </a:prstGeom>
        </p:spPr>
      </p:pic>
      <p:sp>
        <p:nvSpPr>
          <p:cNvPr id="43" name="Text 31"/>
          <p:cNvSpPr txBox="1"/>
          <p:nvPr/>
        </p:nvSpPr>
        <p:spPr>
          <a:xfrm>
            <a:off x="2839212" y="293522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Banc d'évaluation ; jeu de référence figé</a:t>
            </a:r>
            <a:endParaRPr lang="en-US" sz="850" dirty="0"/>
          </a:p>
        </p:txBody>
      </p:sp>
      <p:pic>
        <p:nvPicPr>
          <p:cNvPr id="44" name="Image 9" descr="preencoded.png"/>
          <p:cNvPicPr>
            <a:picLocks noChangeAspect="1"/>
          </p:cNvPicPr>
          <p:nvPr/>
        </p:nvPicPr>
        <p:blipFill>
          <a:blip r:embed="rId4"/>
          <a:stretch>
            <a:fillRect/>
          </a:stretch>
        </p:blipFill>
        <p:spPr>
          <a:xfrm>
            <a:off x="2628900" y="3282696"/>
            <a:ext cx="137160" cy="137160"/>
          </a:xfrm>
          <a:prstGeom prst="rect">
            <a:avLst/>
          </a:prstGeom>
        </p:spPr>
      </p:pic>
      <p:sp>
        <p:nvSpPr>
          <p:cNvPr id="45" name="Text 32"/>
          <p:cNvSpPr txBox="1"/>
          <p:nvPr/>
        </p:nvSpPr>
        <p:spPr>
          <a:xfrm>
            <a:off x="2839212" y="325526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Un premier pilote en pré-production</a:t>
            </a:r>
            <a:endParaRPr lang="en-US" sz="850" dirty="0"/>
          </a:p>
        </p:txBody>
      </p:sp>
      <p:sp>
        <p:nvSpPr>
          <p:cNvPr id="46" name="Shape 33"/>
          <p:cNvSpPr/>
          <p:nvPr/>
        </p:nvSpPr>
        <p:spPr>
          <a:xfrm>
            <a:off x="253746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47" name="Text 34"/>
          <p:cNvSpPr txBox="1"/>
          <p:nvPr/>
        </p:nvSpPr>
        <p:spPr>
          <a:xfrm>
            <a:off x="2628900" y="3675888"/>
            <a:ext cx="1751076" cy="475488"/>
          </a:xfrm>
          <a:prstGeom prst="rect">
            <a:avLst/>
          </a:prstGeom>
          <a:noFill/>
          <a:ln/>
        </p:spPr>
        <p:txBody>
          <a:bodyPr wrap="square" lIns="0" tIns="0" rIns="0" bIns="0" rtlCol="0" anchor="ctr"/>
          <a:lstStyle/>
          <a:p>
            <a:pPr marL="0" indent="0">
              <a:buNone/>
            </a:pPr>
            <a:r>
              <a:rPr lang="en-US" sz="750" b="1" dirty="0">
                <a:solidFill>
                  <a:srgbClr val="8A6400"/>
                </a:solidFill>
                <a:latin typeface="Calibri" pitchFamily="34" charset="0"/>
                <a:ea typeface="Calibri" pitchFamily="34" charset="-122"/>
                <a:cs typeface="Calibri" pitchFamily="34" charset="-120"/>
              </a:rPr>
              <a:t>JALON  </a:t>
            </a:r>
            <a:r>
              <a:rPr lang="en-US" sz="850" b="1" dirty="0">
                <a:solidFill>
                  <a:srgbClr val="231F20"/>
                </a:solidFill>
                <a:latin typeface="Calibri" pitchFamily="34" charset="0"/>
                <a:ea typeface="Calibri" pitchFamily="34" charset="-122"/>
                <a:cs typeface="Calibri" pitchFamily="34" charset="-120"/>
              </a:rPr>
              <a:t>Un pilote a battu la référence humaine</a:t>
            </a:r>
            <a:endParaRPr lang="en-US" sz="850" dirty="0"/>
          </a:p>
        </p:txBody>
      </p:sp>
      <p:sp>
        <p:nvSpPr>
          <p:cNvPr id="48" name="Shape 35"/>
          <p:cNvSpPr/>
          <p:nvPr/>
        </p:nvSpPr>
        <p:spPr>
          <a:xfrm>
            <a:off x="4617720" y="1325880"/>
            <a:ext cx="1988820" cy="502920"/>
          </a:xfrm>
          <a:prstGeom prst="homePlate">
            <a:avLst/>
          </a:prstGeom>
          <a:solidFill>
            <a:srgbClr val="0E7C86"/>
          </a:solidFill>
          <a:ln/>
        </p:spPr>
      </p:sp>
      <p:sp>
        <p:nvSpPr>
          <p:cNvPr id="49" name="Text 36"/>
          <p:cNvSpPr txBox="1"/>
          <p:nvPr/>
        </p:nvSpPr>
        <p:spPr>
          <a:xfrm>
            <a:off x="4727448" y="1344168"/>
            <a:ext cx="1668780" cy="475488"/>
          </a:xfrm>
          <a:prstGeom prst="rect">
            <a:avLst/>
          </a:prstGeom>
          <a:noFill/>
          <a:ln/>
        </p:spPr>
        <p:txBody>
          <a:bodyPr wrap="square" lIns="0" tIns="0" rIns="0" bIns="0" rtlCol="0" anchor="ctr">
            <a:normAutofit/>
          </a:bodyP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2  ·  Mois 9–15
</a:t>
            </a:r>
            <a:r>
              <a:rPr lang="en-US" sz="1150" b="1" dirty="0">
                <a:solidFill>
                  <a:srgbClr val="FFFFFF"/>
                </a:solidFill>
                <a:latin typeface="Calibri" pitchFamily="34" charset="0"/>
                <a:ea typeface="Calibri" pitchFamily="34" charset="-122"/>
                <a:cs typeface="Calibri" pitchFamily="34" charset="-120"/>
              </a:rPr>
              <a:t>Mise en production</a:t>
            </a:r>
            <a:endParaRPr lang="en-US" sz="1100" dirty="0"/>
          </a:p>
        </p:txBody>
      </p:sp>
      <p:sp>
        <p:nvSpPr>
          <p:cNvPr id="50" name="Shape 37"/>
          <p:cNvSpPr/>
          <p:nvPr/>
        </p:nvSpPr>
        <p:spPr>
          <a:xfrm>
            <a:off x="4617720" y="1901952"/>
            <a:ext cx="1915668" cy="1700784"/>
          </a:xfrm>
          <a:prstGeom prst="roundRect">
            <a:avLst>
              <a:gd name="adj" fmla="val 4301"/>
            </a:avLst>
          </a:prstGeom>
          <a:solidFill>
            <a:srgbClr val="F4F7F5"/>
          </a:solidFill>
          <a:ln w="9525">
            <a:solidFill>
              <a:srgbClr val="D5DED9"/>
            </a:solidFill>
            <a:prstDash val="solid"/>
          </a:ln>
        </p:spPr>
      </p:sp>
      <p:pic>
        <p:nvPicPr>
          <p:cNvPr id="51" name="Image 10" descr="preencoded.png"/>
          <p:cNvPicPr>
            <a:picLocks noChangeAspect="1"/>
          </p:cNvPicPr>
          <p:nvPr/>
        </p:nvPicPr>
        <p:blipFill>
          <a:blip r:embed="rId5"/>
          <a:stretch>
            <a:fillRect/>
          </a:stretch>
        </p:blipFill>
        <p:spPr>
          <a:xfrm>
            <a:off x="4709160" y="2002536"/>
            <a:ext cx="137160" cy="137160"/>
          </a:xfrm>
          <a:prstGeom prst="rect">
            <a:avLst/>
          </a:prstGeom>
        </p:spPr>
      </p:pic>
      <p:sp>
        <p:nvSpPr>
          <p:cNvPr id="52" name="Text 38"/>
          <p:cNvSpPr txBox="1"/>
          <p:nvPr/>
        </p:nvSpPr>
        <p:spPr>
          <a:xfrm>
            <a:off x="4919472" y="197510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Un classifieur en production, orienté par la confiance</a:t>
            </a:r>
            <a:endParaRPr lang="en-US" sz="850" dirty="0"/>
          </a:p>
        </p:txBody>
      </p:sp>
      <p:pic>
        <p:nvPicPr>
          <p:cNvPr id="53" name="Image 11" descr="preencoded.png"/>
          <p:cNvPicPr>
            <a:picLocks noChangeAspect="1"/>
          </p:cNvPicPr>
          <p:nvPr/>
        </p:nvPicPr>
        <p:blipFill>
          <a:blip r:embed="rId5"/>
          <a:stretch>
            <a:fillRect/>
          </a:stretch>
        </p:blipFill>
        <p:spPr>
          <a:xfrm>
            <a:off x="4709160" y="2322576"/>
            <a:ext cx="137160" cy="137160"/>
          </a:xfrm>
          <a:prstGeom prst="rect">
            <a:avLst/>
          </a:prstGeom>
        </p:spPr>
      </p:pic>
      <p:sp>
        <p:nvSpPr>
          <p:cNvPr id="54" name="Text 39"/>
          <p:cNvSpPr txBox="1"/>
          <p:nvPr/>
        </p:nvSpPr>
        <p:spPr>
          <a:xfrm>
            <a:off x="4919472" y="229514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Registre et validation opérationnels</a:t>
            </a:r>
            <a:endParaRPr lang="en-US" sz="850" dirty="0"/>
          </a:p>
        </p:txBody>
      </p:sp>
      <p:pic>
        <p:nvPicPr>
          <p:cNvPr id="55" name="Image 12" descr="preencoded.png"/>
          <p:cNvPicPr>
            <a:picLocks noChangeAspect="1"/>
          </p:cNvPicPr>
          <p:nvPr/>
        </p:nvPicPr>
        <p:blipFill>
          <a:blip r:embed="rId5"/>
          <a:stretch>
            <a:fillRect/>
          </a:stretch>
        </p:blipFill>
        <p:spPr>
          <a:xfrm>
            <a:off x="4709160" y="2642616"/>
            <a:ext cx="137160" cy="137160"/>
          </a:xfrm>
          <a:prstGeom prst="rect">
            <a:avLst/>
          </a:prstGeom>
        </p:spPr>
      </p:pic>
      <p:sp>
        <p:nvSpPr>
          <p:cNvPr id="56" name="Text 40"/>
          <p:cNvSpPr txBox="1"/>
          <p:nvPr/>
        </p:nvSpPr>
        <p:spPr>
          <a:xfrm>
            <a:off x="4919472" y="261518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Suivi de dérive et revalidation</a:t>
            </a:r>
            <a:endParaRPr lang="en-US" sz="850" dirty="0"/>
          </a:p>
        </p:txBody>
      </p:sp>
      <p:pic>
        <p:nvPicPr>
          <p:cNvPr id="57" name="Image 13" descr="preencoded.png"/>
          <p:cNvPicPr>
            <a:picLocks noChangeAspect="1"/>
          </p:cNvPicPr>
          <p:nvPr/>
        </p:nvPicPr>
        <p:blipFill>
          <a:blip r:embed="rId5"/>
          <a:stretch>
            <a:fillRect/>
          </a:stretch>
        </p:blipFill>
        <p:spPr>
          <a:xfrm>
            <a:off x="4709160" y="2962656"/>
            <a:ext cx="137160" cy="137160"/>
          </a:xfrm>
          <a:prstGeom prst="rect">
            <a:avLst/>
          </a:prstGeom>
        </p:spPr>
      </p:pic>
      <p:sp>
        <p:nvSpPr>
          <p:cNvPr id="58" name="Text 41"/>
          <p:cNvSpPr txBox="1"/>
          <p:nvPr/>
        </p:nvSpPr>
        <p:spPr>
          <a:xfrm>
            <a:off x="4919472" y="293522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Suivi des coûts par équipe</a:t>
            </a:r>
            <a:endParaRPr lang="en-US" sz="850" dirty="0"/>
          </a:p>
        </p:txBody>
      </p:sp>
      <p:pic>
        <p:nvPicPr>
          <p:cNvPr id="59" name="Image 14" descr="preencoded.png"/>
          <p:cNvPicPr>
            <a:picLocks noChangeAspect="1"/>
          </p:cNvPicPr>
          <p:nvPr/>
        </p:nvPicPr>
        <p:blipFill>
          <a:blip r:embed="rId5"/>
          <a:stretch>
            <a:fillRect/>
          </a:stretch>
        </p:blipFill>
        <p:spPr>
          <a:xfrm>
            <a:off x="4709160" y="3282696"/>
            <a:ext cx="137160" cy="137160"/>
          </a:xfrm>
          <a:prstGeom prst="rect">
            <a:avLst/>
          </a:prstGeom>
        </p:spPr>
      </p:pic>
      <p:sp>
        <p:nvSpPr>
          <p:cNvPr id="60" name="Text 42"/>
          <p:cNvSpPr txBox="1"/>
          <p:nvPr/>
        </p:nvSpPr>
        <p:spPr>
          <a:xfrm>
            <a:off x="4919472" y="325526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Première vague de formation</a:t>
            </a:r>
            <a:endParaRPr lang="en-US" sz="850" dirty="0"/>
          </a:p>
        </p:txBody>
      </p:sp>
      <p:sp>
        <p:nvSpPr>
          <p:cNvPr id="61" name="Shape 43"/>
          <p:cNvSpPr/>
          <p:nvPr/>
        </p:nvSpPr>
        <p:spPr>
          <a:xfrm>
            <a:off x="461772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62" name="Text 44"/>
          <p:cNvSpPr txBox="1"/>
          <p:nvPr/>
        </p:nvSpPr>
        <p:spPr>
          <a:xfrm>
            <a:off x="4709160" y="3675888"/>
            <a:ext cx="1751076" cy="475488"/>
          </a:xfrm>
          <a:prstGeom prst="rect">
            <a:avLst/>
          </a:prstGeom>
          <a:noFill/>
          <a:ln/>
        </p:spPr>
        <p:txBody>
          <a:bodyPr wrap="square" lIns="0" tIns="0" rIns="0" bIns="0" rtlCol="0" anchor="ctr"/>
          <a:lstStyle/>
          <a:p>
            <a:pPr marL="0" indent="0">
              <a:buNone/>
            </a:pPr>
            <a:r>
              <a:rPr lang="en-US" sz="750" b="1" dirty="0">
                <a:solidFill>
                  <a:srgbClr val="8A6400"/>
                </a:solidFill>
                <a:latin typeface="Calibri" pitchFamily="34" charset="0"/>
                <a:ea typeface="Calibri" pitchFamily="34" charset="-122"/>
                <a:cs typeface="Calibri" pitchFamily="34" charset="-120"/>
              </a:rPr>
              <a:t>JALON  </a:t>
            </a:r>
            <a:r>
              <a:rPr lang="en-US" sz="850" b="1" dirty="0">
                <a:solidFill>
                  <a:srgbClr val="231F20"/>
                </a:solidFill>
                <a:latin typeface="Calibri" pitchFamily="34" charset="0"/>
                <a:ea typeface="Calibri" pitchFamily="34" charset="-122"/>
                <a:cs typeface="Calibri" pitchFamily="34" charset="-120"/>
              </a:rPr>
              <a:t>Un résultat publié utilise le modèle ; repli testé</a:t>
            </a:r>
            <a:endParaRPr lang="en-US" sz="850" dirty="0"/>
          </a:p>
        </p:txBody>
      </p:sp>
      <p:sp>
        <p:nvSpPr>
          <p:cNvPr id="63" name="Shape 45"/>
          <p:cNvSpPr/>
          <p:nvPr/>
        </p:nvSpPr>
        <p:spPr>
          <a:xfrm>
            <a:off x="6697980" y="1325880"/>
            <a:ext cx="1988820" cy="502920"/>
          </a:xfrm>
          <a:prstGeom prst="homePlate">
            <a:avLst/>
          </a:prstGeom>
          <a:solidFill>
            <a:srgbClr val="00553A"/>
          </a:solidFill>
          <a:ln/>
        </p:spPr>
      </p:sp>
      <p:sp>
        <p:nvSpPr>
          <p:cNvPr id="64" name="Text 46"/>
          <p:cNvSpPr txBox="1"/>
          <p:nvPr/>
        </p:nvSpPr>
        <p:spPr>
          <a:xfrm>
            <a:off x="6807708" y="1344168"/>
            <a:ext cx="1668780" cy="475488"/>
          </a:xfrm>
          <a:prstGeom prst="rect">
            <a:avLst/>
          </a:prstGeom>
          <a:noFill/>
          <a:ln/>
        </p:spPr>
        <p:txBody>
          <a:bodyPr wrap="square" lIns="0" tIns="0" rIns="0" bIns="0" rtlCol="0" anchor="ctr">
            <a:normAutofit/>
          </a:bodyPr>
          <a:lstStyle/>
          <a:p>
            <a:pPr marL="0" indent="0">
              <a:buNone/>
            </a:pPr>
            <a:r>
              <a:rPr lang="en-US" sz="800" b="1" kern="0" spc="100" dirty="0">
                <a:solidFill>
                  <a:srgbClr val="F5C242"/>
                </a:solidFill>
                <a:latin typeface="Calibri" pitchFamily="34" charset="0"/>
                <a:ea typeface="Calibri" pitchFamily="34" charset="-122"/>
                <a:cs typeface="Calibri" pitchFamily="34" charset="-120"/>
              </a:rPr>
              <a:t>PHASE 3  ·  Mois 15–24
</a:t>
            </a:r>
            <a:r>
              <a:rPr lang="en-US" sz="1150" b="1" dirty="0">
                <a:solidFill>
                  <a:srgbClr val="FFFFFF"/>
                </a:solidFill>
                <a:latin typeface="Calibri" pitchFamily="34" charset="0"/>
                <a:ea typeface="Calibri" pitchFamily="34" charset="-122"/>
                <a:cs typeface="Calibri" pitchFamily="34" charset="-120"/>
              </a:rPr>
              <a:t>Extension et consolidation</a:t>
            </a:r>
            <a:endParaRPr lang="en-US" sz="1100" dirty="0"/>
          </a:p>
        </p:txBody>
      </p:sp>
      <p:sp>
        <p:nvSpPr>
          <p:cNvPr id="65" name="Shape 47"/>
          <p:cNvSpPr/>
          <p:nvPr/>
        </p:nvSpPr>
        <p:spPr>
          <a:xfrm>
            <a:off x="6697980" y="1901952"/>
            <a:ext cx="1915668" cy="1700784"/>
          </a:xfrm>
          <a:prstGeom prst="roundRect">
            <a:avLst>
              <a:gd name="adj" fmla="val 4301"/>
            </a:avLst>
          </a:prstGeom>
          <a:solidFill>
            <a:srgbClr val="F4F7F5"/>
          </a:solidFill>
          <a:ln w="9525">
            <a:solidFill>
              <a:srgbClr val="D5DED9"/>
            </a:solidFill>
            <a:prstDash val="solid"/>
          </a:ln>
        </p:spPr>
      </p:sp>
      <p:pic>
        <p:nvPicPr>
          <p:cNvPr id="66" name="Image 15" descr="preencoded.png"/>
          <p:cNvPicPr>
            <a:picLocks noChangeAspect="1"/>
          </p:cNvPicPr>
          <p:nvPr/>
        </p:nvPicPr>
        <p:blipFill>
          <a:blip r:embed="rId6"/>
          <a:stretch>
            <a:fillRect/>
          </a:stretch>
        </p:blipFill>
        <p:spPr>
          <a:xfrm>
            <a:off x="6789420" y="2002536"/>
            <a:ext cx="137160" cy="137160"/>
          </a:xfrm>
          <a:prstGeom prst="rect">
            <a:avLst/>
          </a:prstGeom>
        </p:spPr>
      </p:pic>
      <p:sp>
        <p:nvSpPr>
          <p:cNvPr id="67" name="Text 48"/>
          <p:cNvSpPr txBox="1"/>
          <p:nvPr/>
        </p:nvSpPr>
        <p:spPr>
          <a:xfrm>
            <a:off x="6999732" y="197510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Deuxième et troisième usages en production</a:t>
            </a:r>
            <a:endParaRPr lang="en-US" sz="850" dirty="0"/>
          </a:p>
        </p:txBody>
      </p:sp>
      <p:pic>
        <p:nvPicPr>
          <p:cNvPr id="68" name="Image 16" descr="preencoded.png"/>
          <p:cNvPicPr>
            <a:picLocks noChangeAspect="1"/>
          </p:cNvPicPr>
          <p:nvPr/>
        </p:nvPicPr>
        <p:blipFill>
          <a:blip r:embed="rId6"/>
          <a:stretch>
            <a:fillRect/>
          </a:stretch>
        </p:blipFill>
        <p:spPr>
          <a:xfrm>
            <a:off x="6789420" y="2322576"/>
            <a:ext cx="137160" cy="137160"/>
          </a:xfrm>
          <a:prstGeom prst="rect">
            <a:avLst/>
          </a:prstGeom>
        </p:spPr>
      </p:pic>
      <p:sp>
        <p:nvSpPr>
          <p:cNvPr id="69" name="Text 49"/>
          <p:cNvSpPr txBox="1"/>
          <p:nvPr/>
        </p:nvSpPr>
        <p:spPr>
          <a:xfrm>
            <a:off x="6999732" y="229514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Capacité T3 pour les microdonnées</a:t>
            </a:r>
            <a:endParaRPr lang="en-US" sz="850" dirty="0"/>
          </a:p>
        </p:txBody>
      </p:sp>
      <p:pic>
        <p:nvPicPr>
          <p:cNvPr id="70" name="Image 17" descr="preencoded.png"/>
          <p:cNvPicPr>
            <a:picLocks noChangeAspect="1"/>
          </p:cNvPicPr>
          <p:nvPr/>
        </p:nvPicPr>
        <p:blipFill>
          <a:blip r:embed="rId6"/>
          <a:stretch>
            <a:fillRect/>
          </a:stretch>
        </p:blipFill>
        <p:spPr>
          <a:xfrm>
            <a:off x="6789420" y="2642616"/>
            <a:ext cx="137160" cy="137160"/>
          </a:xfrm>
          <a:prstGeom prst="rect">
            <a:avLst/>
          </a:prstGeom>
        </p:spPr>
      </p:pic>
      <p:sp>
        <p:nvSpPr>
          <p:cNvPr id="71" name="Text 50"/>
          <p:cNvSpPr txBox="1"/>
          <p:nvPr/>
        </p:nvSpPr>
        <p:spPr>
          <a:xfrm>
            <a:off x="6999732" y="261518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Gouvernance intégrée au cadre qualité</a:t>
            </a:r>
            <a:endParaRPr lang="en-US" sz="850" dirty="0"/>
          </a:p>
        </p:txBody>
      </p:sp>
      <p:pic>
        <p:nvPicPr>
          <p:cNvPr id="72" name="Image 18" descr="preencoded.png"/>
          <p:cNvPicPr>
            <a:picLocks noChangeAspect="1"/>
          </p:cNvPicPr>
          <p:nvPr/>
        </p:nvPicPr>
        <p:blipFill>
          <a:blip r:embed="rId6"/>
          <a:stretch>
            <a:fillRect/>
          </a:stretch>
        </p:blipFill>
        <p:spPr>
          <a:xfrm>
            <a:off x="6789420" y="2962656"/>
            <a:ext cx="137160" cy="137160"/>
          </a:xfrm>
          <a:prstGeom prst="rect">
            <a:avLst/>
          </a:prstGeom>
        </p:spPr>
      </p:pic>
      <p:sp>
        <p:nvSpPr>
          <p:cNvPr id="73" name="Text 51"/>
          <p:cNvSpPr txBox="1"/>
          <p:nvPr/>
        </p:nvSpPr>
        <p:spPr>
          <a:xfrm>
            <a:off x="6999732" y="293522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Financement récurrent de l'exploitation</a:t>
            </a:r>
            <a:endParaRPr lang="en-US" sz="850" dirty="0"/>
          </a:p>
        </p:txBody>
      </p:sp>
      <p:pic>
        <p:nvPicPr>
          <p:cNvPr id="74" name="Image 19" descr="preencoded.png"/>
          <p:cNvPicPr>
            <a:picLocks noChangeAspect="1"/>
          </p:cNvPicPr>
          <p:nvPr/>
        </p:nvPicPr>
        <p:blipFill>
          <a:blip r:embed="rId6"/>
          <a:stretch>
            <a:fillRect/>
          </a:stretch>
        </p:blipFill>
        <p:spPr>
          <a:xfrm>
            <a:off x="6789420" y="3282696"/>
            <a:ext cx="137160" cy="137160"/>
          </a:xfrm>
          <a:prstGeom prst="rect">
            <a:avLst/>
          </a:prstGeom>
        </p:spPr>
      </p:pic>
      <p:sp>
        <p:nvSpPr>
          <p:cNvPr id="75" name="Text 52"/>
          <p:cNvSpPr txBox="1"/>
          <p:nvPr/>
        </p:nvSpPr>
        <p:spPr>
          <a:xfrm>
            <a:off x="6999732" y="3255264"/>
            <a:ext cx="1559052" cy="320040"/>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Documentation résistant aux départs</a:t>
            </a:r>
            <a:endParaRPr lang="en-US" sz="850" dirty="0"/>
          </a:p>
        </p:txBody>
      </p:sp>
      <p:sp>
        <p:nvSpPr>
          <p:cNvPr id="76" name="Shape 53"/>
          <p:cNvSpPr/>
          <p:nvPr/>
        </p:nvSpPr>
        <p:spPr>
          <a:xfrm>
            <a:off x="6697980" y="3675888"/>
            <a:ext cx="1915668" cy="475488"/>
          </a:xfrm>
          <a:prstGeom prst="roundRect">
            <a:avLst>
              <a:gd name="adj" fmla="val 9615"/>
            </a:avLst>
          </a:prstGeom>
          <a:solidFill>
            <a:srgbClr val="F5C242">
              <a:alpha val="25000"/>
            </a:srgbClr>
          </a:solidFill>
          <a:ln w="12700">
            <a:solidFill>
              <a:srgbClr val="D49A00"/>
            </a:solidFill>
            <a:prstDash val="solid"/>
          </a:ln>
        </p:spPr>
      </p:sp>
      <p:sp>
        <p:nvSpPr>
          <p:cNvPr id="77" name="Text 54"/>
          <p:cNvSpPr txBox="1"/>
          <p:nvPr/>
        </p:nvSpPr>
        <p:spPr>
          <a:xfrm>
            <a:off x="6789420" y="3675888"/>
            <a:ext cx="1751076" cy="475488"/>
          </a:xfrm>
          <a:prstGeom prst="rect">
            <a:avLst/>
          </a:prstGeom>
          <a:noFill/>
          <a:ln/>
        </p:spPr>
        <p:txBody>
          <a:bodyPr wrap="square" lIns="0" tIns="0" rIns="0" bIns="0" rtlCol="0" anchor="ctr"/>
          <a:lstStyle/>
          <a:p>
            <a:pPr marL="0" indent="0">
              <a:buNone/>
            </a:pPr>
            <a:r>
              <a:rPr lang="en-US" sz="750" b="1" dirty="0">
                <a:solidFill>
                  <a:srgbClr val="8A6400"/>
                </a:solidFill>
                <a:latin typeface="Calibri" pitchFamily="34" charset="0"/>
                <a:ea typeface="Calibri" pitchFamily="34" charset="-122"/>
                <a:cs typeface="Calibri" pitchFamily="34" charset="-120"/>
              </a:rPr>
              <a:t>JALON  </a:t>
            </a:r>
            <a:r>
              <a:rPr lang="en-US" sz="850" b="1" dirty="0">
                <a:solidFill>
                  <a:srgbClr val="231F20"/>
                </a:solidFill>
                <a:latin typeface="Calibri" pitchFamily="34" charset="0"/>
                <a:ea typeface="Calibri" pitchFamily="34" charset="-122"/>
                <a:cs typeface="Calibri" pitchFamily="34" charset="-120"/>
              </a:rPr>
              <a:t>Niveau 3 démontré sur tous les éléments</a:t>
            </a:r>
            <a:endParaRPr lang="en-US" sz="850" dirty="0"/>
          </a:p>
        </p:txBody>
      </p:sp>
      <p:sp>
        <p:nvSpPr>
          <p:cNvPr id="78" name="Shape 55"/>
          <p:cNvSpPr/>
          <p:nvPr/>
        </p:nvSpPr>
        <p:spPr>
          <a:xfrm>
            <a:off x="457200" y="4224528"/>
            <a:ext cx="8229600" cy="384048"/>
          </a:xfrm>
          <a:prstGeom prst="roundRect">
            <a:avLst>
              <a:gd name="adj" fmla="val 14286"/>
            </a:avLst>
          </a:prstGeom>
          <a:solidFill>
            <a:srgbClr val="E8F5EF"/>
          </a:solidFill>
          <a:ln w="15875">
            <a:solidFill>
              <a:srgbClr val="B83B2E"/>
            </a:solidFill>
            <a:prstDash val="solid"/>
          </a:ln>
        </p:spPr>
      </p:sp>
      <p:sp>
        <p:nvSpPr>
          <p:cNvPr id="79" name="Shape 56"/>
          <p:cNvSpPr/>
          <p:nvPr/>
        </p:nvSpPr>
        <p:spPr>
          <a:xfrm>
            <a:off x="566928" y="4270248"/>
            <a:ext cx="292608" cy="292608"/>
          </a:xfrm>
          <a:prstGeom prst="ellipse">
            <a:avLst/>
          </a:prstGeom>
          <a:solidFill>
            <a:srgbClr val="B83B2E">
              <a:alpha val="22000"/>
            </a:srgbClr>
          </a:solidFill>
          <a:ln/>
        </p:spPr>
      </p:sp>
      <p:pic>
        <p:nvPicPr>
          <p:cNvPr id="80" name="Image 20" descr="preencoded.png"/>
          <p:cNvPicPr>
            <a:picLocks noChangeAspect="1"/>
          </p:cNvPicPr>
          <p:nvPr/>
        </p:nvPicPr>
        <p:blipFill>
          <a:blip r:embed="rId7"/>
          <a:stretch>
            <a:fillRect/>
          </a:stretch>
        </p:blipFill>
        <p:spPr>
          <a:xfrm>
            <a:off x="637154" y="4340474"/>
            <a:ext cx="152156" cy="152156"/>
          </a:xfrm>
          <a:prstGeom prst="rect">
            <a:avLst/>
          </a:prstGeom>
        </p:spPr>
      </p:pic>
      <p:sp>
        <p:nvSpPr>
          <p:cNvPr id="81" name="Text 57"/>
          <p:cNvSpPr txBox="1"/>
          <p:nvPr/>
        </p:nvSpPr>
        <p:spPr>
          <a:xfrm>
            <a:off x="960120" y="4224528"/>
            <a:ext cx="7589520" cy="384048"/>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La phase 1 ressemble à de l'infrastructure sans rien à montrer. Financez-la quand même — toutes les suivantes en dépendent. Durées indicatives.</a:t>
            </a:r>
            <a:endParaRPr lang="en-US" sz="1000" dirty="0"/>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À ÉVITER</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Huit erreurs classiques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Des façons reconnaissables dont un programme d'IA bien intentionné échoue dans un institut</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60</a:t>
            </a:r>
            <a:endParaRPr lang="en-US" sz="850" dirty="0"/>
          </a:p>
        </p:txBody>
      </p:sp>
      <p:sp>
        <p:nvSpPr>
          <p:cNvPr id="18" name="Shape 15"/>
          <p:cNvSpPr/>
          <p:nvPr/>
        </p:nvSpPr>
        <p:spPr>
          <a:xfrm>
            <a:off x="457200" y="1371600"/>
            <a:ext cx="1975104" cy="1271016"/>
          </a:xfrm>
          <a:prstGeom prst="roundRect">
            <a:avLst>
              <a:gd name="adj" fmla="val 5755"/>
            </a:avLst>
          </a:prstGeom>
          <a:solidFill>
            <a:srgbClr val="F4F7F5"/>
          </a:solidFill>
          <a:ln w="9525">
            <a:solidFill>
              <a:srgbClr val="D5DED9"/>
            </a:solidFill>
            <a:prstDash val="solid"/>
          </a:ln>
        </p:spPr>
      </p:sp>
      <p:sp>
        <p:nvSpPr>
          <p:cNvPr id="19" name="Shape 16"/>
          <p:cNvSpPr/>
          <p:nvPr/>
        </p:nvSpPr>
        <p:spPr>
          <a:xfrm>
            <a:off x="585216" y="1499616"/>
            <a:ext cx="310896" cy="310896"/>
          </a:xfrm>
          <a:prstGeom prst="ellipse">
            <a:avLst/>
          </a:prstGeom>
          <a:solidFill>
            <a:srgbClr val="B83B2E">
              <a:alpha val="22000"/>
            </a:srgbClr>
          </a:solidFill>
          <a:ln/>
        </p:spPr>
      </p:sp>
      <p:pic>
        <p:nvPicPr>
          <p:cNvPr id="20" name="Image 0" descr="preencoded.png"/>
          <p:cNvPicPr>
            <a:picLocks noChangeAspect="1"/>
          </p:cNvPicPr>
          <p:nvPr/>
        </p:nvPicPr>
        <p:blipFill>
          <a:blip r:embed="rId3"/>
          <a:stretch>
            <a:fillRect/>
          </a:stretch>
        </p:blipFill>
        <p:spPr>
          <a:xfrm>
            <a:off x="659831" y="1574231"/>
            <a:ext cx="161666" cy="161666"/>
          </a:xfrm>
          <a:prstGeom prst="rect">
            <a:avLst/>
          </a:prstGeom>
        </p:spPr>
      </p:pic>
      <p:sp>
        <p:nvSpPr>
          <p:cNvPr id="21" name="Text 17"/>
          <p:cNvSpPr txBox="1"/>
          <p:nvPr/>
        </p:nvSpPr>
        <p:spPr>
          <a:xfrm>
            <a:off x="1005840" y="1499616"/>
            <a:ext cx="131673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Le matériel avant l'usage</a:t>
            </a:r>
            <a:endParaRPr lang="en-US" sz="1050" dirty="0"/>
          </a:p>
        </p:txBody>
      </p:sp>
      <p:sp>
        <p:nvSpPr>
          <p:cNvPr id="22" name="Text 18"/>
          <p:cNvSpPr txBox="1"/>
          <p:nvPr/>
        </p:nvSpPr>
        <p:spPr>
          <a:xfrm>
            <a:off x="585216"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GPU achetés sur la foi d'une stratégie, inutilisés 18 mois en attendant la plateforme.</a:t>
            </a:r>
            <a:endParaRPr lang="en-US" sz="900" dirty="0"/>
          </a:p>
        </p:txBody>
      </p:sp>
      <p:sp>
        <p:nvSpPr>
          <p:cNvPr id="23" name="Shape 19"/>
          <p:cNvSpPr/>
          <p:nvPr/>
        </p:nvSpPr>
        <p:spPr>
          <a:xfrm>
            <a:off x="2542032" y="1371600"/>
            <a:ext cx="1975104" cy="1271016"/>
          </a:xfrm>
          <a:prstGeom prst="roundRect">
            <a:avLst>
              <a:gd name="adj" fmla="val 5755"/>
            </a:avLst>
          </a:prstGeom>
          <a:solidFill>
            <a:srgbClr val="F4F7F5"/>
          </a:solidFill>
          <a:ln w="9525">
            <a:solidFill>
              <a:srgbClr val="D5DED9"/>
            </a:solidFill>
            <a:prstDash val="solid"/>
          </a:ln>
        </p:spPr>
      </p:sp>
      <p:sp>
        <p:nvSpPr>
          <p:cNvPr id="24" name="Shape 20"/>
          <p:cNvSpPr/>
          <p:nvPr/>
        </p:nvSpPr>
        <p:spPr>
          <a:xfrm>
            <a:off x="2670048" y="1499616"/>
            <a:ext cx="310896" cy="310896"/>
          </a:xfrm>
          <a:prstGeom prst="ellipse">
            <a:avLst/>
          </a:prstGeom>
          <a:solidFill>
            <a:srgbClr val="B83B2E">
              <a:alpha val="22000"/>
            </a:srgbClr>
          </a:solidFill>
          <a:ln/>
        </p:spPr>
      </p:sp>
      <p:pic>
        <p:nvPicPr>
          <p:cNvPr id="25" name="Image 1" descr="preencoded.png"/>
          <p:cNvPicPr>
            <a:picLocks noChangeAspect="1"/>
          </p:cNvPicPr>
          <p:nvPr/>
        </p:nvPicPr>
        <p:blipFill>
          <a:blip r:embed="rId4"/>
          <a:stretch>
            <a:fillRect/>
          </a:stretch>
        </p:blipFill>
        <p:spPr>
          <a:xfrm>
            <a:off x="2744663" y="1574231"/>
            <a:ext cx="161666" cy="161666"/>
          </a:xfrm>
          <a:prstGeom prst="rect">
            <a:avLst/>
          </a:prstGeom>
        </p:spPr>
      </p:pic>
      <p:sp>
        <p:nvSpPr>
          <p:cNvPr id="26" name="Text 21"/>
          <p:cNvSpPr txBox="1"/>
          <p:nvPr/>
        </p:nvSpPr>
        <p:spPr>
          <a:xfrm>
            <a:off x="3090672"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Le plus difficile d'abord</a:t>
            </a:r>
            <a:endParaRPr lang="en-US" sz="1050" dirty="0"/>
          </a:p>
        </p:txBody>
      </p:sp>
      <p:sp>
        <p:nvSpPr>
          <p:cNvPr id="27" name="Text 22"/>
          <p:cNvSpPr txBox="1"/>
          <p:nvPr/>
        </p:nvSpPr>
        <p:spPr>
          <a:xfrm>
            <a:off x="2670048"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microdonnées confidentielles pour une statistique phare comme premier essai.</a:t>
            </a:r>
            <a:endParaRPr lang="en-US" sz="900" dirty="0"/>
          </a:p>
        </p:txBody>
      </p:sp>
      <p:sp>
        <p:nvSpPr>
          <p:cNvPr id="28" name="Shape 23"/>
          <p:cNvSpPr/>
          <p:nvPr/>
        </p:nvSpPr>
        <p:spPr>
          <a:xfrm>
            <a:off x="4626864" y="1371600"/>
            <a:ext cx="1975104" cy="1271016"/>
          </a:xfrm>
          <a:prstGeom prst="roundRect">
            <a:avLst>
              <a:gd name="adj" fmla="val 5755"/>
            </a:avLst>
          </a:prstGeom>
          <a:solidFill>
            <a:srgbClr val="F4F7F5"/>
          </a:solidFill>
          <a:ln w="9525">
            <a:solidFill>
              <a:srgbClr val="D5DED9"/>
            </a:solidFill>
            <a:prstDash val="solid"/>
          </a:ln>
        </p:spPr>
      </p:sp>
      <p:sp>
        <p:nvSpPr>
          <p:cNvPr id="29" name="Shape 24"/>
          <p:cNvSpPr/>
          <p:nvPr/>
        </p:nvSpPr>
        <p:spPr>
          <a:xfrm>
            <a:off x="4754880" y="1499616"/>
            <a:ext cx="310896" cy="310896"/>
          </a:xfrm>
          <a:prstGeom prst="ellipse">
            <a:avLst/>
          </a:prstGeom>
          <a:solidFill>
            <a:srgbClr val="B83B2E">
              <a:alpha val="22000"/>
            </a:srgbClr>
          </a:solidFill>
          <a:ln/>
        </p:spPr>
      </p:sp>
      <p:pic>
        <p:nvPicPr>
          <p:cNvPr id="30" name="Image 2" descr="preencoded.png"/>
          <p:cNvPicPr>
            <a:picLocks noChangeAspect="1"/>
          </p:cNvPicPr>
          <p:nvPr/>
        </p:nvPicPr>
        <p:blipFill>
          <a:blip r:embed="rId5"/>
          <a:stretch>
            <a:fillRect/>
          </a:stretch>
        </p:blipFill>
        <p:spPr>
          <a:xfrm>
            <a:off x="4829495" y="1574231"/>
            <a:ext cx="161666" cy="161666"/>
          </a:xfrm>
          <a:prstGeom prst="rect">
            <a:avLst/>
          </a:prstGeom>
        </p:spPr>
      </p:pic>
      <p:sp>
        <p:nvSpPr>
          <p:cNvPr id="31" name="Text 25"/>
          <p:cNvSpPr txBox="1"/>
          <p:nvPr/>
        </p:nvSpPr>
        <p:spPr>
          <a:xfrm>
            <a:off x="5175504" y="1499616"/>
            <a:ext cx="131673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Stratégie sans plateforme</a:t>
            </a:r>
            <a:endParaRPr lang="en-US" sz="1050" dirty="0"/>
          </a:p>
        </p:txBody>
      </p:sp>
      <p:sp>
        <p:nvSpPr>
          <p:cNvPr id="32" name="Text 26"/>
          <p:cNvSpPr txBox="1"/>
          <p:nvPr/>
        </p:nvSpPr>
        <p:spPr>
          <a:xfrm>
            <a:off x="4754880"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Un beau document et un comité de pilotage — mais nulle part où construire.</a:t>
            </a:r>
            <a:endParaRPr lang="en-US" sz="900" dirty="0"/>
          </a:p>
        </p:txBody>
      </p:sp>
      <p:sp>
        <p:nvSpPr>
          <p:cNvPr id="33" name="Shape 27"/>
          <p:cNvSpPr/>
          <p:nvPr/>
        </p:nvSpPr>
        <p:spPr>
          <a:xfrm>
            <a:off x="6711696" y="1371600"/>
            <a:ext cx="1975104" cy="1271016"/>
          </a:xfrm>
          <a:prstGeom prst="roundRect">
            <a:avLst>
              <a:gd name="adj" fmla="val 5755"/>
            </a:avLst>
          </a:prstGeom>
          <a:solidFill>
            <a:srgbClr val="F4F7F5"/>
          </a:solidFill>
          <a:ln w="9525">
            <a:solidFill>
              <a:srgbClr val="D5DED9"/>
            </a:solidFill>
            <a:prstDash val="solid"/>
          </a:ln>
        </p:spPr>
      </p:sp>
      <p:sp>
        <p:nvSpPr>
          <p:cNvPr id="34" name="Shape 28"/>
          <p:cNvSpPr/>
          <p:nvPr/>
        </p:nvSpPr>
        <p:spPr>
          <a:xfrm>
            <a:off x="6839712" y="1499616"/>
            <a:ext cx="310896" cy="310896"/>
          </a:xfrm>
          <a:prstGeom prst="ellipse">
            <a:avLst/>
          </a:prstGeom>
          <a:solidFill>
            <a:srgbClr val="B83B2E">
              <a:alpha val="22000"/>
            </a:srgbClr>
          </a:solidFill>
          <a:ln/>
        </p:spPr>
      </p:sp>
      <p:pic>
        <p:nvPicPr>
          <p:cNvPr id="35" name="Image 3" descr="preencoded.png"/>
          <p:cNvPicPr>
            <a:picLocks noChangeAspect="1"/>
          </p:cNvPicPr>
          <p:nvPr/>
        </p:nvPicPr>
        <p:blipFill>
          <a:blip r:embed="rId6"/>
          <a:stretch>
            <a:fillRect/>
          </a:stretch>
        </p:blipFill>
        <p:spPr>
          <a:xfrm>
            <a:off x="6914327" y="1574231"/>
            <a:ext cx="161666" cy="161666"/>
          </a:xfrm>
          <a:prstGeom prst="rect">
            <a:avLst/>
          </a:prstGeom>
        </p:spPr>
      </p:pic>
      <p:sp>
        <p:nvSpPr>
          <p:cNvPr id="36" name="Text 29"/>
          <p:cNvSpPr txBox="1"/>
          <p:nvPr/>
        </p:nvSpPr>
        <p:spPr>
          <a:xfrm>
            <a:off x="7260336" y="1499616"/>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Le héros solitaire</a:t>
            </a:r>
            <a:endParaRPr lang="en-US" sz="1050" dirty="0"/>
          </a:p>
        </p:txBody>
      </p:sp>
      <p:sp>
        <p:nvSpPr>
          <p:cNvPr id="37" name="Text 30"/>
          <p:cNvSpPr txBox="1"/>
          <p:nvPr/>
        </p:nvSpPr>
        <p:spPr>
          <a:xfrm>
            <a:off x="6839712" y="1865376"/>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Une seule personne comprend toute la chaîne. Sa démission devient une panne.</a:t>
            </a:r>
            <a:endParaRPr lang="en-US" sz="900" dirty="0"/>
          </a:p>
        </p:txBody>
      </p:sp>
      <p:sp>
        <p:nvSpPr>
          <p:cNvPr id="38" name="Shape 31"/>
          <p:cNvSpPr/>
          <p:nvPr/>
        </p:nvSpPr>
        <p:spPr>
          <a:xfrm>
            <a:off x="457200" y="2752344"/>
            <a:ext cx="1975104" cy="1271016"/>
          </a:xfrm>
          <a:prstGeom prst="roundRect">
            <a:avLst>
              <a:gd name="adj" fmla="val 5755"/>
            </a:avLst>
          </a:prstGeom>
          <a:solidFill>
            <a:srgbClr val="F4F7F5"/>
          </a:solidFill>
          <a:ln w="9525">
            <a:solidFill>
              <a:srgbClr val="D5DED9"/>
            </a:solidFill>
            <a:prstDash val="solid"/>
          </a:ln>
        </p:spPr>
      </p:sp>
      <p:sp>
        <p:nvSpPr>
          <p:cNvPr id="39" name="Shape 32"/>
          <p:cNvSpPr/>
          <p:nvPr/>
        </p:nvSpPr>
        <p:spPr>
          <a:xfrm>
            <a:off x="585216" y="2880360"/>
            <a:ext cx="310896" cy="310896"/>
          </a:xfrm>
          <a:prstGeom prst="ellipse">
            <a:avLst/>
          </a:prstGeom>
          <a:solidFill>
            <a:srgbClr val="B83B2E">
              <a:alpha val="22000"/>
            </a:srgbClr>
          </a:solidFill>
          <a:ln/>
        </p:spPr>
      </p:sp>
      <p:pic>
        <p:nvPicPr>
          <p:cNvPr id="40" name="Image 4" descr="preencoded.png"/>
          <p:cNvPicPr>
            <a:picLocks noChangeAspect="1"/>
          </p:cNvPicPr>
          <p:nvPr/>
        </p:nvPicPr>
        <p:blipFill>
          <a:blip r:embed="rId7"/>
          <a:stretch>
            <a:fillRect/>
          </a:stretch>
        </p:blipFill>
        <p:spPr>
          <a:xfrm>
            <a:off x="659831" y="2954975"/>
            <a:ext cx="161666" cy="161666"/>
          </a:xfrm>
          <a:prstGeom prst="rect">
            <a:avLst/>
          </a:prstGeom>
        </p:spPr>
      </p:pic>
      <p:sp>
        <p:nvSpPr>
          <p:cNvPr id="41" name="Text 33"/>
          <p:cNvSpPr txBox="1"/>
          <p:nvPr/>
        </p:nvSpPr>
        <p:spPr>
          <a:xfrm>
            <a:off x="1005840" y="2880360"/>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Pilotes à perpétuité</a:t>
            </a:r>
            <a:endParaRPr lang="en-US" sz="1050" dirty="0"/>
          </a:p>
        </p:txBody>
      </p:sp>
      <p:sp>
        <p:nvSpPr>
          <p:cNvPr id="42" name="Text 34"/>
          <p:cNvSpPr txBox="1"/>
          <p:nvPr/>
        </p:nvSpPr>
        <p:spPr>
          <a:xfrm>
            <a:off x="585216"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Preuve de concept après preuve de concept, applaudies mais jamais promues.</a:t>
            </a:r>
            <a:endParaRPr lang="en-US" sz="900" dirty="0"/>
          </a:p>
        </p:txBody>
      </p:sp>
      <p:sp>
        <p:nvSpPr>
          <p:cNvPr id="43" name="Shape 35"/>
          <p:cNvSpPr/>
          <p:nvPr/>
        </p:nvSpPr>
        <p:spPr>
          <a:xfrm>
            <a:off x="2542032" y="2752344"/>
            <a:ext cx="1975104" cy="1271016"/>
          </a:xfrm>
          <a:prstGeom prst="roundRect">
            <a:avLst>
              <a:gd name="adj" fmla="val 5755"/>
            </a:avLst>
          </a:prstGeom>
          <a:solidFill>
            <a:srgbClr val="F4F7F5"/>
          </a:solidFill>
          <a:ln w="9525">
            <a:solidFill>
              <a:srgbClr val="D5DED9"/>
            </a:solidFill>
            <a:prstDash val="solid"/>
          </a:ln>
        </p:spPr>
      </p:sp>
      <p:sp>
        <p:nvSpPr>
          <p:cNvPr id="44" name="Shape 36"/>
          <p:cNvSpPr/>
          <p:nvPr/>
        </p:nvSpPr>
        <p:spPr>
          <a:xfrm>
            <a:off x="2670048" y="2880360"/>
            <a:ext cx="310896" cy="310896"/>
          </a:xfrm>
          <a:prstGeom prst="ellipse">
            <a:avLst/>
          </a:prstGeom>
          <a:solidFill>
            <a:srgbClr val="B83B2E">
              <a:alpha val="22000"/>
            </a:srgbClr>
          </a:solidFill>
          <a:ln/>
        </p:spPr>
      </p:sp>
      <p:pic>
        <p:nvPicPr>
          <p:cNvPr id="45" name="Image 5" descr="preencoded.png"/>
          <p:cNvPicPr>
            <a:picLocks noChangeAspect="1"/>
          </p:cNvPicPr>
          <p:nvPr/>
        </p:nvPicPr>
        <p:blipFill>
          <a:blip r:embed="rId8"/>
          <a:stretch>
            <a:fillRect/>
          </a:stretch>
        </p:blipFill>
        <p:spPr>
          <a:xfrm>
            <a:off x="2744663" y="2954975"/>
            <a:ext cx="161666" cy="161666"/>
          </a:xfrm>
          <a:prstGeom prst="rect">
            <a:avLst/>
          </a:prstGeom>
        </p:spPr>
      </p:pic>
      <p:sp>
        <p:nvSpPr>
          <p:cNvPr id="46" name="Text 37"/>
          <p:cNvSpPr txBox="1"/>
          <p:nvPr/>
        </p:nvSpPr>
        <p:spPr>
          <a:xfrm>
            <a:off x="3090672" y="2880360"/>
            <a:ext cx="131673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Gouvernance après coup</a:t>
            </a:r>
            <a:endParaRPr lang="en-US" sz="1050" dirty="0"/>
          </a:p>
        </p:txBody>
      </p:sp>
      <p:sp>
        <p:nvSpPr>
          <p:cNvPr id="47" name="Text 38"/>
          <p:cNvSpPr txBox="1"/>
          <p:nvPr/>
        </p:nvSpPr>
        <p:spPr>
          <a:xfrm>
            <a:off x="2670048"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contrôles conçus une fois le système en service restent consultatifs — et coûtent plus.</a:t>
            </a:r>
            <a:endParaRPr lang="en-US" sz="900" dirty="0"/>
          </a:p>
        </p:txBody>
      </p:sp>
      <p:sp>
        <p:nvSpPr>
          <p:cNvPr id="48" name="Shape 39"/>
          <p:cNvSpPr/>
          <p:nvPr/>
        </p:nvSpPr>
        <p:spPr>
          <a:xfrm>
            <a:off x="4626864" y="2752344"/>
            <a:ext cx="1975104" cy="1271016"/>
          </a:xfrm>
          <a:prstGeom prst="roundRect">
            <a:avLst>
              <a:gd name="adj" fmla="val 5755"/>
            </a:avLst>
          </a:prstGeom>
          <a:solidFill>
            <a:srgbClr val="F4F7F5"/>
          </a:solidFill>
          <a:ln w="9525">
            <a:solidFill>
              <a:srgbClr val="D5DED9"/>
            </a:solidFill>
            <a:prstDash val="solid"/>
          </a:ln>
        </p:spPr>
      </p:sp>
      <p:sp>
        <p:nvSpPr>
          <p:cNvPr id="49" name="Shape 40"/>
          <p:cNvSpPr/>
          <p:nvPr/>
        </p:nvSpPr>
        <p:spPr>
          <a:xfrm>
            <a:off x="4754880" y="2880360"/>
            <a:ext cx="310896" cy="310896"/>
          </a:xfrm>
          <a:prstGeom prst="ellipse">
            <a:avLst/>
          </a:prstGeom>
          <a:solidFill>
            <a:srgbClr val="B83B2E">
              <a:alpha val="22000"/>
            </a:srgbClr>
          </a:solidFill>
          <a:ln/>
        </p:spPr>
      </p:sp>
      <p:pic>
        <p:nvPicPr>
          <p:cNvPr id="50" name="Image 6" descr="preencoded.png"/>
          <p:cNvPicPr>
            <a:picLocks noChangeAspect="1"/>
          </p:cNvPicPr>
          <p:nvPr/>
        </p:nvPicPr>
        <p:blipFill>
          <a:blip r:embed="rId9"/>
          <a:stretch>
            <a:fillRect/>
          </a:stretch>
        </p:blipFill>
        <p:spPr>
          <a:xfrm>
            <a:off x="4829495" y="2954975"/>
            <a:ext cx="161666" cy="161666"/>
          </a:xfrm>
          <a:prstGeom prst="rect">
            <a:avLst/>
          </a:prstGeom>
        </p:spPr>
      </p:pic>
      <p:sp>
        <p:nvSpPr>
          <p:cNvPr id="51" name="Text 41"/>
          <p:cNvSpPr txBox="1"/>
          <p:nvPr/>
        </p:nvSpPr>
        <p:spPr>
          <a:xfrm>
            <a:off x="5175504" y="2880360"/>
            <a:ext cx="1316736" cy="310896"/>
          </a:xfrm>
          <a:prstGeom prst="rect">
            <a:avLst/>
          </a:prstGeom>
          <a:noFill/>
          <a:ln/>
        </p:spPr>
        <p:txBody>
          <a:bodyPr wrap="square" lIns="0" tIns="0" rIns="0" bIns="0" rtlCol="0" anchor="ctr">
            <a:normAutofit lnSpcReduction="10000"/>
          </a:bodyPr>
          <a:lstStyle/>
          <a:p>
            <a:pPr marL="0" indent="0">
              <a:buNone/>
            </a:pPr>
            <a:r>
              <a:rPr lang="en-US" sz="1050" b="1" dirty="0">
                <a:solidFill>
                  <a:srgbClr val="231F20"/>
                </a:solidFill>
                <a:latin typeface="Calibri" pitchFamily="34" charset="0"/>
                <a:ea typeface="Calibri" pitchFamily="34" charset="-122"/>
                <a:cs typeface="Calibri" pitchFamily="34" charset="-120"/>
              </a:rPr>
              <a:t>La sortie prise pour vérité</a:t>
            </a:r>
            <a:endParaRPr lang="en-US" sz="1050" dirty="0"/>
          </a:p>
        </p:txBody>
      </p:sp>
      <p:sp>
        <p:nvSpPr>
          <p:cNvPr id="52" name="Text 42"/>
          <p:cNvSpPr txBox="1"/>
          <p:nvPr/>
        </p:nvSpPr>
        <p:spPr>
          <a:xfrm>
            <a:off x="4754880"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Des réponses générées entrent dans un produit sans contrôle déterministe ni humain.</a:t>
            </a:r>
            <a:endParaRPr lang="en-US" sz="900" dirty="0"/>
          </a:p>
        </p:txBody>
      </p:sp>
      <p:sp>
        <p:nvSpPr>
          <p:cNvPr id="53" name="Shape 43"/>
          <p:cNvSpPr/>
          <p:nvPr/>
        </p:nvSpPr>
        <p:spPr>
          <a:xfrm>
            <a:off x="6711696" y="2752344"/>
            <a:ext cx="1975104" cy="1271016"/>
          </a:xfrm>
          <a:prstGeom prst="roundRect">
            <a:avLst>
              <a:gd name="adj" fmla="val 5755"/>
            </a:avLst>
          </a:prstGeom>
          <a:solidFill>
            <a:srgbClr val="F4F7F5"/>
          </a:solidFill>
          <a:ln w="9525">
            <a:solidFill>
              <a:srgbClr val="D5DED9"/>
            </a:solidFill>
            <a:prstDash val="solid"/>
          </a:ln>
        </p:spPr>
      </p:sp>
      <p:sp>
        <p:nvSpPr>
          <p:cNvPr id="54" name="Shape 44"/>
          <p:cNvSpPr/>
          <p:nvPr/>
        </p:nvSpPr>
        <p:spPr>
          <a:xfrm>
            <a:off x="6839712" y="2880360"/>
            <a:ext cx="310896" cy="310896"/>
          </a:xfrm>
          <a:prstGeom prst="ellipse">
            <a:avLst/>
          </a:prstGeom>
          <a:solidFill>
            <a:srgbClr val="B83B2E">
              <a:alpha val="22000"/>
            </a:srgbClr>
          </a:solidFill>
          <a:ln/>
        </p:spPr>
      </p:sp>
      <p:pic>
        <p:nvPicPr>
          <p:cNvPr id="55" name="Image 7" descr="preencoded.png"/>
          <p:cNvPicPr>
            <a:picLocks noChangeAspect="1"/>
          </p:cNvPicPr>
          <p:nvPr/>
        </p:nvPicPr>
        <p:blipFill>
          <a:blip r:embed="rId10"/>
          <a:stretch>
            <a:fillRect/>
          </a:stretch>
        </p:blipFill>
        <p:spPr>
          <a:xfrm>
            <a:off x="6914327" y="2954975"/>
            <a:ext cx="161666" cy="161666"/>
          </a:xfrm>
          <a:prstGeom prst="rect">
            <a:avLst/>
          </a:prstGeom>
        </p:spPr>
      </p:pic>
      <p:sp>
        <p:nvSpPr>
          <p:cNvPr id="56" name="Text 45"/>
          <p:cNvSpPr txBox="1"/>
          <p:nvPr/>
        </p:nvSpPr>
        <p:spPr>
          <a:xfrm>
            <a:off x="7260336" y="2880360"/>
            <a:ext cx="1316736" cy="310896"/>
          </a:xfrm>
          <a:prstGeom prst="rect">
            <a:avLst/>
          </a:prstGeom>
          <a:noFill/>
          <a:ln/>
        </p:spPr>
        <p:txBody>
          <a:bodyPr wrap="square" lIns="0" tIns="0" rIns="0" bIns="0" rtlCol="0" anchor="ctr">
            <a:normAutofit/>
          </a:bodyPr>
          <a:lstStyle/>
          <a:p>
            <a:pPr marL="0" indent="0">
              <a:buNone/>
            </a:pPr>
            <a:r>
              <a:rPr lang="en-US" sz="1050" b="1" dirty="0">
                <a:solidFill>
                  <a:srgbClr val="231F20"/>
                </a:solidFill>
                <a:latin typeface="Calibri" pitchFamily="34" charset="0"/>
                <a:ea typeface="Calibri" pitchFamily="34" charset="-122"/>
                <a:cs typeface="Calibri" pitchFamily="34" charset="-120"/>
              </a:rPr>
              <a:t>Viser la perfection</a:t>
            </a:r>
            <a:endParaRPr lang="en-US" sz="1050" dirty="0"/>
          </a:p>
        </p:txBody>
      </p:sp>
      <p:sp>
        <p:nvSpPr>
          <p:cNvPr id="57" name="Text 46"/>
          <p:cNvSpPr txBox="1"/>
          <p:nvPr/>
        </p:nvSpPr>
        <p:spPr>
          <a:xfrm>
            <a:off x="6839712" y="3246120"/>
            <a:ext cx="1719072" cy="722376"/>
          </a:xfrm>
          <a:prstGeom prst="rect">
            <a:avLst/>
          </a:prstGeom>
          <a:noFill/>
          <a:ln/>
        </p:spPr>
        <p:txBody>
          <a:bodyPr wrap="square" lIns="0" tIns="0" rIns="0" bIns="0" rtlCol="0" anchor="t"/>
          <a:lstStyle/>
          <a:p>
            <a:pPr marL="0" indent="0">
              <a:lnSpc>
                <a:spcPct val="105000"/>
              </a:lnSpc>
              <a:buNone/>
            </a:pPr>
            <a:r>
              <a:rPr lang="en-US" sz="900" dirty="0">
                <a:solidFill>
                  <a:srgbClr val="5E6964"/>
                </a:solidFill>
                <a:latin typeface="Calibri" pitchFamily="34" charset="0"/>
                <a:ea typeface="Calibri" pitchFamily="34" charset="-122"/>
                <a:cs typeface="Calibri" pitchFamily="34" charset="-120"/>
              </a:rPr>
              <a:t>Rejeter un système meilleur que le manuel, dont l'erreur n'a jamais été mesurée.</a:t>
            </a:r>
            <a:endParaRPr lang="en-US" sz="900" dirty="0"/>
          </a:p>
        </p:txBody>
      </p:sp>
      <p:sp>
        <p:nvSpPr>
          <p:cNvPr id="58" name="Shape 47"/>
          <p:cNvSpPr/>
          <p:nvPr/>
        </p:nvSpPr>
        <p:spPr>
          <a:xfrm>
            <a:off x="457200" y="4133088"/>
            <a:ext cx="8229600" cy="457200"/>
          </a:xfrm>
          <a:prstGeom prst="roundRect">
            <a:avLst>
              <a:gd name="adj" fmla="val 12000"/>
            </a:avLst>
          </a:prstGeom>
          <a:solidFill>
            <a:srgbClr val="E8F5EF"/>
          </a:solidFill>
          <a:ln w="15875">
            <a:solidFill>
              <a:srgbClr val="B83B2E"/>
            </a:solidFill>
            <a:prstDash val="solid"/>
          </a:ln>
        </p:spPr>
      </p:sp>
      <p:sp>
        <p:nvSpPr>
          <p:cNvPr id="59" name="Shape 48"/>
          <p:cNvSpPr/>
          <p:nvPr/>
        </p:nvSpPr>
        <p:spPr>
          <a:xfrm>
            <a:off x="566928" y="4215384"/>
            <a:ext cx="292608" cy="292608"/>
          </a:xfrm>
          <a:prstGeom prst="ellipse">
            <a:avLst/>
          </a:prstGeom>
          <a:solidFill>
            <a:srgbClr val="B83B2E">
              <a:alpha val="22000"/>
            </a:srgbClr>
          </a:solidFill>
          <a:ln/>
        </p:spPr>
      </p:sp>
      <p:pic>
        <p:nvPicPr>
          <p:cNvPr id="60" name="Image 8" descr="preencoded.png"/>
          <p:cNvPicPr>
            <a:picLocks noChangeAspect="1"/>
          </p:cNvPicPr>
          <p:nvPr/>
        </p:nvPicPr>
        <p:blipFill>
          <a:blip r:embed="rId11"/>
          <a:stretch>
            <a:fillRect/>
          </a:stretch>
        </p:blipFill>
        <p:spPr>
          <a:xfrm>
            <a:off x="637154" y="4285610"/>
            <a:ext cx="152156" cy="152156"/>
          </a:xfrm>
          <a:prstGeom prst="rect">
            <a:avLst/>
          </a:prstGeom>
        </p:spPr>
      </p:pic>
      <p:sp>
        <p:nvSpPr>
          <p:cNvPr id="61" name="Text 49"/>
          <p:cNvSpPr txBox="1"/>
          <p:nvPr/>
        </p:nvSpPr>
        <p:spPr>
          <a:xfrm>
            <a:off x="960120" y="4133088"/>
            <a:ext cx="7589520" cy="457200"/>
          </a:xfrm>
          <a:prstGeom prst="rect">
            <a:avLst/>
          </a:prstGeom>
          <a:noFill/>
          <a:ln/>
        </p:spPr>
        <p:txBody>
          <a:bodyPr wrap="square" lIns="0" tIns="0" rIns="0" bIns="0" rtlCol="0" anchor="ctr"/>
          <a:lstStyle/>
          <a:p>
            <a:pPr marL="0" indent="0">
              <a:buNone/>
            </a:pPr>
            <a:r>
              <a:rPr lang="en-US" sz="1000" b="1" kern="0" spc="150" dirty="0">
                <a:solidFill>
                  <a:srgbClr val="00704A"/>
                </a:solidFill>
                <a:latin typeface="Calibri" pitchFamily="34" charset="0"/>
                <a:ea typeface="Calibri" pitchFamily="34" charset="-122"/>
                <a:cs typeface="Calibri" pitchFamily="34" charset="-120"/>
              </a:rPr>
              <a:t>À RETENIR   </a:t>
            </a:r>
            <a:r>
              <a:rPr lang="en-US" sz="1000" dirty="0">
                <a:solidFill>
                  <a:srgbClr val="231F20"/>
                </a:solidFill>
                <a:latin typeface="Calibri" pitchFamily="34" charset="0"/>
                <a:ea typeface="Calibri" pitchFamily="34" charset="-122"/>
                <a:cs typeface="Calibri" pitchFamily="34" charset="-120"/>
              </a:rPr>
              <a:t>Sept de ces huit erreurs sont des erreurs d'ordonnancement, pas de technologie. L'ordre des travaux compte plus que le choix des outils.</a:t>
            </a:r>
            <a:endParaRPr lang="en-US" sz="1000" dirty="0"/>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AUTO-ÉVALUATION</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Liste de vérification</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Dix questions fermées. Moins de sept « oui » : vous n'êtes pas prêt à dépasser le stade du pilote</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61</a:t>
            </a:r>
            <a:endParaRPr lang="en-US" sz="850" dirty="0"/>
          </a:p>
        </p:txBody>
      </p:sp>
      <p:sp>
        <p:nvSpPr>
          <p:cNvPr id="18" name="Shape 15"/>
          <p:cNvSpPr/>
          <p:nvPr/>
        </p:nvSpPr>
        <p:spPr>
          <a:xfrm>
            <a:off x="457200" y="1371600"/>
            <a:ext cx="3017520" cy="548640"/>
          </a:xfrm>
          <a:prstGeom prst="roundRect">
            <a:avLst>
              <a:gd name="adj" fmla="val 13333"/>
            </a:avLst>
          </a:prstGeom>
          <a:solidFill>
            <a:srgbClr val="F4F7F5"/>
          </a:solidFill>
          <a:ln w="9525">
            <a:solidFill>
              <a:srgbClr val="D5DED9"/>
            </a:solidFill>
            <a:prstDash val="solid"/>
          </a:ln>
        </p:spPr>
      </p:sp>
      <p:sp>
        <p:nvSpPr>
          <p:cNvPr id="19" name="Shape 16"/>
          <p:cNvSpPr/>
          <p:nvPr/>
        </p:nvSpPr>
        <p:spPr>
          <a:xfrm>
            <a:off x="566928" y="1508760"/>
            <a:ext cx="274320" cy="274320"/>
          </a:xfrm>
          <a:prstGeom prst="roundRect">
            <a:avLst>
              <a:gd name="adj" fmla="val 13333"/>
            </a:avLst>
          </a:prstGeom>
          <a:solidFill>
            <a:srgbClr val="FFFFFF"/>
          </a:solidFill>
          <a:ln w="15875">
            <a:solidFill>
              <a:srgbClr val="B83B2E"/>
            </a:solidFill>
            <a:prstDash val="solid"/>
          </a:ln>
        </p:spPr>
      </p:sp>
      <p:sp>
        <p:nvSpPr>
          <p:cNvPr id="20" name="Text 17"/>
          <p:cNvSpPr txBox="1"/>
          <p:nvPr/>
        </p:nvSpPr>
        <p:spPr>
          <a:xfrm>
            <a:off x="566928" y="150876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960120" y="137160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 tableau de classification est approuvé et accessible au personnel</a:t>
            </a:r>
            <a:endParaRPr lang="en-US" sz="950" dirty="0"/>
          </a:p>
        </p:txBody>
      </p:sp>
      <p:sp>
        <p:nvSpPr>
          <p:cNvPr id="22" name="Shape 19"/>
          <p:cNvSpPr/>
          <p:nvPr/>
        </p:nvSpPr>
        <p:spPr>
          <a:xfrm>
            <a:off x="457200" y="2011680"/>
            <a:ext cx="3017520" cy="548640"/>
          </a:xfrm>
          <a:prstGeom prst="roundRect">
            <a:avLst>
              <a:gd name="adj" fmla="val 13333"/>
            </a:avLst>
          </a:prstGeom>
          <a:solidFill>
            <a:srgbClr val="F4F7F5"/>
          </a:solidFill>
          <a:ln w="9525">
            <a:solidFill>
              <a:srgbClr val="D5DED9"/>
            </a:solidFill>
            <a:prstDash val="solid"/>
          </a:ln>
        </p:spPr>
      </p:sp>
      <p:sp>
        <p:nvSpPr>
          <p:cNvPr id="23" name="Shape 20"/>
          <p:cNvSpPr/>
          <p:nvPr/>
        </p:nvSpPr>
        <p:spPr>
          <a:xfrm>
            <a:off x="566928" y="2148840"/>
            <a:ext cx="274320" cy="274320"/>
          </a:xfrm>
          <a:prstGeom prst="roundRect">
            <a:avLst>
              <a:gd name="adj" fmla="val 13333"/>
            </a:avLst>
          </a:prstGeom>
          <a:solidFill>
            <a:srgbClr val="FFFFFF"/>
          </a:solidFill>
          <a:ln w="15875">
            <a:solidFill>
              <a:srgbClr val="B83B2E"/>
            </a:solidFill>
            <a:prstDash val="solid"/>
          </a:ln>
        </p:spPr>
      </p:sp>
      <p:sp>
        <p:nvSpPr>
          <p:cNvPr id="24" name="Text 21"/>
          <p:cNvSpPr txBox="1"/>
          <p:nvPr/>
        </p:nvSpPr>
        <p:spPr>
          <a:xfrm>
            <a:off x="566928" y="214884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2</a:t>
            </a:r>
            <a:endParaRPr lang="en-US" sz="1000" dirty="0"/>
          </a:p>
        </p:txBody>
      </p:sp>
      <p:sp>
        <p:nvSpPr>
          <p:cNvPr id="25" name="Text 22"/>
          <p:cNvSpPr txBox="1"/>
          <p:nvPr/>
        </p:nvSpPr>
        <p:spPr>
          <a:xfrm>
            <a:off x="960120" y="201168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Une plateforme de données gouvernée avec catalogue et traçabilité existe</a:t>
            </a:r>
            <a:endParaRPr lang="en-US" sz="950" dirty="0"/>
          </a:p>
        </p:txBody>
      </p:sp>
      <p:sp>
        <p:nvSpPr>
          <p:cNvPr id="26" name="Shape 23"/>
          <p:cNvSpPr/>
          <p:nvPr/>
        </p:nvSpPr>
        <p:spPr>
          <a:xfrm>
            <a:off x="457200" y="2651760"/>
            <a:ext cx="3017520" cy="548640"/>
          </a:xfrm>
          <a:prstGeom prst="roundRect">
            <a:avLst>
              <a:gd name="adj" fmla="val 13333"/>
            </a:avLst>
          </a:prstGeom>
          <a:solidFill>
            <a:srgbClr val="F4F7F5"/>
          </a:solidFill>
          <a:ln w="9525">
            <a:solidFill>
              <a:srgbClr val="D5DED9"/>
            </a:solidFill>
            <a:prstDash val="solid"/>
          </a:ln>
        </p:spPr>
      </p:sp>
      <p:sp>
        <p:nvSpPr>
          <p:cNvPr id="27" name="Shape 24"/>
          <p:cNvSpPr/>
          <p:nvPr/>
        </p:nvSpPr>
        <p:spPr>
          <a:xfrm>
            <a:off x="566928" y="2788920"/>
            <a:ext cx="274320" cy="274320"/>
          </a:xfrm>
          <a:prstGeom prst="roundRect">
            <a:avLst>
              <a:gd name="adj" fmla="val 13333"/>
            </a:avLst>
          </a:prstGeom>
          <a:solidFill>
            <a:srgbClr val="FFFFFF"/>
          </a:solidFill>
          <a:ln w="15875">
            <a:solidFill>
              <a:srgbClr val="B83B2E"/>
            </a:solidFill>
            <a:prstDash val="solid"/>
          </a:ln>
        </p:spPr>
      </p:sp>
      <p:sp>
        <p:nvSpPr>
          <p:cNvPr id="28" name="Text 25"/>
          <p:cNvSpPr txBox="1"/>
          <p:nvPr/>
        </p:nvSpPr>
        <p:spPr>
          <a:xfrm>
            <a:off x="566928" y="278892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960120" y="265176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Un jeu de test figé avec référence humaine mesurée existe</a:t>
            </a:r>
            <a:endParaRPr lang="en-US" sz="950" dirty="0"/>
          </a:p>
        </p:txBody>
      </p:sp>
      <p:sp>
        <p:nvSpPr>
          <p:cNvPr id="30" name="Shape 27"/>
          <p:cNvSpPr/>
          <p:nvPr/>
        </p:nvSpPr>
        <p:spPr>
          <a:xfrm>
            <a:off x="457200" y="3291840"/>
            <a:ext cx="3017520" cy="548640"/>
          </a:xfrm>
          <a:prstGeom prst="roundRect">
            <a:avLst>
              <a:gd name="adj" fmla="val 13333"/>
            </a:avLst>
          </a:prstGeom>
          <a:solidFill>
            <a:srgbClr val="F4F7F5"/>
          </a:solidFill>
          <a:ln w="9525">
            <a:solidFill>
              <a:srgbClr val="D5DED9"/>
            </a:solidFill>
            <a:prstDash val="solid"/>
          </a:ln>
        </p:spPr>
      </p:sp>
      <p:sp>
        <p:nvSpPr>
          <p:cNvPr id="31" name="Shape 28"/>
          <p:cNvSpPr/>
          <p:nvPr/>
        </p:nvSpPr>
        <p:spPr>
          <a:xfrm>
            <a:off x="566928" y="3429000"/>
            <a:ext cx="274320" cy="274320"/>
          </a:xfrm>
          <a:prstGeom prst="roundRect">
            <a:avLst>
              <a:gd name="adj" fmla="val 13333"/>
            </a:avLst>
          </a:prstGeom>
          <a:solidFill>
            <a:srgbClr val="FFFFFF"/>
          </a:solidFill>
          <a:ln w="15875">
            <a:solidFill>
              <a:srgbClr val="B83B2E"/>
            </a:solidFill>
            <a:prstDash val="solid"/>
          </a:ln>
        </p:spPr>
      </p:sp>
      <p:sp>
        <p:nvSpPr>
          <p:cNvPr id="32" name="Text 29"/>
          <p:cNvSpPr txBox="1"/>
          <p:nvPr/>
        </p:nvSpPr>
        <p:spPr>
          <a:xfrm>
            <a:off x="566928" y="342900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4</a:t>
            </a:r>
            <a:endParaRPr lang="en-US" sz="1000" dirty="0"/>
          </a:p>
        </p:txBody>
      </p:sp>
      <p:sp>
        <p:nvSpPr>
          <p:cNvPr id="33" name="Text 30"/>
          <p:cNvSpPr txBox="1"/>
          <p:nvPr/>
        </p:nvSpPr>
        <p:spPr>
          <a:xfrm>
            <a:off x="960120" y="329184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Chaque appel de modèle passe par une passerelle auditée</a:t>
            </a:r>
            <a:endParaRPr lang="en-US" sz="950" dirty="0"/>
          </a:p>
        </p:txBody>
      </p:sp>
      <p:sp>
        <p:nvSpPr>
          <p:cNvPr id="34" name="Shape 31"/>
          <p:cNvSpPr/>
          <p:nvPr/>
        </p:nvSpPr>
        <p:spPr>
          <a:xfrm>
            <a:off x="457200" y="3931920"/>
            <a:ext cx="3017520" cy="548640"/>
          </a:xfrm>
          <a:prstGeom prst="roundRect">
            <a:avLst>
              <a:gd name="adj" fmla="val 13333"/>
            </a:avLst>
          </a:prstGeom>
          <a:solidFill>
            <a:srgbClr val="F4F7F5"/>
          </a:solidFill>
          <a:ln w="9525">
            <a:solidFill>
              <a:srgbClr val="D5DED9"/>
            </a:solidFill>
            <a:prstDash val="solid"/>
          </a:ln>
        </p:spPr>
      </p:sp>
      <p:sp>
        <p:nvSpPr>
          <p:cNvPr id="35" name="Shape 32"/>
          <p:cNvSpPr/>
          <p:nvPr/>
        </p:nvSpPr>
        <p:spPr>
          <a:xfrm>
            <a:off x="566928" y="4069080"/>
            <a:ext cx="274320" cy="274320"/>
          </a:xfrm>
          <a:prstGeom prst="roundRect">
            <a:avLst>
              <a:gd name="adj" fmla="val 13333"/>
            </a:avLst>
          </a:prstGeom>
          <a:solidFill>
            <a:srgbClr val="FFFFFF"/>
          </a:solidFill>
          <a:ln w="15875">
            <a:solidFill>
              <a:srgbClr val="B83B2E"/>
            </a:solidFill>
            <a:prstDash val="solid"/>
          </a:ln>
        </p:spPr>
      </p:sp>
      <p:sp>
        <p:nvSpPr>
          <p:cNvPr id="36" name="Text 33"/>
          <p:cNvSpPr txBox="1"/>
          <p:nvPr/>
        </p:nvSpPr>
        <p:spPr>
          <a:xfrm>
            <a:off x="566928" y="406908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5</a:t>
            </a:r>
            <a:endParaRPr lang="en-US" sz="1000" dirty="0"/>
          </a:p>
        </p:txBody>
      </p:sp>
      <p:sp>
        <p:nvSpPr>
          <p:cNvPr id="37" name="Text 34"/>
          <p:cNvSpPr txBox="1"/>
          <p:nvPr/>
        </p:nvSpPr>
        <p:spPr>
          <a:xfrm>
            <a:off x="960120" y="393192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DEV, TEST et PROD sont séparés, avec des approbateurs nommés</a:t>
            </a:r>
            <a:endParaRPr lang="en-US" sz="950" dirty="0"/>
          </a:p>
        </p:txBody>
      </p:sp>
      <p:sp>
        <p:nvSpPr>
          <p:cNvPr id="38" name="Shape 35"/>
          <p:cNvSpPr/>
          <p:nvPr/>
        </p:nvSpPr>
        <p:spPr>
          <a:xfrm>
            <a:off x="3611880" y="1371600"/>
            <a:ext cx="3017520" cy="548640"/>
          </a:xfrm>
          <a:prstGeom prst="roundRect">
            <a:avLst>
              <a:gd name="adj" fmla="val 13333"/>
            </a:avLst>
          </a:prstGeom>
          <a:solidFill>
            <a:srgbClr val="F4F7F5"/>
          </a:solidFill>
          <a:ln w="9525">
            <a:solidFill>
              <a:srgbClr val="D5DED9"/>
            </a:solidFill>
            <a:prstDash val="solid"/>
          </a:ln>
        </p:spPr>
      </p:sp>
      <p:sp>
        <p:nvSpPr>
          <p:cNvPr id="39" name="Shape 36"/>
          <p:cNvSpPr/>
          <p:nvPr/>
        </p:nvSpPr>
        <p:spPr>
          <a:xfrm>
            <a:off x="3721608" y="1508760"/>
            <a:ext cx="274320" cy="274320"/>
          </a:xfrm>
          <a:prstGeom prst="roundRect">
            <a:avLst>
              <a:gd name="adj" fmla="val 13333"/>
            </a:avLst>
          </a:prstGeom>
          <a:solidFill>
            <a:srgbClr val="FFFFFF"/>
          </a:solidFill>
          <a:ln w="15875">
            <a:solidFill>
              <a:srgbClr val="B83B2E"/>
            </a:solidFill>
            <a:prstDash val="solid"/>
          </a:ln>
        </p:spPr>
      </p:sp>
      <p:sp>
        <p:nvSpPr>
          <p:cNvPr id="40" name="Text 37"/>
          <p:cNvSpPr txBox="1"/>
          <p:nvPr/>
        </p:nvSpPr>
        <p:spPr>
          <a:xfrm>
            <a:off x="3721608" y="150876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6</a:t>
            </a:r>
            <a:endParaRPr lang="en-US" sz="1000" dirty="0"/>
          </a:p>
        </p:txBody>
      </p:sp>
      <p:sp>
        <p:nvSpPr>
          <p:cNvPr id="41" name="Text 38"/>
          <p:cNvSpPr txBox="1"/>
          <p:nvPr/>
        </p:nvSpPr>
        <p:spPr>
          <a:xfrm>
            <a:off x="4114800" y="137160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Chaque modèle en production a un responsable et une date de revue</a:t>
            </a:r>
            <a:endParaRPr lang="en-US" sz="950" dirty="0"/>
          </a:p>
        </p:txBody>
      </p:sp>
      <p:sp>
        <p:nvSpPr>
          <p:cNvPr id="42" name="Shape 39"/>
          <p:cNvSpPr/>
          <p:nvPr/>
        </p:nvSpPr>
        <p:spPr>
          <a:xfrm>
            <a:off x="3611880" y="2011680"/>
            <a:ext cx="3017520" cy="548640"/>
          </a:xfrm>
          <a:prstGeom prst="roundRect">
            <a:avLst>
              <a:gd name="adj" fmla="val 13333"/>
            </a:avLst>
          </a:prstGeom>
          <a:solidFill>
            <a:srgbClr val="F4F7F5"/>
          </a:solidFill>
          <a:ln w="9525">
            <a:solidFill>
              <a:srgbClr val="D5DED9"/>
            </a:solidFill>
            <a:prstDash val="solid"/>
          </a:ln>
        </p:spPr>
      </p:sp>
      <p:sp>
        <p:nvSpPr>
          <p:cNvPr id="43" name="Shape 40"/>
          <p:cNvSpPr/>
          <p:nvPr/>
        </p:nvSpPr>
        <p:spPr>
          <a:xfrm>
            <a:off x="3721608" y="2148840"/>
            <a:ext cx="274320" cy="274320"/>
          </a:xfrm>
          <a:prstGeom prst="roundRect">
            <a:avLst>
              <a:gd name="adj" fmla="val 13333"/>
            </a:avLst>
          </a:prstGeom>
          <a:solidFill>
            <a:srgbClr val="FFFFFF"/>
          </a:solidFill>
          <a:ln w="15875">
            <a:solidFill>
              <a:srgbClr val="B83B2E"/>
            </a:solidFill>
            <a:prstDash val="solid"/>
          </a:ln>
        </p:spPr>
      </p:sp>
      <p:sp>
        <p:nvSpPr>
          <p:cNvPr id="44" name="Text 41"/>
          <p:cNvSpPr txBox="1"/>
          <p:nvPr/>
        </p:nvSpPr>
        <p:spPr>
          <a:xfrm>
            <a:off x="3721608" y="214884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7</a:t>
            </a:r>
            <a:endParaRPr lang="en-US" sz="1000" dirty="0"/>
          </a:p>
        </p:txBody>
      </p:sp>
      <p:sp>
        <p:nvSpPr>
          <p:cNvPr id="45" name="Text 42"/>
          <p:cNvSpPr txBox="1"/>
          <p:nvPr/>
        </p:nvSpPr>
        <p:spPr>
          <a:xfrm>
            <a:off x="4114800" y="201168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Les coûts sont imputés et des plafonds stricts sont appliqués</a:t>
            </a:r>
            <a:endParaRPr lang="en-US" sz="950" dirty="0"/>
          </a:p>
        </p:txBody>
      </p:sp>
      <p:sp>
        <p:nvSpPr>
          <p:cNvPr id="46" name="Shape 43"/>
          <p:cNvSpPr/>
          <p:nvPr/>
        </p:nvSpPr>
        <p:spPr>
          <a:xfrm>
            <a:off x="3611880" y="2651760"/>
            <a:ext cx="3017520" cy="548640"/>
          </a:xfrm>
          <a:prstGeom prst="roundRect">
            <a:avLst>
              <a:gd name="adj" fmla="val 13333"/>
            </a:avLst>
          </a:prstGeom>
          <a:solidFill>
            <a:srgbClr val="F4F7F5"/>
          </a:solidFill>
          <a:ln w="9525">
            <a:solidFill>
              <a:srgbClr val="D5DED9"/>
            </a:solidFill>
            <a:prstDash val="solid"/>
          </a:ln>
        </p:spPr>
      </p:sp>
      <p:sp>
        <p:nvSpPr>
          <p:cNvPr id="47" name="Shape 44"/>
          <p:cNvSpPr/>
          <p:nvPr/>
        </p:nvSpPr>
        <p:spPr>
          <a:xfrm>
            <a:off x="3721608" y="2788920"/>
            <a:ext cx="274320" cy="274320"/>
          </a:xfrm>
          <a:prstGeom prst="roundRect">
            <a:avLst>
              <a:gd name="adj" fmla="val 13333"/>
            </a:avLst>
          </a:prstGeom>
          <a:solidFill>
            <a:srgbClr val="FFFFFF"/>
          </a:solidFill>
          <a:ln w="15875">
            <a:solidFill>
              <a:srgbClr val="B83B2E"/>
            </a:solidFill>
            <a:prstDash val="solid"/>
          </a:ln>
        </p:spPr>
      </p:sp>
      <p:sp>
        <p:nvSpPr>
          <p:cNvPr id="48" name="Text 45"/>
          <p:cNvSpPr txBox="1"/>
          <p:nvPr/>
        </p:nvSpPr>
        <p:spPr>
          <a:xfrm>
            <a:off x="3721608" y="278892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8</a:t>
            </a:r>
            <a:endParaRPr lang="en-US" sz="1000" dirty="0"/>
          </a:p>
        </p:txBody>
      </p:sp>
      <p:sp>
        <p:nvSpPr>
          <p:cNvPr id="49" name="Text 46"/>
          <p:cNvSpPr txBox="1"/>
          <p:nvPr/>
        </p:nvSpPr>
        <p:spPr>
          <a:xfrm>
            <a:off x="4114800" y="265176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Juridique, DPD et sécurité ont été associés dès la conception</a:t>
            </a:r>
            <a:endParaRPr lang="en-US" sz="950" dirty="0"/>
          </a:p>
        </p:txBody>
      </p:sp>
      <p:sp>
        <p:nvSpPr>
          <p:cNvPr id="50" name="Shape 47"/>
          <p:cNvSpPr/>
          <p:nvPr/>
        </p:nvSpPr>
        <p:spPr>
          <a:xfrm>
            <a:off x="3611880" y="3291840"/>
            <a:ext cx="3017520" cy="548640"/>
          </a:xfrm>
          <a:prstGeom prst="roundRect">
            <a:avLst>
              <a:gd name="adj" fmla="val 13333"/>
            </a:avLst>
          </a:prstGeom>
          <a:solidFill>
            <a:srgbClr val="F4F7F5"/>
          </a:solidFill>
          <a:ln w="9525">
            <a:solidFill>
              <a:srgbClr val="D5DED9"/>
            </a:solidFill>
            <a:prstDash val="solid"/>
          </a:ln>
        </p:spPr>
      </p:sp>
      <p:sp>
        <p:nvSpPr>
          <p:cNvPr id="51" name="Shape 48"/>
          <p:cNvSpPr/>
          <p:nvPr/>
        </p:nvSpPr>
        <p:spPr>
          <a:xfrm>
            <a:off x="3721608" y="3429000"/>
            <a:ext cx="274320" cy="274320"/>
          </a:xfrm>
          <a:prstGeom prst="roundRect">
            <a:avLst>
              <a:gd name="adj" fmla="val 13333"/>
            </a:avLst>
          </a:prstGeom>
          <a:solidFill>
            <a:srgbClr val="FFFFFF"/>
          </a:solidFill>
          <a:ln w="15875">
            <a:solidFill>
              <a:srgbClr val="B83B2E"/>
            </a:solidFill>
            <a:prstDash val="solid"/>
          </a:ln>
        </p:spPr>
      </p:sp>
      <p:sp>
        <p:nvSpPr>
          <p:cNvPr id="52" name="Text 49"/>
          <p:cNvSpPr txBox="1"/>
          <p:nvPr/>
        </p:nvSpPr>
        <p:spPr>
          <a:xfrm>
            <a:off x="3721608" y="342900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9</a:t>
            </a:r>
            <a:endParaRPr lang="en-US" sz="1000" dirty="0"/>
          </a:p>
        </p:txBody>
      </p:sp>
      <p:sp>
        <p:nvSpPr>
          <p:cNvPr id="53" name="Text 50"/>
          <p:cNvSpPr txBox="1"/>
          <p:nvPr/>
        </p:nvSpPr>
        <p:spPr>
          <a:xfrm>
            <a:off x="4114800" y="329184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Chaque usage en production a un plan de repli testé</a:t>
            </a:r>
            <a:endParaRPr lang="en-US" sz="950" dirty="0"/>
          </a:p>
        </p:txBody>
      </p:sp>
      <p:sp>
        <p:nvSpPr>
          <p:cNvPr id="54" name="Shape 51"/>
          <p:cNvSpPr/>
          <p:nvPr/>
        </p:nvSpPr>
        <p:spPr>
          <a:xfrm>
            <a:off x="3611880" y="3931920"/>
            <a:ext cx="3017520" cy="548640"/>
          </a:xfrm>
          <a:prstGeom prst="roundRect">
            <a:avLst>
              <a:gd name="adj" fmla="val 13333"/>
            </a:avLst>
          </a:prstGeom>
          <a:solidFill>
            <a:srgbClr val="F4F7F5"/>
          </a:solidFill>
          <a:ln w="9525">
            <a:solidFill>
              <a:srgbClr val="D5DED9"/>
            </a:solidFill>
            <a:prstDash val="solid"/>
          </a:ln>
        </p:spPr>
      </p:sp>
      <p:sp>
        <p:nvSpPr>
          <p:cNvPr id="55" name="Shape 52"/>
          <p:cNvSpPr/>
          <p:nvPr/>
        </p:nvSpPr>
        <p:spPr>
          <a:xfrm>
            <a:off x="3721608" y="4069080"/>
            <a:ext cx="274320" cy="274320"/>
          </a:xfrm>
          <a:prstGeom prst="roundRect">
            <a:avLst>
              <a:gd name="adj" fmla="val 13333"/>
            </a:avLst>
          </a:prstGeom>
          <a:solidFill>
            <a:srgbClr val="FFFFFF"/>
          </a:solidFill>
          <a:ln w="15875">
            <a:solidFill>
              <a:srgbClr val="B83B2E"/>
            </a:solidFill>
            <a:prstDash val="solid"/>
          </a:ln>
        </p:spPr>
      </p:sp>
      <p:sp>
        <p:nvSpPr>
          <p:cNvPr id="56" name="Text 53"/>
          <p:cNvSpPr txBox="1"/>
          <p:nvPr/>
        </p:nvSpPr>
        <p:spPr>
          <a:xfrm>
            <a:off x="3721608" y="4069080"/>
            <a:ext cx="274320" cy="274320"/>
          </a:xfrm>
          <a:prstGeom prst="rect">
            <a:avLst/>
          </a:prstGeom>
          <a:noFill/>
          <a:ln/>
        </p:spPr>
        <p:txBody>
          <a:bodyPr wrap="square" lIns="0" tIns="0" rIns="0" bIns="0" rtlCol="0" anchor="ctr"/>
          <a:lstStyle/>
          <a:p>
            <a:pPr marL="0" indent="0" algn="ctr">
              <a:buNone/>
            </a:pPr>
            <a:r>
              <a:rPr lang="en-US" sz="1000" b="1" dirty="0">
                <a:solidFill>
                  <a:srgbClr val="B83B2E"/>
                </a:solidFill>
                <a:latin typeface="Calibri" pitchFamily="34" charset="0"/>
                <a:ea typeface="Calibri" pitchFamily="34" charset="-122"/>
                <a:cs typeface="Calibri" pitchFamily="34" charset="-120"/>
              </a:rPr>
              <a:t>10</a:t>
            </a:r>
            <a:endParaRPr lang="en-US" sz="1000" dirty="0"/>
          </a:p>
        </p:txBody>
      </p:sp>
      <p:sp>
        <p:nvSpPr>
          <p:cNvPr id="57" name="Text 54"/>
          <p:cNvSpPr txBox="1"/>
          <p:nvPr/>
        </p:nvSpPr>
        <p:spPr>
          <a:xfrm>
            <a:off x="4114800" y="3931920"/>
            <a:ext cx="245059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L'exploitation et le renouvellement sont financés au-delà du projet</a:t>
            </a:r>
            <a:endParaRPr lang="en-US" sz="950" dirty="0"/>
          </a:p>
        </p:txBody>
      </p:sp>
      <p:sp>
        <p:nvSpPr>
          <p:cNvPr id="58" name="Shape 55"/>
          <p:cNvSpPr/>
          <p:nvPr/>
        </p:nvSpPr>
        <p:spPr>
          <a:xfrm>
            <a:off x="6858000" y="1371600"/>
            <a:ext cx="1828800" cy="3108960"/>
          </a:xfrm>
          <a:prstGeom prst="roundRect">
            <a:avLst>
              <a:gd name="adj" fmla="val 4000"/>
            </a:avLst>
          </a:prstGeom>
          <a:solidFill>
            <a:srgbClr val="F8E9E7"/>
          </a:solidFill>
          <a:ln w="15875">
            <a:solidFill>
              <a:srgbClr val="B83B2E"/>
            </a:solidFill>
            <a:prstDash val="solid"/>
          </a:ln>
        </p:spPr>
      </p:sp>
      <p:sp>
        <p:nvSpPr>
          <p:cNvPr id="59" name="Text 56"/>
          <p:cNvSpPr txBox="1"/>
          <p:nvPr/>
        </p:nvSpPr>
        <p:spPr>
          <a:xfrm>
            <a:off x="6949440" y="1508760"/>
            <a:ext cx="1645920" cy="182880"/>
          </a:xfrm>
          <a:prstGeom prst="rect">
            <a:avLst/>
          </a:prstGeom>
          <a:noFill/>
          <a:ln/>
        </p:spPr>
        <p:txBody>
          <a:bodyPr wrap="square" lIns="0" tIns="0" rIns="0" bIns="0" rtlCol="0" anchor="t"/>
          <a:lstStyle/>
          <a:p>
            <a:pPr marL="0" indent="0" algn="ctr">
              <a:buNone/>
            </a:pPr>
            <a:r>
              <a:rPr lang="en-US" sz="900" b="1" kern="0" spc="200" dirty="0">
                <a:solidFill>
                  <a:srgbClr val="B83B2E"/>
                </a:solidFill>
                <a:latin typeface="Calibri" pitchFamily="34" charset="0"/>
                <a:ea typeface="Calibri" pitchFamily="34" charset="-122"/>
                <a:cs typeface="Calibri" pitchFamily="34" charset="-120"/>
              </a:rPr>
              <a:t>ÉTENDRE SI</a:t>
            </a:r>
            <a:endParaRPr lang="en-US" sz="900" dirty="0"/>
          </a:p>
        </p:txBody>
      </p:sp>
      <p:sp>
        <p:nvSpPr>
          <p:cNvPr id="60" name="Text 57"/>
          <p:cNvSpPr txBox="1"/>
          <p:nvPr/>
        </p:nvSpPr>
        <p:spPr>
          <a:xfrm>
            <a:off x="6949440" y="1737360"/>
            <a:ext cx="1645920" cy="777240"/>
          </a:xfrm>
          <a:prstGeom prst="rect">
            <a:avLst/>
          </a:prstGeom>
          <a:noFill/>
          <a:ln/>
        </p:spPr>
        <p:txBody>
          <a:bodyPr wrap="square" lIns="0" tIns="0" rIns="0" bIns="0" rtlCol="0" anchor="ctr"/>
          <a:lstStyle/>
          <a:p>
            <a:pPr marL="0" indent="0" algn="ctr">
              <a:buNone/>
            </a:pPr>
            <a:r>
              <a:rPr lang="en-US" sz="4400" b="1" dirty="0">
                <a:solidFill>
                  <a:srgbClr val="B83B2E"/>
                </a:solidFill>
                <a:latin typeface="Calibri" pitchFamily="34" charset="0"/>
                <a:ea typeface="Calibri" pitchFamily="34" charset="-122"/>
                <a:cs typeface="Calibri" pitchFamily="34" charset="-120"/>
              </a:rPr>
              <a:t>≥ 7</a:t>
            </a:r>
            <a:endParaRPr lang="en-US" sz="4400" dirty="0"/>
          </a:p>
        </p:txBody>
      </p:sp>
      <p:sp>
        <p:nvSpPr>
          <p:cNvPr id="61" name="Text 58"/>
          <p:cNvSpPr txBox="1"/>
          <p:nvPr/>
        </p:nvSpPr>
        <p:spPr>
          <a:xfrm>
            <a:off x="6949440" y="2514600"/>
            <a:ext cx="1645920" cy="365760"/>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réponses « oui » sur 10</a:t>
            </a:r>
            <a:endParaRPr lang="en-US" sz="1050" dirty="0"/>
          </a:p>
        </p:txBody>
      </p:sp>
      <p:sp>
        <p:nvSpPr>
          <p:cNvPr id="62" name="Shape 59"/>
          <p:cNvSpPr/>
          <p:nvPr/>
        </p:nvSpPr>
        <p:spPr>
          <a:xfrm>
            <a:off x="7086600" y="3017520"/>
            <a:ext cx="1371600" cy="0"/>
          </a:xfrm>
          <a:prstGeom prst="line">
            <a:avLst/>
          </a:prstGeom>
          <a:noFill/>
          <a:ln w="9525">
            <a:solidFill>
              <a:srgbClr val="D5DED9"/>
            </a:solidFill>
            <a:prstDash val="solid"/>
          </a:ln>
        </p:spPr>
      </p:sp>
      <p:sp>
        <p:nvSpPr>
          <p:cNvPr id="63" name="Text 60"/>
          <p:cNvSpPr txBox="1"/>
          <p:nvPr/>
        </p:nvSpPr>
        <p:spPr>
          <a:xfrm>
            <a:off x="6967728" y="3154680"/>
            <a:ext cx="1609344" cy="118872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Neuf sur dix demandent du temps et de l'attention, pas de l'argent. Aucune n'exige de GPU supplémentaire.</a:t>
            </a:r>
            <a:endParaRPr lang="en-US" sz="950" dirty="0"/>
          </a:p>
        </p:txBody>
      </p:sp>
      <p:sp>
        <p:nvSpPr>
          <p:cNvPr id="64" name="Text 61"/>
          <p:cNvSpPr txBox="1"/>
          <p:nvPr/>
        </p:nvSpPr>
        <p:spPr>
          <a:xfrm>
            <a:off x="457200" y="4645152"/>
            <a:ext cx="548640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DPD : délégué à la protection des données.</a:t>
            </a:r>
            <a:endParaRPr lang="en-US" sz="850" dirty="0"/>
          </a:p>
        </p:txBody>
      </p:sp>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SYNTHÈSE</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26780" y="278892"/>
            <a:ext cx="118872" cy="118872"/>
          </a:xfrm>
          <a:prstGeom prst="ellipse">
            <a:avLst/>
          </a:prstGeom>
          <a:solidFill>
            <a:srgbClr val="B83B2E"/>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Dix messages à retenir</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Si vous ne deviez garder qu'une page de cette présentation</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62</a:t>
            </a:r>
            <a:endParaRPr lang="en-US" sz="850" dirty="0"/>
          </a:p>
        </p:txBody>
      </p:sp>
      <p:sp>
        <p:nvSpPr>
          <p:cNvPr id="18" name="Shape 15"/>
          <p:cNvSpPr/>
          <p:nvPr/>
        </p:nvSpPr>
        <p:spPr>
          <a:xfrm>
            <a:off x="457200" y="1371600"/>
            <a:ext cx="4023360" cy="548640"/>
          </a:xfrm>
          <a:prstGeom prst="roundRect">
            <a:avLst>
              <a:gd name="adj" fmla="val 13333"/>
            </a:avLst>
          </a:prstGeom>
          <a:solidFill>
            <a:srgbClr val="F4F7F5"/>
          </a:solidFill>
          <a:ln w="9525">
            <a:solidFill>
              <a:srgbClr val="D5DED9"/>
            </a:solidFill>
            <a:prstDash val="solid"/>
          </a:ln>
        </p:spPr>
      </p:sp>
      <p:sp>
        <p:nvSpPr>
          <p:cNvPr id="19" name="Text 16"/>
          <p:cNvSpPr txBox="1"/>
          <p:nvPr/>
        </p:nvSpPr>
        <p:spPr>
          <a:xfrm>
            <a:off x="566928" y="137160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01</a:t>
            </a:r>
            <a:endParaRPr lang="en-US" sz="2000" dirty="0"/>
          </a:p>
        </p:txBody>
      </p:sp>
      <p:sp>
        <p:nvSpPr>
          <p:cNvPr id="20" name="Text 17"/>
          <p:cNvSpPr txBox="1"/>
          <p:nvPr/>
        </p:nvSpPr>
        <p:spPr>
          <a:xfrm>
            <a:off x="1097280" y="137160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L'IA dans un institut est une plateforme soumise à des obligations légales, pas un projet avec un modèle.</a:t>
            </a:r>
            <a:endParaRPr lang="en-US" sz="1000" dirty="0"/>
          </a:p>
        </p:txBody>
      </p:sp>
      <p:sp>
        <p:nvSpPr>
          <p:cNvPr id="21" name="Shape 18"/>
          <p:cNvSpPr/>
          <p:nvPr/>
        </p:nvSpPr>
        <p:spPr>
          <a:xfrm>
            <a:off x="457200" y="2011680"/>
            <a:ext cx="4023360" cy="548640"/>
          </a:xfrm>
          <a:prstGeom prst="roundRect">
            <a:avLst>
              <a:gd name="adj" fmla="val 13333"/>
            </a:avLst>
          </a:prstGeom>
          <a:solidFill>
            <a:srgbClr val="F4F7F5"/>
          </a:solidFill>
          <a:ln w="9525">
            <a:solidFill>
              <a:srgbClr val="D5DED9"/>
            </a:solidFill>
            <a:prstDash val="solid"/>
          </a:ln>
        </p:spPr>
      </p:sp>
      <p:sp>
        <p:nvSpPr>
          <p:cNvPr id="22" name="Text 19"/>
          <p:cNvSpPr txBox="1"/>
          <p:nvPr/>
        </p:nvSpPr>
        <p:spPr>
          <a:xfrm>
            <a:off x="566928" y="201168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02</a:t>
            </a:r>
            <a:endParaRPr lang="en-US" sz="2000" dirty="0"/>
          </a:p>
        </p:txBody>
      </p:sp>
      <p:sp>
        <p:nvSpPr>
          <p:cNvPr id="23" name="Text 20"/>
          <p:cNvSpPr txBox="1"/>
          <p:nvPr/>
        </p:nvSpPr>
        <p:spPr>
          <a:xfrm>
            <a:off x="1097280" y="201168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Le modèle est une petite partie du système. Tout le reste constitue le travail — et le coût.</a:t>
            </a:r>
            <a:endParaRPr lang="en-US" sz="1000" dirty="0"/>
          </a:p>
        </p:txBody>
      </p:sp>
      <p:sp>
        <p:nvSpPr>
          <p:cNvPr id="24" name="Shape 21"/>
          <p:cNvSpPr/>
          <p:nvPr/>
        </p:nvSpPr>
        <p:spPr>
          <a:xfrm>
            <a:off x="457200" y="2651760"/>
            <a:ext cx="4023360" cy="548640"/>
          </a:xfrm>
          <a:prstGeom prst="roundRect">
            <a:avLst>
              <a:gd name="adj" fmla="val 13333"/>
            </a:avLst>
          </a:prstGeom>
          <a:solidFill>
            <a:srgbClr val="F4F7F5"/>
          </a:solidFill>
          <a:ln w="9525">
            <a:solidFill>
              <a:srgbClr val="D5DED9"/>
            </a:solidFill>
            <a:prstDash val="solid"/>
          </a:ln>
        </p:spPr>
      </p:sp>
      <p:sp>
        <p:nvSpPr>
          <p:cNvPr id="25" name="Text 22"/>
          <p:cNvSpPr txBox="1"/>
          <p:nvPr/>
        </p:nvSpPr>
        <p:spPr>
          <a:xfrm>
            <a:off x="566928" y="265176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03</a:t>
            </a:r>
            <a:endParaRPr lang="en-US" sz="2000" dirty="0"/>
          </a:p>
        </p:txBody>
      </p:sp>
      <p:sp>
        <p:nvSpPr>
          <p:cNvPr id="26" name="Text 23"/>
          <p:cNvSpPr txBox="1"/>
          <p:nvPr/>
        </p:nvSpPr>
        <p:spPr>
          <a:xfrm>
            <a:off x="1097280" y="265176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 vraie contrainte : les données annotées et une plateforme gouvernée, pas les GPU.</a:t>
            </a:r>
            <a:endParaRPr lang="en-US" sz="1000" dirty="0"/>
          </a:p>
        </p:txBody>
      </p:sp>
      <p:sp>
        <p:nvSpPr>
          <p:cNvPr id="27" name="Shape 24"/>
          <p:cNvSpPr/>
          <p:nvPr/>
        </p:nvSpPr>
        <p:spPr>
          <a:xfrm>
            <a:off x="457200" y="3291840"/>
            <a:ext cx="4023360" cy="548640"/>
          </a:xfrm>
          <a:prstGeom prst="roundRect">
            <a:avLst>
              <a:gd name="adj" fmla="val 13333"/>
            </a:avLst>
          </a:prstGeom>
          <a:solidFill>
            <a:srgbClr val="E8F5EF"/>
          </a:solidFill>
          <a:ln w="15875">
            <a:solidFill>
              <a:srgbClr val="00A86A"/>
            </a:solidFill>
            <a:prstDash val="solid"/>
          </a:ln>
        </p:spPr>
      </p:sp>
      <p:sp>
        <p:nvSpPr>
          <p:cNvPr id="28" name="Text 25"/>
          <p:cNvSpPr txBox="1"/>
          <p:nvPr/>
        </p:nvSpPr>
        <p:spPr>
          <a:xfrm>
            <a:off x="566928" y="329184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04</a:t>
            </a:r>
            <a:endParaRPr lang="en-US" sz="2000" dirty="0"/>
          </a:p>
        </p:txBody>
      </p:sp>
      <p:sp>
        <p:nvSpPr>
          <p:cNvPr id="29" name="Text 26"/>
          <p:cNvSpPr txBox="1"/>
          <p:nvPr/>
        </p:nvSpPr>
        <p:spPr>
          <a:xfrm>
            <a:off x="1097280" y="329184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 classification décide où s'exécutent les traitements. Le coût choisit parmi les options permises.</a:t>
            </a:r>
            <a:endParaRPr lang="en-US" sz="1000" dirty="0"/>
          </a:p>
        </p:txBody>
      </p:sp>
      <p:sp>
        <p:nvSpPr>
          <p:cNvPr id="30" name="Shape 27"/>
          <p:cNvSpPr/>
          <p:nvPr/>
        </p:nvSpPr>
        <p:spPr>
          <a:xfrm>
            <a:off x="457200" y="3931920"/>
            <a:ext cx="4023360" cy="548640"/>
          </a:xfrm>
          <a:prstGeom prst="roundRect">
            <a:avLst>
              <a:gd name="adj" fmla="val 13333"/>
            </a:avLst>
          </a:prstGeom>
          <a:solidFill>
            <a:srgbClr val="F4F7F5"/>
          </a:solidFill>
          <a:ln w="9525">
            <a:solidFill>
              <a:srgbClr val="D5DED9"/>
            </a:solidFill>
            <a:prstDash val="solid"/>
          </a:ln>
        </p:spPr>
      </p:sp>
      <p:sp>
        <p:nvSpPr>
          <p:cNvPr id="31" name="Text 28"/>
          <p:cNvSpPr txBox="1"/>
          <p:nvPr/>
        </p:nvSpPr>
        <p:spPr>
          <a:xfrm>
            <a:off x="566928" y="3931920"/>
            <a:ext cx="502920" cy="548640"/>
          </a:xfrm>
          <a:prstGeom prst="rect">
            <a:avLst/>
          </a:prstGeom>
          <a:noFill/>
          <a:ln/>
        </p:spPr>
        <p:txBody>
          <a:bodyPr wrap="square" lIns="0" tIns="0" rIns="0" bIns="0" rtlCol="0" anchor="ctr"/>
          <a:lstStyle/>
          <a:p>
            <a:pPr marL="0" indent="0">
              <a:buNone/>
            </a:pPr>
            <a:r>
              <a:rPr lang="en-US" sz="2000" b="1" dirty="0">
                <a:solidFill>
                  <a:srgbClr val="00A86A"/>
                </a:solidFill>
                <a:latin typeface="Calibri" pitchFamily="34" charset="0"/>
                <a:ea typeface="Calibri" pitchFamily="34" charset="-122"/>
                <a:cs typeface="Calibri" pitchFamily="34" charset="-120"/>
              </a:rPr>
              <a:t>05</a:t>
            </a:r>
            <a:endParaRPr lang="en-US" sz="2000" dirty="0"/>
          </a:p>
        </p:txBody>
      </p:sp>
      <p:sp>
        <p:nvSpPr>
          <p:cNvPr id="32" name="Text 29"/>
          <p:cNvSpPr txBox="1"/>
          <p:nvPr/>
        </p:nvSpPr>
        <p:spPr>
          <a:xfrm>
            <a:off x="1097280" y="393192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Rédigez le tableau de classification, faites-le signer et publiez-le.</a:t>
            </a:r>
            <a:endParaRPr lang="en-US" sz="1000" dirty="0"/>
          </a:p>
        </p:txBody>
      </p:sp>
      <p:sp>
        <p:nvSpPr>
          <p:cNvPr id="33" name="Shape 30"/>
          <p:cNvSpPr/>
          <p:nvPr/>
        </p:nvSpPr>
        <p:spPr>
          <a:xfrm>
            <a:off x="4663440" y="1371600"/>
            <a:ext cx="4023360" cy="548640"/>
          </a:xfrm>
          <a:prstGeom prst="roundRect">
            <a:avLst>
              <a:gd name="adj" fmla="val 13333"/>
            </a:avLst>
          </a:prstGeom>
          <a:solidFill>
            <a:srgbClr val="F4F7F5"/>
          </a:solidFill>
          <a:ln w="9525">
            <a:solidFill>
              <a:srgbClr val="D5DED9"/>
            </a:solidFill>
            <a:prstDash val="solid"/>
          </a:ln>
        </p:spPr>
      </p:sp>
      <p:sp>
        <p:nvSpPr>
          <p:cNvPr id="34" name="Text 31"/>
          <p:cNvSpPr txBox="1"/>
          <p:nvPr/>
        </p:nvSpPr>
        <p:spPr>
          <a:xfrm>
            <a:off x="4773168" y="137160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06</a:t>
            </a:r>
            <a:endParaRPr lang="en-US" sz="2000" dirty="0"/>
          </a:p>
        </p:txBody>
      </p:sp>
      <p:sp>
        <p:nvSpPr>
          <p:cNvPr id="35" name="Text 32"/>
          <p:cNvSpPr txBox="1"/>
          <p:nvPr/>
        </p:nvSpPr>
        <p:spPr>
          <a:xfrm>
            <a:off x="5303520" y="137160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Construisez une passerelle IA auditée avant le premier usage en production.</a:t>
            </a:r>
            <a:endParaRPr lang="en-US" sz="1000" dirty="0"/>
          </a:p>
        </p:txBody>
      </p:sp>
      <p:sp>
        <p:nvSpPr>
          <p:cNvPr id="36" name="Shape 33"/>
          <p:cNvSpPr/>
          <p:nvPr/>
        </p:nvSpPr>
        <p:spPr>
          <a:xfrm>
            <a:off x="4663440" y="2011680"/>
            <a:ext cx="4023360" cy="548640"/>
          </a:xfrm>
          <a:prstGeom prst="roundRect">
            <a:avLst>
              <a:gd name="adj" fmla="val 13333"/>
            </a:avLst>
          </a:prstGeom>
          <a:solidFill>
            <a:srgbClr val="F4F7F5"/>
          </a:solidFill>
          <a:ln w="9525">
            <a:solidFill>
              <a:srgbClr val="D5DED9"/>
            </a:solidFill>
            <a:prstDash val="solid"/>
          </a:ln>
        </p:spPr>
      </p:sp>
      <p:sp>
        <p:nvSpPr>
          <p:cNvPr id="37" name="Text 34"/>
          <p:cNvSpPr txBox="1"/>
          <p:nvPr/>
        </p:nvSpPr>
        <p:spPr>
          <a:xfrm>
            <a:off x="4773168" y="201168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07</a:t>
            </a:r>
            <a:endParaRPr lang="en-US" sz="2000" dirty="0"/>
          </a:p>
        </p:txBody>
      </p:sp>
      <p:sp>
        <p:nvSpPr>
          <p:cNvPr id="38" name="Text 35"/>
          <p:cNvSpPr txBox="1"/>
          <p:nvPr/>
        </p:nvSpPr>
        <p:spPr>
          <a:xfrm>
            <a:off x="5303520" y="201168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 reproductibilité est obligatoire : figez les modèles génératifs ou écartez-les du chemin critique.</a:t>
            </a:r>
            <a:endParaRPr lang="en-US" sz="1000" dirty="0"/>
          </a:p>
        </p:txBody>
      </p:sp>
      <p:sp>
        <p:nvSpPr>
          <p:cNvPr id="39" name="Shape 36"/>
          <p:cNvSpPr/>
          <p:nvPr/>
        </p:nvSpPr>
        <p:spPr>
          <a:xfrm>
            <a:off x="4663440" y="2651760"/>
            <a:ext cx="4023360" cy="548640"/>
          </a:xfrm>
          <a:prstGeom prst="roundRect">
            <a:avLst>
              <a:gd name="adj" fmla="val 13333"/>
            </a:avLst>
          </a:prstGeom>
          <a:solidFill>
            <a:srgbClr val="F4F7F5"/>
          </a:solidFill>
          <a:ln w="9525">
            <a:solidFill>
              <a:srgbClr val="D5DED9"/>
            </a:solidFill>
            <a:prstDash val="solid"/>
          </a:ln>
        </p:spPr>
      </p:sp>
      <p:sp>
        <p:nvSpPr>
          <p:cNvPr id="40" name="Text 37"/>
          <p:cNvSpPr txBox="1"/>
          <p:nvPr/>
        </p:nvSpPr>
        <p:spPr>
          <a:xfrm>
            <a:off x="4773168" y="265176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08</a:t>
            </a:r>
            <a:endParaRPr lang="en-US" sz="2000" dirty="0"/>
          </a:p>
        </p:txBody>
      </p:sp>
      <p:sp>
        <p:nvSpPr>
          <p:cNvPr id="41" name="Text 38"/>
          <p:cNvSpPr txBox="1"/>
          <p:nvPr/>
        </p:nvSpPr>
        <p:spPr>
          <a:xfrm>
            <a:off x="5303520" y="265176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Le personnel pèse environ la moitié du coût sur cinq ans : il compte plus que l'hébergement.</a:t>
            </a:r>
            <a:endParaRPr lang="en-US" sz="1000" dirty="0"/>
          </a:p>
        </p:txBody>
      </p:sp>
      <p:sp>
        <p:nvSpPr>
          <p:cNvPr id="42" name="Shape 39"/>
          <p:cNvSpPr/>
          <p:nvPr/>
        </p:nvSpPr>
        <p:spPr>
          <a:xfrm>
            <a:off x="4663440" y="3291840"/>
            <a:ext cx="4023360" cy="548640"/>
          </a:xfrm>
          <a:prstGeom prst="roundRect">
            <a:avLst>
              <a:gd name="adj" fmla="val 13333"/>
            </a:avLst>
          </a:prstGeom>
          <a:solidFill>
            <a:srgbClr val="F4F7F5"/>
          </a:solidFill>
          <a:ln w="9525">
            <a:solidFill>
              <a:srgbClr val="D5DED9"/>
            </a:solidFill>
            <a:prstDash val="solid"/>
          </a:ln>
        </p:spPr>
      </p:sp>
      <p:sp>
        <p:nvSpPr>
          <p:cNvPr id="43" name="Text 40"/>
          <p:cNvSpPr txBox="1"/>
          <p:nvPr/>
        </p:nvSpPr>
        <p:spPr>
          <a:xfrm>
            <a:off x="4773168" y="329184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09</a:t>
            </a:r>
            <a:endParaRPr lang="en-US" sz="2000" dirty="0"/>
          </a:p>
        </p:txBody>
      </p:sp>
      <p:sp>
        <p:nvSpPr>
          <p:cNvPr id="44" name="Text 41"/>
          <p:cNvSpPr txBox="1"/>
          <p:nvPr/>
        </p:nvSpPr>
        <p:spPr>
          <a:xfrm>
            <a:off x="5303520" y="329184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Comparez au processus humain actuel, y compris son taux d'erreur, et publiez-le.</a:t>
            </a:r>
            <a:endParaRPr lang="en-US" sz="1000" dirty="0"/>
          </a:p>
        </p:txBody>
      </p:sp>
      <p:sp>
        <p:nvSpPr>
          <p:cNvPr id="45" name="Shape 42"/>
          <p:cNvSpPr/>
          <p:nvPr/>
        </p:nvSpPr>
        <p:spPr>
          <a:xfrm>
            <a:off x="4663440" y="3931920"/>
            <a:ext cx="4023360" cy="548640"/>
          </a:xfrm>
          <a:prstGeom prst="roundRect">
            <a:avLst>
              <a:gd name="adj" fmla="val 13333"/>
            </a:avLst>
          </a:prstGeom>
          <a:solidFill>
            <a:srgbClr val="E8F5EF"/>
          </a:solidFill>
          <a:ln w="15875">
            <a:solidFill>
              <a:srgbClr val="00A86A"/>
            </a:solidFill>
            <a:prstDash val="solid"/>
          </a:ln>
        </p:spPr>
      </p:sp>
      <p:sp>
        <p:nvSpPr>
          <p:cNvPr id="46" name="Text 43"/>
          <p:cNvSpPr txBox="1"/>
          <p:nvPr/>
        </p:nvSpPr>
        <p:spPr>
          <a:xfrm>
            <a:off x="4773168" y="3931920"/>
            <a:ext cx="502920" cy="548640"/>
          </a:xfrm>
          <a:prstGeom prst="rect">
            <a:avLst/>
          </a:prstGeom>
          <a:noFill/>
          <a:ln/>
        </p:spPr>
        <p:txBody>
          <a:bodyPr wrap="square" lIns="0" tIns="0" rIns="0" bIns="0" rtlCol="0" anchor="ctr"/>
          <a:lstStyle/>
          <a:p>
            <a:pPr marL="0" indent="0">
              <a:buNone/>
            </a:pPr>
            <a:r>
              <a:rPr lang="en-US" sz="2000" b="1" dirty="0">
                <a:solidFill>
                  <a:srgbClr val="00704A"/>
                </a:solidFill>
                <a:latin typeface="Calibri" pitchFamily="34" charset="0"/>
                <a:ea typeface="Calibri" pitchFamily="34" charset="-122"/>
                <a:cs typeface="Calibri" pitchFamily="34" charset="-120"/>
              </a:rPr>
              <a:t>10</a:t>
            </a:r>
            <a:endParaRPr lang="en-US" sz="2000" dirty="0"/>
          </a:p>
        </p:txBody>
      </p:sp>
      <p:sp>
        <p:nvSpPr>
          <p:cNvPr id="47" name="Text 44"/>
          <p:cNvSpPr txBox="1"/>
          <p:nvPr/>
        </p:nvSpPr>
        <p:spPr>
          <a:xfrm>
            <a:off x="5303520" y="3931920"/>
            <a:ext cx="3310128"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Procédez dans l'ordre : fondations, plateforme, un usage, puis extension.</a:t>
            </a:r>
            <a:endParaRPr lang="en-US" sz="1000" dirty="0"/>
          </a:p>
        </p:txBody>
      </p:sp>
    </p:spTree>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635240" y="3703320"/>
            <a:ext cx="2468880" cy="2468880"/>
          </a:xfrm>
          <a:prstGeom prst="ellipse">
            <a:avLst/>
          </a:prstGeom>
          <a:solidFill>
            <a:srgbClr val="00A86A">
              <a:alpha val="5000"/>
            </a:srgbClr>
          </a:solidFill>
          <a:ln/>
        </p:spPr>
      </p:sp>
      <p:sp>
        <p:nvSpPr>
          <p:cNvPr id="5" name="Shape 3"/>
          <p:cNvSpPr/>
          <p:nvPr/>
        </p:nvSpPr>
        <p:spPr>
          <a:xfrm>
            <a:off x="8092440" y="4160520"/>
            <a:ext cx="1554480" cy="1554480"/>
          </a:xfrm>
          <a:prstGeom prst="ellipse">
            <a:avLst/>
          </a:prstGeom>
          <a:solidFill>
            <a:srgbClr val="00A86A">
              <a:alpha val="5000"/>
            </a:srgbClr>
          </a:solidFill>
          <a:ln/>
        </p:spPr>
      </p:sp>
      <p:sp>
        <p:nvSpPr>
          <p:cNvPr id="6" name="Text 4"/>
          <p:cNvSpPr txBox="1"/>
          <p:nvPr/>
        </p:nvSpPr>
        <p:spPr>
          <a:xfrm>
            <a:off x="457200" y="246888"/>
            <a:ext cx="594360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7" name="Shape 5"/>
          <p:cNvSpPr/>
          <p:nvPr/>
        </p:nvSpPr>
        <p:spPr>
          <a:xfrm>
            <a:off x="7671816" y="292608"/>
            <a:ext cx="91440" cy="91440"/>
          </a:xfrm>
          <a:prstGeom prst="ellipse">
            <a:avLst/>
          </a:prstGeom>
          <a:solidFill>
            <a:srgbClr val="D5DED9"/>
          </a:solidFill>
          <a:ln/>
        </p:spPr>
      </p:sp>
      <p:sp>
        <p:nvSpPr>
          <p:cNvPr id="8" name="Shape 6"/>
          <p:cNvSpPr/>
          <p:nvPr/>
        </p:nvSpPr>
        <p:spPr>
          <a:xfrm>
            <a:off x="7845552" y="292608"/>
            <a:ext cx="91440" cy="91440"/>
          </a:xfrm>
          <a:prstGeom prst="ellipse">
            <a:avLst/>
          </a:prstGeom>
          <a:solidFill>
            <a:srgbClr val="D5DED9"/>
          </a:solidFill>
          <a:ln/>
        </p:spPr>
      </p:sp>
      <p:sp>
        <p:nvSpPr>
          <p:cNvPr id="9" name="Shape 7"/>
          <p:cNvSpPr/>
          <p:nvPr/>
        </p:nvSpPr>
        <p:spPr>
          <a:xfrm>
            <a:off x="8019288" y="292608"/>
            <a:ext cx="91440" cy="91440"/>
          </a:xfrm>
          <a:prstGeom prst="ellipse">
            <a:avLst/>
          </a:prstGeom>
          <a:solidFill>
            <a:srgbClr val="D5DED9"/>
          </a:solidFill>
          <a:ln/>
        </p:spPr>
      </p:sp>
      <p:sp>
        <p:nvSpPr>
          <p:cNvPr id="10" name="Shape 8"/>
          <p:cNvSpPr/>
          <p:nvPr/>
        </p:nvSpPr>
        <p:spPr>
          <a:xfrm>
            <a:off x="8193024" y="292608"/>
            <a:ext cx="91440" cy="91440"/>
          </a:xfrm>
          <a:prstGeom prst="ellipse">
            <a:avLst/>
          </a:prstGeom>
          <a:solidFill>
            <a:srgbClr val="D5DED9"/>
          </a:solidFill>
          <a:ln/>
        </p:spPr>
      </p:sp>
      <p:sp>
        <p:nvSpPr>
          <p:cNvPr id="11" name="Shape 9"/>
          <p:cNvSpPr/>
          <p:nvPr/>
        </p:nvSpPr>
        <p:spPr>
          <a:xfrm>
            <a:off x="8366760" y="292608"/>
            <a:ext cx="91440" cy="91440"/>
          </a:xfrm>
          <a:prstGeom prst="ellipse">
            <a:avLst/>
          </a:prstGeom>
          <a:solidFill>
            <a:srgbClr val="D5DED9"/>
          </a:solidFill>
          <a:ln/>
        </p:spPr>
      </p:sp>
      <p:sp>
        <p:nvSpPr>
          <p:cNvPr id="12" name="Shape 10"/>
          <p:cNvSpPr/>
          <p:nvPr/>
        </p:nvSpPr>
        <p:spPr>
          <a:xfrm>
            <a:off x="8540496" y="292608"/>
            <a:ext cx="91440" cy="91440"/>
          </a:xfrm>
          <a:prstGeom prst="ellipse">
            <a:avLst/>
          </a:prstGeom>
          <a:solidFill>
            <a:srgbClr val="D5DED9"/>
          </a:solidFill>
          <a:ln/>
        </p:spPr>
      </p:sp>
      <p:sp>
        <p:nvSpPr>
          <p:cNvPr id="13" name="Text 11"/>
          <p:cNvSpPr txBox="1"/>
          <p:nvPr/>
        </p:nvSpPr>
        <p:spPr>
          <a:xfrm>
            <a:off x="457200" y="457200"/>
            <a:ext cx="8229600" cy="457200"/>
          </a:xfrm>
          <a:prstGeom prst="rect">
            <a:avLst/>
          </a:prstGeom>
          <a:noFill/>
          <a:ln/>
        </p:spPr>
        <p:txBody>
          <a:bodyPr wrap="square" lIns="0" tIns="0" rIns="0" bIns="0" rtlCol="0" anchor="ctr">
            <a:normAutofit/>
          </a:bodyPr>
          <a:lstStyle/>
          <a:p>
            <a:pPr marL="0" indent="0">
              <a:buNone/>
            </a:pPr>
            <a:r>
              <a:rPr lang="en-US" sz="2800" b="1" dirty="0">
                <a:solidFill>
                  <a:srgbClr val="231F20"/>
                </a:solidFill>
                <a:latin typeface="Calibri" pitchFamily="34" charset="0"/>
                <a:ea typeface="Calibri" pitchFamily="34" charset="-122"/>
                <a:cs typeface="Calibri" pitchFamily="34" charset="-120"/>
              </a:rPr>
              <a:t>Sources et lectures complémentaires</a:t>
            </a:r>
            <a:endParaRPr lang="en-US" sz="2800" dirty="0"/>
          </a:p>
        </p:txBody>
      </p:sp>
      <p:sp>
        <p:nvSpPr>
          <p:cNvPr id="14" name="Text 12"/>
          <p:cNvSpPr txBox="1"/>
          <p:nvPr/>
        </p:nvSpPr>
        <p:spPr>
          <a:xfrm>
            <a:off x="457200" y="932688"/>
            <a:ext cx="8229600" cy="274320"/>
          </a:xfrm>
          <a:prstGeom prst="rect">
            <a:avLst/>
          </a:prstGeom>
          <a:noFill/>
          <a:ln/>
        </p:spPr>
        <p:txBody>
          <a:bodyPr wrap="square" lIns="0" tIns="0" rIns="0" bIns="0" rtlCol="0" anchor="ctr"/>
          <a:lstStyle/>
          <a:p>
            <a:pPr marL="0" indent="0">
              <a:buNone/>
            </a:pPr>
            <a:r>
              <a:rPr lang="en-US" sz="1200" dirty="0">
                <a:solidFill>
                  <a:srgbClr val="5E6964"/>
                </a:solidFill>
                <a:latin typeface="Calibri" pitchFamily="34" charset="0"/>
                <a:ea typeface="Calibri" pitchFamily="34" charset="-122"/>
                <a:cs typeface="Calibri" pitchFamily="34" charset="-120"/>
              </a:rPr>
              <a:t>Normes, cadres et données cités dans cette présentation</a:t>
            </a:r>
            <a:endParaRPr lang="en-US" sz="1200" dirty="0"/>
          </a:p>
        </p:txBody>
      </p:sp>
      <p:sp>
        <p:nvSpPr>
          <p:cNvPr id="15" name="Text 13"/>
          <p:cNvSpPr txBox="1"/>
          <p:nvPr/>
        </p:nvSpPr>
        <p:spPr>
          <a:xfrm>
            <a:off x="457200" y="4864608"/>
            <a:ext cx="4572000" cy="182880"/>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Infrastructure IA pour les instituts de statistique</a:t>
            </a:r>
            <a:endParaRPr lang="en-US" sz="850" dirty="0"/>
          </a:p>
        </p:txBody>
      </p:sp>
      <p:sp>
        <p:nvSpPr>
          <p:cNvPr id="16" name="Text 14"/>
          <p:cNvSpPr txBox="1"/>
          <p:nvPr/>
        </p:nvSpPr>
        <p:spPr>
          <a:xfrm>
            <a:off x="7772400" y="4864608"/>
            <a:ext cx="914400" cy="182880"/>
          </a:xfrm>
          <a:prstGeom prst="rect">
            <a:avLst/>
          </a:prstGeom>
          <a:noFill/>
          <a:ln/>
        </p:spPr>
        <p:txBody>
          <a:bodyPr wrap="square" lIns="0" tIns="0" rIns="0" bIns="0" rtlCol="0" anchor="ctr"/>
          <a:lstStyle/>
          <a:p>
            <a:pPr marL="0" indent="0" algn="r">
              <a:buNone/>
            </a:pPr>
            <a:r>
              <a:rPr lang="en-US" sz="850" dirty="0">
                <a:solidFill>
                  <a:srgbClr val="8A9590"/>
                </a:solidFill>
                <a:latin typeface="Calibri" pitchFamily="34" charset="0"/>
                <a:ea typeface="Calibri" pitchFamily="34" charset="-122"/>
                <a:cs typeface="Calibri" pitchFamily="34" charset="-120"/>
              </a:rPr>
              <a:t>64</a:t>
            </a:r>
            <a:endParaRPr lang="en-US" sz="850" dirty="0"/>
          </a:p>
        </p:txBody>
      </p:sp>
      <p:sp>
        <p:nvSpPr>
          <p:cNvPr id="18" name="Shape 15"/>
          <p:cNvSpPr/>
          <p:nvPr/>
        </p:nvSpPr>
        <p:spPr>
          <a:xfrm>
            <a:off x="457200" y="1371600"/>
            <a:ext cx="2651760" cy="3200400"/>
          </a:xfrm>
          <a:prstGeom prst="roundRect">
            <a:avLst>
              <a:gd name="adj" fmla="val 2759"/>
            </a:avLst>
          </a:prstGeom>
          <a:solidFill>
            <a:srgbClr val="F4F7F5"/>
          </a:solidFill>
          <a:ln w="9525">
            <a:solidFill>
              <a:srgbClr val="D5DED9"/>
            </a:solidFill>
            <a:prstDash val="solid"/>
          </a:ln>
        </p:spPr>
      </p:sp>
      <p:sp>
        <p:nvSpPr>
          <p:cNvPr id="19" name="Shape 16"/>
          <p:cNvSpPr/>
          <p:nvPr/>
        </p:nvSpPr>
        <p:spPr>
          <a:xfrm>
            <a:off x="566928" y="1463040"/>
            <a:ext cx="329184" cy="329184"/>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645932" y="1542044"/>
            <a:ext cx="171176" cy="171176"/>
          </a:xfrm>
          <a:prstGeom prst="rect">
            <a:avLst/>
          </a:prstGeom>
        </p:spPr>
      </p:pic>
      <p:sp>
        <p:nvSpPr>
          <p:cNvPr id="21" name="Text 17"/>
          <p:cNvSpPr txBox="1"/>
          <p:nvPr/>
        </p:nvSpPr>
        <p:spPr>
          <a:xfrm>
            <a:off x="969264" y="1463040"/>
            <a:ext cx="2048256" cy="329184"/>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Cadres de la statistique officielle</a:t>
            </a:r>
            <a:endParaRPr lang="en-US" sz="1100" dirty="0"/>
          </a:p>
        </p:txBody>
      </p:sp>
      <p:sp>
        <p:nvSpPr>
          <p:cNvPr id="22" name="Text 18"/>
          <p:cNvSpPr txBox="1"/>
          <p:nvPr/>
        </p:nvSpPr>
        <p:spPr>
          <a:xfrm>
            <a:off x="566928" y="1901952"/>
            <a:ext cx="2432304" cy="2606040"/>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Principes fondamentaux de la statistique officielle (ONU, rés. 68/261, 2014) — principe 6</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CEE-ONU, HLG-MOS : GSBPM, GAMSO, GSIM et travaux sur l'apprentissage automatique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Charte africaine de la statistique (UA, 2009)</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Stratégie pour l'harmonisation des statistiques en Afrique (SHaSA 2)</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Code de bonnes pratiques de la statistique européenne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Statistique Canada, Cadre pour des processus d'apprentissage automatique responsables</a:t>
            </a:r>
            <a:endParaRPr lang="en-US" sz="900" dirty="0"/>
          </a:p>
        </p:txBody>
      </p:sp>
      <p:sp>
        <p:nvSpPr>
          <p:cNvPr id="23" name="Shape 19"/>
          <p:cNvSpPr/>
          <p:nvPr/>
        </p:nvSpPr>
        <p:spPr>
          <a:xfrm>
            <a:off x="3246120" y="1371600"/>
            <a:ext cx="2651760" cy="3200400"/>
          </a:xfrm>
          <a:prstGeom prst="roundRect">
            <a:avLst>
              <a:gd name="adj" fmla="val 2759"/>
            </a:avLst>
          </a:prstGeom>
          <a:solidFill>
            <a:srgbClr val="F4F7F5"/>
          </a:solidFill>
          <a:ln w="9525">
            <a:solidFill>
              <a:srgbClr val="D5DED9"/>
            </a:solidFill>
            <a:prstDash val="solid"/>
          </a:ln>
        </p:spPr>
      </p:sp>
      <p:sp>
        <p:nvSpPr>
          <p:cNvPr id="24" name="Shape 20"/>
          <p:cNvSpPr/>
          <p:nvPr/>
        </p:nvSpPr>
        <p:spPr>
          <a:xfrm>
            <a:off x="3355848" y="1463040"/>
            <a:ext cx="329184" cy="329184"/>
          </a:xfrm>
          <a:prstGeom prst="ellipse">
            <a:avLst/>
          </a:prstGeom>
          <a:solidFill>
            <a:srgbClr val="0E7C86">
              <a:alpha val="22000"/>
            </a:srgbClr>
          </a:solidFill>
          <a:ln/>
        </p:spPr>
      </p:sp>
      <p:pic>
        <p:nvPicPr>
          <p:cNvPr id="25" name="Image 1" descr="preencoded.png"/>
          <p:cNvPicPr>
            <a:picLocks noChangeAspect="1"/>
          </p:cNvPicPr>
          <p:nvPr/>
        </p:nvPicPr>
        <p:blipFill>
          <a:blip r:embed="rId4"/>
          <a:stretch>
            <a:fillRect/>
          </a:stretch>
        </p:blipFill>
        <p:spPr>
          <a:xfrm>
            <a:off x="3434852" y="1542044"/>
            <a:ext cx="171176" cy="171176"/>
          </a:xfrm>
          <a:prstGeom prst="rect">
            <a:avLst/>
          </a:prstGeom>
        </p:spPr>
      </p:pic>
      <p:sp>
        <p:nvSpPr>
          <p:cNvPr id="26" name="Text 21"/>
          <p:cNvSpPr txBox="1"/>
          <p:nvPr/>
        </p:nvSpPr>
        <p:spPr>
          <a:xfrm>
            <a:off x="3758184" y="1463040"/>
            <a:ext cx="2048256" cy="329184"/>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Droit, politiques et technique</a:t>
            </a:r>
            <a:endParaRPr lang="en-US" sz="1100" dirty="0"/>
          </a:p>
        </p:txBody>
      </p:sp>
      <p:sp>
        <p:nvSpPr>
          <p:cNvPr id="27" name="Text 22"/>
          <p:cNvSpPr txBox="1"/>
          <p:nvPr/>
        </p:nvSpPr>
        <p:spPr>
          <a:xfrm>
            <a:off x="3355848" y="1901952"/>
            <a:ext cx="2432304" cy="2606040"/>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Convention de l'UA sur la cybersécurité et la protection des données à caractère personnel (Malabo, 2014 ; en vigueur le 8 juin 2023)</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Cadre de politique des données de l'UA ; Stratégie continentale de l'UA sur l'IA (juillet 2024)</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Règlement (UE) 2024/1689 sur l'intelligence artificielle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Principes de l'OCDE sur l'IA ; Recommandation de l'UNESCO sur l'éthique de l'IA (2021)</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 Sculley et al., « Hidden Technical Debt in Machine Learning Systems », NeurIPS 2015</a:t>
            </a:r>
            <a:endParaRPr lang="en-US" sz="900" dirty="0"/>
          </a:p>
        </p:txBody>
      </p:sp>
      <p:sp>
        <p:nvSpPr>
          <p:cNvPr id="28" name="Shape 23"/>
          <p:cNvSpPr/>
          <p:nvPr/>
        </p:nvSpPr>
        <p:spPr>
          <a:xfrm>
            <a:off x="6035040" y="1371600"/>
            <a:ext cx="2651760" cy="3200400"/>
          </a:xfrm>
          <a:prstGeom prst="roundRect">
            <a:avLst>
              <a:gd name="adj" fmla="val 2759"/>
            </a:avLst>
          </a:prstGeom>
          <a:solidFill>
            <a:srgbClr val="F4F7F5"/>
          </a:solidFill>
          <a:ln w="9525">
            <a:solidFill>
              <a:srgbClr val="D5DED9"/>
            </a:solidFill>
            <a:prstDash val="solid"/>
          </a:ln>
        </p:spPr>
      </p:sp>
      <p:sp>
        <p:nvSpPr>
          <p:cNvPr id="29" name="Shape 24"/>
          <p:cNvSpPr/>
          <p:nvPr/>
        </p:nvSpPr>
        <p:spPr>
          <a:xfrm>
            <a:off x="6144768" y="1463040"/>
            <a:ext cx="329184" cy="329184"/>
          </a:xfrm>
          <a:prstGeom prst="ellipse">
            <a:avLst/>
          </a:prstGeom>
          <a:solidFill>
            <a:srgbClr val="D49A00">
              <a:alpha val="22000"/>
            </a:srgbClr>
          </a:solidFill>
          <a:ln/>
        </p:spPr>
      </p:sp>
      <p:pic>
        <p:nvPicPr>
          <p:cNvPr id="30" name="Image 2" descr="preencoded.png"/>
          <p:cNvPicPr>
            <a:picLocks noChangeAspect="1"/>
          </p:cNvPicPr>
          <p:nvPr/>
        </p:nvPicPr>
        <p:blipFill>
          <a:blip r:embed="rId5"/>
          <a:stretch>
            <a:fillRect/>
          </a:stretch>
        </p:blipFill>
        <p:spPr>
          <a:xfrm>
            <a:off x="6223772" y="1542044"/>
            <a:ext cx="171176" cy="171176"/>
          </a:xfrm>
          <a:prstGeom prst="rect">
            <a:avLst/>
          </a:prstGeom>
        </p:spPr>
      </p:pic>
      <p:sp>
        <p:nvSpPr>
          <p:cNvPr id="31" name="Text 25"/>
          <p:cNvSpPr txBox="1"/>
          <p:nvPr/>
        </p:nvSpPr>
        <p:spPr>
          <a:xfrm>
            <a:off x="6547104" y="1463040"/>
            <a:ext cx="2048256" cy="329184"/>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Données sur le contexte africain</a:t>
            </a:r>
            <a:endParaRPr lang="en-US" sz="1100" dirty="0"/>
          </a:p>
        </p:txBody>
      </p:sp>
      <p:sp>
        <p:nvSpPr>
          <p:cNvPr id="32" name="Text 26"/>
          <p:cNvSpPr txBox="1"/>
          <p:nvPr/>
        </p:nvSpPr>
        <p:spPr>
          <a:xfrm>
            <a:off x="6144768" y="1901952"/>
            <a:ext cx="2432304" cy="2606040"/>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AIE, Financing Electricity Access in Africa (2025)</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Africa Data Centres Association, Data Centres in Africa 2026: The Economic Report</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BCG, Advancing Africa's AI and Digital Economy (2026)</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Heirs Technologies, Africa's Digital Leap (sept. 2025), repris par l'Agence Ecofin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Groupe de la Banque mondiale et BAD, Mission 300 (2024)</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Conseil exécutif de l'UA, 45e session ordinaire, Accra (juillet 2024)</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17601</Words>
  <Application>Microsoft Office PowerPoint</Application>
  <PresentationFormat>On-screen Show (16:9)</PresentationFormat>
  <Paragraphs>1753</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Infrastructure IA pour les instituts de statistique</dc:title>
  <dc:subject>PptxGenJS Presentation</dc:subject>
  <dc:creator>PptxGenJS</dc:creator>
  <cp:lastModifiedBy>HADJ TAIEB, MOHAMED ALI</cp:lastModifiedBy>
  <cp:revision>6</cp:revision>
  <dcterms:created xsi:type="dcterms:W3CDTF">2026-09-16T11:20:15Z</dcterms:created>
  <dcterms:modified xsi:type="dcterms:W3CDTF">2026-09-26T07:54:06Z</dcterms:modified>
</cp:coreProperties>
</file>