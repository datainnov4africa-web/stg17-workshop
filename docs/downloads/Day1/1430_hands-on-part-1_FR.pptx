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4.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Natural Questions — correspondance exacte (%)</a:t>
            </a:r>
          </a:p>
        </c:rich>
      </c:tx>
      <c:overlay val="0"/>
    </c:title>
    <c:autoTitleDeleted val="0"/>
    <c:plotArea>
      <c:layout/>
      <c:barChart>
        <c:barDir val="bar"/>
        <c:grouping val="clustered"/>
        <c:varyColors val="0"/>
        <c:ser>
          <c:idx val="0"/>
          <c:order val="0"/>
          <c:tx>
            <c:strRef>
              <c:f>Sheet1!$B$1</c:f>
              <c:strCache>
                <c:ptCount val="1"/>
                <c:pt idx="0">
                  <c:v>Exact Match</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9E2C-4CFD-9084-B856D648D4C2}"/>
              </c:ext>
            </c:extLst>
          </c:dPt>
          <c:dPt>
            <c:idx val="1"/>
            <c:invertIfNegative val="0"/>
            <c:bubble3D val="0"/>
            <c:extLst>
              <c:ext xmlns:c16="http://schemas.microsoft.com/office/drawing/2014/chart" uri="{C3380CC4-5D6E-409C-BE32-E72D297353CC}">
                <c16:uniqueId val="{00000003-9E2C-4CFD-9084-B856D648D4C2}"/>
              </c:ext>
            </c:extLst>
          </c:dPt>
          <c:dPt>
            <c:idx val="2"/>
            <c:invertIfNegative val="0"/>
            <c:bubble3D val="0"/>
            <c:spPr>
              <a:solidFill>
                <a:srgbClr val="7BCBA9"/>
              </a:solidFill>
              <a:effectLst/>
            </c:spPr>
            <c:extLst>
              <c:ext xmlns:c16="http://schemas.microsoft.com/office/drawing/2014/chart" uri="{C3380CC4-5D6E-409C-BE32-E72D297353CC}">
                <c16:uniqueId val="{00000005-9E2C-4CFD-9084-B856D648D4C2}"/>
              </c:ext>
            </c:extLst>
          </c:dPt>
          <c:dPt>
            <c:idx val="3"/>
            <c:invertIfNegative val="0"/>
            <c:bubble3D val="0"/>
            <c:spPr>
              <a:solidFill>
                <a:srgbClr val="57BD92"/>
              </a:solidFill>
              <a:effectLst/>
            </c:spPr>
            <c:extLst>
              <c:ext xmlns:c16="http://schemas.microsoft.com/office/drawing/2014/chart" uri="{C3380CC4-5D6E-409C-BE32-E72D297353CC}">
                <c16:uniqueId val="{00000007-9E2C-4CFD-9084-B856D648D4C2}"/>
              </c:ext>
            </c:extLst>
          </c:dPt>
          <c:dPt>
            <c:idx val="4"/>
            <c:invertIfNegative val="0"/>
            <c:bubble3D val="0"/>
            <c:spPr>
              <a:solidFill>
                <a:srgbClr val="008A5B"/>
              </a:solidFill>
              <a:effectLst/>
            </c:spPr>
            <c:extLst>
              <c:ext xmlns:c16="http://schemas.microsoft.com/office/drawing/2014/chart" uri="{C3380CC4-5D6E-409C-BE32-E72D297353CC}">
                <c16:uniqueId val="{00000009-9E2C-4CFD-9084-B856D648D4C2}"/>
              </c:ext>
            </c:extLst>
          </c:dPt>
          <c:dPt>
            <c:idx val="5"/>
            <c:invertIfNegative val="0"/>
            <c:bubble3D val="0"/>
            <c:spPr>
              <a:solidFill>
                <a:srgbClr val="00664A"/>
              </a:solidFill>
              <a:effectLst/>
            </c:spPr>
            <c:extLst>
              <c:ext xmlns:c16="http://schemas.microsoft.com/office/drawing/2014/chart" uri="{C3380CC4-5D6E-409C-BE32-E72D297353CC}">
                <c16:uniqueId val="{0000000B-9E2C-4CFD-9084-B856D648D4C2}"/>
              </c:ext>
            </c:extLst>
          </c:dPt>
          <c:dLbls>
            <c:numFmt formatCode="0.0" sourceLinked="0"/>
            <c:spPr>
              <a:noFill/>
              <a:ln>
                <a:noFill/>
              </a:ln>
              <a:effectLst/>
            </c:spPr>
            <c:txPr>
              <a:bodyPr/>
              <a:lstStyle/>
              <a:p>
                <a:pPr>
                  <a:defRPr sz="11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T5-11B (sans documents)</c:v>
                </c:pt>
                <c:pt idx="1">
                  <c:v>T5-11B + SSM</c:v>
                </c:pt>
                <c:pt idx="2">
                  <c:v>REALM</c:v>
                </c:pt>
                <c:pt idx="3">
                  <c:v>DPR</c:v>
                </c:pt>
                <c:pt idx="4">
                  <c:v>RAG-Token</c:v>
                </c:pt>
                <c:pt idx="5">
                  <c:v>RAG-Sequence</c:v>
                </c:pt>
              </c:strCache>
            </c:strRef>
          </c:cat>
          <c:val>
            <c:numRef>
              <c:f>Sheet1!$B$2:$B$7</c:f>
              <c:numCache>
                <c:formatCode>General</c:formatCode>
                <c:ptCount val="6"/>
                <c:pt idx="0">
                  <c:v>34.5</c:v>
                </c:pt>
                <c:pt idx="1">
                  <c:v>36.6</c:v>
                </c:pt>
                <c:pt idx="2">
                  <c:v>40.4</c:v>
                </c:pt>
                <c:pt idx="3">
                  <c:v>41.5</c:v>
                </c:pt>
                <c:pt idx="4">
                  <c:v>44.1</c:v>
                </c:pt>
                <c:pt idx="5">
                  <c:v>44.5</c:v>
                </c:pt>
              </c:numCache>
            </c:numRef>
          </c:val>
          <c:extLst>
            <c:ext xmlns:c16="http://schemas.microsoft.com/office/drawing/2014/chart" uri="{C3380CC4-5D6E-409C-BE32-E72D297353CC}">
              <c16:uniqueId val="{0000000C-9E2C-4CFD-9084-B856D648D4C2}"/>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5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Exactitude de GPT-3.5-Turbo (%) selon la position de la réponse</a:t>
            </a:r>
          </a:p>
        </c:rich>
      </c:tx>
      <c:overlay val="0"/>
    </c:title>
    <c:autoTitleDeleted val="0"/>
    <c:plotArea>
      <c:layout/>
      <c:lineChart>
        <c:grouping val="standard"/>
        <c:varyColors val="0"/>
        <c:ser>
          <c:idx val="0"/>
          <c:order val="0"/>
          <c:tx>
            <c:strRef>
              <c:f>Sheet1!$B$1</c:f>
              <c:strCache>
                <c:ptCount val="1"/>
                <c:pt idx="0">
                  <c:v>Exactitude avec 20 documents récupérés</c:v>
                </c:pt>
              </c:strCache>
            </c:strRef>
          </c:tx>
          <c:spPr>
            <a:ln w="38100" cap="flat">
              <a:solidFill>
                <a:srgbClr val="00A86A"/>
              </a:solidFill>
              <a:prstDash val="solid"/>
              <a:round/>
            </a:ln>
            <a:effectLst/>
          </c:spPr>
          <c:marker>
            <c:symbol val="circle"/>
            <c:size val="10"/>
            <c:spPr>
              <a:solidFill>
                <a:srgbClr val="00A86A"/>
              </a:solidFill>
              <a:ln w="9525" cap="flat">
                <a:solidFill>
                  <a:srgbClr val="00A86A"/>
                </a:solidFill>
                <a:prstDash val="solid"/>
                <a:round/>
              </a:ln>
              <a:effectLst/>
            </c:spPr>
          </c:marker>
          <c:cat>
            <c:strRef>
              <c:f>Sheet1!$A$2:$A$6</c:f>
              <c:strCache>
                <c:ptCount val="5"/>
                <c:pt idx="0">
                  <c:v>1re</c:v>
                </c:pt>
                <c:pt idx="1">
                  <c:v>5e</c:v>
                </c:pt>
                <c:pt idx="2">
                  <c:v>10e</c:v>
                </c:pt>
                <c:pt idx="3">
                  <c:v>15e</c:v>
                </c:pt>
                <c:pt idx="4">
                  <c:v>20e</c:v>
                </c:pt>
              </c:strCache>
            </c:strRef>
          </c:cat>
          <c:val>
            <c:numRef>
              <c:f>Sheet1!$B$2:$B$6</c:f>
              <c:numCache>
                <c:formatCode>General</c:formatCode>
                <c:ptCount val="5"/>
                <c:pt idx="0">
                  <c:v>75.8</c:v>
                </c:pt>
                <c:pt idx="1">
                  <c:v>57.2</c:v>
                </c:pt>
                <c:pt idx="2">
                  <c:v>53.8</c:v>
                </c:pt>
                <c:pt idx="3">
                  <c:v>55.4</c:v>
                </c:pt>
                <c:pt idx="4">
                  <c:v>63.2</c:v>
                </c:pt>
              </c:numCache>
            </c:numRef>
          </c:val>
          <c:smooth val="0"/>
          <c:extLst>
            <c:ext xmlns:c16="http://schemas.microsoft.com/office/drawing/2014/chart" uri="{C3380CC4-5D6E-409C-BE32-E72D297353CC}">
              <c16:uniqueId val="{00000000-B08A-425E-9434-E594772EE61B}"/>
            </c:ext>
          </c:extLst>
        </c:ser>
        <c:dLbls>
          <c:showLegendKey val="0"/>
          <c:showVal val="0"/>
          <c:showCatName val="0"/>
          <c:showSerName val="0"/>
          <c:showPercent val="0"/>
          <c:showBubbleSize val="0"/>
        </c:dLbls>
        <c:marker val="1"/>
        <c:smooth val="0"/>
        <c:axId val="2094734554"/>
        <c:axId val="2094734552"/>
      </c:lineChart>
      <c:lineChart>
        <c:grouping val="standard"/>
        <c:varyColors val="0"/>
        <c:ser>
          <c:idx val="1"/>
          <c:order val="1"/>
          <c:tx>
            <c:strRef>
              <c:f>Sheet1!$C$1</c:f>
              <c:strCache>
                <c:ptCount val="1"/>
                <c:pt idx="0">
                  <c:v>Référence sans document (56,1 %)</c:v>
                </c:pt>
              </c:strCache>
            </c:strRef>
          </c:tx>
          <c:spPr>
            <a:ln w="25400" cap="flat">
              <a:solidFill>
                <a:srgbClr val="A9B5B0"/>
              </a:solidFill>
              <a:prstDash val="solid"/>
              <a:round/>
            </a:ln>
            <a:effectLst/>
          </c:spPr>
          <c:marker>
            <c:symbol val="none"/>
          </c:marker>
          <c:cat>
            <c:strRef>
              <c:f>Sheet1!$A$2:$A$6</c:f>
              <c:strCache>
                <c:ptCount val="5"/>
                <c:pt idx="0">
                  <c:v>1re</c:v>
                </c:pt>
                <c:pt idx="1">
                  <c:v>5e</c:v>
                </c:pt>
                <c:pt idx="2">
                  <c:v>10e</c:v>
                </c:pt>
                <c:pt idx="3">
                  <c:v>15e</c:v>
                </c:pt>
                <c:pt idx="4">
                  <c:v>20e</c:v>
                </c:pt>
              </c:strCache>
            </c:strRef>
          </c:cat>
          <c:val>
            <c:numRef>
              <c:f>Sheet1!$C$2:$C$6</c:f>
              <c:numCache>
                <c:formatCode>General</c:formatCode>
                <c:ptCount val="5"/>
                <c:pt idx="0">
                  <c:v>56.1</c:v>
                </c:pt>
                <c:pt idx="1">
                  <c:v>56.1</c:v>
                </c:pt>
                <c:pt idx="2">
                  <c:v>56.1</c:v>
                </c:pt>
                <c:pt idx="3">
                  <c:v>56.1</c:v>
                </c:pt>
                <c:pt idx="4">
                  <c:v>56.1</c:v>
                </c:pt>
              </c:numCache>
            </c:numRef>
          </c:val>
          <c:smooth val="0"/>
          <c:extLst>
            <c:ext xmlns:c16="http://schemas.microsoft.com/office/drawing/2014/chart" uri="{C3380CC4-5D6E-409C-BE32-E72D297353CC}">
              <c16:uniqueId val="{00000001-B08A-425E-9434-E594772EE61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5E6964"/>
                    </a:solidFill>
                    <a:latin typeface="Arial"/>
                  </a:defRPr>
                </a:pPr>
                <a:r>
                  <a:rPr sz="1000" b="0" i="0" u="none" strike="noStrike">
                    <a:solidFill>
                      <a:srgbClr val="5E6964"/>
                    </a:solidFill>
                    <a:latin typeface="Arial"/>
                  </a:rPr>
                  <a:t>Position du document contenant la réponse</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80"/>
          <c:min val="45"/>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231F2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Taux d'échec de récupération top-20 (%) — plus bas = mieux</a:t>
            </a:r>
          </a:p>
        </c:rich>
      </c:tx>
      <c:overlay val="0"/>
    </c:title>
    <c:autoTitleDeleted val="0"/>
    <c:plotArea>
      <c:layout/>
      <c:barChart>
        <c:barDir val="col"/>
        <c:grouping val="clustered"/>
        <c:varyColors val="0"/>
        <c:ser>
          <c:idx val="0"/>
          <c:order val="0"/>
          <c:tx>
            <c:strRef>
              <c:f>Sheet1!$B$1</c:f>
              <c:strCache>
                <c:ptCount val="1"/>
                <c:pt idx="0">
                  <c:v>Failure rate</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77E6-4C39-8F9A-243BC9949CCD}"/>
              </c:ext>
            </c:extLst>
          </c:dPt>
          <c:dPt>
            <c:idx val="1"/>
            <c:invertIfNegative val="0"/>
            <c:bubble3D val="0"/>
            <c:spPr>
              <a:solidFill>
                <a:srgbClr val="57BD92"/>
              </a:solidFill>
              <a:effectLst/>
            </c:spPr>
            <c:extLst>
              <c:ext xmlns:c16="http://schemas.microsoft.com/office/drawing/2014/chart" uri="{C3380CC4-5D6E-409C-BE32-E72D297353CC}">
                <c16:uniqueId val="{00000003-77E6-4C39-8F9A-243BC9949CCD}"/>
              </c:ext>
            </c:extLst>
          </c:dPt>
          <c:dPt>
            <c:idx val="2"/>
            <c:invertIfNegative val="0"/>
            <c:bubble3D val="0"/>
            <c:spPr>
              <a:solidFill>
                <a:srgbClr val="10A06A"/>
              </a:solidFill>
              <a:effectLst/>
            </c:spPr>
            <c:extLst>
              <c:ext xmlns:c16="http://schemas.microsoft.com/office/drawing/2014/chart" uri="{C3380CC4-5D6E-409C-BE32-E72D297353CC}">
                <c16:uniqueId val="{00000005-77E6-4C39-8F9A-243BC9949CCD}"/>
              </c:ext>
            </c:extLst>
          </c:dPt>
          <c:dPt>
            <c:idx val="3"/>
            <c:invertIfNegative val="0"/>
            <c:bubble3D val="0"/>
            <c:spPr>
              <a:solidFill>
                <a:srgbClr val="00664A"/>
              </a:solidFill>
              <a:effectLst/>
            </c:spPr>
            <c:extLst>
              <c:ext xmlns:c16="http://schemas.microsoft.com/office/drawing/2014/chart" uri="{C3380CC4-5D6E-409C-BE32-E72D297353CC}">
                <c16:uniqueId val="{00000007-77E6-4C39-8F9A-243BC9949CCD}"/>
              </c:ext>
            </c:extLst>
          </c:dPt>
          <c:dLbls>
            <c:numFmt formatCode="0.0&quot;%&quot;" sourceLinked="0"/>
            <c:spPr>
              <a:noFill/>
              <a:ln>
                <a:noFill/>
              </a:ln>
              <a:effectLst/>
            </c:spPr>
            <c:txPr>
              <a:bodyPr/>
              <a:lstStyle/>
              <a:p>
                <a:pPr>
                  <a:defRPr sz="13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Embeddings standards</c:v>
                </c:pt>
                <c:pt idx="1">
                  <c:v>Embeddings contextuels</c:v>
                </c:pt>
                <c:pt idx="2">
                  <c:v>+ BM25 contextuel</c:v>
                </c:pt>
                <c:pt idx="3">
                  <c:v>+ Reclassement</c:v>
                </c:pt>
              </c:strCache>
            </c:strRef>
          </c:cat>
          <c:val>
            <c:numRef>
              <c:f>Sheet1!$B$2:$B$5</c:f>
              <c:numCache>
                <c:formatCode>General</c:formatCode>
                <c:ptCount val="4"/>
                <c:pt idx="0">
                  <c:v>5.7</c:v>
                </c:pt>
                <c:pt idx="1">
                  <c:v>3.7</c:v>
                </c:pt>
                <c:pt idx="2">
                  <c:v>2.9</c:v>
                </c:pt>
                <c:pt idx="3">
                  <c:v>1.9</c:v>
                </c:pt>
              </c:numCache>
            </c:numRef>
          </c:val>
          <c:extLst>
            <c:ext xmlns:c16="http://schemas.microsoft.com/office/drawing/2014/chart" uri="{C3380CC4-5D6E-409C-BE32-E72D297353CC}">
              <c16:uniqueId val="{00000008-77E6-4C39-8F9A-243BC9949CC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Fenêtre de contexte maximale (tokens, échelle log)</a:t>
            </a:r>
          </a:p>
        </c:rich>
      </c:tx>
      <c:overlay val="0"/>
    </c:title>
    <c:autoTitleDeleted val="0"/>
    <c:plotArea>
      <c:layout/>
      <c:barChart>
        <c:barDir val="bar"/>
        <c:grouping val="clustered"/>
        <c:varyColors val="0"/>
        <c:ser>
          <c:idx val="0"/>
          <c:order val="0"/>
          <c:tx>
            <c:strRef>
              <c:f>Sheet1!$B$1</c:f>
              <c:strCache>
                <c:ptCount val="1"/>
                <c:pt idx="0">
                  <c:v>Context window</c:v>
                </c:pt>
              </c:strCache>
            </c:strRef>
          </c:tx>
          <c:spPr>
            <a:solidFill>
              <a:srgbClr val="9ED9C0"/>
            </a:solidFill>
            <a:effectLst/>
          </c:spPr>
          <c:invertIfNegative val="0"/>
          <c:dPt>
            <c:idx val="0"/>
            <c:invertIfNegative val="0"/>
            <c:bubble3D val="0"/>
            <c:extLst>
              <c:ext xmlns:c16="http://schemas.microsoft.com/office/drawing/2014/chart" uri="{C3380CC4-5D6E-409C-BE32-E72D297353CC}">
                <c16:uniqueId val="{00000001-042F-4677-A7A1-43768A2DC6FF}"/>
              </c:ext>
            </c:extLst>
          </c:dPt>
          <c:dPt>
            <c:idx val="1"/>
            <c:invertIfNegative val="0"/>
            <c:bubble3D val="0"/>
            <c:spPr>
              <a:solidFill>
                <a:srgbClr val="7BCBA9"/>
              </a:solidFill>
              <a:effectLst/>
            </c:spPr>
            <c:extLst>
              <c:ext xmlns:c16="http://schemas.microsoft.com/office/drawing/2014/chart" uri="{C3380CC4-5D6E-409C-BE32-E72D297353CC}">
                <c16:uniqueId val="{00000003-042F-4677-A7A1-43768A2DC6FF}"/>
              </c:ext>
            </c:extLst>
          </c:dPt>
          <c:dPt>
            <c:idx val="2"/>
            <c:invertIfNegative val="0"/>
            <c:bubble3D val="0"/>
            <c:spPr>
              <a:solidFill>
                <a:srgbClr val="57BD92"/>
              </a:solidFill>
              <a:effectLst/>
            </c:spPr>
            <c:extLst>
              <c:ext xmlns:c16="http://schemas.microsoft.com/office/drawing/2014/chart" uri="{C3380CC4-5D6E-409C-BE32-E72D297353CC}">
                <c16:uniqueId val="{00000005-042F-4677-A7A1-43768A2DC6FF}"/>
              </c:ext>
            </c:extLst>
          </c:dPt>
          <c:dPt>
            <c:idx val="3"/>
            <c:invertIfNegative val="0"/>
            <c:bubble3D val="0"/>
            <c:spPr>
              <a:solidFill>
                <a:srgbClr val="33AF7C"/>
              </a:solidFill>
              <a:effectLst/>
            </c:spPr>
            <c:extLst>
              <c:ext xmlns:c16="http://schemas.microsoft.com/office/drawing/2014/chart" uri="{C3380CC4-5D6E-409C-BE32-E72D297353CC}">
                <c16:uniqueId val="{00000007-042F-4677-A7A1-43768A2DC6FF}"/>
              </c:ext>
            </c:extLst>
          </c:dPt>
          <c:dPt>
            <c:idx val="4"/>
            <c:invertIfNegative val="0"/>
            <c:bubble3D val="0"/>
            <c:spPr>
              <a:solidFill>
                <a:srgbClr val="10A06A"/>
              </a:solidFill>
              <a:effectLst/>
            </c:spPr>
            <c:extLst>
              <c:ext xmlns:c16="http://schemas.microsoft.com/office/drawing/2014/chart" uri="{C3380CC4-5D6E-409C-BE32-E72D297353CC}">
                <c16:uniqueId val="{00000009-042F-4677-A7A1-43768A2DC6FF}"/>
              </c:ext>
            </c:extLst>
          </c:dPt>
          <c:dPt>
            <c:idx val="5"/>
            <c:invertIfNegative val="0"/>
            <c:bubble3D val="0"/>
            <c:spPr>
              <a:solidFill>
                <a:srgbClr val="008A5B"/>
              </a:solidFill>
              <a:effectLst/>
            </c:spPr>
            <c:extLst>
              <c:ext xmlns:c16="http://schemas.microsoft.com/office/drawing/2014/chart" uri="{C3380CC4-5D6E-409C-BE32-E72D297353CC}">
                <c16:uniqueId val="{0000000B-042F-4677-A7A1-43768A2DC6FF}"/>
              </c:ext>
            </c:extLst>
          </c:dPt>
          <c:dPt>
            <c:idx val="6"/>
            <c:invertIfNegative val="0"/>
            <c:bubble3D val="0"/>
            <c:spPr>
              <a:solidFill>
                <a:srgbClr val="00664A"/>
              </a:solidFill>
              <a:effectLst/>
            </c:spPr>
            <c:extLst>
              <c:ext xmlns:c16="http://schemas.microsoft.com/office/drawing/2014/chart" uri="{C3380CC4-5D6E-409C-BE32-E72D297353CC}">
                <c16:uniqueId val="{0000000D-042F-4677-A7A1-43768A2DC6FF}"/>
              </c:ext>
            </c:extLst>
          </c:dPt>
          <c:dLbls>
            <c:numFmt formatCode="#,##0" sourceLinked="0"/>
            <c:spPr>
              <a:noFill/>
              <a:ln>
                <a:noFill/>
              </a:ln>
              <a:effectLst/>
            </c:spPr>
            <c:txPr>
              <a:bodyPr/>
              <a:lstStyle/>
              <a:p>
                <a:pPr>
                  <a:defRPr sz="105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BERT (2018)</c:v>
                </c:pt>
                <c:pt idx="1">
                  <c:v>GPT-3 (2020)</c:v>
                </c:pt>
                <c:pt idx="2">
                  <c:v>GPT-4 32K (mars 2023)</c:v>
                </c:pt>
                <c:pt idx="3">
                  <c:v>Claude (mai 2023)</c:v>
                </c:pt>
                <c:pt idx="4">
                  <c:v>Claude 2.1 (nov. 2023)</c:v>
                </c:pt>
                <c:pt idx="5">
                  <c:v>Gemini 1.5 Pro (févr. 2024)</c:v>
                </c:pt>
                <c:pt idx="6">
                  <c:v>Gemini 1.5 Pro (juin 2024)</c:v>
                </c:pt>
              </c:strCache>
            </c:strRef>
          </c:cat>
          <c:val>
            <c:numRef>
              <c:f>Sheet1!$B$2:$B$8</c:f>
              <c:numCache>
                <c:formatCode>General</c:formatCode>
                <c:ptCount val="7"/>
                <c:pt idx="0">
                  <c:v>512</c:v>
                </c:pt>
                <c:pt idx="1">
                  <c:v>2048</c:v>
                </c:pt>
                <c:pt idx="2">
                  <c:v>32768</c:v>
                </c:pt>
                <c:pt idx="3">
                  <c:v>100000</c:v>
                </c:pt>
                <c:pt idx="4">
                  <c:v>200000</c:v>
                </c:pt>
                <c:pt idx="5">
                  <c:v>1000000</c:v>
                </c:pt>
                <c:pt idx="6">
                  <c:v>2000000</c:v>
                </c:pt>
              </c:numCache>
            </c:numRef>
          </c:val>
          <c:extLst>
            <c:ext xmlns:c16="http://schemas.microsoft.com/office/drawing/2014/chart" uri="{C3380CC4-5D6E-409C-BE32-E72D297353CC}">
              <c16:uniqueId val="{0000000E-042F-4677-A7A1-43768A2DC6FF}"/>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logBase val="10"/>
          <c:orientation val="minMax"/>
          <c:max val="10000000"/>
          <c:min val="10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0980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génération augmentée par récupération associe une étape de recherche dans une source de connaissances à un grand modèle de langage. Cette présentation couvre les fondements, les preuves, l'évolution du concept et les exigences de la mise en production.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comporte six sections, chacune avec sa couleur, reprise sur sa diapositive de séparation et dans les points de progression en haut à droite. Elle se termine par les points à retenir et la liste des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1 explique les limites des modèles de langage seuls, définit le RAG et montre où il crée de la valeur.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limites structurelles des LLM seuls justifient le RAG : connaissances figées, hallucinations, absence d'accès aux données privées et absence de citations.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 examen à livre fermé contre examen à livre ouvert. Le terme RAG a été introduit par Lewis et al. (2020), qui ont associé un récupérateur DPR à un générateur BART.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RAG est le plus utile quand les connaissances sont volumineuses, changent souvent ou sont confidentielles, et quand les réponses doivent être vérifiables.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2 détaille la chaîne : indexation, découpage, embeddings, récupération et génération.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les documents sont découpés, encodés et stockés. En ligne, la question est encodée avec le même modèle, les fragments les plus proches sont récupérés et insérés dans le prompt, et le LLM répond à partir d'eux.</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la chaîne sur une question concrète. Le fragment non pertinent est écarté par le reclassement et chaque phrase de la réponse est reliée à une source. L'exemple est illustratif.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qualité de l'indexation plafonne tout le reste. Les métadonnées permettent de filtrer par date, produit ou droits d'accès au moment de la requête.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n'existe pas de taille universelle : testez-en plusieurs sur votre jeu d'évaluation. Le découpage selon la structure est souvent le meilleur pour la documentation technique.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embeddings réels ont des centaines à des milliers de dimensions (par exemple 768, 1536 ou 3072). L'image est une projection 2D, uniquement pour l'intuition. HNSW, IVF et PQ sont implémentés dans des bibliothèques comme FAISS et dans les bases vectorielles.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BM25 et la recherche dense échouent sur des requêtes différentes : la recherche hybride est donc un bon choix par défaut. Dans RRF, k est une constante de lissage (60 dans l'article original de Cormack et al., 2009). Les reclasseurs cross-encoder sont plus lents : ils ne notent que la liste restreinte.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prompt est le point de rencontre entre récupération et génération. Des consignes d'ancrage claires, des citations et la possibilité de s'abstenir sont les principaux leviers contre les hallucinations.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3 présente trois résultats publiés : l'article fondateur du RAG, l'étude « Lost in the Middle » et le Contextual Retrieval d'Anthropic.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l'article original, le RAG a établi un nouvel état de l'art en questions-réponses en domaine ouvert. Un modèle de 626 millions de paramètres avec récupération a battu un modèle de 11 milliards sans documents : une mémoire externe est plus efficace que de tout stocker dans les poids.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Liu et al. placent l'unique document contenant la réponse à différentes positions parmi 20 documents. L'exactitude dessine une courbe en U. Au-delà de 20 documents, GPT-3.5-Turbo ne gagne qu'environ 1,5 %.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indique que les embeddings contextuels combinés au BM25 contextuel réduisent de 49 % les échecs de récupération top-20, et de 67 % avec reclassement. Pour une base de moins d'environ 200 000 tokens, mettre tout le corpus dans le prompt avec mise en cache peut être plus simple que le RAG.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4 retrace la progression du concept : sept générations, cinq axes de progrès, les paradigmes naïf-avancé-modulaire, le passage aux boucles de raisonnement et l'effet des longues fenêtres de contexte.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2020, recherche et lecture étaient des systèmes séparés. En 2020, récupérateur et générateur sont entraînés ensemble. RETRO et Atlas intègrent la récupération à grande échelle. Dès 2023, le RAG alimente n'importe quel LLM figé via son prompt. Les systèmes deviennent ensuite adaptatifs et autocorrectifs, récupèrent des structures plus riches, puis agentiques, avec des modèles entraînés par renforcement à décider quand et quoi chercher.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ligne de gauche à droite : le concept a progressé sur cinq axes indépendants. Un système réel peut être avancé sur un axe et basique sur un autre.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taxonomie en trois stades, issue de l'étude de Gao et al., est la référence pour décrire la maturité d'un système RAG.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plus grand changement conceptuel : la récupération n'est plus une étape unique avant la génération, mais une action que le modèle répète en raisonnant, jusqu'à juger les éléments suffisants.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fenêtres de contexte ont gagné plus de trois ordres de grandeur. La récupération n'a pas disparu : une fenêtre plus grande n'est pas mieux exploitée pour autant, et Li et al. (EMNLP 2024) montrent que le RAG reste bien moins coûteux. Les chiffres sont les longueurs maximales annoncées par chaque fournisseur.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5 passe en revue les techniques avancées établies et situe le RAG face au fine-tuning et au contexte long.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 : techniques de requête et d'indexation. Bleu-vert : méthodes de recherche ajoutant autoréflexion, correction ou structure. Ocre : récupération agentique, direction actuelle du domaine.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fine-tuning change le comportement du modèle ; le RAG change ce qu'il sait au moment de répondre. Le contexte long devient coûteux pour de gros volumes, même si la mise en cache réduit ce coût. Beaucoup de systèmes en production combinent ces approches.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6 couvre l'évaluation, la sécurité, l'écosystème d'outils et les points de défaillance les plus fréquents.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Évaluez toujours séparément le récupérateur et le générateur : une mauvaise réponse peut venir d'un contexte manquant ou d'une génération infidèle. Constituez tôt un jeu de questions de référence avec les sources attendues.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RAG élargit la surface d'attaque : chaque document ingéré devient une entrée du modèle. Le contrôle d'accès doit s'appliquer au moment de la récupération, pas seulement dans le système source.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Outils représentatifs, liste non exhaustive. FAISS est une bibliothèque de Meta plutôt qu'une base de données ; pgvector ajoute la recherche vectorielle à PostgreSQL.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points de défaillance proviennent de « Seven Failure Points When Engineering a Retrieval Augmented Generation System » (Barnett et al., 2024). La plupart des problèmes viennent de la récupération : investissez-y en priorité.</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en insistant sur l'évaluation : le RAG est une discipline d'ingénierie, pas une simple technique. Commencez par une chaîne simple, mesurez-la sur vos propres questions et améliorez d'abord la récupération.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 complète des publications et rapports cités, par ordre chronologique.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 complète des publications et rapports cités, par ordre chronologique.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12"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image" Target="../media/image32.png"/><Relationship Id="rId5" Type="http://schemas.openxmlformats.org/officeDocument/2006/relationships/image" Target="../media/image27.png"/><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3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2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61.png"/></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64.png"/><Relationship Id="rId7" Type="http://schemas.openxmlformats.org/officeDocument/2006/relationships/image" Target="../media/image6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70.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27.png"/><Relationship Id="rId4" Type="http://schemas.openxmlformats.org/officeDocument/2006/relationships/image" Target="../media/image68.png"/></Relationships>
</file>

<file path=ppt/slides/_rels/slide3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73.png"/><Relationship Id="rId4" Type="http://schemas.openxmlformats.org/officeDocument/2006/relationships/image" Target="../media/image72.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52.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5943600" cy="274320"/>
          </a:xfrm>
          <a:prstGeom prst="rect">
            <a:avLst/>
          </a:prstGeom>
          <a:noFill/>
          <a:ln/>
        </p:spPr>
        <p:txBody>
          <a:bodyPr wrap="square" lIns="0" tIns="0" rIns="0" bIns="0" rtlCol="0" anchor="ctr"/>
          <a:lstStyle/>
          <a:p>
            <a:pPr marL="0" indent="0">
              <a:buNone/>
            </a:pPr>
            <a:r>
              <a:rPr lang="en-US" sz="1200" b="1" kern="0" spc="300" dirty="0">
                <a:solidFill>
                  <a:srgbClr val="F5C242"/>
                </a:solidFill>
                <a:latin typeface="Calibri" pitchFamily="34" charset="0"/>
                <a:ea typeface="Calibri" pitchFamily="34" charset="-122"/>
                <a:cs typeface="Calibri" pitchFamily="34" charset="-120"/>
              </a:rPr>
              <a:t>NOTE D'INFORMATION  ·  INTELLIGENCE ARTIFICIELLE</a:t>
            </a:r>
            <a:endParaRPr lang="en-US" sz="1200" dirty="0"/>
          </a:p>
        </p:txBody>
      </p:sp>
      <p:sp>
        <p:nvSpPr>
          <p:cNvPr id="3" name="Text 1"/>
          <p:cNvSpPr txBox="1"/>
          <p:nvPr/>
        </p:nvSpPr>
        <p:spPr>
          <a:xfrm>
            <a:off x="548640" y="1325880"/>
            <a:ext cx="6035040" cy="137160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Génération augmentée par récupération (RAG)</a:t>
            </a:r>
            <a:endParaRPr lang="en-US" sz="4000" dirty="0"/>
          </a:p>
        </p:txBody>
      </p:sp>
      <p:sp>
        <p:nvSpPr>
          <p:cNvPr id="4" name="Text 2"/>
          <p:cNvSpPr txBox="1"/>
          <p:nvPr/>
        </p:nvSpPr>
        <p:spPr>
          <a:xfrm>
            <a:off x="548640" y="2788920"/>
            <a:ext cx="566928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Ancrer les grands modèles de langage dans des connaissances réelles et vérifiables</a:t>
            </a:r>
            <a:endParaRPr lang="en-US" sz="1800" dirty="0"/>
          </a:p>
        </p:txBody>
      </p:sp>
      <p:sp>
        <p:nvSpPr>
          <p:cNvPr id="5" name="Text 3"/>
          <p:cNvSpPr txBox="1"/>
          <p:nvPr/>
        </p:nvSpPr>
        <p:spPr>
          <a:xfrm>
            <a:off x="548640" y="3520440"/>
            <a:ext cx="5486400" cy="274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Fondements  ·  Preuves  ·  Évolution  ·  Production</a:t>
            </a:r>
            <a:endParaRPr lang="en-US" sz="1300" dirty="0"/>
          </a:p>
        </p:txBody>
      </p:sp>
      <p:sp>
        <p:nvSpPr>
          <p:cNvPr id="6" name="Shape 4"/>
          <p:cNvSpPr/>
          <p:nvPr/>
        </p:nvSpPr>
        <p:spPr>
          <a:xfrm>
            <a:off x="6858000" y="1874520"/>
            <a:ext cx="1280160" cy="1280160"/>
          </a:xfrm>
          <a:prstGeom prst="ellipse">
            <a:avLst/>
          </a:prstGeom>
          <a:solidFill>
            <a:srgbClr val="FFFFFF"/>
          </a:solidFill>
          <a:ln w="12700">
            <a:solidFill>
              <a:srgbClr val="FFFFFF"/>
            </a:solidFill>
            <a:prstDash val="solid"/>
          </a:ln>
        </p:spPr>
      </p:sp>
      <p:pic>
        <p:nvPicPr>
          <p:cNvPr id="7" name="Image 0" descr="preencoded.png"/>
          <p:cNvPicPr>
            <a:picLocks noChangeAspect="1"/>
          </p:cNvPicPr>
          <p:nvPr/>
        </p:nvPicPr>
        <p:blipFill>
          <a:blip r:embed="rId4"/>
          <a:stretch>
            <a:fillRect/>
          </a:stretch>
        </p:blipFill>
        <p:spPr>
          <a:xfrm>
            <a:off x="7165238" y="2181758"/>
            <a:ext cx="665683" cy="665683"/>
          </a:xfrm>
          <a:prstGeom prst="rect">
            <a:avLst/>
          </a:prstGeom>
        </p:spPr>
      </p:pic>
      <p:sp>
        <p:nvSpPr>
          <p:cNvPr id="8" name="Shape 5"/>
          <p:cNvSpPr/>
          <p:nvPr/>
        </p:nvSpPr>
        <p:spPr>
          <a:xfrm>
            <a:off x="6080760" y="3200400"/>
            <a:ext cx="640080" cy="640080"/>
          </a:xfrm>
          <a:prstGeom prst="ellipse">
            <a:avLst/>
          </a:prstGeom>
          <a:solidFill>
            <a:srgbClr val="F5C242"/>
          </a:solidFill>
          <a:ln w="12700">
            <a:solidFill>
              <a:srgbClr val="F5C242"/>
            </a:solidFill>
            <a:prstDash val="solid"/>
          </a:ln>
        </p:spPr>
      </p:sp>
      <p:pic>
        <p:nvPicPr>
          <p:cNvPr id="9" name="Image 1" descr="preencoded.png"/>
          <p:cNvPicPr>
            <a:picLocks noChangeAspect="1"/>
          </p:cNvPicPr>
          <p:nvPr/>
        </p:nvPicPr>
        <p:blipFill>
          <a:blip r:embed="rId5"/>
          <a:stretch>
            <a:fillRect/>
          </a:stretch>
        </p:blipFill>
        <p:spPr>
          <a:xfrm>
            <a:off x="6234379" y="3354019"/>
            <a:ext cx="332842" cy="332842"/>
          </a:xfrm>
          <a:prstGeom prst="rect">
            <a:avLst/>
          </a:prstGeom>
        </p:spPr>
      </p:pic>
      <p:sp>
        <p:nvSpPr>
          <p:cNvPr id="10" name="Shape 6"/>
          <p:cNvSpPr/>
          <p:nvPr/>
        </p:nvSpPr>
        <p:spPr>
          <a:xfrm>
            <a:off x="8275320" y="3200400"/>
            <a:ext cx="640080" cy="640080"/>
          </a:xfrm>
          <a:prstGeom prst="ellipse">
            <a:avLst/>
          </a:prstGeom>
          <a:solidFill>
            <a:srgbClr val="F5C242"/>
          </a:solidFill>
          <a:ln w="12700">
            <a:solidFill>
              <a:srgbClr val="F5C242"/>
            </a:solidFill>
            <a:prstDash val="solid"/>
          </a:ln>
        </p:spPr>
      </p:sp>
      <p:pic>
        <p:nvPicPr>
          <p:cNvPr id="11" name="Image 2" descr="preencoded.png"/>
          <p:cNvPicPr>
            <a:picLocks noChangeAspect="1"/>
          </p:cNvPicPr>
          <p:nvPr/>
        </p:nvPicPr>
        <p:blipFill>
          <a:blip r:embed="rId6"/>
          <a:stretch>
            <a:fillRect/>
          </a:stretch>
        </p:blipFill>
        <p:spPr>
          <a:xfrm>
            <a:off x="8428939" y="3354019"/>
            <a:ext cx="332842" cy="332842"/>
          </a:xfrm>
          <a:prstGeom prst="rect">
            <a:avLst/>
          </a:prstGeom>
        </p:spPr>
      </p:pic>
      <p:sp>
        <p:nvSpPr>
          <p:cNvPr id="12" name="Text 23">
            <a:extLst>
              <a:ext uri="{FF2B5EF4-FFF2-40B4-BE49-F238E27FC236}">
                <a16:creationId xmlns:a16="http://schemas.microsoft.com/office/drawing/2014/main" id="{20A1A34C-78AC-CE5A-B8FF-10D3EEC2F0AB}"/>
              </a:ext>
            </a:extLst>
          </p:cNvPr>
          <p:cNvSpPr txBox="1"/>
          <p:nvPr/>
        </p:nvSpPr>
        <p:spPr>
          <a:xfrm>
            <a:off x="548640" y="4251636"/>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PROGRAMME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parties, du concept à la production</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7" name="Shape 14"/>
          <p:cNvSpPr/>
          <p:nvPr/>
        </p:nvSpPr>
        <p:spPr>
          <a:xfrm>
            <a:off x="457200" y="1325880"/>
            <a:ext cx="2615184" cy="1481328"/>
          </a:xfrm>
          <a:prstGeom prst="roundRect">
            <a:avLst>
              <a:gd name="adj" fmla="val 4938"/>
            </a:avLst>
          </a:prstGeom>
          <a:solidFill>
            <a:srgbClr val="F4F7F5"/>
          </a:solidFill>
          <a:ln w="9525">
            <a:solidFill>
              <a:srgbClr val="D5DED9"/>
            </a:solidFill>
            <a:prstDash val="solid"/>
          </a:ln>
        </p:spPr>
      </p:sp>
      <p:sp>
        <p:nvSpPr>
          <p:cNvPr id="18" name="Text 15"/>
          <p:cNvSpPr txBox="1"/>
          <p:nvPr/>
        </p:nvSpPr>
        <p:spPr>
          <a:xfrm>
            <a:off x="640080" y="1435608"/>
            <a:ext cx="914400" cy="548640"/>
          </a:xfrm>
          <a:prstGeom prst="rect">
            <a:avLst/>
          </a:prstGeom>
          <a:noFill/>
          <a:ln/>
        </p:spPr>
        <p:txBody>
          <a:bodyPr wrap="square" lIns="0" tIns="0" rIns="0" bIns="0" rtlCol="0" anchor="ctr"/>
          <a:lstStyle/>
          <a:p>
            <a:pPr marL="0" indent="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377440" y="1490472"/>
            <a:ext cx="502920" cy="502920"/>
          </a:xfrm>
          <a:prstGeom prst="ellipse">
            <a:avLst/>
          </a:prstGeom>
          <a:solidFill>
            <a:srgbClr val="00A86A">
              <a:alpha val="22000"/>
            </a:srgbClr>
          </a:solidFill>
          <a:ln w="12700">
            <a:solidFill>
              <a:srgbClr val="00A86A">
                <a:alpha val="0"/>
              </a:srgbClr>
            </a:solidFill>
            <a:prstDash val="solid"/>
          </a:ln>
        </p:spPr>
      </p:sp>
      <p:pic>
        <p:nvPicPr>
          <p:cNvPr id="20" name="Image 0" descr="preencoded.png"/>
          <p:cNvPicPr>
            <a:picLocks noChangeAspect="1"/>
          </p:cNvPicPr>
          <p:nvPr/>
        </p:nvPicPr>
        <p:blipFill>
          <a:blip r:embed="rId3"/>
          <a:stretch>
            <a:fillRect/>
          </a:stretch>
        </p:blipFill>
        <p:spPr>
          <a:xfrm>
            <a:off x="2498141" y="1611173"/>
            <a:ext cx="261518" cy="261518"/>
          </a:xfrm>
          <a:prstGeom prst="rect">
            <a:avLst/>
          </a:prstGeom>
        </p:spPr>
      </p:pic>
      <p:sp>
        <p:nvSpPr>
          <p:cNvPr id="21" name="Text 17"/>
          <p:cNvSpPr txBox="1"/>
          <p:nvPr/>
        </p:nvSpPr>
        <p:spPr>
          <a:xfrm>
            <a:off x="640080"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Fondements</a:t>
            </a:r>
            <a:endParaRPr lang="en-US" sz="1500" dirty="0"/>
          </a:p>
        </p:txBody>
      </p:sp>
      <p:sp>
        <p:nvSpPr>
          <p:cNvPr id="22" name="Text 18"/>
          <p:cNvSpPr txBox="1"/>
          <p:nvPr/>
        </p:nvSpPr>
        <p:spPr>
          <a:xfrm>
            <a:off x="640080"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Pourquoi le RAG, sa définition, ses usages</a:t>
            </a:r>
            <a:endParaRPr lang="en-US" sz="1050" dirty="0"/>
          </a:p>
        </p:txBody>
      </p:sp>
      <p:sp>
        <p:nvSpPr>
          <p:cNvPr id="23" name="Shape 19"/>
          <p:cNvSpPr/>
          <p:nvPr/>
        </p:nvSpPr>
        <p:spPr>
          <a:xfrm>
            <a:off x="3264408" y="1325880"/>
            <a:ext cx="2615184" cy="1481328"/>
          </a:xfrm>
          <a:prstGeom prst="roundRect">
            <a:avLst>
              <a:gd name="adj" fmla="val 4938"/>
            </a:avLst>
          </a:prstGeom>
          <a:solidFill>
            <a:srgbClr val="F4F7F5"/>
          </a:solidFill>
          <a:ln w="9525">
            <a:solidFill>
              <a:srgbClr val="D5DED9"/>
            </a:solidFill>
            <a:prstDash val="solid"/>
          </a:ln>
        </p:spPr>
      </p:sp>
      <p:sp>
        <p:nvSpPr>
          <p:cNvPr id="24" name="Text 20"/>
          <p:cNvSpPr txBox="1"/>
          <p:nvPr/>
        </p:nvSpPr>
        <p:spPr>
          <a:xfrm>
            <a:off x="3447288" y="1435608"/>
            <a:ext cx="914400" cy="548640"/>
          </a:xfrm>
          <a:prstGeom prst="rect">
            <a:avLst/>
          </a:prstGeom>
          <a:noFill/>
          <a:ln/>
        </p:spPr>
        <p:txBody>
          <a:bodyPr wrap="square" lIns="0" tIns="0" rIns="0" bIns="0" rtlCol="0" anchor="ctr"/>
          <a:lstStyle/>
          <a:p>
            <a:pPr marL="0" indent="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184648" y="1490472"/>
            <a:ext cx="502920" cy="502920"/>
          </a:xfrm>
          <a:prstGeom prst="ellipse">
            <a:avLst/>
          </a:prstGeom>
          <a:solidFill>
            <a:srgbClr val="00704A">
              <a:alpha val="22000"/>
            </a:srgbClr>
          </a:solidFill>
          <a:ln w="12700">
            <a:solidFill>
              <a:srgbClr val="00704A">
                <a:alpha val="0"/>
              </a:srgbClr>
            </a:solidFill>
            <a:prstDash val="solid"/>
          </a:ln>
        </p:spPr>
      </p:sp>
      <p:pic>
        <p:nvPicPr>
          <p:cNvPr id="26" name="Image 1" descr="preencoded.png"/>
          <p:cNvPicPr>
            <a:picLocks noChangeAspect="1"/>
          </p:cNvPicPr>
          <p:nvPr/>
        </p:nvPicPr>
        <p:blipFill>
          <a:blip r:embed="rId4"/>
          <a:stretch>
            <a:fillRect/>
          </a:stretch>
        </p:blipFill>
        <p:spPr>
          <a:xfrm>
            <a:off x="5305349" y="1611173"/>
            <a:ext cx="261518" cy="261518"/>
          </a:xfrm>
          <a:prstGeom prst="rect">
            <a:avLst/>
          </a:prstGeom>
        </p:spPr>
      </p:pic>
      <p:sp>
        <p:nvSpPr>
          <p:cNvPr id="27" name="Text 22"/>
          <p:cNvSpPr txBox="1"/>
          <p:nvPr/>
        </p:nvSpPr>
        <p:spPr>
          <a:xfrm>
            <a:off x="3447288"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Fonctionnement</a:t>
            </a:r>
            <a:endParaRPr lang="en-US" sz="1500" dirty="0"/>
          </a:p>
        </p:txBody>
      </p:sp>
      <p:sp>
        <p:nvSpPr>
          <p:cNvPr id="28" name="Text 23"/>
          <p:cNvSpPr txBox="1"/>
          <p:nvPr/>
        </p:nvSpPr>
        <p:spPr>
          <a:xfrm>
            <a:off x="3447288"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Indexation, découpage, embeddings, récupération, génération</a:t>
            </a:r>
            <a:endParaRPr lang="en-US" sz="1050" dirty="0"/>
          </a:p>
        </p:txBody>
      </p:sp>
      <p:sp>
        <p:nvSpPr>
          <p:cNvPr id="29" name="Shape 24"/>
          <p:cNvSpPr/>
          <p:nvPr/>
        </p:nvSpPr>
        <p:spPr>
          <a:xfrm>
            <a:off x="6071616" y="1325880"/>
            <a:ext cx="2615184" cy="1481328"/>
          </a:xfrm>
          <a:prstGeom prst="roundRect">
            <a:avLst>
              <a:gd name="adj" fmla="val 4938"/>
            </a:avLst>
          </a:prstGeom>
          <a:solidFill>
            <a:srgbClr val="F4F7F5"/>
          </a:solidFill>
          <a:ln w="9525">
            <a:solidFill>
              <a:srgbClr val="D5DED9"/>
            </a:solidFill>
            <a:prstDash val="solid"/>
          </a:ln>
        </p:spPr>
      </p:sp>
      <p:sp>
        <p:nvSpPr>
          <p:cNvPr id="30" name="Text 25"/>
          <p:cNvSpPr txBox="1"/>
          <p:nvPr/>
        </p:nvSpPr>
        <p:spPr>
          <a:xfrm>
            <a:off x="6254496" y="1435608"/>
            <a:ext cx="914400" cy="548640"/>
          </a:xfrm>
          <a:prstGeom prst="rect">
            <a:avLst/>
          </a:prstGeom>
          <a:noFill/>
          <a:ln/>
        </p:spPr>
        <p:txBody>
          <a:bodyPr wrap="square" lIns="0" tIns="0" rIns="0" bIns="0" rtlCol="0" anchor="ctr"/>
          <a:lstStyle/>
          <a:p>
            <a:pPr marL="0" indent="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7991856" y="1490472"/>
            <a:ext cx="502920" cy="502920"/>
          </a:xfrm>
          <a:prstGeom prst="ellipse">
            <a:avLst/>
          </a:prstGeom>
          <a:solidFill>
            <a:srgbClr val="0E7C86">
              <a:alpha val="22000"/>
            </a:srgbClr>
          </a:solidFill>
          <a:ln w="12700">
            <a:solidFill>
              <a:srgbClr val="0E7C86">
                <a:alpha val="0"/>
              </a:srgbClr>
            </a:solidFill>
            <a:prstDash val="solid"/>
          </a:ln>
        </p:spPr>
      </p:sp>
      <p:pic>
        <p:nvPicPr>
          <p:cNvPr id="32" name="Image 2" descr="preencoded.png"/>
          <p:cNvPicPr>
            <a:picLocks noChangeAspect="1"/>
          </p:cNvPicPr>
          <p:nvPr/>
        </p:nvPicPr>
        <p:blipFill>
          <a:blip r:embed="rId5"/>
          <a:stretch>
            <a:fillRect/>
          </a:stretch>
        </p:blipFill>
        <p:spPr>
          <a:xfrm>
            <a:off x="8112557" y="1611173"/>
            <a:ext cx="261518" cy="261518"/>
          </a:xfrm>
          <a:prstGeom prst="rect">
            <a:avLst/>
          </a:prstGeom>
        </p:spPr>
      </p:pic>
      <p:sp>
        <p:nvSpPr>
          <p:cNvPr id="33" name="Text 27"/>
          <p:cNvSpPr txBox="1"/>
          <p:nvPr/>
        </p:nvSpPr>
        <p:spPr>
          <a:xfrm>
            <a:off x="6254496"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Preuves</a:t>
            </a:r>
            <a:endParaRPr lang="en-US" sz="1500" dirty="0"/>
          </a:p>
        </p:txBody>
      </p:sp>
      <p:sp>
        <p:nvSpPr>
          <p:cNvPr id="34" name="Text 28"/>
          <p:cNvSpPr txBox="1"/>
          <p:nvPr/>
        </p:nvSpPr>
        <p:spPr>
          <a:xfrm>
            <a:off x="6254496"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Résultats publiés qui chiffrent les gains</a:t>
            </a:r>
            <a:endParaRPr lang="en-US" sz="1050" dirty="0"/>
          </a:p>
        </p:txBody>
      </p:sp>
      <p:sp>
        <p:nvSpPr>
          <p:cNvPr id="35" name="Shape 29"/>
          <p:cNvSpPr/>
          <p:nvPr/>
        </p:nvSpPr>
        <p:spPr>
          <a:xfrm>
            <a:off x="457200" y="2971800"/>
            <a:ext cx="2615184" cy="1481328"/>
          </a:xfrm>
          <a:prstGeom prst="roundRect">
            <a:avLst>
              <a:gd name="adj" fmla="val 4938"/>
            </a:avLst>
          </a:prstGeom>
          <a:solidFill>
            <a:srgbClr val="F4F7F5"/>
          </a:solidFill>
          <a:ln w="9525">
            <a:solidFill>
              <a:srgbClr val="D5DED9"/>
            </a:solidFill>
            <a:prstDash val="solid"/>
          </a:ln>
        </p:spPr>
      </p:sp>
      <p:sp>
        <p:nvSpPr>
          <p:cNvPr id="36" name="Text 30"/>
          <p:cNvSpPr txBox="1"/>
          <p:nvPr/>
        </p:nvSpPr>
        <p:spPr>
          <a:xfrm>
            <a:off x="640080" y="3081528"/>
            <a:ext cx="914400" cy="548640"/>
          </a:xfrm>
          <a:prstGeom prst="rect">
            <a:avLst/>
          </a:prstGeom>
          <a:noFill/>
          <a:ln/>
        </p:spPr>
        <p:txBody>
          <a:bodyPr wrap="square" lIns="0" tIns="0" rIns="0" bIns="0" rtlCol="0" anchor="ctr"/>
          <a:lstStyle/>
          <a:p>
            <a:pPr marL="0" indent="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7" name="Shape 31"/>
          <p:cNvSpPr/>
          <p:nvPr/>
        </p:nvSpPr>
        <p:spPr>
          <a:xfrm>
            <a:off x="2377440" y="3136392"/>
            <a:ext cx="502920" cy="502920"/>
          </a:xfrm>
          <a:prstGeom prst="ellipse">
            <a:avLst/>
          </a:prstGeom>
          <a:solidFill>
            <a:srgbClr val="D49A00">
              <a:alpha val="22000"/>
            </a:srgbClr>
          </a:solidFill>
          <a:ln w="12700">
            <a:solidFill>
              <a:srgbClr val="D49A00">
                <a:alpha val="0"/>
              </a:srgbClr>
            </a:solidFill>
            <a:prstDash val="solid"/>
          </a:ln>
        </p:spPr>
      </p:sp>
      <p:pic>
        <p:nvPicPr>
          <p:cNvPr id="38" name="Image 3" descr="preencoded.png"/>
          <p:cNvPicPr>
            <a:picLocks noChangeAspect="1"/>
          </p:cNvPicPr>
          <p:nvPr/>
        </p:nvPicPr>
        <p:blipFill>
          <a:blip r:embed="rId6"/>
          <a:stretch>
            <a:fillRect/>
          </a:stretch>
        </p:blipFill>
        <p:spPr>
          <a:xfrm>
            <a:off x="2498141" y="3257093"/>
            <a:ext cx="261518" cy="261518"/>
          </a:xfrm>
          <a:prstGeom prst="rect">
            <a:avLst/>
          </a:prstGeom>
        </p:spPr>
      </p:pic>
      <p:sp>
        <p:nvSpPr>
          <p:cNvPr id="39" name="Text 32"/>
          <p:cNvSpPr txBox="1"/>
          <p:nvPr/>
        </p:nvSpPr>
        <p:spPr>
          <a:xfrm>
            <a:off x="640080"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Évolution du RAG</a:t>
            </a:r>
            <a:endParaRPr lang="en-US" sz="1500" dirty="0"/>
          </a:p>
        </p:txBody>
      </p:sp>
      <p:sp>
        <p:nvSpPr>
          <p:cNvPr id="40" name="Text 33"/>
          <p:cNvSpPr txBox="1"/>
          <p:nvPr/>
        </p:nvSpPr>
        <p:spPr>
          <a:xfrm>
            <a:off x="640080"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Générations, axes de progrès, paradigmes</a:t>
            </a:r>
            <a:endParaRPr lang="en-US" sz="1050" dirty="0"/>
          </a:p>
        </p:txBody>
      </p:sp>
      <p:sp>
        <p:nvSpPr>
          <p:cNvPr id="41" name="Shape 34"/>
          <p:cNvSpPr/>
          <p:nvPr/>
        </p:nvSpPr>
        <p:spPr>
          <a:xfrm>
            <a:off x="3264408" y="2971800"/>
            <a:ext cx="2615184" cy="1481328"/>
          </a:xfrm>
          <a:prstGeom prst="roundRect">
            <a:avLst>
              <a:gd name="adj" fmla="val 4938"/>
            </a:avLst>
          </a:prstGeom>
          <a:solidFill>
            <a:srgbClr val="F4F7F5"/>
          </a:solidFill>
          <a:ln w="9525">
            <a:solidFill>
              <a:srgbClr val="D5DED9"/>
            </a:solidFill>
            <a:prstDash val="solid"/>
          </a:ln>
        </p:spPr>
      </p:sp>
      <p:sp>
        <p:nvSpPr>
          <p:cNvPr id="42" name="Text 35"/>
          <p:cNvSpPr txBox="1"/>
          <p:nvPr/>
        </p:nvSpPr>
        <p:spPr>
          <a:xfrm>
            <a:off x="3447288" y="3081528"/>
            <a:ext cx="914400" cy="548640"/>
          </a:xfrm>
          <a:prstGeom prst="rect">
            <a:avLst/>
          </a:prstGeom>
          <a:noFill/>
          <a:ln/>
        </p:spPr>
        <p:txBody>
          <a:bodyPr wrap="square" lIns="0" tIns="0" rIns="0" bIns="0" rtlCol="0" anchor="ctr"/>
          <a:lstStyle/>
          <a:p>
            <a:pPr marL="0" indent="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43" name="Shape 36"/>
          <p:cNvSpPr/>
          <p:nvPr/>
        </p:nvSpPr>
        <p:spPr>
          <a:xfrm>
            <a:off x="5184648" y="3136392"/>
            <a:ext cx="502920" cy="502920"/>
          </a:xfrm>
          <a:prstGeom prst="ellipse">
            <a:avLst/>
          </a:prstGeom>
          <a:solidFill>
            <a:srgbClr val="C4621D">
              <a:alpha val="22000"/>
            </a:srgbClr>
          </a:solidFill>
          <a:ln w="12700">
            <a:solidFill>
              <a:srgbClr val="C4621D">
                <a:alpha val="0"/>
              </a:srgbClr>
            </a:solidFill>
            <a:prstDash val="solid"/>
          </a:ln>
        </p:spPr>
      </p:sp>
      <p:pic>
        <p:nvPicPr>
          <p:cNvPr id="44" name="Image 4" descr="preencoded.png"/>
          <p:cNvPicPr>
            <a:picLocks noChangeAspect="1"/>
          </p:cNvPicPr>
          <p:nvPr/>
        </p:nvPicPr>
        <p:blipFill>
          <a:blip r:embed="rId7"/>
          <a:stretch>
            <a:fillRect/>
          </a:stretch>
        </p:blipFill>
        <p:spPr>
          <a:xfrm>
            <a:off x="5305349" y="3257093"/>
            <a:ext cx="261518" cy="261518"/>
          </a:xfrm>
          <a:prstGeom prst="rect">
            <a:avLst/>
          </a:prstGeom>
        </p:spPr>
      </p:pic>
      <p:sp>
        <p:nvSpPr>
          <p:cNvPr id="45" name="Text 37"/>
          <p:cNvSpPr txBox="1"/>
          <p:nvPr/>
        </p:nvSpPr>
        <p:spPr>
          <a:xfrm>
            <a:off x="3447288"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Techniques avancées</a:t>
            </a:r>
            <a:endParaRPr lang="en-US" sz="1500" dirty="0"/>
          </a:p>
        </p:txBody>
      </p:sp>
      <p:sp>
        <p:nvSpPr>
          <p:cNvPr id="46" name="Text 38"/>
          <p:cNvSpPr txBox="1"/>
          <p:nvPr/>
        </p:nvSpPr>
        <p:spPr>
          <a:xfrm>
            <a:off x="3447288"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Boîte à outils ; RAG, fine-tuning ou contexte long</a:t>
            </a:r>
            <a:endParaRPr lang="en-US" sz="1050" dirty="0"/>
          </a:p>
        </p:txBody>
      </p:sp>
      <p:sp>
        <p:nvSpPr>
          <p:cNvPr id="47" name="Shape 39"/>
          <p:cNvSpPr/>
          <p:nvPr/>
        </p:nvSpPr>
        <p:spPr>
          <a:xfrm>
            <a:off x="6071616" y="2971800"/>
            <a:ext cx="2615184" cy="1481328"/>
          </a:xfrm>
          <a:prstGeom prst="roundRect">
            <a:avLst>
              <a:gd name="adj" fmla="val 4938"/>
            </a:avLst>
          </a:prstGeom>
          <a:solidFill>
            <a:srgbClr val="F4F7F5"/>
          </a:solidFill>
          <a:ln w="9525">
            <a:solidFill>
              <a:srgbClr val="D5DED9"/>
            </a:solidFill>
            <a:prstDash val="solid"/>
          </a:ln>
        </p:spPr>
      </p:sp>
      <p:sp>
        <p:nvSpPr>
          <p:cNvPr id="48" name="Text 40"/>
          <p:cNvSpPr txBox="1"/>
          <p:nvPr/>
        </p:nvSpPr>
        <p:spPr>
          <a:xfrm>
            <a:off x="6254496" y="3081528"/>
            <a:ext cx="914400" cy="548640"/>
          </a:xfrm>
          <a:prstGeom prst="rect">
            <a:avLst/>
          </a:prstGeom>
          <a:noFill/>
          <a:ln/>
        </p:spPr>
        <p:txBody>
          <a:bodyPr wrap="square" lIns="0" tIns="0" rIns="0" bIns="0" rtlCol="0" anchor="ctr"/>
          <a:lstStyle/>
          <a:p>
            <a:pPr marL="0" indent="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9" name="Shape 41"/>
          <p:cNvSpPr/>
          <p:nvPr/>
        </p:nvSpPr>
        <p:spPr>
          <a:xfrm>
            <a:off x="7991856" y="3136392"/>
            <a:ext cx="502920" cy="502920"/>
          </a:xfrm>
          <a:prstGeom prst="ellipse">
            <a:avLst/>
          </a:prstGeom>
          <a:solidFill>
            <a:srgbClr val="B83B2E">
              <a:alpha val="22000"/>
            </a:srgbClr>
          </a:solidFill>
          <a:ln w="12700">
            <a:solidFill>
              <a:srgbClr val="B83B2E">
                <a:alpha val="0"/>
              </a:srgbClr>
            </a:solidFill>
            <a:prstDash val="solid"/>
          </a:ln>
        </p:spPr>
      </p:sp>
      <p:pic>
        <p:nvPicPr>
          <p:cNvPr id="50" name="Image 5" descr="preencoded.png"/>
          <p:cNvPicPr>
            <a:picLocks noChangeAspect="1"/>
          </p:cNvPicPr>
          <p:nvPr/>
        </p:nvPicPr>
        <p:blipFill>
          <a:blip r:embed="rId8"/>
          <a:stretch>
            <a:fillRect/>
          </a:stretch>
        </p:blipFill>
        <p:spPr>
          <a:xfrm>
            <a:off x="8112557" y="3257093"/>
            <a:ext cx="261518" cy="261518"/>
          </a:xfrm>
          <a:prstGeom prst="rect">
            <a:avLst/>
          </a:prstGeom>
        </p:spPr>
      </p:pic>
      <p:sp>
        <p:nvSpPr>
          <p:cNvPr id="51" name="Text 42"/>
          <p:cNvSpPr txBox="1"/>
          <p:nvPr/>
        </p:nvSpPr>
        <p:spPr>
          <a:xfrm>
            <a:off x="6254496"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Production</a:t>
            </a:r>
            <a:endParaRPr lang="en-US" sz="1500" dirty="0"/>
          </a:p>
        </p:txBody>
      </p:sp>
      <p:sp>
        <p:nvSpPr>
          <p:cNvPr id="52" name="Text 43"/>
          <p:cNvSpPr txBox="1"/>
          <p:nvPr/>
        </p:nvSpPr>
        <p:spPr>
          <a:xfrm>
            <a:off x="6254496"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Évaluation, sécurité, outils, points de défaillance</a:t>
            </a:r>
            <a:endParaRPr lang="en-US" sz="10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01</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Fondements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Pourquoi les modèles de langage ont-ils besoin d'une mémoire externe ?</a:t>
            </a:r>
            <a:endParaRPr lang="en-US" sz="1800" dirty="0"/>
          </a:p>
        </p:txBody>
      </p:sp>
      <p:sp>
        <p:nvSpPr>
          <p:cNvPr id="6" name="Shape 4"/>
          <p:cNvSpPr/>
          <p:nvPr/>
        </p:nvSpPr>
        <p:spPr>
          <a:xfrm>
            <a:off x="548640" y="4160520"/>
            <a:ext cx="137160" cy="137160"/>
          </a:xfrm>
          <a:prstGeom prst="ellipse">
            <a:avLst/>
          </a:prstGeom>
          <a:solidFill>
            <a:srgbClr val="F5C242"/>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FONDEMENTS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Pourquoi un LLM seul ne suffit pas</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7" name="Shape 14"/>
          <p:cNvSpPr/>
          <p:nvPr/>
        </p:nvSpPr>
        <p:spPr>
          <a:xfrm>
            <a:off x="457200" y="1325880"/>
            <a:ext cx="2926080" cy="3291840"/>
          </a:xfrm>
          <a:prstGeom prst="roundRect">
            <a:avLst>
              <a:gd name="adj" fmla="val 2500"/>
            </a:avLst>
          </a:prstGeom>
          <a:solidFill>
            <a:srgbClr val="E8F5EF"/>
          </a:solidFill>
          <a:ln w="15875">
            <a:solidFill>
              <a:srgbClr val="00A86A"/>
            </a:solidFill>
            <a:prstDash val="solid"/>
          </a:ln>
        </p:spPr>
      </p:sp>
      <p:sp>
        <p:nvSpPr>
          <p:cNvPr id="18" name="Text 15"/>
          <p:cNvSpPr txBox="1"/>
          <p:nvPr/>
        </p:nvSpPr>
        <p:spPr>
          <a:xfrm>
            <a:off x="731520" y="1508760"/>
            <a:ext cx="2468880" cy="640080"/>
          </a:xfrm>
          <a:prstGeom prst="rect">
            <a:avLst/>
          </a:prstGeom>
          <a:noFill/>
          <a:ln/>
        </p:spPr>
        <p:txBody>
          <a:bodyPr wrap="square" lIns="0" tIns="0" rIns="0" bIns="0" rtlCol="0" anchor="ctr"/>
          <a:lstStyle/>
          <a:p>
            <a:pPr marL="0" indent="0">
              <a:buNone/>
            </a:pPr>
            <a:r>
              <a:rPr lang="en-US" sz="1800" b="1" dirty="0">
                <a:solidFill>
                  <a:srgbClr val="231F20"/>
                </a:solidFill>
                <a:latin typeface="Calibri" pitchFamily="34" charset="0"/>
                <a:ea typeface="Calibri" pitchFamily="34" charset="-122"/>
                <a:cs typeface="Calibri" pitchFamily="34" charset="-120"/>
              </a:rPr>
              <a:t>Un LLM raisonne brillamment…</a:t>
            </a:r>
            <a:endParaRPr lang="en-US" sz="1800" dirty="0"/>
          </a:p>
        </p:txBody>
      </p:sp>
      <p:sp>
        <p:nvSpPr>
          <p:cNvPr id="19" name="Text 16"/>
          <p:cNvSpPr txBox="1"/>
          <p:nvPr/>
        </p:nvSpPr>
        <p:spPr>
          <a:xfrm>
            <a:off x="731520" y="2194560"/>
            <a:ext cx="2468880" cy="868680"/>
          </a:xfrm>
          <a:prstGeom prst="rect">
            <a:avLst/>
          </a:prstGeom>
          <a:noFill/>
          <a:ln/>
        </p:spPr>
        <p:txBody>
          <a:bodyPr wrap="square" lIns="0" tIns="0" rIns="0" bIns="0"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…mais c'est une bibliothèque peu fiable.</a:t>
            </a:r>
            <a:endParaRPr lang="en-US" sz="1800" dirty="0"/>
          </a:p>
        </p:txBody>
      </p:sp>
      <p:sp>
        <p:nvSpPr>
          <p:cNvPr id="20" name="Text 17"/>
          <p:cNvSpPr txBox="1"/>
          <p:nvPr/>
        </p:nvSpPr>
        <p:spPr>
          <a:xfrm>
            <a:off x="731520" y="3246120"/>
            <a:ext cx="2423160" cy="1097280"/>
          </a:xfrm>
          <a:prstGeom prst="rect">
            <a:avLst/>
          </a:prstGeom>
          <a:noFill/>
          <a:ln/>
        </p:spPr>
        <p:txBody>
          <a:bodyPr wrap="square" lIns="0" tIns="0" rIns="0" bIns="0" rtlCol="0" anchor="ctr"/>
          <a:lstStyle/>
          <a:p>
            <a:pPr marL="0" indent="0">
              <a:buNone/>
            </a:pPr>
            <a:r>
              <a:rPr lang="en-US" sz="1250" dirty="0">
                <a:solidFill>
                  <a:srgbClr val="5E6964"/>
                </a:solidFill>
                <a:latin typeface="Calibri" pitchFamily="34" charset="0"/>
                <a:ea typeface="Calibri" pitchFamily="34" charset="-122"/>
                <a:cs typeface="Calibri" pitchFamily="34" charset="-120"/>
              </a:rPr>
              <a:t>Ses connaissances sont stockées implicitement dans ses poids (mémoire paramétrique) : figées, opaques et impossibles à citer.</a:t>
            </a:r>
            <a:endParaRPr lang="en-US" sz="1250" dirty="0"/>
          </a:p>
        </p:txBody>
      </p:sp>
      <p:sp>
        <p:nvSpPr>
          <p:cNvPr id="21" name="Shape 18"/>
          <p:cNvSpPr/>
          <p:nvPr/>
        </p:nvSpPr>
        <p:spPr>
          <a:xfrm>
            <a:off x="3657600" y="1325880"/>
            <a:ext cx="2377440" cy="1572768"/>
          </a:xfrm>
          <a:prstGeom prst="roundRect">
            <a:avLst>
              <a:gd name="adj" fmla="val 4651"/>
            </a:avLst>
          </a:prstGeom>
          <a:solidFill>
            <a:srgbClr val="F4F7F5"/>
          </a:solidFill>
          <a:ln w="9525">
            <a:solidFill>
              <a:srgbClr val="D5DED9"/>
            </a:solidFill>
            <a:prstDash val="solid"/>
          </a:ln>
        </p:spPr>
      </p:sp>
      <p:sp>
        <p:nvSpPr>
          <p:cNvPr id="22" name="Shape 19"/>
          <p:cNvSpPr/>
          <p:nvPr/>
        </p:nvSpPr>
        <p:spPr>
          <a:xfrm>
            <a:off x="3840480" y="1508760"/>
            <a:ext cx="457200" cy="457200"/>
          </a:xfrm>
          <a:prstGeom prst="ellipse">
            <a:avLst/>
          </a:prstGeom>
          <a:solidFill>
            <a:srgbClr val="B83B2E">
              <a:alpha val="22000"/>
            </a:srgbClr>
          </a:solidFill>
          <a:ln w="12700">
            <a:solidFill>
              <a:srgbClr val="B83B2E">
                <a:alpha val="0"/>
              </a:srgbClr>
            </a:solidFill>
            <a:prstDash val="solid"/>
          </a:ln>
        </p:spPr>
      </p:sp>
      <p:pic>
        <p:nvPicPr>
          <p:cNvPr id="23" name="Image 0" descr="preencoded.png"/>
          <p:cNvPicPr>
            <a:picLocks noChangeAspect="1"/>
          </p:cNvPicPr>
          <p:nvPr/>
        </p:nvPicPr>
        <p:blipFill>
          <a:blip r:embed="rId3"/>
          <a:stretch>
            <a:fillRect/>
          </a:stretch>
        </p:blipFill>
        <p:spPr>
          <a:xfrm>
            <a:off x="3950208" y="1618488"/>
            <a:ext cx="237744" cy="237744"/>
          </a:xfrm>
          <a:prstGeom prst="rect">
            <a:avLst/>
          </a:prstGeom>
        </p:spPr>
      </p:pic>
      <p:sp>
        <p:nvSpPr>
          <p:cNvPr id="24" name="Text 20"/>
          <p:cNvSpPr txBox="1"/>
          <p:nvPr/>
        </p:nvSpPr>
        <p:spPr>
          <a:xfrm>
            <a:off x="4434840" y="158191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Date de coupure</a:t>
            </a:r>
            <a:endParaRPr lang="en-US" sz="1400" dirty="0"/>
          </a:p>
        </p:txBody>
      </p:sp>
      <p:sp>
        <p:nvSpPr>
          <p:cNvPr id="25" name="Text 21"/>
          <p:cNvSpPr txBox="1"/>
          <p:nvPr/>
        </p:nvSpPr>
        <p:spPr>
          <a:xfrm>
            <a:off x="3840480" y="210312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Tout ce qui s'est passé après l'entraînement est inconnu du modèle.</a:t>
            </a:r>
            <a:endParaRPr lang="en-US" sz="1150" dirty="0"/>
          </a:p>
        </p:txBody>
      </p:sp>
      <p:sp>
        <p:nvSpPr>
          <p:cNvPr id="26" name="Shape 22"/>
          <p:cNvSpPr/>
          <p:nvPr/>
        </p:nvSpPr>
        <p:spPr>
          <a:xfrm>
            <a:off x="6217920" y="1325880"/>
            <a:ext cx="2377440" cy="1572768"/>
          </a:xfrm>
          <a:prstGeom prst="roundRect">
            <a:avLst>
              <a:gd name="adj" fmla="val 4651"/>
            </a:avLst>
          </a:prstGeom>
          <a:solidFill>
            <a:srgbClr val="F4F7F5"/>
          </a:solidFill>
          <a:ln w="9525">
            <a:solidFill>
              <a:srgbClr val="D5DED9"/>
            </a:solidFill>
            <a:prstDash val="solid"/>
          </a:ln>
        </p:spPr>
      </p:sp>
      <p:sp>
        <p:nvSpPr>
          <p:cNvPr id="27" name="Shape 23"/>
          <p:cNvSpPr/>
          <p:nvPr/>
        </p:nvSpPr>
        <p:spPr>
          <a:xfrm>
            <a:off x="6400800" y="1508760"/>
            <a:ext cx="457200" cy="457200"/>
          </a:xfrm>
          <a:prstGeom prst="ellipse">
            <a:avLst/>
          </a:prstGeom>
          <a:solidFill>
            <a:srgbClr val="B83B2E">
              <a:alpha val="22000"/>
            </a:srgbClr>
          </a:solidFill>
          <a:ln w="12700">
            <a:solidFill>
              <a:srgbClr val="B83B2E">
                <a:alpha val="0"/>
              </a:srgbClr>
            </a:solidFill>
            <a:prstDash val="solid"/>
          </a:ln>
        </p:spPr>
      </p:sp>
      <p:pic>
        <p:nvPicPr>
          <p:cNvPr id="28" name="Image 1" descr="preencoded.png"/>
          <p:cNvPicPr>
            <a:picLocks noChangeAspect="1"/>
          </p:cNvPicPr>
          <p:nvPr/>
        </p:nvPicPr>
        <p:blipFill>
          <a:blip r:embed="rId4"/>
          <a:stretch>
            <a:fillRect/>
          </a:stretch>
        </p:blipFill>
        <p:spPr>
          <a:xfrm>
            <a:off x="6510528" y="1618488"/>
            <a:ext cx="237744" cy="237744"/>
          </a:xfrm>
          <a:prstGeom prst="rect">
            <a:avLst/>
          </a:prstGeom>
        </p:spPr>
      </p:pic>
      <p:sp>
        <p:nvSpPr>
          <p:cNvPr id="29" name="Text 24"/>
          <p:cNvSpPr txBox="1"/>
          <p:nvPr/>
        </p:nvSpPr>
        <p:spPr>
          <a:xfrm>
            <a:off x="6995160" y="158191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Hallucinations</a:t>
            </a:r>
            <a:endParaRPr lang="en-US" sz="1400" dirty="0"/>
          </a:p>
        </p:txBody>
      </p:sp>
      <p:sp>
        <p:nvSpPr>
          <p:cNvPr id="30" name="Text 25"/>
          <p:cNvSpPr txBox="1"/>
          <p:nvPr/>
        </p:nvSpPr>
        <p:spPr>
          <a:xfrm>
            <a:off x="6400800" y="210312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Faute de connaissance, le modèle peut produire des réponses fluides mais infondées.</a:t>
            </a:r>
            <a:endParaRPr lang="en-US" sz="1150" dirty="0"/>
          </a:p>
        </p:txBody>
      </p:sp>
      <p:sp>
        <p:nvSpPr>
          <p:cNvPr id="31" name="Shape 26"/>
          <p:cNvSpPr/>
          <p:nvPr/>
        </p:nvSpPr>
        <p:spPr>
          <a:xfrm>
            <a:off x="3657600" y="3017520"/>
            <a:ext cx="2377440" cy="1572768"/>
          </a:xfrm>
          <a:prstGeom prst="roundRect">
            <a:avLst>
              <a:gd name="adj" fmla="val 4651"/>
            </a:avLst>
          </a:prstGeom>
          <a:solidFill>
            <a:srgbClr val="F4F7F5"/>
          </a:solidFill>
          <a:ln w="9525">
            <a:solidFill>
              <a:srgbClr val="D5DED9"/>
            </a:solidFill>
            <a:prstDash val="solid"/>
          </a:ln>
        </p:spPr>
      </p:sp>
      <p:sp>
        <p:nvSpPr>
          <p:cNvPr id="32" name="Shape 27"/>
          <p:cNvSpPr/>
          <p:nvPr/>
        </p:nvSpPr>
        <p:spPr>
          <a:xfrm>
            <a:off x="3840480" y="3200400"/>
            <a:ext cx="457200" cy="45720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icPr>
            <a:picLocks noChangeAspect="1"/>
          </p:cNvPicPr>
          <p:nvPr/>
        </p:nvPicPr>
        <p:blipFill>
          <a:blip r:embed="rId5"/>
          <a:stretch>
            <a:fillRect/>
          </a:stretch>
        </p:blipFill>
        <p:spPr>
          <a:xfrm>
            <a:off x="3950208" y="3310128"/>
            <a:ext cx="237744" cy="237744"/>
          </a:xfrm>
          <a:prstGeom prst="rect">
            <a:avLst/>
          </a:prstGeom>
        </p:spPr>
      </p:pic>
      <p:sp>
        <p:nvSpPr>
          <p:cNvPr id="34" name="Text 28"/>
          <p:cNvSpPr txBox="1"/>
          <p:nvPr/>
        </p:nvSpPr>
        <p:spPr>
          <a:xfrm>
            <a:off x="4434840" y="327355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Aucune donnée privée</a:t>
            </a:r>
            <a:endParaRPr lang="en-US" sz="1400" dirty="0"/>
          </a:p>
        </p:txBody>
      </p:sp>
      <p:sp>
        <p:nvSpPr>
          <p:cNvPr id="35" name="Text 29"/>
          <p:cNvSpPr txBox="1"/>
          <p:nvPr/>
        </p:nvSpPr>
        <p:spPr>
          <a:xfrm>
            <a:off x="3840480" y="379476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Documents internes, wikis, tickets et bases de données n'ont jamais servi à l'entraînement.</a:t>
            </a:r>
            <a:endParaRPr lang="en-US" sz="1150" dirty="0"/>
          </a:p>
        </p:txBody>
      </p:sp>
      <p:sp>
        <p:nvSpPr>
          <p:cNvPr id="36" name="Shape 30"/>
          <p:cNvSpPr/>
          <p:nvPr/>
        </p:nvSpPr>
        <p:spPr>
          <a:xfrm>
            <a:off x="6217920" y="3017520"/>
            <a:ext cx="2377440" cy="1572768"/>
          </a:xfrm>
          <a:prstGeom prst="roundRect">
            <a:avLst>
              <a:gd name="adj" fmla="val 4651"/>
            </a:avLst>
          </a:prstGeom>
          <a:solidFill>
            <a:srgbClr val="F4F7F5"/>
          </a:solidFill>
          <a:ln w="9525">
            <a:solidFill>
              <a:srgbClr val="D5DED9"/>
            </a:solidFill>
            <a:prstDash val="solid"/>
          </a:ln>
        </p:spPr>
      </p:sp>
      <p:sp>
        <p:nvSpPr>
          <p:cNvPr id="37" name="Shape 31"/>
          <p:cNvSpPr/>
          <p:nvPr/>
        </p:nvSpPr>
        <p:spPr>
          <a:xfrm>
            <a:off x="6400800" y="3200400"/>
            <a:ext cx="457200" cy="457200"/>
          </a:xfrm>
          <a:prstGeom prst="ellipse">
            <a:avLst/>
          </a:prstGeom>
          <a:solidFill>
            <a:srgbClr val="B83B2E">
              <a:alpha val="22000"/>
            </a:srgbClr>
          </a:solidFill>
          <a:ln w="12700">
            <a:solidFill>
              <a:srgbClr val="B83B2E">
                <a:alpha val="0"/>
              </a:srgbClr>
            </a:solidFill>
            <a:prstDash val="solid"/>
          </a:ln>
        </p:spPr>
      </p:sp>
      <p:pic>
        <p:nvPicPr>
          <p:cNvPr id="38" name="Image 3" descr="preencoded.png"/>
          <p:cNvPicPr>
            <a:picLocks noChangeAspect="1"/>
          </p:cNvPicPr>
          <p:nvPr/>
        </p:nvPicPr>
        <p:blipFill>
          <a:blip r:embed="rId6"/>
          <a:stretch>
            <a:fillRect/>
          </a:stretch>
        </p:blipFill>
        <p:spPr>
          <a:xfrm>
            <a:off x="6510528" y="3310128"/>
            <a:ext cx="237744" cy="237744"/>
          </a:xfrm>
          <a:prstGeom prst="rect">
            <a:avLst/>
          </a:prstGeom>
        </p:spPr>
      </p:pic>
      <p:sp>
        <p:nvSpPr>
          <p:cNvPr id="39" name="Text 32"/>
          <p:cNvSpPr txBox="1"/>
          <p:nvPr/>
        </p:nvSpPr>
        <p:spPr>
          <a:xfrm>
            <a:off x="6995160" y="327355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Aucune traçabilité</a:t>
            </a:r>
            <a:endParaRPr lang="en-US" sz="1400" dirty="0"/>
          </a:p>
        </p:txBody>
      </p:sp>
      <p:sp>
        <p:nvSpPr>
          <p:cNvPr id="40" name="Text 33"/>
          <p:cNvSpPr txBox="1"/>
          <p:nvPr/>
        </p:nvSpPr>
        <p:spPr>
          <a:xfrm>
            <a:off x="6400800" y="379476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Les réponses n'ont pas de sources : impossible de les vérifier.</a:t>
            </a:r>
            <a:endParaRPr lang="en-US" sz="11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FONDEMENTS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Qu'est-ce que la génération augmentée (RAG) ?</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7" name="Shape 14"/>
          <p:cNvSpPr/>
          <p:nvPr/>
        </p:nvSpPr>
        <p:spPr>
          <a:xfrm>
            <a:off x="457200" y="1325880"/>
            <a:ext cx="8229600" cy="914400"/>
          </a:xfrm>
          <a:prstGeom prst="roundRect">
            <a:avLst>
              <a:gd name="adj" fmla="val 8000"/>
            </a:avLst>
          </a:prstGeom>
          <a:solidFill>
            <a:srgbClr val="E8F5EF"/>
          </a:solidFill>
          <a:ln w="15875">
            <a:solidFill>
              <a:srgbClr val="00A86A"/>
            </a:solidFill>
            <a:prstDash val="solid"/>
          </a:ln>
        </p:spPr>
      </p:sp>
      <p:sp>
        <p:nvSpPr>
          <p:cNvPr id="18" name="Text 15"/>
          <p:cNvSpPr txBox="1"/>
          <p:nvPr/>
        </p:nvSpPr>
        <p:spPr>
          <a:xfrm>
            <a:off x="731520" y="1371600"/>
            <a:ext cx="7680960" cy="822960"/>
          </a:xfrm>
          <a:prstGeom prst="rect">
            <a:avLst/>
          </a:prstGeom>
          <a:noFill/>
          <a:ln/>
        </p:spPr>
        <p:txBody>
          <a:bodyPr wrap="square" lIns="0" tIns="0" rIns="0" bIns="0" rtlCol="0" anchor="ctr"/>
          <a:lstStyle/>
          <a:p>
            <a:pPr marL="0" indent="0">
              <a:buNone/>
            </a:pPr>
            <a:r>
              <a:rPr lang="en-US" sz="1500" b="1" dirty="0">
                <a:solidFill>
                  <a:srgbClr val="00704A"/>
                </a:solidFill>
                <a:latin typeface="Calibri" pitchFamily="34" charset="0"/>
                <a:ea typeface="Calibri" pitchFamily="34" charset="-122"/>
                <a:cs typeface="Calibri" pitchFamily="34" charset="-120"/>
              </a:rPr>
              <a:t>RAG </a:t>
            </a:r>
            <a:r>
              <a:rPr lang="en-US" sz="1500" dirty="0">
                <a:solidFill>
                  <a:srgbClr val="231F20"/>
                </a:solidFill>
                <a:latin typeface="Calibri" pitchFamily="34" charset="0"/>
                <a:ea typeface="Calibri" pitchFamily="34" charset="-122"/>
                <a:cs typeface="Calibri" pitchFamily="34" charset="-120"/>
              </a:rPr>
              <a:t>récupère, au moment de la question, les passages pertinents d'une source de connaissances externe et les insère dans le prompt : le LLM génère alors une réponse </a:t>
            </a:r>
            <a:r>
              <a:rPr lang="en-US" sz="1500" b="1" dirty="0">
                <a:solidFill>
                  <a:srgbClr val="231F20"/>
                </a:solidFill>
                <a:latin typeface="Calibri" pitchFamily="34" charset="0"/>
                <a:ea typeface="Calibri" pitchFamily="34" charset="-122"/>
                <a:cs typeface="Calibri" pitchFamily="34" charset="-120"/>
              </a:rPr>
              <a:t>fondée sur ces éléments.</a:t>
            </a:r>
            <a:endParaRPr lang="en-US" sz="1500" dirty="0"/>
          </a:p>
        </p:txBody>
      </p:sp>
      <p:sp>
        <p:nvSpPr>
          <p:cNvPr id="19" name="Shape 16"/>
          <p:cNvSpPr/>
          <p:nvPr/>
        </p:nvSpPr>
        <p:spPr>
          <a:xfrm>
            <a:off x="457200" y="2423160"/>
            <a:ext cx="2651760" cy="2240280"/>
          </a:xfrm>
          <a:prstGeom prst="roundRect">
            <a:avLst>
              <a:gd name="adj" fmla="val 3265"/>
            </a:avLst>
          </a:prstGeom>
          <a:solidFill>
            <a:srgbClr val="F4F7F5"/>
          </a:solidFill>
          <a:ln w="9525">
            <a:solidFill>
              <a:srgbClr val="D5DED9"/>
            </a:solidFill>
            <a:prstDash val="solid"/>
          </a:ln>
        </p:spPr>
      </p:sp>
      <p:sp>
        <p:nvSpPr>
          <p:cNvPr id="20" name="Shape 17"/>
          <p:cNvSpPr/>
          <p:nvPr/>
        </p:nvSpPr>
        <p:spPr>
          <a:xfrm>
            <a:off x="685800" y="2606040"/>
            <a:ext cx="548640" cy="548640"/>
          </a:xfrm>
          <a:prstGeom prst="ellipse">
            <a:avLst/>
          </a:prstGeom>
          <a:solidFill>
            <a:srgbClr val="B83B2E">
              <a:alpha val="22000"/>
            </a:srgbClr>
          </a:solidFill>
          <a:ln w="12700">
            <a:solidFill>
              <a:srgbClr val="B83B2E">
                <a:alpha val="0"/>
              </a:srgbClr>
            </a:solidFill>
            <a:prstDash val="solid"/>
          </a:ln>
        </p:spPr>
      </p:sp>
      <p:pic>
        <p:nvPicPr>
          <p:cNvPr id="21" name="Image 0" descr="preencoded.png"/>
          <p:cNvPicPr>
            <a:picLocks noChangeAspect="1"/>
          </p:cNvPicPr>
          <p:nvPr/>
        </p:nvPicPr>
        <p:blipFill>
          <a:blip r:embed="rId3"/>
          <a:stretch>
            <a:fillRect/>
          </a:stretch>
        </p:blipFill>
        <p:spPr>
          <a:xfrm>
            <a:off x="817474" y="2737714"/>
            <a:ext cx="285293" cy="285293"/>
          </a:xfrm>
          <a:prstGeom prst="rect">
            <a:avLst/>
          </a:prstGeom>
        </p:spPr>
      </p:pic>
      <p:sp>
        <p:nvSpPr>
          <p:cNvPr id="22" name="Text 18"/>
          <p:cNvSpPr txBox="1"/>
          <p:nvPr/>
        </p:nvSpPr>
        <p:spPr>
          <a:xfrm>
            <a:off x="1371600" y="2633472"/>
            <a:ext cx="1691640" cy="2743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Examen à livre fermé</a:t>
            </a:r>
            <a:endParaRPr lang="en-US" sz="1250" dirty="0"/>
          </a:p>
        </p:txBody>
      </p:sp>
      <p:sp>
        <p:nvSpPr>
          <p:cNvPr id="23" name="Text 19"/>
          <p:cNvSpPr txBox="1"/>
          <p:nvPr/>
        </p:nvSpPr>
        <p:spPr>
          <a:xfrm>
            <a:off x="1371600" y="2907792"/>
            <a:ext cx="1645920" cy="228600"/>
          </a:xfrm>
          <a:prstGeom prst="rect">
            <a:avLst/>
          </a:prstGeom>
          <a:noFill/>
          <a:ln/>
        </p:spPr>
        <p:txBody>
          <a:bodyPr wrap="square" lIns="0" tIns="0" rIns="0" bIns="0" rtlCol="0" anchor="ctr"/>
          <a:lstStyle/>
          <a:p>
            <a:pPr marL="0" indent="0">
              <a:buNone/>
            </a:pPr>
            <a:r>
              <a:rPr lang="en-US" sz="1100" b="1" dirty="0">
                <a:solidFill>
                  <a:srgbClr val="B83B2E"/>
                </a:solidFill>
                <a:latin typeface="Calibri" pitchFamily="34" charset="0"/>
                <a:ea typeface="Calibri" pitchFamily="34" charset="-122"/>
                <a:cs typeface="Calibri" pitchFamily="34" charset="-120"/>
              </a:rPr>
              <a:t>LLM seul</a:t>
            </a:r>
            <a:endParaRPr lang="en-US" sz="1100" dirty="0"/>
          </a:p>
        </p:txBody>
      </p:sp>
      <p:sp>
        <p:nvSpPr>
          <p:cNvPr id="24" name="Text 20"/>
          <p:cNvSpPr txBox="1"/>
          <p:nvPr/>
        </p:nvSpPr>
        <p:spPr>
          <a:xfrm>
            <a:off x="685800" y="3383280"/>
            <a:ext cx="2240280" cy="731520"/>
          </a:xfrm>
          <a:prstGeom prst="rect">
            <a:avLst/>
          </a:prstGeom>
          <a:noFill/>
          <a:ln/>
        </p:spPr>
        <p:txBody>
          <a:bodyPr wrap="square" lIns="0" tIns="0" rIns="0" bIns="0" rtlCol="0" anchor="t"/>
          <a:lstStyle/>
          <a:p>
            <a:pPr marL="0" indent="0">
              <a:buNone/>
            </a:pPr>
            <a:r>
              <a:rPr lang="en-US" sz="1250" dirty="0">
                <a:solidFill>
                  <a:srgbClr val="5E6964"/>
                </a:solidFill>
                <a:latin typeface="Calibri" pitchFamily="34" charset="0"/>
                <a:ea typeface="Calibri" pitchFamily="34" charset="-122"/>
                <a:cs typeface="Calibri" pitchFamily="34" charset="-120"/>
              </a:rPr>
              <a:t>Répond de mémoire uniquement (poids du modèle). Peut être dépassé ou inventé.</a:t>
            </a:r>
            <a:endParaRPr lang="en-US" sz="1250" dirty="0"/>
          </a:p>
        </p:txBody>
      </p:sp>
      <p:sp>
        <p:nvSpPr>
          <p:cNvPr id="25" name="Shape 21"/>
          <p:cNvSpPr/>
          <p:nvPr/>
        </p:nvSpPr>
        <p:spPr>
          <a:xfrm>
            <a:off x="685800" y="4160520"/>
            <a:ext cx="2194560" cy="310896"/>
          </a:xfrm>
          <a:prstGeom prst="roundRect">
            <a:avLst>
              <a:gd name="adj" fmla="val 50000"/>
            </a:avLst>
          </a:prstGeom>
          <a:solidFill>
            <a:srgbClr val="B83B2E">
              <a:alpha val="15000"/>
            </a:srgbClr>
          </a:solidFill>
          <a:ln w="9525">
            <a:solidFill>
              <a:srgbClr val="B83B2E"/>
            </a:solidFill>
            <a:prstDash val="solid"/>
          </a:ln>
        </p:spPr>
      </p:sp>
      <p:sp>
        <p:nvSpPr>
          <p:cNvPr id="26" name="Text 22"/>
          <p:cNvSpPr txBox="1"/>
          <p:nvPr/>
        </p:nvSpPr>
        <p:spPr>
          <a:xfrm>
            <a:off x="685800" y="4160520"/>
            <a:ext cx="2194560" cy="310896"/>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Mémoire paramétrique seule</a:t>
            </a:r>
            <a:endParaRPr lang="en-US" sz="1000" dirty="0"/>
          </a:p>
        </p:txBody>
      </p:sp>
      <p:sp>
        <p:nvSpPr>
          <p:cNvPr id="27" name="Shape 23"/>
          <p:cNvSpPr/>
          <p:nvPr/>
        </p:nvSpPr>
        <p:spPr>
          <a:xfrm>
            <a:off x="3291840" y="2423160"/>
            <a:ext cx="2651760" cy="2240280"/>
          </a:xfrm>
          <a:prstGeom prst="roundRect">
            <a:avLst>
              <a:gd name="adj" fmla="val 3265"/>
            </a:avLst>
          </a:prstGeom>
          <a:solidFill>
            <a:srgbClr val="E8F5EF"/>
          </a:solidFill>
          <a:ln w="15875">
            <a:solidFill>
              <a:srgbClr val="00A86A"/>
            </a:solidFill>
            <a:prstDash val="solid"/>
          </a:ln>
        </p:spPr>
      </p:sp>
      <p:sp>
        <p:nvSpPr>
          <p:cNvPr id="28" name="Shape 24"/>
          <p:cNvSpPr/>
          <p:nvPr/>
        </p:nvSpPr>
        <p:spPr>
          <a:xfrm>
            <a:off x="3520440" y="2606040"/>
            <a:ext cx="548640" cy="548640"/>
          </a:xfrm>
          <a:prstGeom prst="ellipse">
            <a:avLst/>
          </a:prstGeom>
          <a:solidFill>
            <a:srgbClr val="00A86A">
              <a:alpha val="22000"/>
            </a:srgbClr>
          </a:solidFill>
          <a:ln w="12700">
            <a:solidFill>
              <a:srgbClr val="00A86A">
                <a:alpha val="0"/>
              </a:srgbClr>
            </a:solidFill>
            <a:prstDash val="solid"/>
          </a:ln>
        </p:spPr>
      </p:sp>
      <p:pic>
        <p:nvPicPr>
          <p:cNvPr id="29" name="Image 1" descr="preencoded.png"/>
          <p:cNvPicPr>
            <a:picLocks noChangeAspect="1"/>
          </p:cNvPicPr>
          <p:nvPr/>
        </p:nvPicPr>
        <p:blipFill>
          <a:blip r:embed="rId4"/>
          <a:stretch>
            <a:fillRect/>
          </a:stretch>
        </p:blipFill>
        <p:spPr>
          <a:xfrm>
            <a:off x="3652114" y="2737714"/>
            <a:ext cx="285293" cy="285293"/>
          </a:xfrm>
          <a:prstGeom prst="rect">
            <a:avLst/>
          </a:prstGeom>
        </p:spPr>
      </p:pic>
      <p:sp>
        <p:nvSpPr>
          <p:cNvPr id="30" name="Text 25"/>
          <p:cNvSpPr txBox="1"/>
          <p:nvPr/>
        </p:nvSpPr>
        <p:spPr>
          <a:xfrm>
            <a:off x="4206240" y="2633472"/>
            <a:ext cx="1691640" cy="2743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Examen à livre ouvert</a:t>
            </a:r>
            <a:endParaRPr lang="en-US" sz="1250" dirty="0"/>
          </a:p>
        </p:txBody>
      </p:sp>
      <p:sp>
        <p:nvSpPr>
          <p:cNvPr id="31" name="Text 26"/>
          <p:cNvSpPr txBox="1"/>
          <p:nvPr/>
        </p:nvSpPr>
        <p:spPr>
          <a:xfrm>
            <a:off x="4206240" y="2907792"/>
            <a:ext cx="1645920" cy="228600"/>
          </a:xfrm>
          <a:prstGeom prst="rect">
            <a:avLst/>
          </a:prstGeom>
          <a:noFill/>
          <a:ln/>
        </p:spPr>
        <p:txBody>
          <a:bodyPr wrap="square" lIns="0" tIns="0" rIns="0" bIns="0" rtlCol="0" anchor="ctr"/>
          <a:lstStyle/>
          <a:p>
            <a:pPr marL="0" indent="0">
              <a:buNone/>
            </a:pPr>
            <a:r>
              <a:rPr lang="en-US" sz="1100" b="1" dirty="0">
                <a:solidFill>
                  <a:srgbClr val="00A86A"/>
                </a:solidFill>
                <a:latin typeface="Calibri" pitchFamily="34" charset="0"/>
                <a:ea typeface="Calibri" pitchFamily="34" charset="-122"/>
                <a:cs typeface="Calibri" pitchFamily="34" charset="-120"/>
              </a:rPr>
              <a:t>LLM + RAG</a:t>
            </a:r>
            <a:endParaRPr lang="en-US" sz="1100" dirty="0"/>
          </a:p>
        </p:txBody>
      </p:sp>
      <p:sp>
        <p:nvSpPr>
          <p:cNvPr id="32" name="Text 27"/>
          <p:cNvSpPr txBox="1"/>
          <p:nvPr/>
        </p:nvSpPr>
        <p:spPr>
          <a:xfrm>
            <a:off x="3520440" y="3383280"/>
            <a:ext cx="2240280" cy="731520"/>
          </a:xfrm>
          <a:prstGeom prst="rect">
            <a:avLst/>
          </a:prstGeom>
          <a:noFill/>
          <a:ln/>
        </p:spPr>
        <p:txBody>
          <a:bodyPr wrap="square" lIns="0" tIns="0" rIns="0" bIns="0" rtlCol="0" anchor="t"/>
          <a:lstStyle/>
          <a:p>
            <a:pPr marL="0" indent="0">
              <a:buNone/>
            </a:pPr>
            <a:r>
              <a:rPr lang="en-US" sz="1250" dirty="0">
                <a:solidFill>
                  <a:srgbClr val="5E6964"/>
                </a:solidFill>
                <a:latin typeface="Calibri" pitchFamily="34" charset="0"/>
                <a:ea typeface="Calibri" pitchFamily="34" charset="-122"/>
                <a:cs typeface="Calibri" pitchFamily="34" charset="-120"/>
              </a:rPr>
              <a:t>Consulte d'abord les bonnes pages, puis répond — et peut les citer.</a:t>
            </a:r>
            <a:endParaRPr lang="en-US" sz="1250" dirty="0"/>
          </a:p>
        </p:txBody>
      </p:sp>
      <p:sp>
        <p:nvSpPr>
          <p:cNvPr id="33" name="Shape 28"/>
          <p:cNvSpPr/>
          <p:nvPr/>
        </p:nvSpPr>
        <p:spPr>
          <a:xfrm>
            <a:off x="3520440" y="4160520"/>
            <a:ext cx="2194560" cy="310896"/>
          </a:xfrm>
          <a:prstGeom prst="roundRect">
            <a:avLst>
              <a:gd name="adj" fmla="val 50000"/>
            </a:avLst>
          </a:prstGeom>
          <a:solidFill>
            <a:srgbClr val="00A86A">
              <a:alpha val="15000"/>
            </a:srgbClr>
          </a:solidFill>
          <a:ln w="9525">
            <a:solidFill>
              <a:srgbClr val="00A86A"/>
            </a:solidFill>
            <a:prstDash val="solid"/>
          </a:ln>
        </p:spPr>
      </p:sp>
      <p:sp>
        <p:nvSpPr>
          <p:cNvPr id="34" name="Text 29"/>
          <p:cNvSpPr txBox="1"/>
          <p:nvPr/>
        </p:nvSpPr>
        <p:spPr>
          <a:xfrm>
            <a:off x="3520440" y="4160520"/>
            <a:ext cx="2194560" cy="310896"/>
          </a:xfrm>
          <a:prstGeom prst="rect">
            <a:avLst/>
          </a:prstGeom>
          <a:noFill/>
          <a:ln/>
        </p:spPr>
        <p:txBody>
          <a:bodyPr wrap="square" lIns="0" tIns="0" rIns="0" bIns="0" rtlCol="0" anchor="ctr"/>
          <a:lstStyle/>
          <a:p>
            <a:pPr marL="0" indent="0" algn="ctr">
              <a:buNone/>
            </a:pPr>
            <a:r>
              <a:rPr lang="en-US" sz="1000" b="1" dirty="0">
                <a:solidFill>
                  <a:srgbClr val="00A86A"/>
                </a:solidFill>
                <a:latin typeface="Calibri" pitchFamily="34" charset="0"/>
                <a:ea typeface="Calibri" pitchFamily="34" charset="-122"/>
                <a:cs typeface="Calibri" pitchFamily="34" charset="-120"/>
              </a:rPr>
              <a:t>Mémoire paramétrique + externe</a:t>
            </a:r>
            <a:endParaRPr lang="en-US" sz="1000" dirty="0"/>
          </a:p>
        </p:txBody>
      </p:sp>
      <p:sp>
        <p:nvSpPr>
          <p:cNvPr id="35" name="Shape 30"/>
          <p:cNvSpPr/>
          <p:nvPr/>
        </p:nvSpPr>
        <p:spPr>
          <a:xfrm>
            <a:off x="3127248" y="3538728"/>
            <a:ext cx="146304" cy="914"/>
          </a:xfrm>
          <a:prstGeom prst="line">
            <a:avLst/>
          </a:prstGeom>
          <a:noFill/>
          <a:ln w="25400">
            <a:solidFill>
              <a:srgbClr val="5E6964"/>
            </a:solidFill>
            <a:prstDash val="solid"/>
            <a:tailEnd type="triangle"/>
          </a:ln>
        </p:spPr>
      </p:sp>
      <p:sp>
        <p:nvSpPr>
          <p:cNvPr id="36" name="Shape 31"/>
          <p:cNvSpPr/>
          <p:nvPr/>
        </p:nvSpPr>
        <p:spPr>
          <a:xfrm>
            <a:off x="6217920" y="2423160"/>
            <a:ext cx="2468880" cy="2240280"/>
          </a:xfrm>
          <a:prstGeom prst="roundRect">
            <a:avLst>
              <a:gd name="adj" fmla="val 3265"/>
            </a:avLst>
          </a:prstGeom>
          <a:solidFill>
            <a:srgbClr val="F4F7F5"/>
          </a:solidFill>
          <a:ln w="9525">
            <a:solidFill>
              <a:srgbClr val="D5DED9"/>
            </a:solidFill>
            <a:prstDash val="solid"/>
          </a:ln>
        </p:spPr>
      </p:sp>
      <p:sp>
        <p:nvSpPr>
          <p:cNvPr id="37" name="Text 32"/>
          <p:cNvSpPr txBox="1"/>
          <p:nvPr/>
        </p:nvSpPr>
        <p:spPr>
          <a:xfrm>
            <a:off x="6446520" y="2606040"/>
            <a:ext cx="2011680" cy="228600"/>
          </a:xfrm>
          <a:prstGeom prst="rect">
            <a:avLst/>
          </a:prstGeom>
          <a:noFill/>
          <a:ln/>
        </p:spPr>
        <p:txBody>
          <a:bodyPr wrap="square" lIns="0" tIns="0" rIns="0" bIns="0" rtlCol="0" anchor="ctr"/>
          <a:lstStyle/>
          <a:p>
            <a:pPr marL="0" indent="0">
              <a:buNone/>
            </a:pPr>
            <a:r>
              <a:rPr lang="en-US" sz="1000" b="1" kern="0" spc="300" dirty="0">
                <a:solidFill>
                  <a:srgbClr val="D49A00"/>
                </a:solidFill>
                <a:latin typeface="Calibri" pitchFamily="34" charset="0"/>
                <a:ea typeface="Calibri" pitchFamily="34" charset="-122"/>
                <a:cs typeface="Calibri" pitchFamily="34" charset="-120"/>
              </a:rPr>
              <a:t>ORIGINE</a:t>
            </a:r>
            <a:endParaRPr lang="en-US" sz="1000" dirty="0"/>
          </a:p>
        </p:txBody>
      </p:sp>
      <p:sp>
        <p:nvSpPr>
          <p:cNvPr id="38" name="Text 33"/>
          <p:cNvSpPr txBox="1"/>
          <p:nvPr/>
        </p:nvSpPr>
        <p:spPr>
          <a:xfrm>
            <a:off x="6446520" y="2852928"/>
            <a:ext cx="2103120" cy="32004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Lewis et al., 2020</a:t>
            </a:r>
            <a:endParaRPr lang="en-US" sz="1600" dirty="0"/>
          </a:p>
        </p:txBody>
      </p:sp>
      <p:sp>
        <p:nvSpPr>
          <p:cNvPr id="39" name="Text 34"/>
          <p:cNvSpPr txBox="1"/>
          <p:nvPr/>
        </p:nvSpPr>
        <p:spPr>
          <a:xfrm>
            <a:off x="6446520" y="3200400"/>
            <a:ext cx="2057400" cy="13716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 Retrieval-Augmented Generation for Knowledge-Intensive NLP Tasks » — NeurIPS 2020 (Facebook AI Research, UCL, NYU).</a:t>
            </a:r>
            <a:endParaRPr lang="en-US" sz="1050" dirty="0"/>
          </a:p>
          <a:p>
            <a:pPr marL="0" indent="0">
              <a:buNone/>
            </a:pPr>
            <a:endParaRPr lang="en-US" sz="1050" dirty="0"/>
          </a:p>
          <a:p>
            <a:pPr marL="0" indent="0">
              <a:buNone/>
            </a:pPr>
            <a:r>
              <a:rPr lang="en-US" sz="1050" dirty="0">
                <a:solidFill>
                  <a:srgbClr val="5E6964"/>
                </a:solidFill>
                <a:latin typeface="Calibri" pitchFamily="34" charset="0"/>
                <a:ea typeface="Calibri" pitchFamily="34" charset="-122"/>
                <a:cs typeface="Calibri" pitchFamily="34" charset="-120"/>
              </a:rPr>
              <a:t>Combine une mémoire paramétrique (BART) et une mémoire non paramétrique (un index DPR sur Wikipédia).</a:t>
            </a:r>
            <a:endParaRPr lang="en-US" sz="10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FONDEMENTS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Là où le RAG crée de la valeur</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7" name="Shape 14"/>
          <p:cNvSpPr/>
          <p:nvPr/>
        </p:nvSpPr>
        <p:spPr>
          <a:xfrm>
            <a:off x="457200" y="1325880"/>
            <a:ext cx="2615184" cy="1298448"/>
          </a:xfrm>
          <a:prstGeom prst="roundRect">
            <a:avLst>
              <a:gd name="adj" fmla="val 5634"/>
            </a:avLst>
          </a:prstGeom>
          <a:solidFill>
            <a:srgbClr val="F4F7F5"/>
          </a:solidFill>
          <a:ln w="9525">
            <a:solidFill>
              <a:srgbClr val="D5DED9"/>
            </a:solidFill>
            <a:prstDash val="solid"/>
          </a:ln>
        </p:spPr>
      </p:sp>
      <p:sp>
        <p:nvSpPr>
          <p:cNvPr id="18" name="Shape 15"/>
          <p:cNvSpPr/>
          <p:nvPr/>
        </p:nvSpPr>
        <p:spPr>
          <a:xfrm>
            <a:off x="640080" y="1508760"/>
            <a:ext cx="457200" cy="457200"/>
          </a:xfrm>
          <a:prstGeom prst="ellipse">
            <a:avLst/>
          </a:prstGeom>
          <a:solidFill>
            <a:srgbClr val="00A86A">
              <a:alpha val="22000"/>
            </a:srgbClr>
          </a:solidFill>
          <a:ln w="12700">
            <a:solidFill>
              <a:srgbClr val="00A86A">
                <a:alpha val="0"/>
              </a:srgbClr>
            </a:solidFill>
            <a:prstDash val="solid"/>
          </a:ln>
        </p:spPr>
      </p:sp>
      <p:pic>
        <p:nvPicPr>
          <p:cNvPr id="19" name="Image 0" descr="preencoded.png"/>
          <p:cNvPicPr>
            <a:picLocks noChangeAspect="1"/>
          </p:cNvPicPr>
          <p:nvPr/>
        </p:nvPicPr>
        <p:blipFill>
          <a:blip r:embed="rId3"/>
          <a:stretch>
            <a:fillRect/>
          </a:stretch>
        </p:blipFill>
        <p:spPr>
          <a:xfrm>
            <a:off x="749808" y="1618488"/>
            <a:ext cx="237744" cy="237744"/>
          </a:xfrm>
          <a:prstGeom prst="rect">
            <a:avLst/>
          </a:prstGeom>
        </p:spPr>
      </p:pic>
      <p:sp>
        <p:nvSpPr>
          <p:cNvPr id="20" name="Text 16"/>
          <p:cNvSpPr txBox="1"/>
          <p:nvPr/>
        </p:nvSpPr>
        <p:spPr>
          <a:xfrm>
            <a:off x="1234440"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Service client</a:t>
            </a:r>
            <a:endParaRPr lang="en-US" sz="1350" dirty="0"/>
          </a:p>
        </p:txBody>
      </p:sp>
      <p:sp>
        <p:nvSpPr>
          <p:cNvPr id="21" name="Text 17"/>
          <p:cNvSpPr txBox="1"/>
          <p:nvPr/>
        </p:nvSpPr>
        <p:spPr>
          <a:xfrm>
            <a:off x="640080"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Des assistants répondent à partir de l'aide en ligne, des politiques et des tickets, avec liens vers les sources.</a:t>
            </a:r>
            <a:endParaRPr lang="en-US" sz="1050" dirty="0"/>
          </a:p>
        </p:txBody>
      </p:sp>
      <p:sp>
        <p:nvSpPr>
          <p:cNvPr id="22" name="Shape 18"/>
          <p:cNvSpPr/>
          <p:nvPr/>
        </p:nvSpPr>
        <p:spPr>
          <a:xfrm>
            <a:off x="3264408" y="1325880"/>
            <a:ext cx="2615184" cy="1298448"/>
          </a:xfrm>
          <a:prstGeom prst="roundRect">
            <a:avLst>
              <a:gd name="adj" fmla="val 5634"/>
            </a:avLst>
          </a:prstGeom>
          <a:solidFill>
            <a:srgbClr val="F4F7F5"/>
          </a:solidFill>
          <a:ln w="9525">
            <a:solidFill>
              <a:srgbClr val="D5DED9"/>
            </a:solidFill>
            <a:prstDash val="solid"/>
          </a:ln>
        </p:spPr>
      </p:sp>
      <p:sp>
        <p:nvSpPr>
          <p:cNvPr id="23" name="Shape 19"/>
          <p:cNvSpPr/>
          <p:nvPr/>
        </p:nvSpPr>
        <p:spPr>
          <a:xfrm>
            <a:off x="3447288" y="150876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4"/>
          <a:stretch>
            <a:fillRect/>
          </a:stretch>
        </p:blipFill>
        <p:spPr>
          <a:xfrm>
            <a:off x="3557016" y="1618488"/>
            <a:ext cx="237744" cy="237744"/>
          </a:xfrm>
          <a:prstGeom prst="rect">
            <a:avLst/>
          </a:prstGeom>
        </p:spPr>
      </p:pic>
      <p:sp>
        <p:nvSpPr>
          <p:cNvPr id="25" name="Text 20"/>
          <p:cNvSpPr txBox="1"/>
          <p:nvPr/>
        </p:nvSpPr>
        <p:spPr>
          <a:xfrm>
            <a:off x="4041648"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Savoir de l'entreprise</a:t>
            </a:r>
            <a:endParaRPr lang="en-US" sz="1350" dirty="0"/>
          </a:p>
        </p:txBody>
      </p:sp>
      <p:sp>
        <p:nvSpPr>
          <p:cNvPr id="26" name="Text 21"/>
          <p:cNvSpPr txBox="1"/>
          <p:nvPr/>
        </p:nvSpPr>
        <p:spPr>
          <a:xfrm>
            <a:off x="3447288"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Une seule couche de questions-réponses sur wikis, intranets, disques et messageries.</a:t>
            </a:r>
            <a:endParaRPr lang="en-US" sz="1050" dirty="0"/>
          </a:p>
        </p:txBody>
      </p:sp>
      <p:sp>
        <p:nvSpPr>
          <p:cNvPr id="27" name="Shape 22"/>
          <p:cNvSpPr/>
          <p:nvPr/>
        </p:nvSpPr>
        <p:spPr>
          <a:xfrm>
            <a:off x="6071616" y="1325880"/>
            <a:ext cx="2615184" cy="1298448"/>
          </a:xfrm>
          <a:prstGeom prst="roundRect">
            <a:avLst>
              <a:gd name="adj" fmla="val 5634"/>
            </a:avLst>
          </a:prstGeom>
          <a:solidFill>
            <a:srgbClr val="F4F7F5"/>
          </a:solidFill>
          <a:ln w="9525">
            <a:solidFill>
              <a:srgbClr val="D5DED9"/>
            </a:solidFill>
            <a:prstDash val="solid"/>
          </a:ln>
        </p:spPr>
      </p:sp>
      <p:sp>
        <p:nvSpPr>
          <p:cNvPr id="28" name="Shape 23"/>
          <p:cNvSpPr/>
          <p:nvPr/>
        </p:nvSpPr>
        <p:spPr>
          <a:xfrm>
            <a:off x="6254496" y="1508760"/>
            <a:ext cx="457200" cy="457200"/>
          </a:xfrm>
          <a:prstGeom prst="ellipse">
            <a:avLst/>
          </a:prstGeom>
          <a:solidFill>
            <a:srgbClr val="00A86A">
              <a:alpha val="22000"/>
            </a:srgbClr>
          </a:solidFill>
          <a:ln w="12700">
            <a:solidFill>
              <a:srgbClr val="00A86A">
                <a:alpha val="0"/>
              </a:srgbClr>
            </a:solidFill>
            <a:prstDash val="solid"/>
          </a:ln>
        </p:spPr>
      </p:sp>
      <p:pic>
        <p:nvPicPr>
          <p:cNvPr id="29" name="Image 2" descr="preencoded.png"/>
          <p:cNvPicPr>
            <a:picLocks noChangeAspect="1"/>
          </p:cNvPicPr>
          <p:nvPr/>
        </p:nvPicPr>
        <p:blipFill>
          <a:blip r:embed="rId5"/>
          <a:stretch>
            <a:fillRect/>
          </a:stretch>
        </p:blipFill>
        <p:spPr>
          <a:xfrm>
            <a:off x="6364224" y="1618488"/>
            <a:ext cx="237744" cy="237744"/>
          </a:xfrm>
          <a:prstGeom prst="rect">
            <a:avLst/>
          </a:prstGeom>
        </p:spPr>
      </p:pic>
      <p:sp>
        <p:nvSpPr>
          <p:cNvPr id="30" name="Text 24"/>
          <p:cNvSpPr txBox="1"/>
          <p:nvPr/>
        </p:nvSpPr>
        <p:spPr>
          <a:xfrm>
            <a:off x="6848856"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Juridique &amp; conformité</a:t>
            </a:r>
            <a:endParaRPr lang="en-US" sz="1350" dirty="0"/>
          </a:p>
        </p:txBody>
      </p:sp>
      <p:sp>
        <p:nvSpPr>
          <p:cNvPr id="31" name="Text 25"/>
          <p:cNvSpPr txBox="1"/>
          <p:nvPr/>
        </p:nvSpPr>
        <p:spPr>
          <a:xfrm>
            <a:off x="6254496"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Contrats, règlements et dossiers ; chaque affirmation renvoie à une clause.</a:t>
            </a:r>
            <a:endParaRPr lang="en-US" sz="1050" dirty="0"/>
          </a:p>
        </p:txBody>
      </p:sp>
      <p:sp>
        <p:nvSpPr>
          <p:cNvPr id="32" name="Shape 26"/>
          <p:cNvSpPr/>
          <p:nvPr/>
        </p:nvSpPr>
        <p:spPr>
          <a:xfrm>
            <a:off x="457200" y="2743200"/>
            <a:ext cx="2615184" cy="1298448"/>
          </a:xfrm>
          <a:prstGeom prst="roundRect">
            <a:avLst>
              <a:gd name="adj" fmla="val 5634"/>
            </a:avLst>
          </a:prstGeom>
          <a:solidFill>
            <a:srgbClr val="F4F7F5"/>
          </a:solidFill>
          <a:ln w="9525">
            <a:solidFill>
              <a:srgbClr val="D5DED9"/>
            </a:solidFill>
            <a:prstDash val="solid"/>
          </a:ln>
        </p:spPr>
      </p:sp>
      <p:sp>
        <p:nvSpPr>
          <p:cNvPr id="33" name="Shape 27"/>
          <p:cNvSpPr/>
          <p:nvPr/>
        </p:nvSpPr>
        <p:spPr>
          <a:xfrm>
            <a:off x="640080" y="2926080"/>
            <a:ext cx="457200" cy="457200"/>
          </a:xfrm>
          <a:prstGeom prst="ellipse">
            <a:avLst/>
          </a:prstGeom>
          <a:solidFill>
            <a:srgbClr val="0E7C86">
              <a:alpha val="22000"/>
            </a:srgbClr>
          </a:solidFill>
          <a:ln w="12700">
            <a:solidFill>
              <a:srgbClr val="0E7C86">
                <a:alpha val="0"/>
              </a:srgbClr>
            </a:solidFill>
            <a:prstDash val="solid"/>
          </a:ln>
        </p:spPr>
      </p:sp>
      <p:pic>
        <p:nvPicPr>
          <p:cNvPr id="34" name="Image 3" descr="preencoded.png"/>
          <p:cNvPicPr>
            <a:picLocks noChangeAspect="1"/>
          </p:cNvPicPr>
          <p:nvPr/>
        </p:nvPicPr>
        <p:blipFill>
          <a:blip r:embed="rId6"/>
          <a:stretch>
            <a:fillRect/>
          </a:stretch>
        </p:blipFill>
        <p:spPr>
          <a:xfrm>
            <a:off x="749808" y="3035808"/>
            <a:ext cx="237744" cy="237744"/>
          </a:xfrm>
          <a:prstGeom prst="rect">
            <a:avLst/>
          </a:prstGeom>
        </p:spPr>
      </p:pic>
      <p:sp>
        <p:nvSpPr>
          <p:cNvPr id="35" name="Text 28"/>
          <p:cNvSpPr txBox="1"/>
          <p:nvPr/>
        </p:nvSpPr>
        <p:spPr>
          <a:xfrm>
            <a:off x="1234440"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Santé &amp; recherche</a:t>
            </a:r>
            <a:endParaRPr lang="en-US" sz="1350" dirty="0"/>
          </a:p>
        </p:txBody>
      </p:sp>
      <p:sp>
        <p:nvSpPr>
          <p:cNvPr id="36" name="Text 29"/>
          <p:cNvSpPr txBox="1"/>
          <p:nvPr/>
        </p:nvSpPr>
        <p:spPr>
          <a:xfrm>
            <a:off x="640080"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Réponses fondées sur les recommandations et la littérature, pas sur la mémoire du modèle.</a:t>
            </a:r>
            <a:endParaRPr lang="en-US" sz="1050" dirty="0"/>
          </a:p>
        </p:txBody>
      </p:sp>
      <p:sp>
        <p:nvSpPr>
          <p:cNvPr id="37" name="Shape 30"/>
          <p:cNvSpPr/>
          <p:nvPr/>
        </p:nvSpPr>
        <p:spPr>
          <a:xfrm>
            <a:off x="3264408" y="2743200"/>
            <a:ext cx="2615184" cy="1298448"/>
          </a:xfrm>
          <a:prstGeom prst="roundRect">
            <a:avLst>
              <a:gd name="adj" fmla="val 5634"/>
            </a:avLst>
          </a:prstGeom>
          <a:solidFill>
            <a:srgbClr val="F4F7F5"/>
          </a:solidFill>
          <a:ln w="9525">
            <a:solidFill>
              <a:srgbClr val="D5DED9"/>
            </a:solidFill>
            <a:prstDash val="solid"/>
          </a:ln>
        </p:spPr>
      </p:sp>
      <p:sp>
        <p:nvSpPr>
          <p:cNvPr id="38" name="Shape 31"/>
          <p:cNvSpPr/>
          <p:nvPr/>
        </p:nvSpPr>
        <p:spPr>
          <a:xfrm>
            <a:off x="3447288" y="2926080"/>
            <a:ext cx="457200" cy="457200"/>
          </a:xfrm>
          <a:prstGeom prst="ellipse">
            <a:avLst/>
          </a:prstGeom>
          <a:solidFill>
            <a:srgbClr val="00A86A">
              <a:alpha val="22000"/>
            </a:srgbClr>
          </a:solidFill>
          <a:ln w="12700">
            <a:solidFill>
              <a:srgbClr val="00A86A">
                <a:alpha val="0"/>
              </a:srgbClr>
            </a:solidFill>
            <a:prstDash val="solid"/>
          </a:ln>
        </p:spPr>
      </p:sp>
      <p:pic>
        <p:nvPicPr>
          <p:cNvPr id="39" name="Image 4" descr="preencoded.png"/>
          <p:cNvPicPr>
            <a:picLocks noChangeAspect="1"/>
          </p:cNvPicPr>
          <p:nvPr/>
        </p:nvPicPr>
        <p:blipFill>
          <a:blip r:embed="rId7"/>
          <a:stretch>
            <a:fillRect/>
          </a:stretch>
        </p:blipFill>
        <p:spPr>
          <a:xfrm>
            <a:off x="3557016" y="3035808"/>
            <a:ext cx="237744" cy="237744"/>
          </a:xfrm>
          <a:prstGeom prst="rect">
            <a:avLst/>
          </a:prstGeom>
        </p:spPr>
      </p:pic>
      <p:sp>
        <p:nvSpPr>
          <p:cNvPr id="40" name="Text 32"/>
          <p:cNvSpPr txBox="1"/>
          <p:nvPr/>
        </p:nvSpPr>
        <p:spPr>
          <a:xfrm>
            <a:off x="4041648"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Génie logiciel</a:t>
            </a:r>
            <a:endParaRPr lang="en-US" sz="1350" dirty="0"/>
          </a:p>
        </p:txBody>
      </p:sp>
      <p:sp>
        <p:nvSpPr>
          <p:cNvPr id="41" name="Text 33"/>
          <p:cNvSpPr txBox="1"/>
          <p:nvPr/>
        </p:nvSpPr>
        <p:spPr>
          <a:xfrm>
            <a:off x="3447288"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Les assistants de code récupèrent fichiers, API et documentation interne utiles.</a:t>
            </a:r>
            <a:endParaRPr lang="en-US" sz="1050" dirty="0"/>
          </a:p>
        </p:txBody>
      </p:sp>
      <p:sp>
        <p:nvSpPr>
          <p:cNvPr id="42" name="Shape 34"/>
          <p:cNvSpPr/>
          <p:nvPr/>
        </p:nvSpPr>
        <p:spPr>
          <a:xfrm>
            <a:off x="6071616" y="2743200"/>
            <a:ext cx="2615184" cy="1298448"/>
          </a:xfrm>
          <a:prstGeom prst="roundRect">
            <a:avLst>
              <a:gd name="adj" fmla="val 5634"/>
            </a:avLst>
          </a:prstGeom>
          <a:solidFill>
            <a:srgbClr val="F4F7F5"/>
          </a:solidFill>
          <a:ln w="9525">
            <a:solidFill>
              <a:srgbClr val="D5DED9"/>
            </a:solidFill>
            <a:prstDash val="solid"/>
          </a:ln>
        </p:spPr>
      </p:sp>
      <p:sp>
        <p:nvSpPr>
          <p:cNvPr id="43" name="Shape 35"/>
          <p:cNvSpPr/>
          <p:nvPr/>
        </p:nvSpPr>
        <p:spPr>
          <a:xfrm>
            <a:off x="6254496" y="2926080"/>
            <a:ext cx="457200" cy="457200"/>
          </a:xfrm>
          <a:prstGeom prst="ellipse">
            <a:avLst/>
          </a:prstGeom>
          <a:solidFill>
            <a:srgbClr val="0E7C86">
              <a:alpha val="22000"/>
            </a:srgbClr>
          </a:solidFill>
          <a:ln w="12700">
            <a:solidFill>
              <a:srgbClr val="0E7C86">
                <a:alpha val="0"/>
              </a:srgbClr>
            </a:solidFill>
            <a:prstDash val="solid"/>
          </a:ln>
        </p:spPr>
      </p:sp>
      <p:pic>
        <p:nvPicPr>
          <p:cNvPr id="44" name="Image 5" descr="preencoded.png"/>
          <p:cNvPicPr>
            <a:picLocks noChangeAspect="1"/>
          </p:cNvPicPr>
          <p:nvPr/>
        </p:nvPicPr>
        <p:blipFill>
          <a:blip r:embed="rId8"/>
          <a:stretch>
            <a:fillRect/>
          </a:stretch>
        </p:blipFill>
        <p:spPr>
          <a:xfrm>
            <a:off x="6364224" y="3035808"/>
            <a:ext cx="237744" cy="237744"/>
          </a:xfrm>
          <a:prstGeom prst="rect">
            <a:avLst/>
          </a:prstGeom>
        </p:spPr>
      </p:pic>
      <p:sp>
        <p:nvSpPr>
          <p:cNvPr id="45" name="Text 36"/>
          <p:cNvSpPr txBox="1"/>
          <p:nvPr/>
        </p:nvSpPr>
        <p:spPr>
          <a:xfrm>
            <a:off x="6848856"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Finance &amp; analyse</a:t>
            </a:r>
            <a:endParaRPr lang="en-US" sz="1350" dirty="0"/>
          </a:p>
        </p:txBody>
      </p:sp>
      <p:sp>
        <p:nvSpPr>
          <p:cNvPr id="46" name="Text 37"/>
          <p:cNvSpPr txBox="1"/>
          <p:nvPr/>
        </p:nvSpPr>
        <p:spPr>
          <a:xfrm>
            <a:off x="6254496"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Interroger rapports, publications et études de marché qui changent chaque trimestre.</a:t>
            </a:r>
            <a:endParaRPr lang="en-US" sz="1050" dirty="0"/>
          </a:p>
        </p:txBody>
      </p:sp>
      <p:sp>
        <p:nvSpPr>
          <p:cNvPr id="47" name="Shape 38"/>
          <p:cNvSpPr/>
          <p:nvPr/>
        </p:nvSpPr>
        <p:spPr>
          <a:xfrm>
            <a:off x="457200" y="4206240"/>
            <a:ext cx="8229600" cy="457200"/>
          </a:xfrm>
          <a:prstGeom prst="roundRect">
            <a:avLst>
              <a:gd name="adj" fmla="val 16000"/>
            </a:avLst>
          </a:prstGeom>
          <a:solidFill>
            <a:srgbClr val="E8F5EF"/>
          </a:solidFill>
          <a:ln w="15875">
            <a:solidFill>
              <a:srgbClr val="00A86A"/>
            </a:solidFill>
            <a:prstDash val="solid"/>
          </a:ln>
        </p:spPr>
      </p:sp>
      <p:sp>
        <p:nvSpPr>
          <p:cNvPr id="48" name="Text 39"/>
          <p:cNvSpPr txBox="1"/>
          <p:nvPr/>
        </p:nvSpPr>
        <p:spPr>
          <a:xfrm>
            <a:off x="685800" y="4206240"/>
            <a:ext cx="7772400" cy="45720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Point commun : </a:t>
            </a:r>
            <a:r>
              <a:rPr lang="en-US" sz="1300" dirty="0">
                <a:solidFill>
                  <a:srgbClr val="231F20"/>
                </a:solidFill>
                <a:latin typeface="Calibri" pitchFamily="34" charset="0"/>
                <a:ea typeface="Calibri" pitchFamily="34" charset="-122"/>
                <a:cs typeface="Calibri" pitchFamily="34" charset="-120"/>
              </a:rPr>
              <a:t>un corpus volumineux, évolutif ou confidentiel  +  des réponses que l'on doit pouvoir vérifier.</a:t>
            </a:r>
            <a:endParaRPr lang="en-US" sz="13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02</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Fonctionnement</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Que se passe-t-il entre la question et la réponse ?</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5C242"/>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Deux chaînes : indexation et interrogation</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7" name="Shape 14"/>
          <p:cNvSpPr/>
          <p:nvPr/>
        </p:nvSpPr>
        <p:spPr>
          <a:xfrm>
            <a:off x="457200" y="1280160"/>
            <a:ext cx="8229600" cy="1325880"/>
          </a:xfrm>
          <a:prstGeom prst="roundRect">
            <a:avLst>
              <a:gd name="adj" fmla="val 5517"/>
            </a:avLst>
          </a:prstGeom>
          <a:solidFill>
            <a:srgbClr val="E8F5EF"/>
          </a:solidFill>
          <a:ln w="9525">
            <a:solidFill>
              <a:srgbClr val="E8F5EF"/>
            </a:solidFill>
            <a:prstDash val="solid"/>
          </a:ln>
        </p:spPr>
      </p:sp>
      <p:sp>
        <p:nvSpPr>
          <p:cNvPr id="18" name="Shape 15"/>
          <p:cNvSpPr/>
          <p:nvPr/>
        </p:nvSpPr>
        <p:spPr>
          <a:xfrm>
            <a:off x="457200" y="2834640"/>
            <a:ext cx="8229600" cy="1783080"/>
          </a:xfrm>
          <a:prstGeom prst="roundRect">
            <a:avLst>
              <a:gd name="adj" fmla="val 4103"/>
            </a:avLst>
          </a:prstGeom>
          <a:solidFill>
            <a:srgbClr val="F4F7F5"/>
          </a:solidFill>
          <a:ln w="9525">
            <a:solidFill>
              <a:srgbClr val="D5DED9"/>
            </a:solidFill>
            <a:prstDash val="solid"/>
          </a:ln>
        </p:spPr>
      </p:sp>
      <p:sp>
        <p:nvSpPr>
          <p:cNvPr id="19" name="Text 16"/>
          <p:cNvSpPr txBox="1"/>
          <p:nvPr/>
        </p:nvSpPr>
        <p:spPr>
          <a:xfrm>
            <a:off x="448056" y="1371600"/>
            <a:ext cx="1316736" cy="27432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20" name="Shape 17"/>
          <p:cNvSpPr/>
          <p:nvPr/>
        </p:nvSpPr>
        <p:spPr>
          <a:xfrm>
            <a:off x="822960" y="1737360"/>
            <a:ext cx="566928" cy="566928"/>
          </a:xfrm>
          <a:prstGeom prst="ellipse">
            <a:avLst/>
          </a:prstGeom>
          <a:solidFill>
            <a:srgbClr val="FFFFFF"/>
          </a:solidFill>
          <a:ln w="19050">
            <a:solidFill>
              <a:srgbClr val="00A86A"/>
            </a:solidFill>
            <a:prstDash val="solid"/>
          </a:ln>
        </p:spPr>
      </p:sp>
      <p:pic>
        <p:nvPicPr>
          <p:cNvPr id="21" name="Image 0" descr="preencoded.png"/>
          <p:cNvPicPr>
            <a:picLocks noChangeAspect="1"/>
          </p:cNvPicPr>
          <p:nvPr/>
        </p:nvPicPr>
        <p:blipFill>
          <a:blip r:embed="rId3"/>
          <a:stretch>
            <a:fillRect/>
          </a:stretch>
        </p:blipFill>
        <p:spPr>
          <a:xfrm>
            <a:off x="959023" y="1873423"/>
            <a:ext cx="294803" cy="294803"/>
          </a:xfrm>
          <a:prstGeom prst="rect">
            <a:avLst/>
          </a:prstGeom>
        </p:spPr>
      </p:pic>
      <p:sp>
        <p:nvSpPr>
          <p:cNvPr id="22" name="Shape 18"/>
          <p:cNvSpPr/>
          <p:nvPr/>
        </p:nvSpPr>
        <p:spPr>
          <a:xfrm>
            <a:off x="1463040" y="2020824"/>
            <a:ext cx="612648" cy="914"/>
          </a:xfrm>
          <a:prstGeom prst="line">
            <a:avLst/>
          </a:prstGeom>
          <a:noFill/>
          <a:ln w="19050">
            <a:solidFill>
              <a:srgbClr val="5E6964"/>
            </a:solidFill>
            <a:prstDash val="solid"/>
            <a:tailEnd type="triangle"/>
          </a:ln>
        </p:spPr>
      </p:sp>
      <p:sp>
        <p:nvSpPr>
          <p:cNvPr id="23" name="Text 19"/>
          <p:cNvSpPr txBox="1"/>
          <p:nvPr/>
        </p:nvSpPr>
        <p:spPr>
          <a:xfrm>
            <a:off x="1773936" y="1371600"/>
            <a:ext cx="1316736" cy="27432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Analyse &amp; découpage</a:t>
            </a:r>
            <a:endParaRPr lang="en-US" sz="1050" dirty="0"/>
          </a:p>
        </p:txBody>
      </p:sp>
      <p:sp>
        <p:nvSpPr>
          <p:cNvPr id="24" name="Shape 20"/>
          <p:cNvSpPr/>
          <p:nvPr/>
        </p:nvSpPr>
        <p:spPr>
          <a:xfrm>
            <a:off x="2148840" y="1737360"/>
            <a:ext cx="566928" cy="566928"/>
          </a:xfrm>
          <a:prstGeom prst="ellipse">
            <a:avLst/>
          </a:prstGeom>
          <a:solidFill>
            <a:srgbClr val="FFFFFF"/>
          </a:solidFill>
          <a:ln w="19050">
            <a:solidFill>
              <a:srgbClr val="00A86A"/>
            </a:solidFill>
            <a:prstDash val="solid"/>
          </a:ln>
        </p:spPr>
      </p:sp>
      <p:pic>
        <p:nvPicPr>
          <p:cNvPr id="25" name="Image 1" descr="preencoded.png"/>
          <p:cNvPicPr>
            <a:picLocks noChangeAspect="1"/>
          </p:cNvPicPr>
          <p:nvPr/>
        </p:nvPicPr>
        <p:blipFill>
          <a:blip r:embed="rId4"/>
          <a:stretch>
            <a:fillRect/>
          </a:stretch>
        </p:blipFill>
        <p:spPr>
          <a:xfrm>
            <a:off x="2284903" y="1873423"/>
            <a:ext cx="294803" cy="294803"/>
          </a:xfrm>
          <a:prstGeom prst="rect">
            <a:avLst/>
          </a:prstGeom>
        </p:spPr>
      </p:pic>
      <p:sp>
        <p:nvSpPr>
          <p:cNvPr id="26" name="Shape 21"/>
          <p:cNvSpPr/>
          <p:nvPr/>
        </p:nvSpPr>
        <p:spPr>
          <a:xfrm>
            <a:off x="2788920" y="2020824"/>
            <a:ext cx="612648" cy="914"/>
          </a:xfrm>
          <a:prstGeom prst="line">
            <a:avLst/>
          </a:prstGeom>
          <a:noFill/>
          <a:ln w="19050">
            <a:solidFill>
              <a:srgbClr val="5E6964"/>
            </a:solidFill>
            <a:prstDash val="solid"/>
            <a:tailEnd type="triangle"/>
          </a:ln>
        </p:spPr>
      </p:sp>
      <p:sp>
        <p:nvSpPr>
          <p:cNvPr id="27" name="Text 22"/>
          <p:cNvSpPr txBox="1"/>
          <p:nvPr/>
        </p:nvSpPr>
        <p:spPr>
          <a:xfrm>
            <a:off x="3099816" y="1371600"/>
            <a:ext cx="1316736" cy="27432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Modèle d'embedding</a:t>
            </a:r>
            <a:endParaRPr lang="en-US" sz="1050" dirty="0"/>
          </a:p>
        </p:txBody>
      </p:sp>
      <p:sp>
        <p:nvSpPr>
          <p:cNvPr id="28" name="Shape 23"/>
          <p:cNvSpPr/>
          <p:nvPr/>
        </p:nvSpPr>
        <p:spPr>
          <a:xfrm>
            <a:off x="3474720" y="1737360"/>
            <a:ext cx="566928" cy="566928"/>
          </a:xfrm>
          <a:prstGeom prst="ellipse">
            <a:avLst/>
          </a:prstGeom>
          <a:solidFill>
            <a:srgbClr val="FFFFFF"/>
          </a:solidFill>
          <a:ln w="19050">
            <a:solidFill>
              <a:srgbClr val="00A86A"/>
            </a:solidFill>
            <a:prstDash val="solid"/>
          </a:ln>
        </p:spPr>
      </p:sp>
      <p:pic>
        <p:nvPicPr>
          <p:cNvPr id="29" name="Image 2" descr="preencoded.png"/>
          <p:cNvPicPr>
            <a:picLocks noChangeAspect="1"/>
          </p:cNvPicPr>
          <p:nvPr/>
        </p:nvPicPr>
        <p:blipFill>
          <a:blip r:embed="rId5"/>
          <a:stretch>
            <a:fillRect/>
          </a:stretch>
        </p:blipFill>
        <p:spPr>
          <a:xfrm>
            <a:off x="3610783" y="1873423"/>
            <a:ext cx="294803" cy="294803"/>
          </a:xfrm>
          <a:prstGeom prst="rect">
            <a:avLst/>
          </a:prstGeom>
        </p:spPr>
      </p:pic>
      <p:sp>
        <p:nvSpPr>
          <p:cNvPr id="30" name="Shape 24"/>
          <p:cNvSpPr/>
          <p:nvPr/>
        </p:nvSpPr>
        <p:spPr>
          <a:xfrm>
            <a:off x="4114800" y="2020824"/>
            <a:ext cx="612648" cy="914"/>
          </a:xfrm>
          <a:prstGeom prst="line">
            <a:avLst/>
          </a:prstGeom>
          <a:noFill/>
          <a:ln w="19050">
            <a:solidFill>
              <a:srgbClr val="5E6964"/>
            </a:solidFill>
            <a:prstDash val="solid"/>
            <a:tailEnd type="triangle"/>
          </a:ln>
        </p:spPr>
      </p:sp>
      <p:sp>
        <p:nvSpPr>
          <p:cNvPr id="31" name="Text 25"/>
          <p:cNvSpPr txBox="1"/>
          <p:nvPr/>
        </p:nvSpPr>
        <p:spPr>
          <a:xfrm>
            <a:off x="4425696" y="1371600"/>
            <a:ext cx="1316736" cy="27432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Base vectorielle</a:t>
            </a:r>
            <a:endParaRPr lang="en-US" sz="1050" dirty="0"/>
          </a:p>
        </p:txBody>
      </p:sp>
      <p:sp>
        <p:nvSpPr>
          <p:cNvPr id="32" name="Shape 26"/>
          <p:cNvSpPr/>
          <p:nvPr/>
        </p:nvSpPr>
        <p:spPr>
          <a:xfrm>
            <a:off x="4800600" y="1737360"/>
            <a:ext cx="566928" cy="566928"/>
          </a:xfrm>
          <a:prstGeom prst="ellipse">
            <a:avLst/>
          </a:prstGeom>
          <a:solidFill>
            <a:srgbClr val="FFFFFF"/>
          </a:solidFill>
          <a:ln w="19050">
            <a:solidFill>
              <a:srgbClr val="00A86A"/>
            </a:solidFill>
            <a:prstDash val="solid"/>
          </a:ln>
        </p:spPr>
      </p:sp>
      <p:pic>
        <p:nvPicPr>
          <p:cNvPr id="33" name="Image 3" descr="preencoded.png"/>
          <p:cNvPicPr>
            <a:picLocks noChangeAspect="1"/>
          </p:cNvPicPr>
          <p:nvPr/>
        </p:nvPicPr>
        <p:blipFill>
          <a:blip r:embed="rId6"/>
          <a:stretch>
            <a:fillRect/>
          </a:stretch>
        </p:blipFill>
        <p:spPr>
          <a:xfrm>
            <a:off x="4936663" y="1873423"/>
            <a:ext cx="294803" cy="294803"/>
          </a:xfrm>
          <a:prstGeom prst="rect">
            <a:avLst/>
          </a:prstGeom>
        </p:spPr>
      </p:pic>
      <p:sp>
        <p:nvSpPr>
          <p:cNvPr id="34" name="Text 27"/>
          <p:cNvSpPr txBox="1"/>
          <p:nvPr/>
        </p:nvSpPr>
        <p:spPr>
          <a:xfrm>
            <a:off x="6126480" y="1508760"/>
            <a:ext cx="2468880" cy="27432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① INDEXATION  ·  hors ligne</a:t>
            </a:r>
            <a:endParaRPr lang="en-US" sz="1300" dirty="0"/>
          </a:p>
        </p:txBody>
      </p:sp>
      <p:sp>
        <p:nvSpPr>
          <p:cNvPr id="35" name="Text 28"/>
          <p:cNvSpPr txBox="1"/>
          <p:nvPr/>
        </p:nvSpPr>
        <p:spPr>
          <a:xfrm>
            <a:off x="6126480" y="1828800"/>
            <a:ext cx="2377440" cy="59436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Exécutée une fois, puis à chaque ajout ou modification de documents.</a:t>
            </a:r>
            <a:endParaRPr lang="en-US" sz="1100" dirty="0"/>
          </a:p>
        </p:txBody>
      </p:sp>
      <p:sp>
        <p:nvSpPr>
          <p:cNvPr id="36" name="Shape 29"/>
          <p:cNvSpPr/>
          <p:nvPr/>
        </p:nvSpPr>
        <p:spPr>
          <a:xfrm>
            <a:off x="822960" y="3063240"/>
            <a:ext cx="566928" cy="566928"/>
          </a:xfrm>
          <a:prstGeom prst="ellipse">
            <a:avLst/>
          </a:prstGeom>
          <a:solidFill>
            <a:srgbClr val="FFFFFF"/>
          </a:solidFill>
          <a:ln w="19050">
            <a:solidFill>
              <a:srgbClr val="00704A"/>
            </a:solidFill>
            <a:prstDash val="solid"/>
          </a:ln>
        </p:spPr>
      </p:sp>
      <p:pic>
        <p:nvPicPr>
          <p:cNvPr id="37" name="Image 4" descr="preencoded.png"/>
          <p:cNvPicPr>
            <a:picLocks noChangeAspect="1"/>
          </p:cNvPicPr>
          <p:nvPr/>
        </p:nvPicPr>
        <p:blipFill>
          <a:blip r:embed="rId7"/>
          <a:stretch>
            <a:fillRect/>
          </a:stretch>
        </p:blipFill>
        <p:spPr>
          <a:xfrm>
            <a:off x="959023" y="3199303"/>
            <a:ext cx="294803" cy="294803"/>
          </a:xfrm>
          <a:prstGeom prst="rect">
            <a:avLst/>
          </a:prstGeom>
        </p:spPr>
      </p:pic>
      <p:sp>
        <p:nvSpPr>
          <p:cNvPr id="38" name="Text 30"/>
          <p:cNvSpPr txBox="1"/>
          <p:nvPr/>
        </p:nvSpPr>
        <p:spPr>
          <a:xfrm>
            <a:off x="48463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Question</a:t>
            </a:r>
            <a:endParaRPr lang="en-US" sz="1100" dirty="0"/>
          </a:p>
        </p:txBody>
      </p:sp>
      <p:sp>
        <p:nvSpPr>
          <p:cNvPr id="39" name="Shape 31"/>
          <p:cNvSpPr/>
          <p:nvPr/>
        </p:nvSpPr>
        <p:spPr>
          <a:xfrm>
            <a:off x="1463040" y="3346704"/>
            <a:ext cx="612648" cy="914"/>
          </a:xfrm>
          <a:prstGeom prst="line">
            <a:avLst/>
          </a:prstGeom>
          <a:noFill/>
          <a:ln w="19050">
            <a:solidFill>
              <a:srgbClr val="5E6964"/>
            </a:solidFill>
            <a:prstDash val="solid"/>
            <a:tailEnd type="triangle"/>
          </a:ln>
        </p:spPr>
      </p:sp>
      <p:sp>
        <p:nvSpPr>
          <p:cNvPr id="40" name="Shape 32"/>
          <p:cNvSpPr/>
          <p:nvPr/>
        </p:nvSpPr>
        <p:spPr>
          <a:xfrm>
            <a:off x="2148840" y="3063240"/>
            <a:ext cx="566928" cy="566928"/>
          </a:xfrm>
          <a:prstGeom prst="ellipse">
            <a:avLst/>
          </a:prstGeom>
          <a:solidFill>
            <a:srgbClr val="FFFFFF"/>
          </a:solidFill>
          <a:ln w="19050">
            <a:solidFill>
              <a:srgbClr val="00704A"/>
            </a:solidFill>
            <a:prstDash val="solid"/>
          </a:ln>
        </p:spPr>
      </p:sp>
      <p:pic>
        <p:nvPicPr>
          <p:cNvPr id="41" name="Image 5" descr="preencoded.png"/>
          <p:cNvPicPr>
            <a:picLocks noChangeAspect="1"/>
          </p:cNvPicPr>
          <p:nvPr/>
        </p:nvPicPr>
        <p:blipFill>
          <a:blip r:embed="rId8"/>
          <a:stretch>
            <a:fillRect/>
          </a:stretch>
        </p:blipFill>
        <p:spPr>
          <a:xfrm>
            <a:off x="2284903" y="3199303"/>
            <a:ext cx="294803" cy="294803"/>
          </a:xfrm>
          <a:prstGeom prst="rect">
            <a:avLst/>
          </a:prstGeom>
        </p:spPr>
      </p:pic>
      <p:sp>
        <p:nvSpPr>
          <p:cNvPr id="42" name="Text 33"/>
          <p:cNvSpPr txBox="1"/>
          <p:nvPr/>
        </p:nvSpPr>
        <p:spPr>
          <a:xfrm>
            <a:off x="181051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Reformulation (optionnelle)</a:t>
            </a:r>
            <a:endParaRPr lang="en-US" sz="1100" dirty="0"/>
          </a:p>
        </p:txBody>
      </p:sp>
      <p:sp>
        <p:nvSpPr>
          <p:cNvPr id="43" name="Shape 34"/>
          <p:cNvSpPr/>
          <p:nvPr/>
        </p:nvSpPr>
        <p:spPr>
          <a:xfrm>
            <a:off x="2788920" y="3346704"/>
            <a:ext cx="612648" cy="914"/>
          </a:xfrm>
          <a:prstGeom prst="line">
            <a:avLst/>
          </a:prstGeom>
          <a:noFill/>
          <a:ln w="19050">
            <a:solidFill>
              <a:srgbClr val="5E6964"/>
            </a:solidFill>
            <a:prstDash val="solid"/>
            <a:tailEnd type="triangle"/>
          </a:ln>
        </p:spPr>
      </p:sp>
      <p:sp>
        <p:nvSpPr>
          <p:cNvPr id="44" name="Shape 35"/>
          <p:cNvSpPr/>
          <p:nvPr/>
        </p:nvSpPr>
        <p:spPr>
          <a:xfrm>
            <a:off x="3474720" y="3063240"/>
            <a:ext cx="566928" cy="566928"/>
          </a:xfrm>
          <a:prstGeom prst="ellipse">
            <a:avLst/>
          </a:prstGeom>
          <a:solidFill>
            <a:srgbClr val="FFFFFF"/>
          </a:solidFill>
          <a:ln w="19050">
            <a:solidFill>
              <a:srgbClr val="00704A"/>
            </a:solidFill>
            <a:prstDash val="solid"/>
          </a:ln>
        </p:spPr>
      </p:sp>
      <p:pic>
        <p:nvPicPr>
          <p:cNvPr id="45" name="Image 6" descr="preencoded.png"/>
          <p:cNvPicPr>
            <a:picLocks noChangeAspect="1"/>
          </p:cNvPicPr>
          <p:nvPr/>
        </p:nvPicPr>
        <p:blipFill>
          <a:blip r:embed="rId9"/>
          <a:stretch>
            <a:fillRect/>
          </a:stretch>
        </p:blipFill>
        <p:spPr>
          <a:xfrm>
            <a:off x="3610783" y="3199303"/>
            <a:ext cx="294803" cy="294803"/>
          </a:xfrm>
          <a:prstGeom prst="rect">
            <a:avLst/>
          </a:prstGeom>
        </p:spPr>
      </p:pic>
      <p:sp>
        <p:nvSpPr>
          <p:cNvPr id="46" name="Text 36"/>
          <p:cNvSpPr txBox="1"/>
          <p:nvPr/>
        </p:nvSpPr>
        <p:spPr>
          <a:xfrm>
            <a:off x="313639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Embedding de la requête</a:t>
            </a:r>
            <a:endParaRPr lang="en-US" sz="1100" dirty="0"/>
          </a:p>
        </p:txBody>
      </p:sp>
      <p:sp>
        <p:nvSpPr>
          <p:cNvPr id="47" name="Shape 37"/>
          <p:cNvSpPr/>
          <p:nvPr/>
        </p:nvSpPr>
        <p:spPr>
          <a:xfrm>
            <a:off x="4114800" y="3346704"/>
            <a:ext cx="612648" cy="914"/>
          </a:xfrm>
          <a:prstGeom prst="line">
            <a:avLst/>
          </a:prstGeom>
          <a:noFill/>
          <a:ln w="19050">
            <a:solidFill>
              <a:srgbClr val="5E6964"/>
            </a:solidFill>
            <a:prstDash val="solid"/>
            <a:tailEnd type="triangle"/>
          </a:ln>
        </p:spPr>
      </p:sp>
      <p:sp>
        <p:nvSpPr>
          <p:cNvPr id="48" name="Shape 38"/>
          <p:cNvSpPr/>
          <p:nvPr/>
        </p:nvSpPr>
        <p:spPr>
          <a:xfrm>
            <a:off x="4800600" y="3063240"/>
            <a:ext cx="566928" cy="566928"/>
          </a:xfrm>
          <a:prstGeom prst="ellipse">
            <a:avLst/>
          </a:prstGeom>
          <a:solidFill>
            <a:srgbClr val="FFFFFF"/>
          </a:solidFill>
          <a:ln w="19050">
            <a:solidFill>
              <a:srgbClr val="00704A"/>
            </a:solidFill>
            <a:prstDash val="solid"/>
          </a:ln>
        </p:spPr>
      </p:sp>
      <p:pic>
        <p:nvPicPr>
          <p:cNvPr id="49" name="Image 7" descr="preencoded.png"/>
          <p:cNvPicPr>
            <a:picLocks noChangeAspect="1"/>
          </p:cNvPicPr>
          <p:nvPr/>
        </p:nvPicPr>
        <p:blipFill>
          <a:blip r:embed="rId10"/>
          <a:stretch>
            <a:fillRect/>
          </a:stretch>
        </p:blipFill>
        <p:spPr>
          <a:xfrm>
            <a:off x="4936663" y="3199303"/>
            <a:ext cx="294803" cy="294803"/>
          </a:xfrm>
          <a:prstGeom prst="rect">
            <a:avLst/>
          </a:prstGeom>
        </p:spPr>
      </p:pic>
      <p:sp>
        <p:nvSpPr>
          <p:cNvPr id="50" name="Text 39"/>
          <p:cNvSpPr txBox="1"/>
          <p:nvPr/>
        </p:nvSpPr>
        <p:spPr>
          <a:xfrm>
            <a:off x="446227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Recherche par similarité</a:t>
            </a:r>
            <a:endParaRPr lang="en-US" sz="1100" dirty="0"/>
          </a:p>
        </p:txBody>
      </p:sp>
      <p:sp>
        <p:nvSpPr>
          <p:cNvPr id="51" name="Shape 40"/>
          <p:cNvSpPr/>
          <p:nvPr/>
        </p:nvSpPr>
        <p:spPr>
          <a:xfrm>
            <a:off x="5440680" y="3346704"/>
            <a:ext cx="612648" cy="914"/>
          </a:xfrm>
          <a:prstGeom prst="line">
            <a:avLst/>
          </a:prstGeom>
          <a:noFill/>
          <a:ln w="19050">
            <a:solidFill>
              <a:srgbClr val="5E6964"/>
            </a:solidFill>
            <a:prstDash val="solid"/>
            <a:tailEnd type="triangle"/>
          </a:ln>
        </p:spPr>
      </p:sp>
      <p:sp>
        <p:nvSpPr>
          <p:cNvPr id="52" name="Shape 41"/>
          <p:cNvSpPr/>
          <p:nvPr/>
        </p:nvSpPr>
        <p:spPr>
          <a:xfrm>
            <a:off x="6126480" y="3063240"/>
            <a:ext cx="566928" cy="566928"/>
          </a:xfrm>
          <a:prstGeom prst="ellipse">
            <a:avLst/>
          </a:prstGeom>
          <a:solidFill>
            <a:srgbClr val="FFFFFF"/>
          </a:solidFill>
          <a:ln w="19050">
            <a:solidFill>
              <a:srgbClr val="00704A"/>
            </a:solidFill>
            <a:prstDash val="solid"/>
          </a:ln>
        </p:spPr>
      </p:sp>
      <p:pic>
        <p:nvPicPr>
          <p:cNvPr id="53" name="Image 8" descr="preencoded.png"/>
          <p:cNvPicPr>
            <a:picLocks noChangeAspect="1"/>
          </p:cNvPicPr>
          <p:nvPr/>
        </p:nvPicPr>
        <p:blipFill>
          <a:blip r:embed="rId11"/>
          <a:stretch>
            <a:fillRect/>
          </a:stretch>
        </p:blipFill>
        <p:spPr>
          <a:xfrm>
            <a:off x="6262543" y="3199303"/>
            <a:ext cx="294803" cy="294803"/>
          </a:xfrm>
          <a:prstGeom prst="rect">
            <a:avLst/>
          </a:prstGeom>
        </p:spPr>
      </p:pic>
      <p:sp>
        <p:nvSpPr>
          <p:cNvPr id="54" name="Text 42"/>
          <p:cNvSpPr txBox="1"/>
          <p:nvPr/>
        </p:nvSpPr>
        <p:spPr>
          <a:xfrm>
            <a:off x="578815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Prompt augmenté</a:t>
            </a:r>
            <a:endParaRPr lang="en-US" sz="1100" dirty="0"/>
          </a:p>
        </p:txBody>
      </p:sp>
      <p:sp>
        <p:nvSpPr>
          <p:cNvPr id="55" name="Shape 43"/>
          <p:cNvSpPr/>
          <p:nvPr/>
        </p:nvSpPr>
        <p:spPr>
          <a:xfrm>
            <a:off x="6766560" y="3346704"/>
            <a:ext cx="612648" cy="914"/>
          </a:xfrm>
          <a:prstGeom prst="line">
            <a:avLst/>
          </a:prstGeom>
          <a:noFill/>
          <a:ln w="19050">
            <a:solidFill>
              <a:srgbClr val="5E6964"/>
            </a:solidFill>
            <a:prstDash val="solid"/>
            <a:tailEnd type="triangle"/>
          </a:ln>
        </p:spPr>
      </p:sp>
      <p:sp>
        <p:nvSpPr>
          <p:cNvPr id="56" name="Shape 44"/>
          <p:cNvSpPr/>
          <p:nvPr/>
        </p:nvSpPr>
        <p:spPr>
          <a:xfrm>
            <a:off x="7452360" y="3063240"/>
            <a:ext cx="566928" cy="566928"/>
          </a:xfrm>
          <a:prstGeom prst="ellipse">
            <a:avLst/>
          </a:prstGeom>
          <a:solidFill>
            <a:srgbClr val="F5C242"/>
          </a:solidFill>
          <a:ln w="12700">
            <a:solidFill>
              <a:srgbClr val="F5C242"/>
            </a:solidFill>
            <a:prstDash val="solid"/>
          </a:ln>
        </p:spPr>
      </p:sp>
      <p:pic>
        <p:nvPicPr>
          <p:cNvPr id="57" name="Image 9" descr="preencoded.png"/>
          <p:cNvPicPr>
            <a:picLocks noChangeAspect="1"/>
          </p:cNvPicPr>
          <p:nvPr/>
        </p:nvPicPr>
        <p:blipFill>
          <a:blip r:embed="rId12"/>
          <a:stretch>
            <a:fillRect/>
          </a:stretch>
        </p:blipFill>
        <p:spPr>
          <a:xfrm>
            <a:off x="7588423" y="3199303"/>
            <a:ext cx="294803" cy="294803"/>
          </a:xfrm>
          <a:prstGeom prst="rect">
            <a:avLst/>
          </a:prstGeom>
        </p:spPr>
      </p:pic>
      <p:sp>
        <p:nvSpPr>
          <p:cNvPr id="58" name="Text 45"/>
          <p:cNvSpPr txBox="1"/>
          <p:nvPr/>
        </p:nvSpPr>
        <p:spPr>
          <a:xfrm>
            <a:off x="711403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LLM → réponse fondée</a:t>
            </a:r>
            <a:endParaRPr lang="en-US" sz="1100" dirty="0"/>
          </a:p>
        </p:txBody>
      </p:sp>
      <p:sp>
        <p:nvSpPr>
          <p:cNvPr id="59" name="Shape 46"/>
          <p:cNvSpPr/>
          <p:nvPr/>
        </p:nvSpPr>
        <p:spPr>
          <a:xfrm>
            <a:off x="5084064" y="2350008"/>
            <a:ext cx="914" cy="667512"/>
          </a:xfrm>
          <a:prstGeom prst="line">
            <a:avLst/>
          </a:prstGeom>
          <a:noFill/>
          <a:ln w="25400">
            <a:solidFill>
              <a:srgbClr val="D49A00"/>
            </a:solidFill>
            <a:prstDash val="solid"/>
            <a:tailEnd type="triangle"/>
          </a:ln>
        </p:spPr>
      </p:sp>
      <p:sp>
        <p:nvSpPr>
          <p:cNvPr id="60" name="Shape 47"/>
          <p:cNvSpPr/>
          <p:nvPr/>
        </p:nvSpPr>
        <p:spPr>
          <a:xfrm>
            <a:off x="5193792" y="2560320"/>
            <a:ext cx="960120" cy="237744"/>
          </a:xfrm>
          <a:prstGeom prst="roundRect">
            <a:avLst>
              <a:gd name="adj" fmla="val 50000"/>
            </a:avLst>
          </a:prstGeom>
          <a:solidFill>
            <a:srgbClr val="D49A00">
              <a:alpha val="15000"/>
            </a:srgbClr>
          </a:solidFill>
          <a:ln w="9525">
            <a:solidFill>
              <a:srgbClr val="D49A00"/>
            </a:solidFill>
            <a:prstDash val="solid"/>
          </a:ln>
        </p:spPr>
      </p:sp>
      <p:sp>
        <p:nvSpPr>
          <p:cNvPr id="61" name="Text 48"/>
          <p:cNvSpPr txBox="1"/>
          <p:nvPr/>
        </p:nvSpPr>
        <p:spPr>
          <a:xfrm>
            <a:off x="5193792" y="2560320"/>
            <a:ext cx="960120" cy="237744"/>
          </a:xfrm>
          <a:prstGeom prst="rect">
            <a:avLst/>
          </a:prstGeom>
          <a:noFill/>
          <a:ln/>
        </p:spPr>
        <p:txBody>
          <a:bodyPr wrap="square" lIns="0" tIns="0" rIns="0" bIns="0" rtlCol="0" anchor="ctr"/>
          <a:lstStyle/>
          <a:p>
            <a:pPr marL="0" indent="0" algn="ctr">
              <a:buNone/>
            </a:pPr>
            <a:r>
              <a:rPr lang="en-US" sz="950" b="1" dirty="0">
                <a:solidFill>
                  <a:srgbClr val="D49A00"/>
                </a:solidFill>
                <a:latin typeface="Calibri" pitchFamily="34" charset="0"/>
                <a:ea typeface="Calibri" pitchFamily="34" charset="-122"/>
                <a:cs typeface="Calibri" pitchFamily="34" charset="-120"/>
              </a:rPr>
              <a:t>top-k fragments</a:t>
            </a:r>
            <a:endParaRPr lang="en-US" sz="950" dirty="0"/>
          </a:p>
        </p:txBody>
      </p:sp>
      <p:sp>
        <p:nvSpPr>
          <p:cNvPr id="62" name="Text 49"/>
          <p:cNvSpPr txBox="1"/>
          <p:nvPr/>
        </p:nvSpPr>
        <p:spPr>
          <a:xfrm>
            <a:off x="685800" y="4224528"/>
            <a:ext cx="5486400" cy="27432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② RÉCUPÉRATION &amp; GÉNÉRATION  ·  en ligne, à chaque requête</a:t>
            </a:r>
            <a:endParaRPr lang="en-US" sz="13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RAG en action : une question de bout en bout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7" name="Shape 14"/>
          <p:cNvSpPr/>
          <p:nvPr/>
        </p:nvSpPr>
        <p:spPr>
          <a:xfrm>
            <a:off x="731520" y="1600200"/>
            <a:ext cx="0" cy="548640"/>
          </a:xfrm>
          <a:prstGeom prst="line">
            <a:avLst/>
          </a:prstGeom>
          <a:noFill/>
          <a:ln w="25400">
            <a:solidFill>
              <a:srgbClr val="D5DED9"/>
            </a:solidFill>
            <a:prstDash val="solid"/>
          </a:ln>
        </p:spPr>
      </p:sp>
      <p:sp>
        <p:nvSpPr>
          <p:cNvPr id="18" name="Shape 15"/>
          <p:cNvSpPr/>
          <p:nvPr/>
        </p:nvSpPr>
        <p:spPr>
          <a:xfrm>
            <a:off x="566928" y="1399032"/>
            <a:ext cx="329184" cy="329184"/>
          </a:xfrm>
          <a:prstGeom prst="ellipse">
            <a:avLst/>
          </a:prstGeom>
          <a:solidFill>
            <a:srgbClr val="00704A"/>
          </a:solidFill>
          <a:ln w="12700">
            <a:solidFill>
              <a:srgbClr val="00704A"/>
            </a:solidFill>
            <a:prstDash val="solid"/>
          </a:ln>
        </p:spPr>
      </p:sp>
      <p:sp>
        <p:nvSpPr>
          <p:cNvPr id="19" name="Text 16"/>
          <p:cNvSpPr txBox="1"/>
          <p:nvPr/>
        </p:nvSpPr>
        <p:spPr>
          <a:xfrm>
            <a:off x="566928" y="139903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051560" y="1399032"/>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Question</a:t>
            </a:r>
            <a:endParaRPr lang="en-US" sz="1350" dirty="0"/>
          </a:p>
        </p:txBody>
      </p:sp>
      <p:sp>
        <p:nvSpPr>
          <p:cNvPr id="21" name="Shape 18"/>
          <p:cNvSpPr/>
          <p:nvPr/>
        </p:nvSpPr>
        <p:spPr>
          <a:xfrm>
            <a:off x="2697480" y="1325880"/>
            <a:ext cx="5989320" cy="457200"/>
          </a:xfrm>
          <a:prstGeom prst="roundRect">
            <a:avLst>
              <a:gd name="adj" fmla="val 16000"/>
            </a:avLst>
          </a:prstGeom>
          <a:solidFill>
            <a:srgbClr val="F4F7F5"/>
          </a:solidFill>
          <a:ln w="9525">
            <a:solidFill>
              <a:srgbClr val="D5DED9"/>
            </a:solidFill>
            <a:prstDash val="solid"/>
          </a:ln>
        </p:spPr>
      </p:sp>
      <p:sp>
        <p:nvSpPr>
          <p:cNvPr id="22" name="Text 19"/>
          <p:cNvSpPr txBox="1"/>
          <p:nvPr/>
        </p:nvSpPr>
        <p:spPr>
          <a:xfrm>
            <a:off x="2852928" y="1325880"/>
            <a:ext cx="5715000" cy="457200"/>
          </a:xfrm>
          <a:prstGeom prst="rect">
            <a:avLst/>
          </a:prstGeom>
          <a:noFill/>
          <a:ln/>
        </p:spPr>
        <p:txBody>
          <a:bodyPr wrap="square" lIns="0" tIns="0" rIns="0" bIns="0" rtlCol="0" anchor="ctr"/>
          <a:lstStyle/>
          <a:p>
            <a:pPr marL="0" indent="0">
              <a:spcAft>
                <a:spcPts val="200"/>
              </a:spcAft>
              <a:buNone/>
            </a:pPr>
            <a:r>
              <a:rPr lang="en-US" sz="1200" b="1" dirty="0">
                <a:solidFill>
                  <a:srgbClr val="231F20"/>
                </a:solidFill>
                <a:latin typeface="Calibri" pitchFamily="34" charset="0"/>
                <a:ea typeface="Calibri" pitchFamily="34" charset="-122"/>
                <a:cs typeface="Calibri" pitchFamily="34" charset="-120"/>
              </a:rPr>
              <a:t>« Quel est le délai de remboursement des commandes en ligne ? »</a:t>
            </a:r>
            <a:endParaRPr lang="en-US" sz="1200" dirty="0"/>
          </a:p>
        </p:txBody>
      </p:sp>
      <p:sp>
        <p:nvSpPr>
          <p:cNvPr id="23" name="Shape 20"/>
          <p:cNvSpPr/>
          <p:nvPr/>
        </p:nvSpPr>
        <p:spPr>
          <a:xfrm>
            <a:off x="731520" y="2167128"/>
            <a:ext cx="0" cy="548640"/>
          </a:xfrm>
          <a:prstGeom prst="line">
            <a:avLst/>
          </a:prstGeom>
          <a:noFill/>
          <a:ln w="25400">
            <a:solidFill>
              <a:srgbClr val="D5DED9"/>
            </a:solidFill>
            <a:prstDash val="solid"/>
          </a:ln>
        </p:spPr>
      </p:sp>
      <p:sp>
        <p:nvSpPr>
          <p:cNvPr id="24" name="Shape 21"/>
          <p:cNvSpPr/>
          <p:nvPr/>
        </p:nvSpPr>
        <p:spPr>
          <a:xfrm>
            <a:off x="566928" y="1965960"/>
            <a:ext cx="329184" cy="329184"/>
          </a:xfrm>
          <a:prstGeom prst="ellipse">
            <a:avLst/>
          </a:prstGeom>
          <a:solidFill>
            <a:srgbClr val="00A86A"/>
          </a:solidFill>
          <a:ln w="12700">
            <a:solidFill>
              <a:srgbClr val="00A86A"/>
            </a:solidFill>
            <a:prstDash val="solid"/>
          </a:ln>
        </p:spPr>
      </p:sp>
      <p:sp>
        <p:nvSpPr>
          <p:cNvPr id="25" name="Text 22"/>
          <p:cNvSpPr txBox="1"/>
          <p:nvPr/>
        </p:nvSpPr>
        <p:spPr>
          <a:xfrm>
            <a:off x="566928" y="19659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3"/>
          <p:cNvSpPr txBox="1"/>
          <p:nvPr/>
        </p:nvSpPr>
        <p:spPr>
          <a:xfrm>
            <a:off x="1051560" y="1965960"/>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Encodage</a:t>
            </a:r>
            <a:endParaRPr lang="en-US" sz="1350" dirty="0"/>
          </a:p>
        </p:txBody>
      </p:sp>
      <p:sp>
        <p:nvSpPr>
          <p:cNvPr id="27" name="Shape 24"/>
          <p:cNvSpPr/>
          <p:nvPr/>
        </p:nvSpPr>
        <p:spPr>
          <a:xfrm>
            <a:off x="2697480" y="1892808"/>
            <a:ext cx="5989320" cy="457200"/>
          </a:xfrm>
          <a:prstGeom prst="roundRect">
            <a:avLst>
              <a:gd name="adj" fmla="val 16000"/>
            </a:avLst>
          </a:prstGeom>
          <a:solidFill>
            <a:srgbClr val="F4F7F5"/>
          </a:solidFill>
          <a:ln w="9525">
            <a:solidFill>
              <a:srgbClr val="D5DED9"/>
            </a:solidFill>
            <a:prstDash val="solid"/>
          </a:ln>
        </p:spPr>
      </p:sp>
      <p:sp>
        <p:nvSpPr>
          <p:cNvPr id="28" name="Text 25"/>
          <p:cNvSpPr txBox="1"/>
          <p:nvPr/>
        </p:nvSpPr>
        <p:spPr>
          <a:xfrm>
            <a:off x="2852928" y="1892808"/>
            <a:ext cx="5715000" cy="457200"/>
          </a:xfrm>
          <a:prstGeom prst="rect">
            <a:avLst/>
          </a:prstGeom>
          <a:noFill/>
          <a:ln/>
        </p:spPr>
        <p:txBody>
          <a:bodyPr wrap="square" lIns="0" tIns="0" rIns="0" bIns="0" rtlCol="0" anchor="ctr"/>
          <a:lstStyle/>
          <a:p>
            <a:pPr marL="0" indent="0">
              <a:spcAft>
                <a:spcPts val="200"/>
              </a:spcAft>
              <a:buNone/>
            </a:pPr>
            <a:r>
              <a:rPr lang="en-US" sz="1200" b="1" dirty="0">
                <a:solidFill>
                  <a:srgbClr val="00704A"/>
                </a:solidFill>
                <a:latin typeface="Courier New" pitchFamily="34" charset="0"/>
                <a:ea typeface="Courier New" pitchFamily="34" charset="-122"/>
                <a:cs typeface="Courier New" pitchFamily="34" charset="-120"/>
              </a:rPr>
              <a:t>[ 0.021, −0.487, 0.913, 0.106, … ]</a:t>
            </a:r>
            <a:r>
              <a:rPr lang="en-US" sz="1200" i="1" dirty="0">
                <a:solidFill>
                  <a:srgbClr val="5E6964"/>
                </a:solidFill>
                <a:latin typeface="Calibri" pitchFamily="34" charset="0"/>
                <a:ea typeface="Calibri" pitchFamily="34" charset="-122"/>
                <a:cs typeface="Calibri" pitchFamily="34" charset="-120"/>
              </a:rPr>
              <a:t>   même modèle que pour les documents</a:t>
            </a:r>
            <a:endParaRPr lang="en-US" sz="1200" dirty="0"/>
          </a:p>
        </p:txBody>
      </p:sp>
      <p:sp>
        <p:nvSpPr>
          <p:cNvPr id="29" name="Shape 26"/>
          <p:cNvSpPr/>
          <p:nvPr/>
        </p:nvSpPr>
        <p:spPr>
          <a:xfrm>
            <a:off x="731520" y="2734056"/>
            <a:ext cx="0" cy="1024128"/>
          </a:xfrm>
          <a:prstGeom prst="line">
            <a:avLst/>
          </a:prstGeom>
          <a:noFill/>
          <a:ln w="25400">
            <a:solidFill>
              <a:srgbClr val="D5DED9"/>
            </a:solidFill>
            <a:prstDash val="solid"/>
          </a:ln>
        </p:spPr>
      </p:sp>
      <p:sp>
        <p:nvSpPr>
          <p:cNvPr id="30" name="Shape 27"/>
          <p:cNvSpPr/>
          <p:nvPr/>
        </p:nvSpPr>
        <p:spPr>
          <a:xfrm>
            <a:off x="566928" y="2532888"/>
            <a:ext cx="329184" cy="329184"/>
          </a:xfrm>
          <a:prstGeom prst="ellipse">
            <a:avLst/>
          </a:prstGeom>
          <a:solidFill>
            <a:srgbClr val="0E7C86"/>
          </a:solidFill>
          <a:ln w="12700">
            <a:solidFill>
              <a:srgbClr val="0E7C86"/>
            </a:solidFill>
            <a:prstDash val="solid"/>
          </a:ln>
        </p:spPr>
      </p:sp>
      <p:sp>
        <p:nvSpPr>
          <p:cNvPr id="31" name="Text 28"/>
          <p:cNvSpPr txBox="1"/>
          <p:nvPr/>
        </p:nvSpPr>
        <p:spPr>
          <a:xfrm>
            <a:off x="566928" y="25328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051560" y="2532888"/>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Recherche &amp; tri</a:t>
            </a:r>
            <a:endParaRPr lang="en-US" sz="1350" dirty="0"/>
          </a:p>
        </p:txBody>
      </p:sp>
      <p:sp>
        <p:nvSpPr>
          <p:cNvPr id="33" name="Shape 30"/>
          <p:cNvSpPr/>
          <p:nvPr/>
        </p:nvSpPr>
        <p:spPr>
          <a:xfrm>
            <a:off x="2697480" y="2459736"/>
            <a:ext cx="5989320" cy="932688"/>
          </a:xfrm>
          <a:prstGeom prst="roundRect">
            <a:avLst>
              <a:gd name="adj" fmla="val 7843"/>
            </a:avLst>
          </a:prstGeom>
          <a:solidFill>
            <a:srgbClr val="F4F7F5"/>
          </a:solidFill>
          <a:ln w="9525">
            <a:solidFill>
              <a:srgbClr val="D5DED9"/>
            </a:solidFill>
            <a:prstDash val="solid"/>
          </a:ln>
        </p:spPr>
      </p:sp>
      <p:sp>
        <p:nvSpPr>
          <p:cNvPr id="34" name="Text 31"/>
          <p:cNvSpPr txBox="1"/>
          <p:nvPr/>
        </p:nvSpPr>
        <p:spPr>
          <a:xfrm>
            <a:off x="2852928" y="2459736"/>
            <a:ext cx="5715000" cy="932688"/>
          </a:xfrm>
          <a:prstGeom prst="rect">
            <a:avLst/>
          </a:prstGeom>
          <a:noFill/>
          <a:ln/>
        </p:spPr>
        <p:txBody>
          <a:bodyPr wrap="square" lIns="0" tIns="0" rIns="0" bIns="0" rtlCol="0" anchor="ctr"/>
          <a:lstStyle/>
          <a:p>
            <a:pPr marL="0" indent="0">
              <a:spcAft>
                <a:spcPts val="200"/>
              </a:spcAft>
              <a:buNone/>
            </a:pPr>
            <a:r>
              <a:rPr lang="en-US" sz="1100" b="1" dirty="0">
                <a:solidFill>
                  <a:srgbClr val="00704A"/>
                </a:solidFill>
                <a:latin typeface="Courier New" pitchFamily="34" charset="0"/>
                <a:ea typeface="Courier New" pitchFamily="34" charset="-122"/>
                <a:cs typeface="Courier New" pitchFamily="34" charset="-120"/>
              </a:rPr>
              <a:t>0.89  </a:t>
            </a:r>
            <a:r>
              <a:rPr lang="en-US" sz="1100" dirty="0">
                <a:solidFill>
                  <a:srgbClr val="231F20"/>
                </a:solidFill>
                <a:latin typeface="Calibri" pitchFamily="34" charset="0"/>
                <a:ea typeface="Calibri" pitchFamily="34" charset="-122"/>
                <a:cs typeface="Calibri" pitchFamily="34" charset="-120"/>
              </a:rPr>
              <a:t>[1] Politique de remboursement §2 — commandes en ligne : remboursement sous 14 jours</a:t>
            </a:r>
            <a:endParaRPr lang="en-US" sz="1100" dirty="0"/>
          </a:p>
          <a:p>
            <a:pPr marL="0" indent="0">
              <a:spcAft>
                <a:spcPts val="200"/>
              </a:spcAft>
              <a:buNone/>
            </a:pPr>
            <a:r>
              <a:rPr lang="en-US" sz="1100" b="1" dirty="0">
                <a:solidFill>
                  <a:srgbClr val="00704A"/>
                </a:solidFill>
                <a:latin typeface="Courier New" pitchFamily="34" charset="0"/>
                <a:ea typeface="Courier New" pitchFamily="34" charset="-122"/>
                <a:cs typeface="Courier New" pitchFamily="34" charset="-120"/>
              </a:rPr>
              <a:t>0.81  </a:t>
            </a:r>
            <a:r>
              <a:rPr lang="en-US" sz="1100" dirty="0">
                <a:solidFill>
                  <a:srgbClr val="231F20"/>
                </a:solidFill>
                <a:latin typeface="Calibri" pitchFamily="34" charset="0"/>
                <a:ea typeface="Calibri" pitchFamily="34" charset="-122"/>
                <a:cs typeface="Calibri" pitchFamily="34" charset="-120"/>
              </a:rPr>
              <a:t>[2] FAQ — lancer un retour depuis votre compte</a:t>
            </a:r>
            <a:endParaRPr lang="en-US" sz="1100" dirty="0"/>
          </a:p>
          <a:p>
            <a:pPr marL="0" indent="0">
              <a:spcAft>
                <a:spcPts val="200"/>
              </a:spcAft>
              <a:buNone/>
            </a:pPr>
            <a:r>
              <a:rPr lang="en-US" sz="1100" b="1" dirty="0">
                <a:solidFill>
                  <a:srgbClr val="B83B2E"/>
                </a:solidFill>
                <a:latin typeface="Courier New" pitchFamily="34" charset="0"/>
                <a:ea typeface="Courier New" pitchFamily="34" charset="-122"/>
                <a:cs typeface="Courier New" pitchFamily="34" charset="-120"/>
              </a:rPr>
              <a:t>0.42  </a:t>
            </a:r>
            <a:r>
              <a:rPr lang="en-US" sz="1100" dirty="0">
                <a:solidFill>
                  <a:srgbClr val="5E6964"/>
                </a:solidFill>
                <a:latin typeface="Calibri" pitchFamily="34" charset="0"/>
                <a:ea typeface="Calibri" pitchFamily="34" charset="-122"/>
                <a:cs typeface="Calibri" pitchFamily="34" charset="-120"/>
              </a:rPr>
              <a:t>Politique de livraison — délais  </a:t>
            </a:r>
            <a:r>
              <a:rPr lang="en-US" sz="1100" i="1" dirty="0">
                <a:solidFill>
                  <a:srgbClr val="B83B2E"/>
                </a:solidFill>
                <a:latin typeface="Calibri" pitchFamily="34" charset="0"/>
                <a:ea typeface="Calibri" pitchFamily="34" charset="-122"/>
                <a:cs typeface="Calibri" pitchFamily="34" charset="-120"/>
              </a:rPr>
              <a:t>(écarté)</a:t>
            </a:r>
            <a:endParaRPr lang="en-US" sz="1100" dirty="0"/>
          </a:p>
        </p:txBody>
      </p:sp>
      <p:sp>
        <p:nvSpPr>
          <p:cNvPr id="35" name="Shape 32"/>
          <p:cNvSpPr/>
          <p:nvPr/>
        </p:nvSpPr>
        <p:spPr>
          <a:xfrm>
            <a:off x="731520" y="3776472"/>
            <a:ext cx="0" cy="548640"/>
          </a:xfrm>
          <a:prstGeom prst="line">
            <a:avLst/>
          </a:prstGeom>
          <a:noFill/>
          <a:ln w="25400">
            <a:solidFill>
              <a:srgbClr val="D5DED9"/>
            </a:solidFill>
            <a:prstDash val="solid"/>
          </a:ln>
        </p:spPr>
      </p:sp>
      <p:sp>
        <p:nvSpPr>
          <p:cNvPr id="36" name="Shape 33"/>
          <p:cNvSpPr/>
          <p:nvPr/>
        </p:nvSpPr>
        <p:spPr>
          <a:xfrm>
            <a:off x="566928" y="3575304"/>
            <a:ext cx="329184" cy="329184"/>
          </a:xfrm>
          <a:prstGeom prst="ellipse">
            <a:avLst/>
          </a:prstGeom>
          <a:solidFill>
            <a:srgbClr val="D49A00"/>
          </a:solidFill>
          <a:ln w="12700">
            <a:solidFill>
              <a:srgbClr val="D49A00"/>
            </a:solidFill>
            <a:prstDash val="solid"/>
          </a:ln>
        </p:spPr>
      </p:sp>
      <p:sp>
        <p:nvSpPr>
          <p:cNvPr id="37" name="Text 34"/>
          <p:cNvSpPr txBox="1"/>
          <p:nvPr/>
        </p:nvSpPr>
        <p:spPr>
          <a:xfrm>
            <a:off x="566928" y="3575304"/>
            <a:ext cx="329184" cy="329184"/>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4</a:t>
            </a:r>
            <a:endParaRPr lang="en-US" sz="1200" dirty="0"/>
          </a:p>
        </p:txBody>
      </p:sp>
      <p:sp>
        <p:nvSpPr>
          <p:cNvPr id="38" name="Text 35"/>
          <p:cNvSpPr txBox="1"/>
          <p:nvPr/>
        </p:nvSpPr>
        <p:spPr>
          <a:xfrm>
            <a:off x="1051560" y="3575304"/>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Augmentation</a:t>
            </a:r>
            <a:endParaRPr lang="en-US" sz="1350" dirty="0"/>
          </a:p>
        </p:txBody>
      </p:sp>
      <p:sp>
        <p:nvSpPr>
          <p:cNvPr id="39" name="Shape 36"/>
          <p:cNvSpPr/>
          <p:nvPr/>
        </p:nvSpPr>
        <p:spPr>
          <a:xfrm>
            <a:off x="2697480" y="3502152"/>
            <a:ext cx="5989320" cy="457200"/>
          </a:xfrm>
          <a:prstGeom prst="roundRect">
            <a:avLst>
              <a:gd name="adj" fmla="val 16000"/>
            </a:avLst>
          </a:prstGeom>
          <a:solidFill>
            <a:srgbClr val="F4F7F5"/>
          </a:solidFill>
          <a:ln w="9525">
            <a:solidFill>
              <a:srgbClr val="D5DED9"/>
            </a:solidFill>
            <a:prstDash val="solid"/>
          </a:ln>
        </p:spPr>
      </p:sp>
      <p:sp>
        <p:nvSpPr>
          <p:cNvPr id="40" name="Text 37"/>
          <p:cNvSpPr txBox="1"/>
          <p:nvPr/>
        </p:nvSpPr>
        <p:spPr>
          <a:xfrm>
            <a:off x="2852928" y="3502152"/>
            <a:ext cx="5715000" cy="457200"/>
          </a:xfrm>
          <a:prstGeom prst="rect">
            <a:avLst/>
          </a:prstGeom>
          <a:noFill/>
          <a:ln/>
        </p:spPr>
        <p:txBody>
          <a:bodyPr wrap="square" lIns="0" tIns="0" rIns="0" bIns="0" rtlCol="0" anchor="ctr"/>
          <a:lstStyle/>
          <a:p>
            <a:pPr marL="0" indent="0">
              <a:spcAft>
                <a:spcPts val="200"/>
              </a:spcAft>
              <a:buNone/>
            </a:pPr>
            <a:r>
              <a:rPr lang="en-US" sz="1200" dirty="0">
                <a:solidFill>
                  <a:srgbClr val="231F20"/>
                </a:solidFill>
                <a:latin typeface="Calibri" pitchFamily="34" charset="0"/>
                <a:ea typeface="Calibri" pitchFamily="34" charset="-122"/>
                <a:cs typeface="Calibri" pitchFamily="34" charset="-120"/>
              </a:rPr>
              <a:t>Consignes + fragments [1] [2] + question  →  un seul prompt envoyé au LLM</a:t>
            </a:r>
            <a:endParaRPr lang="en-US" sz="1200" dirty="0"/>
          </a:p>
        </p:txBody>
      </p:sp>
      <p:sp>
        <p:nvSpPr>
          <p:cNvPr id="41" name="Shape 38"/>
          <p:cNvSpPr/>
          <p:nvPr/>
        </p:nvSpPr>
        <p:spPr>
          <a:xfrm>
            <a:off x="566928" y="4142232"/>
            <a:ext cx="329184" cy="329184"/>
          </a:xfrm>
          <a:prstGeom prst="ellipse">
            <a:avLst/>
          </a:prstGeom>
          <a:solidFill>
            <a:srgbClr val="00A86A"/>
          </a:solidFill>
          <a:ln w="12700">
            <a:solidFill>
              <a:srgbClr val="00A86A"/>
            </a:solidFill>
            <a:prstDash val="solid"/>
          </a:ln>
        </p:spPr>
      </p:sp>
      <p:sp>
        <p:nvSpPr>
          <p:cNvPr id="42" name="Text 39"/>
          <p:cNvSpPr txBox="1"/>
          <p:nvPr/>
        </p:nvSpPr>
        <p:spPr>
          <a:xfrm>
            <a:off x="566928" y="414223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40"/>
          <p:cNvSpPr txBox="1"/>
          <p:nvPr/>
        </p:nvSpPr>
        <p:spPr>
          <a:xfrm>
            <a:off x="1051560" y="4142232"/>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Génération</a:t>
            </a:r>
            <a:endParaRPr lang="en-US" sz="1350" dirty="0"/>
          </a:p>
        </p:txBody>
      </p:sp>
      <p:sp>
        <p:nvSpPr>
          <p:cNvPr id="44" name="Shape 41"/>
          <p:cNvSpPr/>
          <p:nvPr/>
        </p:nvSpPr>
        <p:spPr>
          <a:xfrm>
            <a:off x="2697480" y="4069080"/>
            <a:ext cx="5989320" cy="548640"/>
          </a:xfrm>
          <a:prstGeom prst="roundRect">
            <a:avLst>
              <a:gd name="adj" fmla="val 13333"/>
            </a:avLst>
          </a:prstGeom>
          <a:solidFill>
            <a:srgbClr val="E8F5EF"/>
          </a:solidFill>
          <a:ln w="15875">
            <a:solidFill>
              <a:srgbClr val="00A86A"/>
            </a:solidFill>
            <a:prstDash val="solid"/>
          </a:ln>
        </p:spPr>
      </p:sp>
      <p:sp>
        <p:nvSpPr>
          <p:cNvPr id="45" name="Text 42"/>
          <p:cNvSpPr txBox="1"/>
          <p:nvPr/>
        </p:nvSpPr>
        <p:spPr>
          <a:xfrm>
            <a:off x="2852928" y="4069080"/>
            <a:ext cx="5715000" cy="548640"/>
          </a:xfrm>
          <a:prstGeom prst="rect">
            <a:avLst/>
          </a:prstGeom>
          <a:noFill/>
          <a:ln/>
        </p:spPr>
        <p:txBody>
          <a:bodyPr wrap="square" lIns="0" tIns="0" rIns="0" bIns="0" rtlCol="0" anchor="ctr"/>
          <a:lstStyle/>
          <a:p>
            <a:pPr marL="0" indent="0">
              <a:spcAft>
                <a:spcPts val="200"/>
              </a:spcAft>
              <a:buNone/>
            </a:pPr>
            <a:r>
              <a:rPr lang="en-US" sz="1200" b="1" dirty="0">
                <a:solidFill>
                  <a:srgbClr val="231F20"/>
                </a:solidFill>
                <a:latin typeface="Calibri" pitchFamily="34" charset="0"/>
                <a:ea typeface="Calibri" pitchFamily="34" charset="-122"/>
                <a:cs typeface="Calibri" pitchFamily="34" charset="-120"/>
              </a:rPr>
              <a:t>« Les commandes en ligne sont remboursables sous 14 jours après la livraison </a:t>
            </a:r>
            <a:r>
              <a:rPr lang="en-US" sz="1200" b="1" dirty="0">
                <a:solidFill>
                  <a:srgbClr val="00704A"/>
                </a:solidFill>
                <a:latin typeface="Calibri" pitchFamily="34" charset="0"/>
                <a:ea typeface="Calibri" pitchFamily="34" charset="-122"/>
                <a:cs typeface="Calibri" pitchFamily="34" charset="-120"/>
              </a:rPr>
              <a:t>[1]</a:t>
            </a:r>
            <a:r>
              <a:rPr lang="en-US" sz="1200" b="1" dirty="0">
                <a:solidFill>
                  <a:srgbClr val="231F20"/>
                </a:solidFill>
                <a:latin typeface="Calibri" pitchFamily="34" charset="0"/>
                <a:ea typeface="Calibri" pitchFamily="34" charset="-122"/>
                <a:cs typeface="Calibri" pitchFamily="34" charset="-120"/>
              </a:rPr>
              <a:t> ; lancez le retour depuis votre compte </a:t>
            </a:r>
            <a:r>
              <a:rPr lang="en-US" sz="1200" b="1" dirty="0">
                <a:solidFill>
                  <a:srgbClr val="00704A"/>
                </a:solidFill>
                <a:latin typeface="Calibri" pitchFamily="34" charset="0"/>
                <a:ea typeface="Calibri" pitchFamily="34" charset="-122"/>
                <a:cs typeface="Calibri" pitchFamily="34" charset="-120"/>
              </a:rPr>
              <a:t>[2]</a:t>
            </a:r>
            <a:r>
              <a:rPr lang="en-US" sz="1200" b="1" dirty="0">
                <a:solidFill>
                  <a:srgbClr val="231F20"/>
                </a:solidFill>
                <a:latin typeface="Calibri" pitchFamily="34" charset="0"/>
                <a:ea typeface="Calibri" pitchFamily="34" charset="-122"/>
                <a:cs typeface="Calibri" pitchFamily="34" charset="-120"/>
              </a:rPr>
              <a:t>. »</a:t>
            </a:r>
            <a:endParaRPr lang="en-US" sz="1200" dirty="0"/>
          </a:p>
        </p:txBody>
      </p:sp>
      <p:sp>
        <p:nvSpPr>
          <p:cNvPr id="46" name="Text 43"/>
          <p:cNvSpPr txBox="1"/>
          <p:nvPr/>
        </p:nvSpPr>
        <p:spPr>
          <a:xfrm>
            <a:off x="2697480" y="4645152"/>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Exemple illustratif — vecteurs, scores et documents simplifiés.</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 · ÉTAPE 1 INDEXATION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Transformer les documents en savoir interrogeable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1920240" cy="2468880"/>
          </a:xfrm>
          <a:prstGeom prst="roundRect">
            <a:avLst>
              <a:gd name="adj" fmla="val 3810"/>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ctr"/>
          <a:lstStyle/>
          <a:p>
            <a:pPr marL="0" indent="0">
              <a:buNone/>
            </a:pPr>
            <a:r>
              <a:rPr lang="en-US" sz="3200" b="1" dirty="0">
                <a:solidFill>
                  <a:srgbClr val="7BCBA9"/>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1691640" y="1481328"/>
            <a:ext cx="502920" cy="502920"/>
          </a:xfrm>
          <a:prstGeom prst="ellipse">
            <a:avLst/>
          </a:prstGeom>
          <a:solidFill>
            <a:srgbClr val="00A86A">
              <a:alpha val="22000"/>
            </a:srgbClr>
          </a:solidFill>
          <a:ln w="12700">
            <a:solidFill>
              <a:srgbClr val="00A86A">
                <a:alpha val="0"/>
              </a:srgbClr>
            </a:solidFill>
            <a:prstDash val="solid"/>
          </a:ln>
        </p:spPr>
      </p:sp>
      <p:pic>
        <p:nvPicPr>
          <p:cNvPr id="20" name="Image 0" descr="preencoded.png"/>
          <p:cNvPicPr>
            <a:picLocks noChangeAspect="1"/>
          </p:cNvPicPr>
          <p:nvPr/>
        </p:nvPicPr>
        <p:blipFill>
          <a:blip r:embed="rId3"/>
          <a:stretch>
            <a:fillRect/>
          </a:stretch>
        </p:blipFill>
        <p:spPr>
          <a:xfrm>
            <a:off x="1812341" y="1602029"/>
            <a:ext cx="261518" cy="261518"/>
          </a:xfrm>
          <a:prstGeom prst="rect">
            <a:avLst/>
          </a:prstGeom>
        </p:spPr>
      </p:pic>
      <p:sp>
        <p:nvSpPr>
          <p:cNvPr id="21" name="Text 17"/>
          <p:cNvSpPr txBox="1"/>
          <p:nvPr/>
        </p:nvSpPr>
        <p:spPr>
          <a:xfrm>
            <a:off x="64008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Charger &amp; extraire</a:t>
            </a:r>
            <a:endParaRPr lang="en-US" sz="1500" dirty="0"/>
          </a:p>
        </p:txBody>
      </p:sp>
      <p:sp>
        <p:nvSpPr>
          <p:cNvPr id="22" name="Text 18"/>
          <p:cNvSpPr txBox="1"/>
          <p:nvPr/>
        </p:nvSpPr>
        <p:spPr>
          <a:xfrm>
            <a:off x="64008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Extraire un texte propre des PDF, pages HTML, fichiers Office, wikis et bases. Préserver tableaux et titres.</a:t>
            </a:r>
            <a:endParaRPr lang="en-US" sz="1150" dirty="0"/>
          </a:p>
        </p:txBody>
      </p:sp>
      <p:sp>
        <p:nvSpPr>
          <p:cNvPr id="23" name="Shape 19"/>
          <p:cNvSpPr/>
          <p:nvPr/>
        </p:nvSpPr>
        <p:spPr>
          <a:xfrm>
            <a:off x="2395728" y="2651760"/>
            <a:ext cx="146304" cy="914"/>
          </a:xfrm>
          <a:prstGeom prst="line">
            <a:avLst/>
          </a:prstGeom>
          <a:noFill/>
          <a:ln w="25400">
            <a:solidFill>
              <a:srgbClr val="5E6964"/>
            </a:solidFill>
            <a:prstDash val="solid"/>
            <a:tailEnd type="triangle"/>
          </a:ln>
        </p:spPr>
      </p:sp>
      <p:sp>
        <p:nvSpPr>
          <p:cNvPr id="24" name="Shape 20"/>
          <p:cNvSpPr/>
          <p:nvPr/>
        </p:nvSpPr>
        <p:spPr>
          <a:xfrm>
            <a:off x="2560320" y="1325880"/>
            <a:ext cx="1920240" cy="2468880"/>
          </a:xfrm>
          <a:prstGeom prst="roundRect">
            <a:avLst>
              <a:gd name="adj" fmla="val 3810"/>
            </a:avLst>
          </a:prstGeom>
          <a:solidFill>
            <a:srgbClr val="F4F7F5"/>
          </a:solidFill>
          <a:ln w="9525">
            <a:solidFill>
              <a:srgbClr val="D5DED9"/>
            </a:solidFill>
            <a:prstDash val="solid"/>
          </a:ln>
        </p:spPr>
      </p:sp>
      <p:sp>
        <p:nvSpPr>
          <p:cNvPr id="25" name="Text 21"/>
          <p:cNvSpPr txBox="1"/>
          <p:nvPr/>
        </p:nvSpPr>
        <p:spPr>
          <a:xfrm>
            <a:off x="2743200" y="1463040"/>
            <a:ext cx="914400" cy="457200"/>
          </a:xfrm>
          <a:prstGeom prst="rect">
            <a:avLst/>
          </a:prstGeom>
          <a:noFill/>
          <a:ln/>
        </p:spPr>
        <p:txBody>
          <a:bodyPr wrap="square" lIns="0" tIns="0" rIns="0" bIns="0" rtlCol="0" anchor="ctr"/>
          <a:lstStyle/>
          <a:p>
            <a:pPr marL="0" indent="0">
              <a:buNone/>
            </a:pPr>
            <a:r>
              <a:rPr lang="en-US" sz="3200" b="1" dirty="0">
                <a:solidFill>
                  <a:srgbClr val="33AF7C"/>
                </a:solidFill>
                <a:latin typeface="Calibri" pitchFamily="34" charset="0"/>
                <a:ea typeface="Calibri" pitchFamily="34" charset="-122"/>
                <a:cs typeface="Calibri" pitchFamily="34" charset="-120"/>
              </a:rPr>
              <a:t>02</a:t>
            </a:r>
            <a:endParaRPr lang="en-US" sz="3200" dirty="0"/>
          </a:p>
        </p:txBody>
      </p:sp>
      <p:sp>
        <p:nvSpPr>
          <p:cNvPr id="26" name="Shape 22"/>
          <p:cNvSpPr/>
          <p:nvPr/>
        </p:nvSpPr>
        <p:spPr>
          <a:xfrm>
            <a:off x="3794760" y="1481328"/>
            <a:ext cx="502920" cy="502920"/>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4"/>
          <a:stretch>
            <a:fillRect/>
          </a:stretch>
        </p:blipFill>
        <p:spPr>
          <a:xfrm>
            <a:off x="3915461" y="1602029"/>
            <a:ext cx="261518" cy="261518"/>
          </a:xfrm>
          <a:prstGeom prst="rect">
            <a:avLst/>
          </a:prstGeom>
        </p:spPr>
      </p:pic>
      <p:sp>
        <p:nvSpPr>
          <p:cNvPr id="28" name="Text 23"/>
          <p:cNvSpPr txBox="1"/>
          <p:nvPr/>
        </p:nvSpPr>
        <p:spPr>
          <a:xfrm>
            <a:off x="274320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Découper</a:t>
            </a:r>
            <a:endParaRPr lang="en-US" sz="1500" dirty="0"/>
          </a:p>
        </p:txBody>
      </p:sp>
      <p:sp>
        <p:nvSpPr>
          <p:cNvPr id="29" name="Text 24"/>
          <p:cNvSpPr txBox="1"/>
          <p:nvPr/>
        </p:nvSpPr>
        <p:spPr>
          <a:xfrm>
            <a:off x="274320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Diviser le texte en passages adaptés à la recherche, souvent quelques centaines de tokens, avec chevauchement.</a:t>
            </a:r>
            <a:endParaRPr lang="en-US" sz="1150" dirty="0"/>
          </a:p>
        </p:txBody>
      </p:sp>
      <p:sp>
        <p:nvSpPr>
          <p:cNvPr id="30" name="Shape 25"/>
          <p:cNvSpPr/>
          <p:nvPr/>
        </p:nvSpPr>
        <p:spPr>
          <a:xfrm>
            <a:off x="4498848" y="2651760"/>
            <a:ext cx="146304" cy="914"/>
          </a:xfrm>
          <a:prstGeom prst="line">
            <a:avLst/>
          </a:prstGeom>
          <a:noFill/>
          <a:ln w="25400">
            <a:solidFill>
              <a:srgbClr val="5E6964"/>
            </a:solidFill>
            <a:prstDash val="solid"/>
            <a:tailEnd type="triangle"/>
          </a:ln>
        </p:spPr>
      </p:sp>
      <p:sp>
        <p:nvSpPr>
          <p:cNvPr id="31" name="Shape 26"/>
          <p:cNvSpPr/>
          <p:nvPr/>
        </p:nvSpPr>
        <p:spPr>
          <a:xfrm>
            <a:off x="4663440" y="1325880"/>
            <a:ext cx="1920240" cy="2468880"/>
          </a:xfrm>
          <a:prstGeom prst="roundRect">
            <a:avLst>
              <a:gd name="adj" fmla="val 3810"/>
            </a:avLst>
          </a:prstGeom>
          <a:solidFill>
            <a:srgbClr val="F4F7F5"/>
          </a:solidFill>
          <a:ln w="9525">
            <a:solidFill>
              <a:srgbClr val="D5DED9"/>
            </a:solidFill>
            <a:prstDash val="solid"/>
          </a:ln>
        </p:spPr>
      </p:sp>
      <p:sp>
        <p:nvSpPr>
          <p:cNvPr id="32" name="Text 27"/>
          <p:cNvSpPr txBox="1"/>
          <p:nvPr/>
        </p:nvSpPr>
        <p:spPr>
          <a:xfrm>
            <a:off x="4846320" y="1463040"/>
            <a:ext cx="914400" cy="457200"/>
          </a:xfrm>
          <a:prstGeom prst="rect">
            <a:avLst/>
          </a:prstGeom>
          <a:noFill/>
          <a:ln/>
        </p:spPr>
        <p:txBody>
          <a:bodyPr wrap="square" lIns="0" tIns="0" rIns="0" bIns="0" rtlCol="0" anchor="ctr"/>
          <a:lstStyle/>
          <a:p>
            <a:pPr marL="0" indent="0">
              <a:buNone/>
            </a:pPr>
            <a:r>
              <a:rPr lang="en-US" sz="3200" b="1" dirty="0">
                <a:solidFill>
                  <a:srgbClr val="008A5B"/>
                </a:solidFill>
                <a:latin typeface="Calibri" pitchFamily="34" charset="0"/>
                <a:ea typeface="Calibri" pitchFamily="34" charset="-122"/>
                <a:cs typeface="Calibri" pitchFamily="34" charset="-120"/>
              </a:rPr>
              <a:t>03</a:t>
            </a:r>
            <a:endParaRPr lang="en-US" sz="3200" dirty="0"/>
          </a:p>
        </p:txBody>
      </p:sp>
      <p:sp>
        <p:nvSpPr>
          <p:cNvPr id="33" name="Shape 28"/>
          <p:cNvSpPr/>
          <p:nvPr/>
        </p:nvSpPr>
        <p:spPr>
          <a:xfrm>
            <a:off x="5897880" y="1481328"/>
            <a:ext cx="502920" cy="502920"/>
          </a:xfrm>
          <a:prstGeom prst="ellipse">
            <a:avLst/>
          </a:prstGeom>
          <a:solidFill>
            <a:srgbClr val="00A86A">
              <a:alpha val="22000"/>
            </a:srgbClr>
          </a:solidFill>
          <a:ln w="12700">
            <a:solidFill>
              <a:srgbClr val="00A86A">
                <a:alpha val="0"/>
              </a:srgbClr>
            </a:solidFill>
            <a:prstDash val="solid"/>
          </a:ln>
        </p:spPr>
      </p:sp>
      <p:pic>
        <p:nvPicPr>
          <p:cNvPr id="34" name="Image 2" descr="preencoded.png"/>
          <p:cNvPicPr>
            <a:picLocks noChangeAspect="1"/>
          </p:cNvPicPr>
          <p:nvPr/>
        </p:nvPicPr>
        <p:blipFill>
          <a:blip r:embed="rId5"/>
          <a:stretch>
            <a:fillRect/>
          </a:stretch>
        </p:blipFill>
        <p:spPr>
          <a:xfrm>
            <a:off x="6018581" y="1602029"/>
            <a:ext cx="261518" cy="261518"/>
          </a:xfrm>
          <a:prstGeom prst="rect">
            <a:avLst/>
          </a:prstGeom>
        </p:spPr>
      </p:pic>
      <p:sp>
        <p:nvSpPr>
          <p:cNvPr id="35" name="Text 29"/>
          <p:cNvSpPr txBox="1"/>
          <p:nvPr/>
        </p:nvSpPr>
        <p:spPr>
          <a:xfrm>
            <a:off x="484632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Encoder</a:t>
            </a:r>
            <a:endParaRPr lang="en-US" sz="1500" dirty="0"/>
          </a:p>
        </p:txBody>
      </p:sp>
      <p:sp>
        <p:nvSpPr>
          <p:cNvPr id="36" name="Text 30"/>
          <p:cNvSpPr txBox="1"/>
          <p:nvPr/>
        </p:nvSpPr>
        <p:spPr>
          <a:xfrm>
            <a:off x="484632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Un modèle d'embedding transforme chaque fragment en un vecteur dense qui capture son sens.</a:t>
            </a:r>
            <a:endParaRPr lang="en-US" sz="1150" dirty="0"/>
          </a:p>
        </p:txBody>
      </p:sp>
      <p:sp>
        <p:nvSpPr>
          <p:cNvPr id="37" name="Shape 31"/>
          <p:cNvSpPr/>
          <p:nvPr/>
        </p:nvSpPr>
        <p:spPr>
          <a:xfrm>
            <a:off x="6601968" y="2651760"/>
            <a:ext cx="146304" cy="914"/>
          </a:xfrm>
          <a:prstGeom prst="line">
            <a:avLst/>
          </a:prstGeom>
          <a:noFill/>
          <a:ln w="25400">
            <a:solidFill>
              <a:srgbClr val="5E6964"/>
            </a:solidFill>
            <a:prstDash val="solid"/>
            <a:tailEnd type="triangle"/>
          </a:ln>
        </p:spPr>
      </p:sp>
      <p:sp>
        <p:nvSpPr>
          <p:cNvPr id="38" name="Shape 32"/>
          <p:cNvSpPr/>
          <p:nvPr/>
        </p:nvSpPr>
        <p:spPr>
          <a:xfrm>
            <a:off x="6766560" y="1325880"/>
            <a:ext cx="1920240" cy="2468880"/>
          </a:xfrm>
          <a:prstGeom prst="roundRect">
            <a:avLst>
              <a:gd name="adj" fmla="val 3810"/>
            </a:avLst>
          </a:prstGeom>
          <a:solidFill>
            <a:srgbClr val="F4F7F5"/>
          </a:solidFill>
          <a:ln w="9525">
            <a:solidFill>
              <a:srgbClr val="D5DED9"/>
            </a:solidFill>
            <a:prstDash val="solid"/>
          </a:ln>
        </p:spPr>
      </p:sp>
      <p:sp>
        <p:nvSpPr>
          <p:cNvPr id="39" name="Text 33"/>
          <p:cNvSpPr txBox="1"/>
          <p:nvPr/>
        </p:nvSpPr>
        <p:spPr>
          <a:xfrm>
            <a:off x="6949440" y="1463040"/>
            <a:ext cx="914400" cy="457200"/>
          </a:xfrm>
          <a:prstGeom prst="rect">
            <a:avLst/>
          </a:prstGeom>
          <a:noFill/>
          <a:ln/>
        </p:spPr>
        <p:txBody>
          <a:bodyPr wrap="square" lIns="0" tIns="0" rIns="0" bIns="0" rtlCol="0" anchor="ctr"/>
          <a:lstStyle/>
          <a:p>
            <a:pPr marL="0" indent="0">
              <a:buNone/>
            </a:pPr>
            <a:r>
              <a:rPr lang="en-US" sz="3200" b="1" dirty="0">
                <a:solidFill>
                  <a:srgbClr val="00664A"/>
                </a:solidFill>
                <a:latin typeface="Calibri" pitchFamily="34" charset="0"/>
                <a:ea typeface="Calibri" pitchFamily="34" charset="-122"/>
                <a:cs typeface="Calibri" pitchFamily="34" charset="-120"/>
              </a:rPr>
              <a:t>04</a:t>
            </a:r>
            <a:endParaRPr lang="en-US" sz="3200" dirty="0"/>
          </a:p>
        </p:txBody>
      </p:sp>
      <p:sp>
        <p:nvSpPr>
          <p:cNvPr id="40" name="Shape 34"/>
          <p:cNvSpPr/>
          <p:nvPr/>
        </p:nvSpPr>
        <p:spPr>
          <a:xfrm>
            <a:off x="8001000" y="1481328"/>
            <a:ext cx="502920" cy="502920"/>
          </a:xfrm>
          <a:prstGeom prst="ellipse">
            <a:avLst/>
          </a:prstGeom>
          <a:solidFill>
            <a:srgbClr val="00A86A">
              <a:alpha val="22000"/>
            </a:srgbClr>
          </a:solidFill>
          <a:ln w="12700">
            <a:solidFill>
              <a:srgbClr val="00A86A">
                <a:alpha val="0"/>
              </a:srgbClr>
            </a:solidFill>
            <a:prstDash val="solid"/>
          </a:ln>
        </p:spPr>
      </p:sp>
      <p:pic>
        <p:nvPicPr>
          <p:cNvPr id="41" name="Image 3" descr="preencoded.png"/>
          <p:cNvPicPr>
            <a:picLocks noChangeAspect="1"/>
          </p:cNvPicPr>
          <p:nvPr/>
        </p:nvPicPr>
        <p:blipFill>
          <a:blip r:embed="rId6"/>
          <a:stretch>
            <a:fillRect/>
          </a:stretch>
        </p:blipFill>
        <p:spPr>
          <a:xfrm>
            <a:off x="8121701" y="1602029"/>
            <a:ext cx="261518" cy="261518"/>
          </a:xfrm>
          <a:prstGeom prst="rect">
            <a:avLst/>
          </a:prstGeom>
        </p:spPr>
      </p:pic>
      <p:sp>
        <p:nvSpPr>
          <p:cNvPr id="42" name="Text 35"/>
          <p:cNvSpPr txBox="1"/>
          <p:nvPr/>
        </p:nvSpPr>
        <p:spPr>
          <a:xfrm>
            <a:off x="694944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Stocker &amp; indexer</a:t>
            </a:r>
            <a:endParaRPr lang="en-US" sz="1500" dirty="0"/>
          </a:p>
        </p:txBody>
      </p:sp>
      <p:sp>
        <p:nvSpPr>
          <p:cNvPr id="43" name="Text 36"/>
          <p:cNvSpPr txBox="1"/>
          <p:nvPr/>
        </p:nvSpPr>
        <p:spPr>
          <a:xfrm>
            <a:off x="694944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Enregistrer vecteurs + texte + métadonnées (source, date, droits d'accès) dans un index vectoriel.</a:t>
            </a:r>
            <a:endParaRPr lang="en-US" sz="1150" dirty="0"/>
          </a:p>
        </p:txBody>
      </p:sp>
      <p:sp>
        <p:nvSpPr>
          <p:cNvPr id="44" name="Shape 37"/>
          <p:cNvSpPr/>
          <p:nvPr/>
        </p:nvSpPr>
        <p:spPr>
          <a:xfrm>
            <a:off x="457200" y="4023360"/>
            <a:ext cx="8229600" cy="603504"/>
          </a:xfrm>
          <a:prstGeom prst="roundRect">
            <a:avLst>
              <a:gd name="adj" fmla="val 12121"/>
            </a:avLst>
          </a:prstGeom>
          <a:solidFill>
            <a:srgbClr val="D49A00">
              <a:alpha val="13000"/>
            </a:srgbClr>
          </a:solidFill>
          <a:ln w="9525">
            <a:solidFill>
              <a:srgbClr val="D49A00"/>
            </a:solidFill>
            <a:prstDash val="solid"/>
          </a:ln>
        </p:spPr>
      </p:sp>
      <p:pic>
        <p:nvPicPr>
          <p:cNvPr id="45" name="Image 4" descr="preencoded.png"/>
          <p:cNvPicPr>
            <a:picLocks noChangeAspect="1"/>
          </p:cNvPicPr>
          <p:nvPr/>
        </p:nvPicPr>
        <p:blipFill>
          <a:blip r:embed="rId7"/>
          <a:stretch>
            <a:fillRect/>
          </a:stretch>
        </p:blipFill>
        <p:spPr>
          <a:xfrm>
            <a:off x="621792" y="4197096"/>
            <a:ext cx="256032" cy="256032"/>
          </a:xfrm>
          <a:prstGeom prst="rect">
            <a:avLst/>
          </a:prstGeom>
        </p:spPr>
      </p:pic>
      <p:sp>
        <p:nvSpPr>
          <p:cNvPr id="46" name="Text 38"/>
          <p:cNvSpPr txBox="1"/>
          <p:nvPr/>
        </p:nvSpPr>
        <p:spPr>
          <a:xfrm>
            <a:off x="1005840" y="4023360"/>
            <a:ext cx="7498080" cy="603504"/>
          </a:xfrm>
          <a:prstGeom prst="rect">
            <a:avLst/>
          </a:prstGeom>
          <a:noFill/>
          <a:ln/>
        </p:spPr>
        <p:txBody>
          <a:bodyPr wrap="square" lIns="0" tIns="0" rIns="0" bIns="0" rtlCol="0" anchor="ctr"/>
          <a:lstStyle/>
          <a:p>
            <a:pPr marL="0" indent="0">
              <a:buNone/>
            </a:pPr>
            <a:r>
              <a:rPr lang="en-US" sz="1250" b="1" dirty="0">
                <a:solidFill>
                  <a:srgbClr val="D49A00"/>
                </a:solidFill>
                <a:latin typeface="Calibri" pitchFamily="34" charset="0"/>
                <a:ea typeface="Calibri" pitchFamily="34" charset="-122"/>
                <a:cs typeface="Calibri" pitchFamily="34" charset="-120"/>
              </a:rPr>
              <a:t>Règle clé : </a:t>
            </a:r>
            <a:r>
              <a:rPr lang="en-US" sz="1250" dirty="0">
                <a:solidFill>
                  <a:srgbClr val="231F20"/>
                </a:solidFill>
                <a:latin typeface="Calibri" pitchFamily="34" charset="0"/>
                <a:ea typeface="Calibri" pitchFamily="34" charset="-122"/>
                <a:cs typeface="Calibri" pitchFamily="34" charset="-120"/>
              </a:rPr>
              <a:t>utiliser le même modèle d'embedding pour les documents et les requêtes — sinon les vecteurs ne sont pas comparables.</a:t>
            </a:r>
            <a:endParaRPr lang="en-US" sz="12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 · DÉCOUPAGE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choix de conception le plus sous-estimé</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3017520" cy="3337560"/>
          </a:xfrm>
          <a:prstGeom prst="roundRect">
            <a:avLst>
              <a:gd name="adj" fmla="val 2424"/>
            </a:avLst>
          </a:prstGeom>
          <a:solidFill>
            <a:srgbClr val="F4F7F5"/>
          </a:solidFill>
          <a:ln w="9525">
            <a:solidFill>
              <a:srgbClr val="D5DED9"/>
            </a:solidFill>
            <a:prstDash val="solid"/>
          </a:ln>
        </p:spPr>
      </p:sp>
      <p:sp>
        <p:nvSpPr>
          <p:cNvPr id="18" name="Text 15"/>
          <p:cNvSpPr txBox="1"/>
          <p:nvPr/>
        </p:nvSpPr>
        <p:spPr>
          <a:xfrm>
            <a:off x="640080" y="1435608"/>
            <a:ext cx="2743200" cy="274320"/>
          </a:xfrm>
          <a:prstGeom prst="rect">
            <a:avLst/>
          </a:prstGeom>
          <a:noFill/>
          <a:ln/>
        </p:spPr>
        <p:txBody>
          <a:bodyPr wrap="square" lIns="0" tIns="0" rIns="0" bIns="0" rtlCol="0" anchor="ctr"/>
          <a:lstStyle/>
          <a:p>
            <a:pPr marL="0" indent="0">
              <a:buNone/>
            </a:pPr>
            <a:r>
              <a:rPr lang="en-US" sz="1100" b="1" dirty="0">
                <a:solidFill>
                  <a:srgbClr val="5E6964"/>
                </a:solidFill>
                <a:latin typeface="Calibri" pitchFamily="34" charset="0"/>
                <a:ea typeface="Calibri" pitchFamily="34" charset="-122"/>
                <a:cs typeface="Calibri" pitchFamily="34" charset="-120"/>
              </a:rPr>
              <a:t>Fragments de taille fixe avec chevauchement</a:t>
            </a:r>
            <a:endParaRPr lang="en-US" sz="1100" dirty="0"/>
          </a:p>
        </p:txBody>
      </p:sp>
      <p:sp>
        <p:nvSpPr>
          <p:cNvPr id="19" name="Shape 16"/>
          <p:cNvSpPr/>
          <p:nvPr/>
        </p:nvSpPr>
        <p:spPr>
          <a:xfrm>
            <a:off x="822960" y="1828800"/>
            <a:ext cx="1463040" cy="2331720"/>
          </a:xfrm>
          <a:prstGeom prst="rect">
            <a:avLst/>
          </a:prstGeom>
          <a:solidFill>
            <a:srgbClr val="FFFFFF"/>
          </a:solidFill>
          <a:ln w="12700">
            <a:solidFill>
              <a:srgbClr val="D5DED9"/>
            </a:solidFill>
            <a:prstDash val="solid"/>
          </a:ln>
        </p:spPr>
      </p:sp>
      <p:sp>
        <p:nvSpPr>
          <p:cNvPr id="20" name="Shape 17"/>
          <p:cNvSpPr/>
          <p:nvPr/>
        </p:nvSpPr>
        <p:spPr>
          <a:xfrm>
            <a:off x="932688" y="1938528"/>
            <a:ext cx="1243584" cy="54864"/>
          </a:xfrm>
          <a:prstGeom prst="rect">
            <a:avLst/>
          </a:prstGeom>
          <a:solidFill>
            <a:srgbClr val="D5DED9"/>
          </a:solidFill>
          <a:ln w="12700">
            <a:solidFill>
              <a:srgbClr val="D5DED9"/>
            </a:solidFill>
            <a:prstDash val="solid"/>
          </a:ln>
        </p:spPr>
      </p:sp>
      <p:sp>
        <p:nvSpPr>
          <p:cNvPr id="21" name="Shape 18"/>
          <p:cNvSpPr/>
          <p:nvPr/>
        </p:nvSpPr>
        <p:spPr>
          <a:xfrm>
            <a:off x="932688" y="2121408"/>
            <a:ext cx="1243584" cy="54864"/>
          </a:xfrm>
          <a:prstGeom prst="rect">
            <a:avLst/>
          </a:prstGeom>
          <a:solidFill>
            <a:srgbClr val="D5DED9"/>
          </a:solidFill>
          <a:ln w="12700">
            <a:solidFill>
              <a:srgbClr val="D5DED9"/>
            </a:solidFill>
            <a:prstDash val="solid"/>
          </a:ln>
        </p:spPr>
      </p:sp>
      <p:sp>
        <p:nvSpPr>
          <p:cNvPr id="22" name="Shape 19"/>
          <p:cNvSpPr/>
          <p:nvPr/>
        </p:nvSpPr>
        <p:spPr>
          <a:xfrm>
            <a:off x="932688" y="2304288"/>
            <a:ext cx="1243584" cy="54864"/>
          </a:xfrm>
          <a:prstGeom prst="rect">
            <a:avLst/>
          </a:prstGeom>
          <a:solidFill>
            <a:srgbClr val="D5DED9"/>
          </a:solidFill>
          <a:ln w="12700">
            <a:solidFill>
              <a:srgbClr val="D5DED9"/>
            </a:solidFill>
            <a:prstDash val="solid"/>
          </a:ln>
        </p:spPr>
      </p:sp>
      <p:sp>
        <p:nvSpPr>
          <p:cNvPr id="23" name="Shape 20"/>
          <p:cNvSpPr/>
          <p:nvPr/>
        </p:nvSpPr>
        <p:spPr>
          <a:xfrm>
            <a:off x="932688" y="2487168"/>
            <a:ext cx="822960" cy="54864"/>
          </a:xfrm>
          <a:prstGeom prst="rect">
            <a:avLst/>
          </a:prstGeom>
          <a:solidFill>
            <a:srgbClr val="D5DED9"/>
          </a:solidFill>
          <a:ln w="12700">
            <a:solidFill>
              <a:srgbClr val="D5DED9"/>
            </a:solidFill>
            <a:prstDash val="solid"/>
          </a:ln>
        </p:spPr>
      </p:sp>
      <p:sp>
        <p:nvSpPr>
          <p:cNvPr id="24" name="Shape 21"/>
          <p:cNvSpPr/>
          <p:nvPr/>
        </p:nvSpPr>
        <p:spPr>
          <a:xfrm>
            <a:off x="932688" y="2670048"/>
            <a:ext cx="1243584" cy="54864"/>
          </a:xfrm>
          <a:prstGeom prst="rect">
            <a:avLst/>
          </a:prstGeom>
          <a:solidFill>
            <a:srgbClr val="D5DED9"/>
          </a:solidFill>
          <a:ln w="12700">
            <a:solidFill>
              <a:srgbClr val="D5DED9"/>
            </a:solidFill>
            <a:prstDash val="solid"/>
          </a:ln>
        </p:spPr>
      </p:sp>
      <p:sp>
        <p:nvSpPr>
          <p:cNvPr id="25" name="Shape 22"/>
          <p:cNvSpPr/>
          <p:nvPr/>
        </p:nvSpPr>
        <p:spPr>
          <a:xfrm>
            <a:off x="932688" y="2852928"/>
            <a:ext cx="1243584" cy="54864"/>
          </a:xfrm>
          <a:prstGeom prst="rect">
            <a:avLst/>
          </a:prstGeom>
          <a:solidFill>
            <a:srgbClr val="D5DED9"/>
          </a:solidFill>
          <a:ln w="12700">
            <a:solidFill>
              <a:srgbClr val="D5DED9"/>
            </a:solidFill>
            <a:prstDash val="solid"/>
          </a:ln>
        </p:spPr>
      </p:sp>
      <p:sp>
        <p:nvSpPr>
          <p:cNvPr id="26" name="Shape 23"/>
          <p:cNvSpPr/>
          <p:nvPr/>
        </p:nvSpPr>
        <p:spPr>
          <a:xfrm>
            <a:off x="932688" y="3035808"/>
            <a:ext cx="1243584" cy="54864"/>
          </a:xfrm>
          <a:prstGeom prst="rect">
            <a:avLst/>
          </a:prstGeom>
          <a:solidFill>
            <a:srgbClr val="D5DED9"/>
          </a:solidFill>
          <a:ln w="12700">
            <a:solidFill>
              <a:srgbClr val="D5DED9"/>
            </a:solidFill>
            <a:prstDash val="solid"/>
          </a:ln>
        </p:spPr>
      </p:sp>
      <p:sp>
        <p:nvSpPr>
          <p:cNvPr id="27" name="Shape 24"/>
          <p:cNvSpPr/>
          <p:nvPr/>
        </p:nvSpPr>
        <p:spPr>
          <a:xfrm>
            <a:off x="932688" y="3218688"/>
            <a:ext cx="822960" cy="54864"/>
          </a:xfrm>
          <a:prstGeom prst="rect">
            <a:avLst/>
          </a:prstGeom>
          <a:solidFill>
            <a:srgbClr val="D5DED9"/>
          </a:solidFill>
          <a:ln w="12700">
            <a:solidFill>
              <a:srgbClr val="D5DED9"/>
            </a:solidFill>
            <a:prstDash val="solid"/>
          </a:ln>
        </p:spPr>
      </p:sp>
      <p:sp>
        <p:nvSpPr>
          <p:cNvPr id="28" name="Shape 25"/>
          <p:cNvSpPr/>
          <p:nvPr/>
        </p:nvSpPr>
        <p:spPr>
          <a:xfrm>
            <a:off x="932688" y="3401568"/>
            <a:ext cx="1243584" cy="54864"/>
          </a:xfrm>
          <a:prstGeom prst="rect">
            <a:avLst/>
          </a:prstGeom>
          <a:solidFill>
            <a:srgbClr val="D5DED9"/>
          </a:solidFill>
          <a:ln w="12700">
            <a:solidFill>
              <a:srgbClr val="D5DED9"/>
            </a:solidFill>
            <a:prstDash val="solid"/>
          </a:ln>
        </p:spPr>
      </p:sp>
      <p:sp>
        <p:nvSpPr>
          <p:cNvPr id="29" name="Shape 26"/>
          <p:cNvSpPr/>
          <p:nvPr/>
        </p:nvSpPr>
        <p:spPr>
          <a:xfrm>
            <a:off x="932688" y="3584448"/>
            <a:ext cx="1243584" cy="54864"/>
          </a:xfrm>
          <a:prstGeom prst="rect">
            <a:avLst/>
          </a:prstGeom>
          <a:solidFill>
            <a:srgbClr val="D5DED9"/>
          </a:solidFill>
          <a:ln w="12700">
            <a:solidFill>
              <a:srgbClr val="D5DED9"/>
            </a:solidFill>
            <a:prstDash val="solid"/>
          </a:ln>
        </p:spPr>
      </p:sp>
      <p:sp>
        <p:nvSpPr>
          <p:cNvPr id="30" name="Shape 27"/>
          <p:cNvSpPr/>
          <p:nvPr/>
        </p:nvSpPr>
        <p:spPr>
          <a:xfrm>
            <a:off x="932688" y="3767328"/>
            <a:ext cx="1243584" cy="54864"/>
          </a:xfrm>
          <a:prstGeom prst="rect">
            <a:avLst/>
          </a:prstGeom>
          <a:solidFill>
            <a:srgbClr val="D5DED9"/>
          </a:solidFill>
          <a:ln w="12700">
            <a:solidFill>
              <a:srgbClr val="D5DED9"/>
            </a:solidFill>
            <a:prstDash val="solid"/>
          </a:ln>
        </p:spPr>
      </p:sp>
      <p:sp>
        <p:nvSpPr>
          <p:cNvPr id="31" name="Shape 28"/>
          <p:cNvSpPr/>
          <p:nvPr/>
        </p:nvSpPr>
        <p:spPr>
          <a:xfrm>
            <a:off x="932688" y="3950208"/>
            <a:ext cx="822960" cy="54864"/>
          </a:xfrm>
          <a:prstGeom prst="rect">
            <a:avLst/>
          </a:prstGeom>
          <a:solidFill>
            <a:srgbClr val="D5DED9"/>
          </a:solidFill>
          <a:ln w="12700">
            <a:solidFill>
              <a:srgbClr val="D5DED9"/>
            </a:solidFill>
            <a:prstDash val="solid"/>
          </a:ln>
        </p:spPr>
      </p:sp>
      <p:sp>
        <p:nvSpPr>
          <p:cNvPr id="32" name="Shape 29"/>
          <p:cNvSpPr/>
          <p:nvPr/>
        </p:nvSpPr>
        <p:spPr>
          <a:xfrm>
            <a:off x="2468880" y="1874520"/>
            <a:ext cx="128016" cy="877824"/>
          </a:xfrm>
          <a:prstGeom prst="rect">
            <a:avLst/>
          </a:prstGeom>
          <a:solidFill>
            <a:srgbClr val="00A86A">
              <a:alpha val="80000"/>
            </a:srgbClr>
          </a:solidFill>
          <a:ln w="12700">
            <a:solidFill>
              <a:srgbClr val="00A86A"/>
            </a:solidFill>
            <a:prstDash val="solid"/>
          </a:ln>
        </p:spPr>
      </p:sp>
      <p:sp>
        <p:nvSpPr>
          <p:cNvPr id="33" name="Text 30"/>
          <p:cNvSpPr txBox="1"/>
          <p:nvPr/>
        </p:nvSpPr>
        <p:spPr>
          <a:xfrm>
            <a:off x="2697480" y="2203704"/>
            <a:ext cx="914400" cy="228600"/>
          </a:xfrm>
          <a:prstGeom prst="rect">
            <a:avLst/>
          </a:prstGeom>
          <a:noFill/>
          <a:ln/>
        </p:spPr>
        <p:txBody>
          <a:bodyPr wrap="square" lIns="0" tIns="0" rIns="0" bIns="0" rtlCol="0" anchor="ctr"/>
          <a:lstStyle/>
          <a:p>
            <a:pPr marL="0" indent="0">
              <a:buNone/>
            </a:pPr>
            <a:r>
              <a:rPr lang="en-US" sz="1050" b="1" dirty="0">
                <a:solidFill>
                  <a:srgbClr val="00A86A"/>
                </a:solidFill>
                <a:latin typeface="Calibri" pitchFamily="34" charset="0"/>
                <a:ea typeface="Calibri" pitchFamily="34" charset="-122"/>
                <a:cs typeface="Calibri" pitchFamily="34" charset="-120"/>
              </a:rPr>
              <a:t>Fragment 1</a:t>
            </a:r>
            <a:endParaRPr lang="en-US" sz="1050" dirty="0"/>
          </a:p>
        </p:txBody>
      </p:sp>
      <p:sp>
        <p:nvSpPr>
          <p:cNvPr id="34" name="Shape 31"/>
          <p:cNvSpPr/>
          <p:nvPr/>
        </p:nvSpPr>
        <p:spPr>
          <a:xfrm>
            <a:off x="2514600" y="2569464"/>
            <a:ext cx="128016" cy="877824"/>
          </a:xfrm>
          <a:prstGeom prst="rect">
            <a:avLst/>
          </a:prstGeom>
          <a:solidFill>
            <a:srgbClr val="D49A00">
              <a:alpha val="80000"/>
            </a:srgbClr>
          </a:solidFill>
          <a:ln w="12700">
            <a:solidFill>
              <a:srgbClr val="D49A00"/>
            </a:solidFill>
            <a:prstDash val="solid"/>
          </a:ln>
        </p:spPr>
      </p:sp>
      <p:sp>
        <p:nvSpPr>
          <p:cNvPr id="35" name="Text 32"/>
          <p:cNvSpPr txBox="1"/>
          <p:nvPr/>
        </p:nvSpPr>
        <p:spPr>
          <a:xfrm>
            <a:off x="2743200" y="2898648"/>
            <a:ext cx="914400" cy="2286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Fragment 2</a:t>
            </a:r>
            <a:endParaRPr lang="en-US" sz="1050" dirty="0"/>
          </a:p>
        </p:txBody>
      </p:sp>
      <p:sp>
        <p:nvSpPr>
          <p:cNvPr id="36" name="Shape 33"/>
          <p:cNvSpPr/>
          <p:nvPr/>
        </p:nvSpPr>
        <p:spPr>
          <a:xfrm>
            <a:off x="2560320" y="3264408"/>
            <a:ext cx="128016" cy="877824"/>
          </a:xfrm>
          <a:prstGeom prst="rect">
            <a:avLst/>
          </a:prstGeom>
          <a:solidFill>
            <a:srgbClr val="0E7C86">
              <a:alpha val="80000"/>
            </a:srgbClr>
          </a:solidFill>
          <a:ln w="12700">
            <a:solidFill>
              <a:srgbClr val="0E7C86"/>
            </a:solidFill>
            <a:prstDash val="solid"/>
          </a:ln>
        </p:spPr>
      </p:sp>
      <p:sp>
        <p:nvSpPr>
          <p:cNvPr id="37" name="Text 34"/>
          <p:cNvSpPr txBox="1"/>
          <p:nvPr/>
        </p:nvSpPr>
        <p:spPr>
          <a:xfrm>
            <a:off x="2788920" y="3593592"/>
            <a:ext cx="914400" cy="22860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Fragment 3</a:t>
            </a:r>
            <a:endParaRPr lang="en-US" sz="1050" dirty="0"/>
          </a:p>
        </p:txBody>
      </p:sp>
      <p:sp>
        <p:nvSpPr>
          <p:cNvPr id="38" name="Text 35"/>
          <p:cNvSpPr txBox="1"/>
          <p:nvPr/>
        </p:nvSpPr>
        <p:spPr>
          <a:xfrm>
            <a:off x="640080" y="4224528"/>
            <a:ext cx="2743200" cy="384048"/>
          </a:xfrm>
          <a:prstGeom prst="rect">
            <a:avLst/>
          </a:prstGeom>
          <a:noFill/>
          <a:ln/>
        </p:spPr>
        <p:txBody>
          <a:bodyPr wrap="square" lIns="0" tIns="0" rIns="0" bIns="0" rtlCol="0" anchor="ctr"/>
          <a:lstStyle/>
          <a:p>
            <a:pPr marL="0" indent="0">
              <a:buNone/>
            </a:pPr>
            <a:r>
              <a:rPr lang="en-US" sz="1000" i="1" dirty="0">
                <a:solidFill>
                  <a:srgbClr val="5E6964"/>
                </a:solidFill>
                <a:latin typeface="Calibri" pitchFamily="34" charset="0"/>
                <a:ea typeface="Calibri" pitchFamily="34" charset="-122"/>
                <a:cs typeface="Calibri" pitchFamily="34" charset="-120"/>
              </a:rPr>
              <a:t>Le chevauchement préserve les phrases situées à cheval sur deux fragments.</a:t>
            </a:r>
            <a:endParaRPr lang="en-US" sz="1000" dirty="0"/>
          </a:p>
        </p:txBody>
      </p:sp>
      <p:sp>
        <p:nvSpPr>
          <p:cNvPr id="39" name="Text 36"/>
          <p:cNvSpPr txBox="1"/>
          <p:nvPr/>
        </p:nvSpPr>
        <p:spPr>
          <a:xfrm>
            <a:off x="3749040" y="1325880"/>
            <a:ext cx="27432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Stratégies courantes</a:t>
            </a:r>
            <a:endParaRPr lang="en-US" sz="1500" dirty="0"/>
          </a:p>
        </p:txBody>
      </p:sp>
      <p:sp>
        <p:nvSpPr>
          <p:cNvPr id="40" name="Shape 37"/>
          <p:cNvSpPr/>
          <p:nvPr/>
        </p:nvSpPr>
        <p:spPr>
          <a:xfrm>
            <a:off x="3749040" y="1746504"/>
            <a:ext cx="274320" cy="274320"/>
          </a:xfrm>
          <a:prstGeom prst="ellipse">
            <a:avLst/>
          </a:prstGeom>
          <a:solidFill>
            <a:srgbClr val="00A86A"/>
          </a:solidFill>
          <a:ln w="12700">
            <a:solidFill>
              <a:srgbClr val="00A86A"/>
            </a:solidFill>
            <a:prstDash val="solid"/>
          </a:ln>
        </p:spPr>
      </p:sp>
      <p:sp>
        <p:nvSpPr>
          <p:cNvPr id="41" name="Text 38"/>
          <p:cNvSpPr txBox="1"/>
          <p:nvPr/>
        </p:nvSpPr>
        <p:spPr>
          <a:xfrm>
            <a:off x="3749040" y="174650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42" name="Text 39"/>
          <p:cNvSpPr txBox="1"/>
          <p:nvPr/>
        </p:nvSpPr>
        <p:spPr>
          <a:xfrm>
            <a:off x="4160520" y="1691640"/>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Taille fixe + chevauchement</a:t>
            </a:r>
            <a:endParaRPr lang="en-US" sz="1250" dirty="0"/>
          </a:p>
        </p:txBody>
      </p:sp>
      <p:sp>
        <p:nvSpPr>
          <p:cNvPr id="43" name="Text 40"/>
          <p:cNvSpPr txBox="1"/>
          <p:nvPr/>
        </p:nvSpPr>
        <p:spPr>
          <a:xfrm>
            <a:off x="4160520" y="1901952"/>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Simple et prévisible ; peut couper une idée en pleine phrase.</a:t>
            </a:r>
            <a:endParaRPr lang="en-US" sz="1100" dirty="0"/>
          </a:p>
        </p:txBody>
      </p:sp>
      <p:sp>
        <p:nvSpPr>
          <p:cNvPr id="44" name="Shape 41"/>
          <p:cNvSpPr/>
          <p:nvPr/>
        </p:nvSpPr>
        <p:spPr>
          <a:xfrm>
            <a:off x="3749040" y="2276856"/>
            <a:ext cx="274320" cy="274320"/>
          </a:xfrm>
          <a:prstGeom prst="ellipse">
            <a:avLst/>
          </a:prstGeom>
          <a:solidFill>
            <a:srgbClr val="00A86A"/>
          </a:solidFill>
          <a:ln w="12700">
            <a:solidFill>
              <a:srgbClr val="00A86A"/>
            </a:solidFill>
            <a:prstDash val="solid"/>
          </a:ln>
        </p:spPr>
      </p:sp>
      <p:sp>
        <p:nvSpPr>
          <p:cNvPr id="45" name="Text 42"/>
          <p:cNvSpPr txBox="1"/>
          <p:nvPr/>
        </p:nvSpPr>
        <p:spPr>
          <a:xfrm>
            <a:off x="3749040" y="227685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46" name="Text 43"/>
          <p:cNvSpPr txBox="1"/>
          <p:nvPr/>
        </p:nvSpPr>
        <p:spPr>
          <a:xfrm>
            <a:off x="4160520" y="2221992"/>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Découpage récursif</a:t>
            </a:r>
            <a:endParaRPr lang="en-US" sz="1250" dirty="0"/>
          </a:p>
        </p:txBody>
      </p:sp>
      <p:sp>
        <p:nvSpPr>
          <p:cNvPr id="47" name="Text 44"/>
          <p:cNvSpPr txBox="1"/>
          <p:nvPr/>
        </p:nvSpPr>
        <p:spPr>
          <a:xfrm>
            <a:off x="4160520" y="2432304"/>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Coupe par paragraphes, puis phrases, puis mots, jusqu'à la bonne taille.</a:t>
            </a:r>
            <a:endParaRPr lang="en-US" sz="1100" dirty="0"/>
          </a:p>
        </p:txBody>
      </p:sp>
      <p:sp>
        <p:nvSpPr>
          <p:cNvPr id="48" name="Shape 45"/>
          <p:cNvSpPr/>
          <p:nvPr/>
        </p:nvSpPr>
        <p:spPr>
          <a:xfrm>
            <a:off x="3749040" y="2807208"/>
            <a:ext cx="274320" cy="274320"/>
          </a:xfrm>
          <a:prstGeom prst="ellipse">
            <a:avLst/>
          </a:prstGeom>
          <a:solidFill>
            <a:srgbClr val="00A86A"/>
          </a:solidFill>
          <a:ln w="12700">
            <a:solidFill>
              <a:srgbClr val="00A86A"/>
            </a:solidFill>
            <a:prstDash val="solid"/>
          </a:ln>
        </p:spPr>
      </p:sp>
      <p:sp>
        <p:nvSpPr>
          <p:cNvPr id="49" name="Text 46"/>
          <p:cNvSpPr txBox="1"/>
          <p:nvPr/>
        </p:nvSpPr>
        <p:spPr>
          <a:xfrm>
            <a:off x="3749040" y="2807208"/>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50" name="Text 47"/>
          <p:cNvSpPr txBox="1"/>
          <p:nvPr/>
        </p:nvSpPr>
        <p:spPr>
          <a:xfrm>
            <a:off x="4160520" y="2752344"/>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Découpage sémantique</a:t>
            </a:r>
            <a:endParaRPr lang="en-US" sz="1250" dirty="0"/>
          </a:p>
        </p:txBody>
      </p:sp>
      <p:sp>
        <p:nvSpPr>
          <p:cNvPr id="51" name="Text 48"/>
          <p:cNvSpPr txBox="1"/>
          <p:nvPr/>
        </p:nvSpPr>
        <p:spPr>
          <a:xfrm>
            <a:off x="4160520" y="2962656"/>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Nouveau fragment là où la similarité entre phrases chute.</a:t>
            </a:r>
            <a:endParaRPr lang="en-US" sz="1100" dirty="0"/>
          </a:p>
        </p:txBody>
      </p:sp>
      <p:sp>
        <p:nvSpPr>
          <p:cNvPr id="52" name="Shape 49"/>
          <p:cNvSpPr/>
          <p:nvPr/>
        </p:nvSpPr>
        <p:spPr>
          <a:xfrm>
            <a:off x="3749040" y="3337560"/>
            <a:ext cx="274320" cy="274320"/>
          </a:xfrm>
          <a:prstGeom prst="ellipse">
            <a:avLst/>
          </a:prstGeom>
          <a:solidFill>
            <a:srgbClr val="00A86A"/>
          </a:solidFill>
          <a:ln w="12700">
            <a:solidFill>
              <a:srgbClr val="00A86A"/>
            </a:solidFill>
            <a:prstDash val="solid"/>
          </a:ln>
        </p:spPr>
      </p:sp>
      <p:sp>
        <p:nvSpPr>
          <p:cNvPr id="53" name="Text 50"/>
          <p:cNvSpPr txBox="1"/>
          <p:nvPr/>
        </p:nvSpPr>
        <p:spPr>
          <a:xfrm>
            <a:off x="3749040" y="333756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4" name="Text 51"/>
          <p:cNvSpPr txBox="1"/>
          <p:nvPr/>
        </p:nvSpPr>
        <p:spPr>
          <a:xfrm>
            <a:off x="4160520" y="3282696"/>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Selon la structure</a:t>
            </a:r>
            <a:endParaRPr lang="en-US" sz="1250" dirty="0"/>
          </a:p>
        </p:txBody>
      </p:sp>
      <p:sp>
        <p:nvSpPr>
          <p:cNvPr id="55" name="Text 52"/>
          <p:cNvSpPr txBox="1"/>
          <p:nvPr/>
        </p:nvSpPr>
        <p:spPr>
          <a:xfrm>
            <a:off x="4160520" y="3493008"/>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Suit les titres, sections, tableaux, blocs de code ou la structure Markdown.</a:t>
            </a:r>
            <a:endParaRPr lang="en-US" sz="1100" dirty="0"/>
          </a:p>
        </p:txBody>
      </p:sp>
      <p:sp>
        <p:nvSpPr>
          <p:cNvPr id="56" name="Shape 53"/>
          <p:cNvSpPr/>
          <p:nvPr/>
        </p:nvSpPr>
        <p:spPr>
          <a:xfrm>
            <a:off x="3749040" y="3886200"/>
            <a:ext cx="2377440" cy="777240"/>
          </a:xfrm>
          <a:prstGeom prst="roundRect">
            <a:avLst>
              <a:gd name="adj" fmla="val 9412"/>
            </a:avLst>
          </a:prstGeom>
          <a:solidFill>
            <a:srgbClr val="B83B2E">
              <a:alpha val="10000"/>
            </a:srgbClr>
          </a:solidFill>
          <a:ln w="9525">
            <a:solidFill>
              <a:srgbClr val="B83B2E"/>
            </a:solidFill>
            <a:prstDash val="solid"/>
          </a:ln>
        </p:spPr>
      </p:sp>
      <p:sp>
        <p:nvSpPr>
          <p:cNvPr id="57" name="Text 54"/>
          <p:cNvSpPr txBox="1"/>
          <p:nvPr/>
        </p:nvSpPr>
        <p:spPr>
          <a:xfrm>
            <a:off x="3886200" y="3931920"/>
            <a:ext cx="2148840" cy="685800"/>
          </a:xfrm>
          <a:prstGeom prst="rect">
            <a:avLst/>
          </a:prstGeom>
          <a:noFill/>
          <a:ln/>
        </p:spPr>
        <p:txBody>
          <a:bodyPr wrap="square" lIns="0" tIns="0" rIns="0" bIns="0" rtlCol="0" anchor="ctr"/>
          <a:lstStyle/>
          <a:p>
            <a:pPr marL="0" indent="0">
              <a:buNone/>
            </a:pPr>
            <a:r>
              <a:rPr lang="en-US" sz="1150" b="1" dirty="0">
                <a:solidFill>
                  <a:srgbClr val="B83B2E"/>
                </a:solidFill>
                <a:latin typeface="Calibri" pitchFamily="34" charset="0"/>
                <a:ea typeface="Calibri" pitchFamily="34" charset="-122"/>
                <a:cs typeface="Calibri" pitchFamily="34" charset="-120"/>
              </a:rPr>
              <a:t>Trop petits
</a:t>
            </a:r>
            <a:r>
              <a:rPr lang="en-US" sz="1150" dirty="0">
                <a:solidFill>
                  <a:srgbClr val="231F20"/>
                </a:solidFill>
                <a:latin typeface="Calibri" pitchFamily="34" charset="0"/>
                <a:ea typeface="Calibri" pitchFamily="34" charset="-122"/>
                <a:cs typeface="Calibri" pitchFamily="34" charset="-120"/>
              </a:rPr>
              <a:t>Correspondance précise, mais contexte perdu.</a:t>
            </a:r>
            <a:endParaRPr lang="en-US" sz="1150" dirty="0"/>
          </a:p>
        </p:txBody>
      </p:sp>
      <p:sp>
        <p:nvSpPr>
          <p:cNvPr id="58" name="Shape 55"/>
          <p:cNvSpPr/>
          <p:nvPr/>
        </p:nvSpPr>
        <p:spPr>
          <a:xfrm>
            <a:off x="6309360" y="3886200"/>
            <a:ext cx="2377440" cy="777240"/>
          </a:xfrm>
          <a:prstGeom prst="roundRect">
            <a:avLst>
              <a:gd name="adj" fmla="val 9412"/>
            </a:avLst>
          </a:prstGeom>
          <a:solidFill>
            <a:srgbClr val="D49A00">
              <a:alpha val="13000"/>
            </a:srgbClr>
          </a:solidFill>
          <a:ln w="9525">
            <a:solidFill>
              <a:srgbClr val="D49A00"/>
            </a:solidFill>
            <a:prstDash val="solid"/>
          </a:ln>
        </p:spPr>
      </p:sp>
      <p:sp>
        <p:nvSpPr>
          <p:cNvPr id="59" name="Text 56"/>
          <p:cNvSpPr txBox="1"/>
          <p:nvPr/>
        </p:nvSpPr>
        <p:spPr>
          <a:xfrm>
            <a:off x="6446520" y="3931920"/>
            <a:ext cx="2148840" cy="68580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Trop grands
</a:t>
            </a:r>
            <a:r>
              <a:rPr lang="en-US" sz="1150" dirty="0">
                <a:solidFill>
                  <a:srgbClr val="231F20"/>
                </a:solidFill>
                <a:latin typeface="Calibri" pitchFamily="34" charset="0"/>
                <a:ea typeface="Calibri" pitchFamily="34" charset="-122"/>
                <a:cs typeface="Calibri" pitchFamily="34" charset="-120"/>
              </a:rPr>
              <a:t>Contexte riche, mais vecteurs dilués et bruités.</a:t>
            </a:r>
            <a:endParaRPr lang="en-US" sz="11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 · ÉTAPE 2 RECHERCHE SÉMANTIQUE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Embeddings : chercher par le sens, pas par les mots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7" name="Shape 14"/>
          <p:cNvSpPr/>
          <p:nvPr/>
        </p:nvSpPr>
        <p:spPr>
          <a:xfrm>
            <a:off x="457200" y="1325880"/>
            <a:ext cx="4114800" cy="3337560"/>
          </a:xfrm>
          <a:prstGeom prst="roundRect">
            <a:avLst>
              <a:gd name="adj" fmla="val 2192"/>
            </a:avLst>
          </a:prstGeom>
          <a:solidFill>
            <a:srgbClr val="F4F7F5"/>
          </a:solidFill>
          <a:ln w="9525">
            <a:solidFill>
              <a:srgbClr val="D5DED9"/>
            </a:solidFill>
            <a:prstDash val="solid"/>
          </a:ln>
        </p:spPr>
      </p:sp>
      <p:sp>
        <p:nvSpPr>
          <p:cNvPr id="18" name="Text 15"/>
          <p:cNvSpPr txBox="1"/>
          <p:nvPr/>
        </p:nvSpPr>
        <p:spPr>
          <a:xfrm>
            <a:off x="640080" y="1417320"/>
            <a:ext cx="3749040" cy="228600"/>
          </a:xfrm>
          <a:prstGeom prst="rect">
            <a:avLst/>
          </a:prstGeom>
          <a:noFill/>
          <a:ln/>
        </p:spPr>
        <p:txBody>
          <a:bodyPr wrap="square" lIns="0" tIns="0" rIns="0" bIns="0" rtlCol="0" anchor="ctr"/>
          <a:lstStyle/>
          <a:p>
            <a:pPr marL="0" indent="0">
              <a:buNone/>
            </a:pPr>
            <a:r>
              <a:rPr lang="en-US" sz="1000" i="1" dirty="0">
                <a:solidFill>
                  <a:srgbClr val="5E6964"/>
                </a:solidFill>
                <a:latin typeface="Calibri" pitchFamily="34" charset="0"/>
                <a:ea typeface="Calibri" pitchFamily="34" charset="-122"/>
                <a:cs typeface="Calibri" pitchFamily="34" charset="-120"/>
              </a:rPr>
              <a:t>Espace d'embedding (projection 2D, illustrative)</a:t>
            </a:r>
            <a:endParaRPr lang="en-US" sz="1000" dirty="0"/>
          </a:p>
        </p:txBody>
      </p:sp>
      <p:sp>
        <p:nvSpPr>
          <p:cNvPr id="19" name="Shape 16"/>
          <p:cNvSpPr/>
          <p:nvPr/>
        </p:nvSpPr>
        <p:spPr>
          <a:xfrm>
            <a:off x="1362456" y="2368296"/>
            <a:ext cx="109728" cy="109728"/>
          </a:xfrm>
          <a:prstGeom prst="ellipse">
            <a:avLst/>
          </a:prstGeom>
          <a:solidFill>
            <a:srgbClr val="00A86A"/>
          </a:solidFill>
          <a:ln w="12700">
            <a:solidFill>
              <a:srgbClr val="00A86A"/>
            </a:solidFill>
            <a:prstDash val="solid"/>
          </a:ln>
        </p:spPr>
      </p:sp>
      <p:sp>
        <p:nvSpPr>
          <p:cNvPr id="20" name="Shape 17"/>
          <p:cNvSpPr/>
          <p:nvPr/>
        </p:nvSpPr>
        <p:spPr>
          <a:xfrm>
            <a:off x="1636776" y="2505456"/>
            <a:ext cx="109728" cy="109728"/>
          </a:xfrm>
          <a:prstGeom prst="ellipse">
            <a:avLst/>
          </a:prstGeom>
          <a:solidFill>
            <a:srgbClr val="00A86A"/>
          </a:solidFill>
          <a:ln w="12700">
            <a:solidFill>
              <a:srgbClr val="00A86A"/>
            </a:solidFill>
            <a:prstDash val="solid"/>
          </a:ln>
        </p:spPr>
      </p:sp>
      <p:sp>
        <p:nvSpPr>
          <p:cNvPr id="21" name="Shape 18"/>
          <p:cNvSpPr/>
          <p:nvPr/>
        </p:nvSpPr>
        <p:spPr>
          <a:xfrm>
            <a:off x="1133856" y="2596896"/>
            <a:ext cx="109728" cy="109728"/>
          </a:xfrm>
          <a:prstGeom prst="ellipse">
            <a:avLst/>
          </a:prstGeom>
          <a:solidFill>
            <a:srgbClr val="00A86A"/>
          </a:solidFill>
          <a:ln w="12700">
            <a:solidFill>
              <a:srgbClr val="00A86A"/>
            </a:solidFill>
            <a:prstDash val="solid"/>
          </a:ln>
        </p:spPr>
      </p:sp>
      <p:sp>
        <p:nvSpPr>
          <p:cNvPr id="22" name="Shape 19"/>
          <p:cNvSpPr/>
          <p:nvPr/>
        </p:nvSpPr>
        <p:spPr>
          <a:xfrm>
            <a:off x="1453896" y="2093976"/>
            <a:ext cx="109728" cy="109728"/>
          </a:xfrm>
          <a:prstGeom prst="ellipse">
            <a:avLst/>
          </a:prstGeom>
          <a:solidFill>
            <a:srgbClr val="00A86A"/>
          </a:solidFill>
          <a:ln w="12700">
            <a:solidFill>
              <a:srgbClr val="00A86A"/>
            </a:solidFill>
            <a:prstDash val="solid"/>
          </a:ln>
        </p:spPr>
      </p:sp>
      <p:sp>
        <p:nvSpPr>
          <p:cNvPr id="23" name="Shape 20"/>
          <p:cNvSpPr/>
          <p:nvPr/>
        </p:nvSpPr>
        <p:spPr>
          <a:xfrm>
            <a:off x="1728216" y="2185416"/>
            <a:ext cx="109728" cy="109728"/>
          </a:xfrm>
          <a:prstGeom prst="ellipse">
            <a:avLst/>
          </a:prstGeom>
          <a:solidFill>
            <a:srgbClr val="00A86A"/>
          </a:solidFill>
          <a:ln w="12700">
            <a:solidFill>
              <a:srgbClr val="00A86A"/>
            </a:solidFill>
            <a:prstDash val="solid"/>
          </a:ln>
        </p:spPr>
      </p:sp>
      <p:sp>
        <p:nvSpPr>
          <p:cNvPr id="24" name="Shape 21"/>
          <p:cNvSpPr/>
          <p:nvPr/>
        </p:nvSpPr>
        <p:spPr>
          <a:xfrm>
            <a:off x="1088136" y="2231136"/>
            <a:ext cx="109728" cy="109728"/>
          </a:xfrm>
          <a:prstGeom prst="ellipse">
            <a:avLst/>
          </a:prstGeom>
          <a:solidFill>
            <a:srgbClr val="00A86A"/>
          </a:solidFill>
          <a:ln w="12700">
            <a:solidFill>
              <a:srgbClr val="00A86A"/>
            </a:solidFill>
            <a:prstDash val="solid"/>
          </a:ln>
        </p:spPr>
      </p:sp>
      <p:sp>
        <p:nvSpPr>
          <p:cNvPr id="25" name="Text 22"/>
          <p:cNvSpPr txBox="1"/>
          <p:nvPr/>
        </p:nvSpPr>
        <p:spPr>
          <a:xfrm>
            <a:off x="685800" y="1856232"/>
            <a:ext cx="1463040" cy="201168"/>
          </a:xfrm>
          <a:prstGeom prst="rect">
            <a:avLst/>
          </a:prstGeom>
          <a:noFill/>
          <a:ln/>
        </p:spPr>
        <p:txBody>
          <a:bodyPr wrap="square" lIns="0" tIns="0" rIns="0" bIns="0" rtlCol="0" anchor="ctr"/>
          <a:lstStyle/>
          <a:p>
            <a:pPr marL="0" indent="0" algn="ctr">
              <a:buNone/>
            </a:pPr>
            <a:r>
              <a:rPr lang="en-US" sz="1000" b="1" dirty="0">
                <a:solidFill>
                  <a:srgbClr val="00A86A"/>
                </a:solidFill>
                <a:latin typeface="Calibri" pitchFamily="34" charset="0"/>
                <a:ea typeface="Calibri" pitchFamily="34" charset="-122"/>
                <a:cs typeface="Calibri" pitchFamily="34" charset="-120"/>
              </a:rPr>
              <a:t>Remboursements</a:t>
            </a:r>
            <a:endParaRPr lang="en-US" sz="1000" dirty="0"/>
          </a:p>
        </p:txBody>
      </p:sp>
      <p:sp>
        <p:nvSpPr>
          <p:cNvPr id="26" name="Shape 23"/>
          <p:cNvSpPr/>
          <p:nvPr/>
        </p:nvSpPr>
        <p:spPr>
          <a:xfrm>
            <a:off x="3465576" y="2093976"/>
            <a:ext cx="109728" cy="109728"/>
          </a:xfrm>
          <a:prstGeom prst="ellipse">
            <a:avLst/>
          </a:prstGeom>
          <a:solidFill>
            <a:srgbClr val="D49A00"/>
          </a:solidFill>
          <a:ln w="12700">
            <a:solidFill>
              <a:srgbClr val="D49A00"/>
            </a:solidFill>
            <a:prstDash val="solid"/>
          </a:ln>
        </p:spPr>
      </p:sp>
      <p:sp>
        <p:nvSpPr>
          <p:cNvPr id="27" name="Shape 24"/>
          <p:cNvSpPr/>
          <p:nvPr/>
        </p:nvSpPr>
        <p:spPr>
          <a:xfrm>
            <a:off x="3694176" y="2276856"/>
            <a:ext cx="109728" cy="109728"/>
          </a:xfrm>
          <a:prstGeom prst="ellipse">
            <a:avLst/>
          </a:prstGeom>
          <a:solidFill>
            <a:srgbClr val="D49A00"/>
          </a:solidFill>
          <a:ln w="12700">
            <a:solidFill>
              <a:srgbClr val="D49A00"/>
            </a:solidFill>
            <a:prstDash val="solid"/>
          </a:ln>
        </p:spPr>
      </p:sp>
      <p:sp>
        <p:nvSpPr>
          <p:cNvPr id="28" name="Shape 25"/>
          <p:cNvSpPr/>
          <p:nvPr/>
        </p:nvSpPr>
        <p:spPr>
          <a:xfrm>
            <a:off x="3236976" y="2185416"/>
            <a:ext cx="109728" cy="109728"/>
          </a:xfrm>
          <a:prstGeom prst="ellipse">
            <a:avLst/>
          </a:prstGeom>
          <a:solidFill>
            <a:srgbClr val="D49A00"/>
          </a:solidFill>
          <a:ln w="12700">
            <a:solidFill>
              <a:srgbClr val="D49A00"/>
            </a:solidFill>
            <a:prstDash val="solid"/>
          </a:ln>
        </p:spPr>
      </p:sp>
      <p:sp>
        <p:nvSpPr>
          <p:cNvPr id="29" name="Shape 26"/>
          <p:cNvSpPr/>
          <p:nvPr/>
        </p:nvSpPr>
        <p:spPr>
          <a:xfrm>
            <a:off x="3602736" y="1865376"/>
            <a:ext cx="109728" cy="109728"/>
          </a:xfrm>
          <a:prstGeom prst="ellipse">
            <a:avLst/>
          </a:prstGeom>
          <a:solidFill>
            <a:srgbClr val="D49A00"/>
          </a:solidFill>
          <a:ln w="12700">
            <a:solidFill>
              <a:srgbClr val="D49A00"/>
            </a:solidFill>
            <a:prstDash val="solid"/>
          </a:ln>
        </p:spPr>
      </p:sp>
      <p:sp>
        <p:nvSpPr>
          <p:cNvPr id="30" name="Shape 27"/>
          <p:cNvSpPr/>
          <p:nvPr/>
        </p:nvSpPr>
        <p:spPr>
          <a:xfrm>
            <a:off x="3374136" y="2414016"/>
            <a:ext cx="109728" cy="109728"/>
          </a:xfrm>
          <a:prstGeom prst="ellipse">
            <a:avLst/>
          </a:prstGeom>
          <a:solidFill>
            <a:srgbClr val="D49A00"/>
          </a:solidFill>
          <a:ln w="12700">
            <a:solidFill>
              <a:srgbClr val="D49A00"/>
            </a:solidFill>
            <a:prstDash val="solid"/>
          </a:ln>
        </p:spPr>
      </p:sp>
      <p:sp>
        <p:nvSpPr>
          <p:cNvPr id="31" name="Shape 28"/>
          <p:cNvSpPr/>
          <p:nvPr/>
        </p:nvSpPr>
        <p:spPr>
          <a:xfrm>
            <a:off x="3785616" y="2048256"/>
            <a:ext cx="109728" cy="109728"/>
          </a:xfrm>
          <a:prstGeom prst="ellipse">
            <a:avLst/>
          </a:prstGeom>
          <a:solidFill>
            <a:srgbClr val="D49A00"/>
          </a:solidFill>
          <a:ln w="12700">
            <a:solidFill>
              <a:srgbClr val="D49A00"/>
            </a:solidFill>
            <a:prstDash val="solid"/>
          </a:ln>
        </p:spPr>
      </p:sp>
      <p:sp>
        <p:nvSpPr>
          <p:cNvPr id="32" name="Text 29"/>
          <p:cNvSpPr txBox="1"/>
          <p:nvPr/>
        </p:nvSpPr>
        <p:spPr>
          <a:xfrm>
            <a:off x="2788920" y="2532888"/>
            <a:ext cx="1463040" cy="201168"/>
          </a:xfrm>
          <a:prstGeom prst="rect">
            <a:avLst/>
          </a:prstGeom>
          <a:noFill/>
          <a:ln/>
        </p:spPr>
        <p:txBody>
          <a:bodyPr wrap="square" lIns="0" tIns="0" rIns="0" bIns="0" rtlCol="0" anchor="ctr"/>
          <a:lstStyle/>
          <a:p>
            <a:pPr marL="0" indent="0" algn="ctr">
              <a:buNone/>
            </a:pPr>
            <a:r>
              <a:rPr lang="en-US" sz="1000" b="1" dirty="0">
                <a:solidFill>
                  <a:srgbClr val="D49A00"/>
                </a:solidFill>
                <a:latin typeface="Calibri" pitchFamily="34" charset="0"/>
                <a:ea typeface="Calibri" pitchFamily="34" charset="-122"/>
                <a:cs typeface="Calibri" pitchFamily="34" charset="-120"/>
              </a:rPr>
              <a:t>Délais de livraison</a:t>
            </a:r>
            <a:endParaRPr lang="en-US" sz="1000" dirty="0"/>
          </a:p>
        </p:txBody>
      </p:sp>
      <p:sp>
        <p:nvSpPr>
          <p:cNvPr id="33" name="Shape 30"/>
          <p:cNvSpPr/>
          <p:nvPr/>
        </p:nvSpPr>
        <p:spPr>
          <a:xfrm>
            <a:off x="2962656" y="3557016"/>
            <a:ext cx="109728" cy="109728"/>
          </a:xfrm>
          <a:prstGeom prst="ellipse">
            <a:avLst/>
          </a:prstGeom>
          <a:solidFill>
            <a:srgbClr val="0E7C86"/>
          </a:solidFill>
          <a:ln w="12700">
            <a:solidFill>
              <a:srgbClr val="0E7C86"/>
            </a:solidFill>
            <a:prstDash val="solid"/>
          </a:ln>
        </p:spPr>
      </p:sp>
      <p:sp>
        <p:nvSpPr>
          <p:cNvPr id="34" name="Shape 31"/>
          <p:cNvSpPr/>
          <p:nvPr/>
        </p:nvSpPr>
        <p:spPr>
          <a:xfrm>
            <a:off x="3236976" y="3648456"/>
            <a:ext cx="109728" cy="109728"/>
          </a:xfrm>
          <a:prstGeom prst="ellipse">
            <a:avLst/>
          </a:prstGeom>
          <a:solidFill>
            <a:srgbClr val="0E7C86"/>
          </a:solidFill>
          <a:ln w="12700">
            <a:solidFill>
              <a:srgbClr val="0E7C86"/>
            </a:solidFill>
            <a:prstDash val="solid"/>
          </a:ln>
        </p:spPr>
      </p:sp>
      <p:sp>
        <p:nvSpPr>
          <p:cNvPr id="35" name="Shape 32"/>
          <p:cNvSpPr/>
          <p:nvPr/>
        </p:nvSpPr>
        <p:spPr>
          <a:xfrm>
            <a:off x="2688336" y="3602736"/>
            <a:ext cx="109728" cy="109728"/>
          </a:xfrm>
          <a:prstGeom prst="ellipse">
            <a:avLst/>
          </a:prstGeom>
          <a:solidFill>
            <a:srgbClr val="0E7C86"/>
          </a:solidFill>
          <a:ln w="12700">
            <a:solidFill>
              <a:srgbClr val="0E7C86"/>
            </a:solidFill>
            <a:prstDash val="solid"/>
          </a:ln>
        </p:spPr>
      </p:sp>
      <p:sp>
        <p:nvSpPr>
          <p:cNvPr id="36" name="Shape 33"/>
          <p:cNvSpPr/>
          <p:nvPr/>
        </p:nvSpPr>
        <p:spPr>
          <a:xfrm>
            <a:off x="3054096" y="3328416"/>
            <a:ext cx="109728" cy="109728"/>
          </a:xfrm>
          <a:prstGeom prst="ellipse">
            <a:avLst/>
          </a:prstGeom>
          <a:solidFill>
            <a:srgbClr val="0E7C86"/>
          </a:solidFill>
          <a:ln w="12700">
            <a:solidFill>
              <a:srgbClr val="0E7C86"/>
            </a:solidFill>
            <a:prstDash val="solid"/>
          </a:ln>
        </p:spPr>
      </p:sp>
      <p:sp>
        <p:nvSpPr>
          <p:cNvPr id="37" name="Shape 34"/>
          <p:cNvSpPr/>
          <p:nvPr/>
        </p:nvSpPr>
        <p:spPr>
          <a:xfrm>
            <a:off x="2825496" y="3785616"/>
            <a:ext cx="109728" cy="109728"/>
          </a:xfrm>
          <a:prstGeom prst="ellipse">
            <a:avLst/>
          </a:prstGeom>
          <a:solidFill>
            <a:srgbClr val="0E7C86"/>
          </a:solidFill>
          <a:ln w="12700">
            <a:solidFill>
              <a:srgbClr val="0E7C86"/>
            </a:solidFill>
            <a:prstDash val="solid"/>
          </a:ln>
        </p:spPr>
      </p:sp>
      <p:sp>
        <p:nvSpPr>
          <p:cNvPr id="38" name="Shape 35"/>
          <p:cNvSpPr/>
          <p:nvPr/>
        </p:nvSpPr>
        <p:spPr>
          <a:xfrm>
            <a:off x="3328416" y="3374136"/>
            <a:ext cx="109728" cy="109728"/>
          </a:xfrm>
          <a:prstGeom prst="ellipse">
            <a:avLst/>
          </a:prstGeom>
          <a:solidFill>
            <a:srgbClr val="0E7C86"/>
          </a:solidFill>
          <a:ln w="12700">
            <a:solidFill>
              <a:srgbClr val="0E7C86"/>
            </a:solidFill>
            <a:prstDash val="solid"/>
          </a:ln>
        </p:spPr>
      </p:sp>
      <p:sp>
        <p:nvSpPr>
          <p:cNvPr id="39" name="Text 36"/>
          <p:cNvSpPr txBox="1"/>
          <p:nvPr/>
        </p:nvSpPr>
        <p:spPr>
          <a:xfrm>
            <a:off x="2286000" y="3995928"/>
            <a:ext cx="1463040" cy="201168"/>
          </a:xfrm>
          <a:prstGeom prst="rect">
            <a:avLst/>
          </a:prstGeom>
          <a:noFill/>
          <a:ln/>
        </p:spPr>
        <p:txBody>
          <a:bodyPr wrap="square" lIns="0" tIns="0" rIns="0" bIns="0" rtlCol="0" anchor="ctr"/>
          <a:lstStyle/>
          <a:p>
            <a:pPr marL="0" indent="0" algn="ctr">
              <a:buNone/>
            </a:pPr>
            <a:r>
              <a:rPr lang="en-US" sz="1000" b="1" dirty="0">
                <a:solidFill>
                  <a:srgbClr val="0E7C86"/>
                </a:solidFill>
                <a:latin typeface="Calibri" pitchFamily="34" charset="0"/>
                <a:ea typeface="Calibri" pitchFamily="34" charset="-122"/>
                <a:cs typeface="Calibri" pitchFamily="34" charset="-120"/>
              </a:rPr>
              <a:t>Codes d'erreur API</a:t>
            </a:r>
            <a:endParaRPr lang="en-US" sz="1000" dirty="0"/>
          </a:p>
        </p:txBody>
      </p:sp>
      <p:sp>
        <p:nvSpPr>
          <p:cNvPr id="40" name="Shape 37"/>
          <p:cNvSpPr/>
          <p:nvPr/>
        </p:nvSpPr>
        <p:spPr>
          <a:xfrm>
            <a:off x="1188720" y="2057400"/>
            <a:ext cx="960120" cy="960120"/>
          </a:xfrm>
          <a:prstGeom prst="ellipse">
            <a:avLst/>
          </a:prstGeom>
          <a:solidFill>
            <a:srgbClr val="00A86A">
              <a:alpha val="8000"/>
            </a:srgbClr>
          </a:solidFill>
          <a:ln w="12700">
            <a:solidFill>
              <a:srgbClr val="5E6964"/>
            </a:solidFill>
            <a:prstDash val="dash"/>
          </a:ln>
        </p:spPr>
      </p:sp>
      <p:sp>
        <p:nvSpPr>
          <p:cNvPr id="41" name="Shape 38"/>
          <p:cNvSpPr/>
          <p:nvPr/>
        </p:nvSpPr>
        <p:spPr>
          <a:xfrm>
            <a:off x="1673352" y="2560320"/>
            <a:ext cx="219456" cy="219456"/>
          </a:xfrm>
          <a:prstGeom prst="star5">
            <a:avLst/>
          </a:prstGeom>
          <a:solidFill>
            <a:srgbClr val="B83B2E"/>
          </a:solidFill>
          <a:ln w="9525">
            <a:solidFill>
              <a:srgbClr val="FFFFFF"/>
            </a:solidFill>
            <a:prstDash val="solid"/>
          </a:ln>
        </p:spPr>
      </p:sp>
      <p:sp>
        <p:nvSpPr>
          <p:cNvPr id="42" name="Text 39"/>
          <p:cNvSpPr txBox="1"/>
          <p:nvPr/>
        </p:nvSpPr>
        <p:spPr>
          <a:xfrm>
            <a:off x="640080" y="3108960"/>
            <a:ext cx="2743200" cy="201168"/>
          </a:xfrm>
          <a:prstGeom prst="rect">
            <a:avLst/>
          </a:prstGeom>
          <a:noFill/>
          <a:ln/>
        </p:spPr>
        <p:txBody>
          <a:bodyPr wrap="square" lIns="0" tIns="0" rIns="0" bIns="0" rtlCol="0" anchor="ctr"/>
          <a:lstStyle/>
          <a:p>
            <a:pPr marL="0" indent="0">
              <a:buNone/>
            </a:pPr>
            <a:r>
              <a:rPr lang="en-US" sz="1000" b="1" dirty="0">
                <a:solidFill>
                  <a:srgbClr val="B83B2E"/>
                </a:solidFill>
                <a:latin typeface="Calibri" pitchFamily="34" charset="0"/>
                <a:ea typeface="Calibri" pitchFamily="34" charset="-122"/>
                <a:cs typeface="Calibri" pitchFamily="34" charset="-120"/>
              </a:rPr>
              <a:t>Requête : « Comment récupérer mon argent ? »</a:t>
            </a:r>
            <a:endParaRPr lang="en-US" sz="1000" dirty="0"/>
          </a:p>
        </p:txBody>
      </p:sp>
      <p:sp>
        <p:nvSpPr>
          <p:cNvPr id="43" name="Text 40"/>
          <p:cNvSpPr txBox="1"/>
          <p:nvPr/>
        </p:nvSpPr>
        <p:spPr>
          <a:xfrm>
            <a:off x="640080" y="4251960"/>
            <a:ext cx="3749040" cy="347472"/>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Aucun mot commun avec « remboursement », et pourtant son vecteur tombe près de ces passages.</a:t>
            </a:r>
            <a:endParaRPr lang="en-US" sz="1000" dirty="0"/>
          </a:p>
        </p:txBody>
      </p:sp>
      <p:sp>
        <p:nvSpPr>
          <p:cNvPr id="44" name="Text 41"/>
          <p:cNvSpPr txBox="1"/>
          <p:nvPr/>
        </p:nvSpPr>
        <p:spPr>
          <a:xfrm>
            <a:off x="4846320" y="1325880"/>
            <a:ext cx="384048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Mesure de similarité</a:t>
            </a:r>
            <a:endParaRPr lang="en-US" sz="1500" dirty="0"/>
          </a:p>
        </p:txBody>
      </p:sp>
      <p:sp>
        <p:nvSpPr>
          <p:cNvPr id="45" name="Shape 42"/>
          <p:cNvSpPr/>
          <p:nvPr/>
        </p:nvSpPr>
        <p:spPr>
          <a:xfrm>
            <a:off x="4846320" y="1645920"/>
            <a:ext cx="3840480" cy="530352"/>
          </a:xfrm>
          <a:prstGeom prst="roundRect">
            <a:avLst>
              <a:gd name="adj" fmla="val 13793"/>
            </a:avLst>
          </a:prstGeom>
          <a:solidFill>
            <a:srgbClr val="E8F5EF"/>
          </a:solidFill>
          <a:ln w="15875">
            <a:solidFill>
              <a:srgbClr val="00A86A"/>
            </a:solidFill>
            <a:prstDash val="solid"/>
          </a:ln>
        </p:spPr>
      </p:sp>
      <p:sp>
        <p:nvSpPr>
          <p:cNvPr id="46" name="Text 43"/>
          <p:cNvSpPr txBox="1"/>
          <p:nvPr/>
        </p:nvSpPr>
        <p:spPr>
          <a:xfrm>
            <a:off x="4846320" y="1645920"/>
            <a:ext cx="3840480" cy="530352"/>
          </a:xfrm>
          <a:prstGeom prst="rect">
            <a:avLst/>
          </a:prstGeom>
          <a:noFill/>
          <a:ln/>
        </p:spPr>
        <p:txBody>
          <a:bodyPr wrap="square" lIns="0" tIns="0" rIns="0" bIns="0" rtlCol="0" anchor="ctr"/>
          <a:lstStyle/>
          <a:p>
            <a:pPr marL="0" indent="0" algn="ctr">
              <a:buNone/>
            </a:pPr>
            <a:r>
              <a:rPr lang="en-US" sz="1800" b="1" dirty="0">
                <a:solidFill>
                  <a:srgbClr val="00704A"/>
                </a:solidFill>
                <a:latin typeface="Calibri" pitchFamily="34" charset="0"/>
                <a:ea typeface="Calibri" pitchFamily="34" charset="-122"/>
                <a:cs typeface="Calibri" pitchFamily="34" charset="-120"/>
              </a:rPr>
              <a:t>cos(q, d) = (q · d) / (‖q‖ ‖d‖)</a:t>
            </a:r>
            <a:endParaRPr lang="en-US" sz="1800" dirty="0"/>
          </a:p>
        </p:txBody>
      </p:sp>
      <p:sp>
        <p:nvSpPr>
          <p:cNvPr id="47" name="Text 44"/>
          <p:cNvSpPr txBox="1"/>
          <p:nvPr/>
        </p:nvSpPr>
        <p:spPr>
          <a:xfrm>
            <a:off x="4846320" y="2240280"/>
            <a:ext cx="3840480" cy="384048"/>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Score proche de 1 = même sens. Produit scalaire et distance euclidienne sont aussi courants.</a:t>
            </a:r>
            <a:endParaRPr lang="en-US" sz="1100" dirty="0"/>
          </a:p>
        </p:txBody>
      </p:sp>
      <p:sp>
        <p:nvSpPr>
          <p:cNvPr id="48" name="Text 45"/>
          <p:cNvSpPr txBox="1"/>
          <p:nvPr/>
        </p:nvSpPr>
        <p:spPr>
          <a:xfrm>
            <a:off x="4846320" y="2724912"/>
            <a:ext cx="384048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Index de plus proches voisins approchés (ANN)</a:t>
            </a:r>
            <a:endParaRPr lang="en-US" sz="1400" dirty="0"/>
          </a:p>
        </p:txBody>
      </p:sp>
      <p:sp>
        <p:nvSpPr>
          <p:cNvPr id="49" name="Shape 46"/>
          <p:cNvSpPr/>
          <p:nvPr/>
        </p:nvSpPr>
        <p:spPr>
          <a:xfrm>
            <a:off x="4846320" y="3072384"/>
            <a:ext cx="731520" cy="310896"/>
          </a:xfrm>
          <a:prstGeom prst="roundRect">
            <a:avLst>
              <a:gd name="adj" fmla="val 50000"/>
            </a:avLst>
          </a:prstGeom>
          <a:solidFill>
            <a:srgbClr val="00704A">
              <a:alpha val="15000"/>
            </a:srgbClr>
          </a:solidFill>
          <a:ln w="9525">
            <a:solidFill>
              <a:srgbClr val="00704A"/>
            </a:solidFill>
            <a:prstDash val="solid"/>
          </a:ln>
        </p:spPr>
      </p:sp>
      <p:sp>
        <p:nvSpPr>
          <p:cNvPr id="50" name="Text 47"/>
          <p:cNvSpPr txBox="1"/>
          <p:nvPr/>
        </p:nvSpPr>
        <p:spPr>
          <a:xfrm>
            <a:off x="4846320" y="3072384"/>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HNSW</a:t>
            </a:r>
            <a:endParaRPr lang="en-US" sz="1100" dirty="0"/>
          </a:p>
        </p:txBody>
      </p:sp>
      <p:sp>
        <p:nvSpPr>
          <p:cNvPr id="51" name="Text 48"/>
          <p:cNvSpPr txBox="1"/>
          <p:nvPr/>
        </p:nvSpPr>
        <p:spPr>
          <a:xfrm>
            <a:off x="5715000" y="3072384"/>
            <a:ext cx="297180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Graphe de proximité multicouche ; rapide, bon rappel</a:t>
            </a:r>
            <a:endParaRPr lang="en-US" sz="1050" dirty="0"/>
          </a:p>
        </p:txBody>
      </p:sp>
      <p:sp>
        <p:nvSpPr>
          <p:cNvPr id="52" name="Shape 49"/>
          <p:cNvSpPr/>
          <p:nvPr/>
        </p:nvSpPr>
        <p:spPr>
          <a:xfrm>
            <a:off x="4846320" y="3502152"/>
            <a:ext cx="731520" cy="310896"/>
          </a:xfrm>
          <a:prstGeom prst="roundRect">
            <a:avLst>
              <a:gd name="adj" fmla="val 50000"/>
            </a:avLst>
          </a:prstGeom>
          <a:solidFill>
            <a:srgbClr val="00704A">
              <a:alpha val="15000"/>
            </a:srgbClr>
          </a:solidFill>
          <a:ln w="9525">
            <a:solidFill>
              <a:srgbClr val="00704A"/>
            </a:solidFill>
            <a:prstDash val="solid"/>
          </a:ln>
        </p:spPr>
      </p:sp>
      <p:sp>
        <p:nvSpPr>
          <p:cNvPr id="53" name="Text 50"/>
          <p:cNvSpPr txBox="1"/>
          <p:nvPr/>
        </p:nvSpPr>
        <p:spPr>
          <a:xfrm>
            <a:off x="4846320" y="3502152"/>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IVF</a:t>
            </a:r>
            <a:endParaRPr lang="en-US" sz="1100" dirty="0"/>
          </a:p>
        </p:txBody>
      </p:sp>
      <p:sp>
        <p:nvSpPr>
          <p:cNvPr id="54" name="Text 51"/>
          <p:cNvSpPr txBox="1"/>
          <p:nvPr/>
        </p:nvSpPr>
        <p:spPr>
          <a:xfrm>
            <a:off x="5715000" y="3502152"/>
            <a:ext cx="297180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Regroupe les vecteurs ; ne fouille que les groupes proches</a:t>
            </a:r>
            <a:endParaRPr lang="en-US" sz="1050" dirty="0"/>
          </a:p>
        </p:txBody>
      </p:sp>
      <p:sp>
        <p:nvSpPr>
          <p:cNvPr id="55" name="Shape 52"/>
          <p:cNvSpPr/>
          <p:nvPr/>
        </p:nvSpPr>
        <p:spPr>
          <a:xfrm>
            <a:off x="4846320" y="3931920"/>
            <a:ext cx="731520" cy="310896"/>
          </a:xfrm>
          <a:prstGeom prst="roundRect">
            <a:avLst>
              <a:gd name="adj" fmla="val 50000"/>
            </a:avLst>
          </a:prstGeom>
          <a:solidFill>
            <a:srgbClr val="00704A">
              <a:alpha val="15000"/>
            </a:srgbClr>
          </a:solidFill>
          <a:ln w="9525">
            <a:solidFill>
              <a:srgbClr val="00704A"/>
            </a:solidFill>
            <a:prstDash val="solid"/>
          </a:ln>
        </p:spPr>
      </p:sp>
      <p:sp>
        <p:nvSpPr>
          <p:cNvPr id="56" name="Text 53"/>
          <p:cNvSpPr txBox="1"/>
          <p:nvPr/>
        </p:nvSpPr>
        <p:spPr>
          <a:xfrm>
            <a:off x="4846320" y="3931920"/>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PQ</a:t>
            </a:r>
            <a:endParaRPr lang="en-US" sz="1100" dirty="0"/>
          </a:p>
        </p:txBody>
      </p:sp>
      <p:sp>
        <p:nvSpPr>
          <p:cNvPr id="57" name="Text 54"/>
          <p:cNvSpPr txBox="1"/>
          <p:nvPr/>
        </p:nvSpPr>
        <p:spPr>
          <a:xfrm>
            <a:off x="5715000" y="3931920"/>
            <a:ext cx="297180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Compresse les vecteurs pour réduire la mémoire</a:t>
            </a:r>
            <a:endParaRPr lang="en-US" sz="1050" dirty="0"/>
          </a:p>
        </p:txBody>
      </p:sp>
      <p:sp>
        <p:nvSpPr>
          <p:cNvPr id="58" name="Text 55"/>
          <p:cNvSpPr txBox="1"/>
          <p:nvPr/>
        </p:nvSpPr>
        <p:spPr>
          <a:xfrm>
            <a:off x="4846320" y="4416552"/>
            <a:ext cx="384048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L'ANN sacrifie un peu d'exactitude pour chercher en millisecondes parmi des millions de vecteurs.</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 · ÉTAPE 3 RÉCUPÉRATION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Creuse, dense, hybride — puis reclassement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325880"/>
            <a:ext cx="2615184" cy="1783080"/>
          </a:xfrm>
          <a:prstGeom prst="roundRect">
            <a:avLst>
              <a:gd name="adj" fmla="val 4103"/>
            </a:avLst>
          </a:prstGeom>
          <a:solidFill>
            <a:srgbClr val="F4F7F5"/>
          </a:solidFill>
          <a:ln w="9525">
            <a:solidFill>
              <a:srgbClr val="D5DED9"/>
            </a:solidFill>
            <a:prstDash val="solid"/>
          </a:ln>
        </p:spPr>
      </p:sp>
      <p:sp>
        <p:nvSpPr>
          <p:cNvPr id="18" name="Shape 15"/>
          <p:cNvSpPr/>
          <p:nvPr/>
        </p:nvSpPr>
        <p:spPr>
          <a:xfrm>
            <a:off x="640080" y="1463040"/>
            <a:ext cx="457200" cy="457200"/>
          </a:xfrm>
          <a:prstGeom prst="ellipse">
            <a:avLst/>
          </a:prstGeom>
          <a:solidFill>
            <a:srgbClr val="C4621D">
              <a:alpha val="22000"/>
            </a:srgbClr>
          </a:solidFill>
          <a:ln w="12700">
            <a:solidFill>
              <a:srgbClr val="C4621D">
                <a:alpha val="0"/>
              </a:srgbClr>
            </a:solidFill>
            <a:prstDash val="solid"/>
          </a:ln>
        </p:spPr>
      </p:sp>
      <p:pic>
        <p:nvPicPr>
          <p:cNvPr id="19" name="Image 0" descr="preencoded.png"/>
          <p:cNvPicPr>
            <a:picLocks noChangeAspect="1"/>
          </p:cNvPicPr>
          <p:nvPr/>
        </p:nvPicPr>
        <p:blipFill>
          <a:blip r:embed="rId3"/>
          <a:stretch>
            <a:fillRect/>
          </a:stretch>
        </p:blipFill>
        <p:spPr>
          <a:xfrm>
            <a:off x="749808" y="1572768"/>
            <a:ext cx="237744" cy="237744"/>
          </a:xfrm>
          <a:prstGeom prst="rect">
            <a:avLst/>
          </a:prstGeom>
        </p:spPr>
      </p:pic>
      <p:sp>
        <p:nvSpPr>
          <p:cNvPr id="20" name="Text 16"/>
          <p:cNvSpPr txBox="1"/>
          <p:nvPr/>
        </p:nvSpPr>
        <p:spPr>
          <a:xfrm>
            <a:off x="1234440"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Creuse · BM25</a:t>
            </a:r>
            <a:endParaRPr lang="en-US" sz="1400" dirty="0"/>
          </a:p>
        </p:txBody>
      </p:sp>
      <p:sp>
        <p:nvSpPr>
          <p:cNvPr id="21" name="Text 17"/>
          <p:cNvSpPr txBox="1"/>
          <p:nvPr/>
        </p:nvSpPr>
        <p:spPr>
          <a:xfrm>
            <a:off x="640080"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Correspondance de mots-clés pondérée par fréquence.</a:t>
            </a:r>
            <a:endParaRPr lang="en-US" sz="1150" dirty="0"/>
          </a:p>
        </p:txBody>
      </p:sp>
      <p:sp>
        <p:nvSpPr>
          <p:cNvPr id="22" name="Text 18"/>
          <p:cNvSpPr txBox="1"/>
          <p:nvPr/>
        </p:nvSpPr>
        <p:spPr>
          <a:xfrm>
            <a:off x="640080" y="2542032"/>
            <a:ext cx="2286000" cy="4572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Idéale pour termes exacts, codes produits, noms, mots rares.</a:t>
            </a:r>
            <a:endParaRPr lang="en-US" sz="1100" dirty="0"/>
          </a:p>
        </p:txBody>
      </p:sp>
      <p:sp>
        <p:nvSpPr>
          <p:cNvPr id="23" name="Shape 19"/>
          <p:cNvSpPr/>
          <p:nvPr/>
        </p:nvSpPr>
        <p:spPr>
          <a:xfrm>
            <a:off x="3264408" y="1325880"/>
            <a:ext cx="2615184" cy="1783080"/>
          </a:xfrm>
          <a:prstGeom prst="roundRect">
            <a:avLst>
              <a:gd name="adj" fmla="val 4103"/>
            </a:avLst>
          </a:prstGeom>
          <a:solidFill>
            <a:srgbClr val="F4F7F5"/>
          </a:solidFill>
          <a:ln w="9525">
            <a:solidFill>
              <a:srgbClr val="D5DED9"/>
            </a:solidFill>
            <a:prstDash val="solid"/>
          </a:ln>
        </p:spPr>
      </p:sp>
      <p:sp>
        <p:nvSpPr>
          <p:cNvPr id="24" name="Shape 20"/>
          <p:cNvSpPr/>
          <p:nvPr/>
        </p:nvSpPr>
        <p:spPr>
          <a:xfrm>
            <a:off x="3447288" y="1463040"/>
            <a:ext cx="457200" cy="457200"/>
          </a:xfrm>
          <a:prstGeom prst="ellipse">
            <a:avLst/>
          </a:prstGeom>
          <a:solidFill>
            <a:srgbClr val="0E7C86">
              <a:alpha val="22000"/>
            </a:srgbClr>
          </a:solidFill>
          <a:ln w="12700">
            <a:solidFill>
              <a:srgbClr val="0E7C86">
                <a:alpha val="0"/>
              </a:srgbClr>
            </a:solidFill>
            <a:prstDash val="solid"/>
          </a:ln>
        </p:spPr>
      </p:sp>
      <p:pic>
        <p:nvPicPr>
          <p:cNvPr id="25" name="Image 1" descr="preencoded.png"/>
          <p:cNvPicPr>
            <a:picLocks noChangeAspect="1"/>
          </p:cNvPicPr>
          <p:nvPr/>
        </p:nvPicPr>
        <p:blipFill>
          <a:blip r:embed="rId4"/>
          <a:stretch>
            <a:fillRect/>
          </a:stretch>
        </p:blipFill>
        <p:spPr>
          <a:xfrm>
            <a:off x="3557016" y="1572768"/>
            <a:ext cx="237744" cy="237744"/>
          </a:xfrm>
          <a:prstGeom prst="rect">
            <a:avLst/>
          </a:prstGeom>
        </p:spPr>
      </p:pic>
      <p:sp>
        <p:nvSpPr>
          <p:cNvPr id="26" name="Text 21"/>
          <p:cNvSpPr txBox="1"/>
          <p:nvPr/>
        </p:nvSpPr>
        <p:spPr>
          <a:xfrm>
            <a:off x="4041648"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Dense · Embeddings</a:t>
            </a:r>
            <a:endParaRPr lang="en-US" sz="1400" dirty="0"/>
          </a:p>
        </p:txBody>
      </p:sp>
      <p:sp>
        <p:nvSpPr>
          <p:cNvPr id="27" name="Text 22"/>
          <p:cNvSpPr txBox="1"/>
          <p:nvPr/>
        </p:nvSpPr>
        <p:spPr>
          <a:xfrm>
            <a:off x="3447288"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Similarité vectorielle sur le sens.</a:t>
            </a:r>
            <a:endParaRPr lang="en-US" sz="1150" dirty="0"/>
          </a:p>
        </p:txBody>
      </p:sp>
      <p:sp>
        <p:nvSpPr>
          <p:cNvPr id="28" name="Text 23"/>
          <p:cNvSpPr txBox="1"/>
          <p:nvPr/>
        </p:nvSpPr>
        <p:spPr>
          <a:xfrm>
            <a:off x="3447288" y="2542032"/>
            <a:ext cx="2286000" cy="4572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Idéale pour paraphrases, synonymes, questions en langage naturel.</a:t>
            </a:r>
            <a:endParaRPr lang="en-US" sz="1100" dirty="0"/>
          </a:p>
        </p:txBody>
      </p:sp>
      <p:sp>
        <p:nvSpPr>
          <p:cNvPr id="29" name="Shape 24"/>
          <p:cNvSpPr/>
          <p:nvPr/>
        </p:nvSpPr>
        <p:spPr>
          <a:xfrm>
            <a:off x="6071616" y="1325880"/>
            <a:ext cx="2615184" cy="1783080"/>
          </a:xfrm>
          <a:prstGeom prst="roundRect">
            <a:avLst>
              <a:gd name="adj" fmla="val 4103"/>
            </a:avLst>
          </a:prstGeom>
          <a:solidFill>
            <a:srgbClr val="E8F5EF"/>
          </a:solidFill>
          <a:ln w="15875">
            <a:solidFill>
              <a:srgbClr val="00A86A"/>
            </a:solidFill>
            <a:prstDash val="solid"/>
          </a:ln>
        </p:spPr>
      </p:sp>
      <p:sp>
        <p:nvSpPr>
          <p:cNvPr id="30" name="Shape 25"/>
          <p:cNvSpPr/>
          <p:nvPr/>
        </p:nvSpPr>
        <p:spPr>
          <a:xfrm>
            <a:off x="6254496" y="1463040"/>
            <a:ext cx="457200" cy="457200"/>
          </a:xfrm>
          <a:prstGeom prst="ellipse">
            <a:avLst/>
          </a:prstGeom>
          <a:solidFill>
            <a:srgbClr val="00A86A">
              <a:alpha val="22000"/>
            </a:srgbClr>
          </a:solidFill>
          <a:ln w="12700">
            <a:solidFill>
              <a:srgbClr val="00A86A">
                <a:alpha val="0"/>
              </a:srgbClr>
            </a:solidFill>
            <a:prstDash val="solid"/>
          </a:ln>
        </p:spPr>
      </p:sp>
      <p:pic>
        <p:nvPicPr>
          <p:cNvPr id="31" name="Image 2" descr="preencoded.png"/>
          <p:cNvPicPr>
            <a:picLocks noChangeAspect="1"/>
          </p:cNvPicPr>
          <p:nvPr/>
        </p:nvPicPr>
        <p:blipFill>
          <a:blip r:embed="rId5"/>
          <a:stretch>
            <a:fillRect/>
          </a:stretch>
        </p:blipFill>
        <p:spPr>
          <a:xfrm>
            <a:off x="6364224" y="1572768"/>
            <a:ext cx="237744" cy="237744"/>
          </a:xfrm>
          <a:prstGeom prst="rect">
            <a:avLst/>
          </a:prstGeom>
        </p:spPr>
      </p:pic>
      <p:sp>
        <p:nvSpPr>
          <p:cNvPr id="32" name="Text 26"/>
          <p:cNvSpPr txBox="1"/>
          <p:nvPr/>
        </p:nvSpPr>
        <p:spPr>
          <a:xfrm>
            <a:off x="6848856"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Hybride</a:t>
            </a:r>
            <a:endParaRPr lang="en-US" sz="1400" dirty="0"/>
          </a:p>
        </p:txBody>
      </p:sp>
      <p:sp>
        <p:nvSpPr>
          <p:cNvPr id="33" name="Text 27"/>
          <p:cNvSpPr txBox="1"/>
          <p:nvPr/>
        </p:nvSpPr>
        <p:spPr>
          <a:xfrm>
            <a:off x="6254496"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Fusionne les deux classements (Reciprocal Rank Fusion).</a:t>
            </a:r>
            <a:endParaRPr lang="en-US" sz="1150" dirty="0"/>
          </a:p>
        </p:txBody>
      </p:sp>
      <p:sp>
        <p:nvSpPr>
          <p:cNvPr id="34" name="Text 28"/>
          <p:cNvSpPr txBox="1"/>
          <p:nvPr/>
        </p:nvSpPr>
        <p:spPr>
          <a:xfrm>
            <a:off x="6254496" y="2542032"/>
            <a:ext cx="2286000" cy="457200"/>
          </a:xfrm>
          <a:prstGeom prst="rect">
            <a:avLst/>
          </a:prstGeom>
          <a:noFill/>
          <a:ln/>
        </p:spPr>
        <p:txBody>
          <a:bodyPr wrap="square" lIns="0" tIns="0" rIns="0" bIns="0" rtlCol="0" anchor="t"/>
          <a:lstStyle/>
          <a:p>
            <a:pPr marL="0" indent="0">
              <a:buNone/>
            </a:pPr>
            <a:r>
              <a:rPr lang="en-US" sz="1300" b="1" dirty="0">
                <a:solidFill>
                  <a:srgbClr val="00704A"/>
                </a:solidFill>
                <a:latin typeface="Calibri" pitchFamily="34" charset="0"/>
                <a:ea typeface="Calibri" pitchFamily="34" charset="-122"/>
                <a:cs typeface="Calibri" pitchFamily="34" charset="-120"/>
              </a:rPr>
              <a:t>RRF(d) = Σ 1 / (k + rankᵢ(d))</a:t>
            </a:r>
            <a:endParaRPr lang="en-US" sz="1300" dirty="0"/>
          </a:p>
        </p:txBody>
      </p:sp>
      <p:sp>
        <p:nvSpPr>
          <p:cNvPr id="35" name="Shape 29"/>
          <p:cNvSpPr/>
          <p:nvPr/>
        </p:nvSpPr>
        <p:spPr>
          <a:xfrm>
            <a:off x="457200" y="3291840"/>
            <a:ext cx="822960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85800" y="3429000"/>
            <a:ext cx="201168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RECLASSEMENT</a:t>
            </a:r>
            <a:endParaRPr lang="en-US" sz="1050" dirty="0"/>
          </a:p>
        </p:txBody>
      </p:sp>
      <p:sp>
        <p:nvSpPr>
          <p:cNvPr id="37" name="Text 31"/>
          <p:cNvSpPr txBox="1"/>
          <p:nvPr/>
        </p:nvSpPr>
        <p:spPr>
          <a:xfrm>
            <a:off x="685800" y="3685032"/>
            <a:ext cx="2103120" cy="822960"/>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Recherche en deux temps : d'abord large et rapide, puis notation précise.</a:t>
            </a:r>
            <a:endParaRPr lang="en-US" sz="1250" dirty="0"/>
          </a:p>
        </p:txBody>
      </p:sp>
      <p:sp>
        <p:nvSpPr>
          <p:cNvPr id="38" name="Shape 32"/>
          <p:cNvSpPr/>
          <p:nvPr/>
        </p:nvSpPr>
        <p:spPr>
          <a:xfrm>
            <a:off x="2971800" y="3474720"/>
            <a:ext cx="2103120" cy="1005840"/>
          </a:xfrm>
          <a:prstGeom prst="roundRect">
            <a:avLst>
              <a:gd name="adj" fmla="val 7273"/>
            </a:avLst>
          </a:prstGeom>
          <a:solidFill>
            <a:srgbClr val="FFFFFF"/>
          </a:solidFill>
          <a:ln w="15875">
            <a:solidFill>
              <a:srgbClr val="5E6964"/>
            </a:solidFill>
            <a:prstDash val="solid"/>
          </a:ln>
        </p:spPr>
      </p:sp>
      <p:sp>
        <p:nvSpPr>
          <p:cNvPr id="39" name="Text 33"/>
          <p:cNvSpPr txBox="1"/>
          <p:nvPr/>
        </p:nvSpPr>
        <p:spPr>
          <a:xfrm>
            <a:off x="3063240" y="3547872"/>
            <a:ext cx="192024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Top 50 / 100 candidats</a:t>
            </a:r>
            <a:endParaRPr lang="en-US" sz="1150" dirty="0"/>
          </a:p>
        </p:txBody>
      </p:sp>
      <p:sp>
        <p:nvSpPr>
          <p:cNvPr id="40" name="Text 34"/>
          <p:cNvSpPr txBox="1"/>
          <p:nvPr/>
        </p:nvSpPr>
        <p:spPr>
          <a:xfrm>
            <a:off x="3063240" y="3822192"/>
            <a:ext cx="1920240" cy="59436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Bi-encodeur ou BM25 · rapide</a:t>
            </a:r>
            <a:endParaRPr lang="en-US" sz="1000" dirty="0"/>
          </a:p>
        </p:txBody>
      </p:sp>
      <p:sp>
        <p:nvSpPr>
          <p:cNvPr id="41" name="Shape 35"/>
          <p:cNvSpPr/>
          <p:nvPr/>
        </p:nvSpPr>
        <p:spPr>
          <a:xfrm>
            <a:off x="5102352" y="3977640"/>
            <a:ext cx="173736" cy="914"/>
          </a:xfrm>
          <a:prstGeom prst="line">
            <a:avLst/>
          </a:prstGeom>
          <a:noFill/>
          <a:ln w="19050">
            <a:solidFill>
              <a:srgbClr val="5E6964"/>
            </a:solidFill>
            <a:prstDash val="solid"/>
            <a:tailEnd type="triangle"/>
          </a:ln>
        </p:spPr>
      </p:sp>
      <p:sp>
        <p:nvSpPr>
          <p:cNvPr id="42" name="Shape 36"/>
          <p:cNvSpPr/>
          <p:nvPr/>
        </p:nvSpPr>
        <p:spPr>
          <a:xfrm>
            <a:off x="5303520" y="3557016"/>
            <a:ext cx="1737360" cy="841248"/>
          </a:xfrm>
          <a:prstGeom prst="roundRect">
            <a:avLst>
              <a:gd name="adj" fmla="val 8696"/>
            </a:avLst>
          </a:prstGeom>
          <a:solidFill>
            <a:srgbClr val="E8F5EF"/>
          </a:solidFill>
          <a:ln w="15875">
            <a:solidFill>
              <a:srgbClr val="00A86A"/>
            </a:solidFill>
            <a:prstDash val="solid"/>
          </a:ln>
        </p:spPr>
      </p:sp>
      <p:sp>
        <p:nvSpPr>
          <p:cNvPr id="43" name="Text 37"/>
          <p:cNvSpPr txBox="1"/>
          <p:nvPr/>
        </p:nvSpPr>
        <p:spPr>
          <a:xfrm>
            <a:off x="5394960" y="3630168"/>
            <a:ext cx="155448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Renotation cross-encoder</a:t>
            </a:r>
            <a:endParaRPr lang="en-US" sz="1150" dirty="0"/>
          </a:p>
        </p:txBody>
      </p:sp>
      <p:sp>
        <p:nvSpPr>
          <p:cNvPr id="44" name="Text 38"/>
          <p:cNvSpPr txBox="1"/>
          <p:nvPr/>
        </p:nvSpPr>
        <p:spPr>
          <a:xfrm>
            <a:off x="5394960" y="3904488"/>
            <a:ext cx="1554480" cy="429768"/>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Lit requête + passage ensemble · précis</a:t>
            </a:r>
            <a:endParaRPr lang="en-US" sz="1000" dirty="0"/>
          </a:p>
        </p:txBody>
      </p:sp>
      <p:sp>
        <p:nvSpPr>
          <p:cNvPr id="45" name="Shape 39"/>
          <p:cNvSpPr/>
          <p:nvPr/>
        </p:nvSpPr>
        <p:spPr>
          <a:xfrm>
            <a:off x="7068312" y="3977640"/>
            <a:ext cx="173736" cy="914"/>
          </a:xfrm>
          <a:prstGeom prst="line">
            <a:avLst/>
          </a:prstGeom>
          <a:noFill/>
          <a:ln w="19050">
            <a:solidFill>
              <a:srgbClr val="5E6964"/>
            </a:solidFill>
            <a:prstDash val="solid"/>
            <a:tailEnd type="triangle"/>
          </a:ln>
        </p:spPr>
      </p:sp>
      <p:sp>
        <p:nvSpPr>
          <p:cNvPr id="46" name="Shape 40"/>
          <p:cNvSpPr/>
          <p:nvPr/>
        </p:nvSpPr>
        <p:spPr>
          <a:xfrm>
            <a:off x="7269480" y="3639312"/>
            <a:ext cx="1371600" cy="676656"/>
          </a:xfrm>
          <a:prstGeom prst="roundRect">
            <a:avLst>
              <a:gd name="adj" fmla="val 10811"/>
            </a:avLst>
          </a:prstGeom>
          <a:solidFill>
            <a:srgbClr val="FDF3D7"/>
          </a:solidFill>
          <a:ln w="15875">
            <a:solidFill>
              <a:srgbClr val="D49A00"/>
            </a:solidFill>
            <a:prstDash val="solid"/>
          </a:ln>
        </p:spPr>
      </p:sp>
      <p:sp>
        <p:nvSpPr>
          <p:cNvPr id="47" name="Text 41"/>
          <p:cNvSpPr txBox="1"/>
          <p:nvPr/>
        </p:nvSpPr>
        <p:spPr>
          <a:xfrm>
            <a:off x="7360920" y="3712464"/>
            <a:ext cx="118872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Top 3 à 10</a:t>
            </a:r>
            <a:endParaRPr lang="en-US" sz="1150" dirty="0"/>
          </a:p>
        </p:txBody>
      </p:sp>
      <p:sp>
        <p:nvSpPr>
          <p:cNvPr id="48" name="Text 42"/>
          <p:cNvSpPr txBox="1"/>
          <p:nvPr/>
        </p:nvSpPr>
        <p:spPr>
          <a:xfrm>
            <a:off x="7360920" y="3986784"/>
            <a:ext cx="1188720" cy="265176"/>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Envoyés au LLM</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FONCTIONNEMENT · ÉTAPE 4 GÉNÉRATION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Construire le prompt augmenté</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7" name="Shape 14"/>
          <p:cNvSpPr/>
          <p:nvPr/>
        </p:nvSpPr>
        <p:spPr>
          <a:xfrm>
            <a:off x="457200" y="1325880"/>
            <a:ext cx="4206240" cy="3337560"/>
          </a:xfrm>
          <a:prstGeom prst="roundRect">
            <a:avLst>
              <a:gd name="adj" fmla="val 2192"/>
            </a:avLst>
          </a:prstGeom>
          <a:solidFill>
            <a:srgbClr val="E8F5EF"/>
          </a:solidFill>
          <a:ln w="15875">
            <a:solidFill>
              <a:srgbClr val="00A86A"/>
            </a:solidFill>
            <a:prstDash val="solid"/>
          </a:ln>
        </p:spPr>
      </p:sp>
      <p:sp>
        <p:nvSpPr>
          <p:cNvPr id="18" name="Text 15"/>
          <p:cNvSpPr txBox="1"/>
          <p:nvPr/>
        </p:nvSpPr>
        <p:spPr>
          <a:xfrm>
            <a:off x="685800" y="1481328"/>
            <a:ext cx="1371600" cy="201168"/>
          </a:xfrm>
          <a:prstGeom prst="rect">
            <a:avLst/>
          </a:prstGeom>
          <a:noFill/>
          <a:ln/>
        </p:spPr>
        <p:txBody>
          <a:bodyPr wrap="square" lIns="0" tIns="0" rIns="0" bIns="0" rtlCol="0" anchor="ctr"/>
          <a:lstStyle/>
          <a:p>
            <a:pPr marL="0" indent="0">
              <a:buNone/>
            </a:pPr>
            <a:r>
              <a:rPr lang="en-US" sz="1000" b="1" kern="0" spc="200" dirty="0">
                <a:solidFill>
                  <a:srgbClr val="D49A00"/>
                </a:solidFill>
                <a:latin typeface="Courier New" pitchFamily="34" charset="0"/>
                <a:ea typeface="Courier New" pitchFamily="34" charset="-122"/>
                <a:cs typeface="Courier New" pitchFamily="34" charset="-120"/>
              </a:rPr>
              <a:t>SYSTÈME</a:t>
            </a:r>
            <a:endParaRPr lang="en-US" sz="1000" dirty="0"/>
          </a:p>
        </p:txBody>
      </p:sp>
      <p:sp>
        <p:nvSpPr>
          <p:cNvPr id="19" name="Text 16"/>
          <p:cNvSpPr txBox="1"/>
          <p:nvPr/>
        </p:nvSpPr>
        <p:spPr>
          <a:xfrm>
            <a:off x="685800" y="1709928"/>
            <a:ext cx="3749040" cy="68580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Réponds UNIQUEMENT à partir du contexte ci-dessous. Cite les sources [n]. Si la réponse n'y figure pas, dis que tu ne sais pas.</a:t>
            </a:r>
            <a:endParaRPr lang="en-US" sz="1050" dirty="0"/>
          </a:p>
        </p:txBody>
      </p:sp>
      <p:sp>
        <p:nvSpPr>
          <p:cNvPr id="20" name="Text 17"/>
          <p:cNvSpPr txBox="1"/>
          <p:nvPr/>
        </p:nvSpPr>
        <p:spPr>
          <a:xfrm>
            <a:off x="685800" y="2514600"/>
            <a:ext cx="1371600" cy="201168"/>
          </a:xfrm>
          <a:prstGeom prst="rect">
            <a:avLst/>
          </a:prstGeom>
          <a:noFill/>
          <a:ln/>
        </p:spPr>
        <p:txBody>
          <a:bodyPr wrap="square" lIns="0" tIns="0" rIns="0" bIns="0" rtlCol="0" anchor="ctr"/>
          <a:lstStyle/>
          <a:p>
            <a:pPr marL="0" indent="0">
              <a:buNone/>
            </a:pPr>
            <a:r>
              <a:rPr lang="en-US" sz="1000" b="1" kern="0" spc="200" dirty="0">
                <a:solidFill>
                  <a:srgbClr val="00704A"/>
                </a:solidFill>
                <a:latin typeface="Courier New" pitchFamily="34" charset="0"/>
                <a:ea typeface="Courier New" pitchFamily="34" charset="-122"/>
                <a:cs typeface="Courier New" pitchFamily="34" charset="-120"/>
              </a:rPr>
              <a:t>CONTEXTE</a:t>
            </a:r>
            <a:endParaRPr lang="en-US" sz="1000" dirty="0"/>
          </a:p>
        </p:txBody>
      </p:sp>
      <p:sp>
        <p:nvSpPr>
          <p:cNvPr id="21" name="Text 18"/>
          <p:cNvSpPr txBox="1"/>
          <p:nvPr/>
        </p:nvSpPr>
        <p:spPr>
          <a:xfrm>
            <a:off x="685800" y="2743200"/>
            <a:ext cx="3749040" cy="86868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[1] Politique de remboursement, §2 — Commandes en ligne remboursées sous 14 jours…</a:t>
            </a:r>
            <a:endParaRPr lang="en-US" sz="1050" dirty="0"/>
          </a:p>
          <a:p>
            <a:pPr marL="0" indent="0">
              <a:buNone/>
            </a:pPr>
            <a:r>
              <a:rPr lang="en-US" sz="1050" dirty="0">
                <a:solidFill>
                  <a:srgbClr val="231F20"/>
                </a:solidFill>
                <a:latin typeface="Courier New" pitchFamily="34" charset="0"/>
                <a:ea typeface="Courier New" pitchFamily="34" charset="-122"/>
                <a:cs typeface="Courier New" pitchFamily="34" charset="-120"/>
              </a:rPr>
              <a:t>[2] FAQ — Les retours se lancent depuis votre compte…</a:t>
            </a:r>
            <a:endParaRPr lang="en-US" sz="1050" dirty="0"/>
          </a:p>
        </p:txBody>
      </p:sp>
      <p:sp>
        <p:nvSpPr>
          <p:cNvPr id="22" name="Text 19"/>
          <p:cNvSpPr txBox="1"/>
          <p:nvPr/>
        </p:nvSpPr>
        <p:spPr>
          <a:xfrm>
            <a:off x="685800" y="3730752"/>
            <a:ext cx="1371600" cy="201168"/>
          </a:xfrm>
          <a:prstGeom prst="rect">
            <a:avLst/>
          </a:prstGeom>
          <a:noFill/>
          <a:ln/>
        </p:spPr>
        <p:txBody>
          <a:bodyPr wrap="square" lIns="0" tIns="0" rIns="0" bIns="0" rtlCol="0" anchor="ctr"/>
          <a:lstStyle/>
          <a:p>
            <a:pPr marL="0" indent="0">
              <a:buNone/>
            </a:pPr>
            <a:r>
              <a:rPr lang="en-US" sz="1000" b="1" kern="0" spc="200" dirty="0">
                <a:solidFill>
                  <a:srgbClr val="0E7C86"/>
                </a:solidFill>
                <a:latin typeface="Courier New" pitchFamily="34" charset="0"/>
                <a:ea typeface="Courier New" pitchFamily="34" charset="-122"/>
                <a:cs typeface="Courier New" pitchFamily="34" charset="-120"/>
              </a:rPr>
              <a:t>QUESTION</a:t>
            </a:r>
            <a:endParaRPr lang="en-US" sz="1000" dirty="0"/>
          </a:p>
        </p:txBody>
      </p:sp>
      <p:sp>
        <p:nvSpPr>
          <p:cNvPr id="23" name="Text 20"/>
          <p:cNvSpPr txBox="1"/>
          <p:nvPr/>
        </p:nvSpPr>
        <p:spPr>
          <a:xfrm>
            <a:off x="685800" y="3959352"/>
            <a:ext cx="3749040" cy="36576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Quel est le délai de remboursement des commandes en ligne ?</a:t>
            </a:r>
            <a:endParaRPr lang="en-US" sz="1050" dirty="0"/>
          </a:p>
        </p:txBody>
      </p:sp>
      <p:sp>
        <p:nvSpPr>
          <p:cNvPr id="24" name="Text 21"/>
          <p:cNvSpPr txBox="1"/>
          <p:nvPr/>
        </p:nvSpPr>
        <p:spPr>
          <a:xfrm>
            <a:off x="685800" y="4389120"/>
            <a:ext cx="27432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Modèle illustratif</a:t>
            </a:r>
            <a:endParaRPr lang="en-US" sz="900" dirty="0"/>
          </a:p>
        </p:txBody>
      </p:sp>
      <p:sp>
        <p:nvSpPr>
          <p:cNvPr id="25" name="Shape 22"/>
          <p:cNvSpPr/>
          <p:nvPr/>
        </p:nvSpPr>
        <p:spPr>
          <a:xfrm>
            <a:off x="4937760" y="1362456"/>
            <a:ext cx="457200" cy="457200"/>
          </a:xfrm>
          <a:prstGeom prst="ellipse">
            <a:avLst/>
          </a:prstGeom>
          <a:solidFill>
            <a:srgbClr val="00A86A">
              <a:alpha val="22000"/>
            </a:srgbClr>
          </a:solidFill>
          <a:ln w="12700">
            <a:solidFill>
              <a:srgbClr val="00A86A">
                <a:alpha val="0"/>
              </a:srgbClr>
            </a:solidFill>
            <a:prstDash val="solid"/>
          </a:ln>
        </p:spPr>
      </p:sp>
      <p:pic>
        <p:nvPicPr>
          <p:cNvPr id="26" name="Image 0" descr="preencoded.png"/>
          <p:cNvPicPr>
            <a:picLocks noChangeAspect="1"/>
          </p:cNvPicPr>
          <p:nvPr/>
        </p:nvPicPr>
        <p:blipFill>
          <a:blip r:embed="rId3"/>
          <a:stretch>
            <a:fillRect/>
          </a:stretch>
        </p:blipFill>
        <p:spPr>
          <a:xfrm>
            <a:off x="5047488" y="1472184"/>
            <a:ext cx="237744" cy="237744"/>
          </a:xfrm>
          <a:prstGeom prst="rect">
            <a:avLst/>
          </a:prstGeom>
        </p:spPr>
      </p:pic>
      <p:sp>
        <p:nvSpPr>
          <p:cNvPr id="27" name="Text 23"/>
          <p:cNvSpPr txBox="1"/>
          <p:nvPr/>
        </p:nvSpPr>
        <p:spPr>
          <a:xfrm>
            <a:off x="5532120" y="1325880"/>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Exiger des citations</a:t>
            </a:r>
            <a:endParaRPr lang="en-US" sz="1400" dirty="0"/>
          </a:p>
        </p:txBody>
      </p:sp>
      <p:sp>
        <p:nvSpPr>
          <p:cNvPr id="28" name="Text 24"/>
          <p:cNvSpPr txBox="1"/>
          <p:nvPr/>
        </p:nvSpPr>
        <p:spPr>
          <a:xfrm>
            <a:off x="5532120" y="1600200"/>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Chaque affirmation renvoie à un fragment vérifiable.</a:t>
            </a:r>
            <a:endParaRPr lang="en-US" sz="1100" dirty="0"/>
          </a:p>
        </p:txBody>
      </p:sp>
      <p:sp>
        <p:nvSpPr>
          <p:cNvPr id="29" name="Shape 25"/>
          <p:cNvSpPr/>
          <p:nvPr/>
        </p:nvSpPr>
        <p:spPr>
          <a:xfrm>
            <a:off x="4937760" y="2203704"/>
            <a:ext cx="457200" cy="457200"/>
          </a:xfrm>
          <a:prstGeom prst="ellipse">
            <a:avLst/>
          </a:prstGeom>
          <a:solidFill>
            <a:srgbClr val="00A86A">
              <a:alpha val="22000"/>
            </a:srgbClr>
          </a:solidFill>
          <a:ln w="12700">
            <a:solidFill>
              <a:srgbClr val="00A86A">
                <a:alpha val="0"/>
              </a:srgbClr>
            </a:solidFill>
            <a:prstDash val="solid"/>
          </a:ln>
        </p:spPr>
      </p:sp>
      <p:pic>
        <p:nvPicPr>
          <p:cNvPr id="30" name="Image 1" descr="preencoded.png"/>
          <p:cNvPicPr>
            <a:picLocks noChangeAspect="1"/>
          </p:cNvPicPr>
          <p:nvPr/>
        </p:nvPicPr>
        <p:blipFill>
          <a:blip r:embed="rId4"/>
          <a:stretch>
            <a:fillRect/>
          </a:stretch>
        </p:blipFill>
        <p:spPr>
          <a:xfrm>
            <a:off x="5047488" y="2313432"/>
            <a:ext cx="237744" cy="237744"/>
          </a:xfrm>
          <a:prstGeom prst="rect">
            <a:avLst/>
          </a:prstGeom>
        </p:spPr>
      </p:pic>
      <p:sp>
        <p:nvSpPr>
          <p:cNvPr id="31" name="Text 26"/>
          <p:cNvSpPr txBox="1"/>
          <p:nvPr/>
        </p:nvSpPr>
        <p:spPr>
          <a:xfrm>
            <a:off x="5532120" y="2167128"/>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Autoriser l'abstention</a:t>
            </a:r>
            <a:endParaRPr lang="en-US" sz="1400" dirty="0"/>
          </a:p>
        </p:txBody>
      </p:sp>
      <p:sp>
        <p:nvSpPr>
          <p:cNvPr id="32" name="Text 27"/>
          <p:cNvSpPr txBox="1"/>
          <p:nvPr/>
        </p:nvSpPr>
        <p:spPr>
          <a:xfrm>
            <a:off x="5532120" y="2441448"/>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 Je ne sais pas » vaut mieux qu'une hallucination assurée.</a:t>
            </a:r>
            <a:endParaRPr lang="en-US" sz="1100" dirty="0"/>
          </a:p>
        </p:txBody>
      </p:sp>
      <p:sp>
        <p:nvSpPr>
          <p:cNvPr id="33" name="Shape 28"/>
          <p:cNvSpPr/>
          <p:nvPr/>
        </p:nvSpPr>
        <p:spPr>
          <a:xfrm>
            <a:off x="4937760" y="3044952"/>
            <a:ext cx="457200" cy="457200"/>
          </a:xfrm>
          <a:prstGeom prst="ellipse">
            <a:avLst/>
          </a:prstGeom>
          <a:solidFill>
            <a:srgbClr val="00A86A">
              <a:alpha val="22000"/>
            </a:srgbClr>
          </a:solidFill>
          <a:ln w="12700">
            <a:solidFill>
              <a:srgbClr val="00A86A">
                <a:alpha val="0"/>
              </a:srgbClr>
            </a:solidFill>
            <a:prstDash val="solid"/>
          </a:ln>
        </p:spPr>
      </p:sp>
      <p:pic>
        <p:nvPicPr>
          <p:cNvPr id="34" name="Image 2" descr="preencoded.png"/>
          <p:cNvPicPr>
            <a:picLocks noChangeAspect="1"/>
          </p:cNvPicPr>
          <p:nvPr/>
        </p:nvPicPr>
        <p:blipFill>
          <a:blip r:embed="rId5"/>
          <a:stretch>
            <a:fillRect/>
          </a:stretch>
        </p:blipFill>
        <p:spPr>
          <a:xfrm>
            <a:off x="5047488" y="3154680"/>
            <a:ext cx="237744" cy="237744"/>
          </a:xfrm>
          <a:prstGeom prst="rect">
            <a:avLst/>
          </a:prstGeom>
        </p:spPr>
      </p:pic>
      <p:sp>
        <p:nvSpPr>
          <p:cNvPr id="35" name="Text 29"/>
          <p:cNvSpPr txBox="1"/>
          <p:nvPr/>
        </p:nvSpPr>
        <p:spPr>
          <a:xfrm>
            <a:off x="5532120" y="3008376"/>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L'ordre compte</a:t>
            </a:r>
            <a:endParaRPr lang="en-US" sz="1400" dirty="0"/>
          </a:p>
        </p:txBody>
      </p:sp>
      <p:sp>
        <p:nvSpPr>
          <p:cNvPr id="36" name="Text 30"/>
          <p:cNvSpPr txBox="1"/>
          <p:nvPr/>
        </p:nvSpPr>
        <p:spPr>
          <a:xfrm>
            <a:off x="5532120" y="3282696"/>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Placer les meilleurs éléments en tête : les modèles exploitent mal le milieu des longs contextes (voir Preuves).</a:t>
            </a:r>
            <a:endParaRPr lang="en-US" sz="1100" dirty="0"/>
          </a:p>
        </p:txBody>
      </p:sp>
      <p:sp>
        <p:nvSpPr>
          <p:cNvPr id="37" name="Shape 31"/>
          <p:cNvSpPr/>
          <p:nvPr/>
        </p:nvSpPr>
        <p:spPr>
          <a:xfrm>
            <a:off x="4937760" y="3886200"/>
            <a:ext cx="457200" cy="457200"/>
          </a:xfrm>
          <a:prstGeom prst="ellipse">
            <a:avLst/>
          </a:prstGeom>
          <a:solidFill>
            <a:srgbClr val="00A86A">
              <a:alpha val="22000"/>
            </a:srgbClr>
          </a:solidFill>
          <a:ln w="12700">
            <a:solidFill>
              <a:srgbClr val="00A86A">
                <a:alpha val="0"/>
              </a:srgbClr>
            </a:solidFill>
            <a:prstDash val="solid"/>
          </a:ln>
        </p:spPr>
      </p:sp>
      <p:pic>
        <p:nvPicPr>
          <p:cNvPr id="38" name="Image 3" descr="preencoded.png"/>
          <p:cNvPicPr>
            <a:picLocks noChangeAspect="1"/>
          </p:cNvPicPr>
          <p:nvPr/>
        </p:nvPicPr>
        <p:blipFill>
          <a:blip r:embed="rId6"/>
          <a:stretch>
            <a:fillRect/>
          </a:stretch>
        </p:blipFill>
        <p:spPr>
          <a:xfrm>
            <a:off x="5047488" y="3995928"/>
            <a:ext cx="237744" cy="237744"/>
          </a:xfrm>
          <a:prstGeom prst="rect">
            <a:avLst/>
          </a:prstGeom>
        </p:spPr>
      </p:pic>
      <p:sp>
        <p:nvSpPr>
          <p:cNvPr id="39" name="Text 32"/>
          <p:cNvSpPr txBox="1"/>
          <p:nvPr/>
        </p:nvSpPr>
        <p:spPr>
          <a:xfrm>
            <a:off x="5532120" y="3849624"/>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Contexte ciblé</a:t>
            </a:r>
            <a:endParaRPr lang="en-US" sz="1400" dirty="0"/>
          </a:p>
        </p:txBody>
      </p:sp>
      <p:sp>
        <p:nvSpPr>
          <p:cNvPr id="40" name="Text 33"/>
          <p:cNvSpPr txBox="1"/>
          <p:nvPr/>
        </p:nvSpPr>
        <p:spPr>
          <a:xfrm>
            <a:off x="5532120" y="4123944"/>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Peu de fragments pertinents valent mieux que beaucoup de bruit.</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03</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Preuves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La récupération améliore-t-elle vraiment les réponses ?</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5C242"/>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PREUVES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La récupération bat la simple taille du modèle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graphicFrame>
        <p:nvGraphicFramePr>
          <p:cNvPr id="17" name="Chart 0"/>
          <p:cNvGraphicFramePr/>
          <p:nvPr/>
        </p:nvGraphicFramePr>
        <p:xfrm>
          <a:off x="365760" y="1280160"/>
          <a:ext cx="512064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5760720" y="1325880"/>
            <a:ext cx="2926080" cy="1280160"/>
          </a:xfrm>
          <a:prstGeom prst="roundRect">
            <a:avLst>
              <a:gd name="adj" fmla="val 5714"/>
            </a:avLst>
          </a:prstGeom>
          <a:solidFill>
            <a:srgbClr val="F4F7F5"/>
          </a:solidFill>
          <a:ln w="9525">
            <a:solidFill>
              <a:srgbClr val="D5DED9"/>
            </a:solidFill>
            <a:prstDash val="solid"/>
          </a:ln>
        </p:spPr>
      </p:sp>
      <p:sp>
        <p:nvSpPr>
          <p:cNvPr id="19" name="Text 15"/>
          <p:cNvSpPr txBox="1"/>
          <p:nvPr/>
        </p:nvSpPr>
        <p:spPr>
          <a:xfrm>
            <a:off x="5943600" y="1417320"/>
            <a:ext cx="2651760" cy="566928"/>
          </a:xfrm>
          <a:prstGeom prst="rect">
            <a:avLst/>
          </a:prstGeom>
          <a:noFill/>
          <a:ln/>
        </p:spPr>
        <p:txBody>
          <a:bodyPr wrap="square" lIns="0" tIns="0" rIns="0" bIns="0" rtlCol="0" anchor="ctr"/>
          <a:lstStyle/>
          <a:p>
            <a:pPr marL="0" indent="0">
              <a:buNone/>
            </a:pPr>
            <a:r>
              <a:rPr lang="en-US" sz="4000" b="1" dirty="0">
                <a:solidFill>
                  <a:srgbClr val="00704A"/>
                </a:solidFill>
                <a:latin typeface="Calibri" pitchFamily="34" charset="0"/>
                <a:ea typeface="Calibri" pitchFamily="34" charset="-122"/>
                <a:cs typeface="Calibri" pitchFamily="34" charset="-120"/>
              </a:rPr>
              <a:t>626 M</a:t>
            </a:r>
            <a:endParaRPr lang="en-US" sz="4000" dirty="0"/>
          </a:p>
        </p:txBody>
      </p:sp>
      <p:sp>
        <p:nvSpPr>
          <p:cNvPr id="20" name="Text 16"/>
          <p:cNvSpPr txBox="1"/>
          <p:nvPr/>
        </p:nvSpPr>
        <p:spPr>
          <a:xfrm>
            <a:off x="5943600" y="2011680"/>
            <a:ext cx="2606040" cy="54864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paramètres entraînables pour RAG — contre 11 Md pour T5-11B, qu'il surpasse.</a:t>
            </a:r>
            <a:endParaRPr lang="en-US" sz="1100" dirty="0"/>
          </a:p>
        </p:txBody>
      </p:sp>
      <p:sp>
        <p:nvSpPr>
          <p:cNvPr id="21" name="Shape 17"/>
          <p:cNvSpPr/>
          <p:nvPr/>
        </p:nvSpPr>
        <p:spPr>
          <a:xfrm>
            <a:off x="5760720" y="2743200"/>
            <a:ext cx="2926080" cy="1280160"/>
          </a:xfrm>
          <a:prstGeom prst="roundRect">
            <a:avLst>
              <a:gd name="adj" fmla="val 5714"/>
            </a:avLst>
          </a:prstGeom>
          <a:solidFill>
            <a:srgbClr val="F4F7F5"/>
          </a:solidFill>
          <a:ln w="9525">
            <a:solidFill>
              <a:srgbClr val="D5DED9"/>
            </a:solidFill>
            <a:prstDash val="solid"/>
          </a:ln>
        </p:spPr>
      </p:sp>
      <p:sp>
        <p:nvSpPr>
          <p:cNvPr id="22" name="Text 18"/>
          <p:cNvSpPr txBox="1"/>
          <p:nvPr/>
        </p:nvSpPr>
        <p:spPr>
          <a:xfrm>
            <a:off x="5943600" y="2834640"/>
            <a:ext cx="2651760" cy="566928"/>
          </a:xfrm>
          <a:prstGeom prst="rect">
            <a:avLst/>
          </a:prstGeom>
          <a:noFill/>
          <a:ln/>
        </p:spPr>
        <p:txBody>
          <a:bodyPr wrap="square" lIns="0" tIns="0" rIns="0" bIns="0" rtlCol="0" anchor="ctr"/>
          <a:lstStyle/>
          <a:p>
            <a:pPr marL="0" indent="0">
              <a:buNone/>
            </a:pPr>
            <a:r>
              <a:rPr lang="en-US" sz="2800" b="1" dirty="0">
                <a:solidFill>
                  <a:srgbClr val="D49A00"/>
                </a:solidFill>
                <a:latin typeface="Calibri" pitchFamily="34" charset="0"/>
                <a:ea typeface="Calibri" pitchFamily="34" charset="-122"/>
                <a:cs typeface="Calibri" pitchFamily="34" charset="-120"/>
              </a:rPr>
              <a:t>42,7 % vs 7,1 %</a:t>
            </a:r>
            <a:endParaRPr lang="en-US" sz="2800" dirty="0"/>
          </a:p>
        </p:txBody>
      </p:sp>
      <p:sp>
        <p:nvSpPr>
          <p:cNvPr id="23" name="Text 19"/>
          <p:cNvSpPr txBox="1"/>
          <p:nvPr/>
        </p:nvSpPr>
        <p:spPr>
          <a:xfrm>
            <a:off x="5943600" y="3429000"/>
            <a:ext cx="2606040" cy="54864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Génération Jeopardy : part des jugements humains trouvant RAG (vs BART) plus factuel.</a:t>
            </a:r>
            <a:endParaRPr lang="en-US" sz="1100" dirty="0"/>
          </a:p>
        </p:txBody>
      </p:sp>
      <p:sp>
        <p:nvSpPr>
          <p:cNvPr id="24" name="Text 20"/>
          <p:cNvSpPr txBox="1"/>
          <p:nvPr/>
        </p:nvSpPr>
        <p:spPr>
          <a:xfrm>
            <a:off x="5760720" y="4206240"/>
            <a:ext cx="292608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 Lewis et al., NeurIPS 2020 (tableaux 1 et 4). SSM = pré-entraînement par masquage de segments saillants.</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PREUVES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 Lost in the Middle » : la position compte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graphicFrame>
        <p:nvGraphicFramePr>
          <p:cNvPr id="17" name="Chart 0"/>
          <p:cNvGraphicFramePr/>
          <p:nvPr/>
        </p:nvGraphicFramePr>
        <p:xfrm>
          <a:off x="365760" y="1280160"/>
          <a:ext cx="512064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590288"/>
            <a:ext cx="512064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 Liu et al., « Lost in the Middle », TACL 2024 (tableau 6), NaturalQuestions-Open.</a:t>
            </a:r>
            <a:endParaRPr lang="en-US" sz="900" dirty="0"/>
          </a:p>
        </p:txBody>
      </p:sp>
      <p:sp>
        <p:nvSpPr>
          <p:cNvPr id="19" name="Shape 15"/>
          <p:cNvSpPr/>
          <p:nvPr/>
        </p:nvSpPr>
        <p:spPr>
          <a:xfrm>
            <a:off x="5760720" y="1325880"/>
            <a:ext cx="2926080" cy="1051560"/>
          </a:xfrm>
          <a:prstGeom prst="roundRect">
            <a:avLst>
              <a:gd name="adj" fmla="val 6957"/>
            </a:avLst>
          </a:prstGeom>
          <a:solidFill>
            <a:srgbClr val="F4F7F5"/>
          </a:solidFill>
          <a:ln w="9525">
            <a:solidFill>
              <a:srgbClr val="D5DED9"/>
            </a:solidFill>
            <a:prstDash val="solid"/>
          </a:ln>
        </p:spPr>
      </p:sp>
      <p:sp>
        <p:nvSpPr>
          <p:cNvPr id="20" name="Text 16"/>
          <p:cNvSpPr txBox="1"/>
          <p:nvPr/>
        </p:nvSpPr>
        <p:spPr>
          <a:xfrm>
            <a:off x="5943600" y="1371600"/>
            <a:ext cx="2651760" cy="530352"/>
          </a:xfrm>
          <a:prstGeom prst="rect">
            <a:avLst/>
          </a:prstGeom>
          <a:noFill/>
          <a:ln/>
        </p:spPr>
        <p:txBody>
          <a:bodyPr wrap="square" lIns="0" tIns="0" rIns="0" bIns="0" rtlCol="0" anchor="ctr"/>
          <a:lstStyle/>
          <a:p>
            <a:pPr marL="0" indent="0">
              <a:buNone/>
            </a:pPr>
            <a:r>
              <a:rPr lang="en-US" sz="3600" b="1" dirty="0">
                <a:solidFill>
                  <a:srgbClr val="B83B2E"/>
                </a:solidFill>
                <a:latin typeface="Calibri" pitchFamily="34" charset="0"/>
                <a:ea typeface="Calibri" pitchFamily="34" charset="-122"/>
                <a:cs typeface="Calibri" pitchFamily="34" charset="-120"/>
              </a:rPr>
              <a:t>−22 pts</a:t>
            </a:r>
            <a:endParaRPr lang="en-US" sz="3600" dirty="0"/>
          </a:p>
        </p:txBody>
      </p:sp>
      <p:sp>
        <p:nvSpPr>
          <p:cNvPr id="21" name="Text 17"/>
          <p:cNvSpPr txBox="1"/>
          <p:nvPr/>
        </p:nvSpPr>
        <p:spPr>
          <a:xfrm>
            <a:off x="5943600" y="1901952"/>
            <a:ext cx="2606040" cy="43891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de 75,8 % (réponse en tête) à 53,8 % (réponse au milieu).</a:t>
            </a:r>
            <a:endParaRPr lang="en-US" sz="1100" dirty="0"/>
          </a:p>
        </p:txBody>
      </p:sp>
      <p:sp>
        <p:nvSpPr>
          <p:cNvPr id="22" name="Shape 18"/>
          <p:cNvSpPr/>
          <p:nvPr/>
        </p:nvSpPr>
        <p:spPr>
          <a:xfrm>
            <a:off x="5760720" y="2514600"/>
            <a:ext cx="2926080" cy="1051560"/>
          </a:xfrm>
          <a:prstGeom prst="roundRect">
            <a:avLst>
              <a:gd name="adj" fmla="val 6957"/>
            </a:avLst>
          </a:prstGeom>
          <a:solidFill>
            <a:srgbClr val="F4F7F5"/>
          </a:solidFill>
          <a:ln w="9525">
            <a:solidFill>
              <a:srgbClr val="D5DED9"/>
            </a:solidFill>
            <a:prstDash val="solid"/>
          </a:ln>
        </p:spPr>
      </p:sp>
      <p:sp>
        <p:nvSpPr>
          <p:cNvPr id="23" name="Text 19"/>
          <p:cNvSpPr txBox="1"/>
          <p:nvPr/>
        </p:nvSpPr>
        <p:spPr>
          <a:xfrm>
            <a:off x="5943600" y="2560320"/>
            <a:ext cx="2651760" cy="502920"/>
          </a:xfrm>
          <a:prstGeom prst="rect">
            <a:avLst/>
          </a:prstGeom>
          <a:noFill/>
          <a:ln/>
        </p:spPr>
        <p:txBody>
          <a:bodyPr wrap="square" lIns="0" tIns="0" rIns="0" bIns="0" rtlCol="0" anchor="ctr"/>
          <a:lstStyle/>
          <a:p>
            <a:pPr marL="0" indent="0">
              <a:buNone/>
            </a:pPr>
            <a:r>
              <a:rPr lang="en-US" sz="2400" b="1" dirty="0">
                <a:solidFill>
                  <a:srgbClr val="D49A00"/>
                </a:solidFill>
                <a:latin typeface="Calibri" pitchFamily="34" charset="0"/>
                <a:ea typeface="Calibri" pitchFamily="34" charset="-122"/>
                <a:cs typeface="Calibri" pitchFamily="34" charset="-120"/>
              </a:rPr>
              <a:t>Sous la référence</a:t>
            </a:r>
            <a:endParaRPr lang="en-US" sz="2400" dirty="0"/>
          </a:p>
        </p:txBody>
      </p:sp>
      <p:sp>
        <p:nvSpPr>
          <p:cNvPr id="24" name="Text 20"/>
          <p:cNvSpPr txBox="1"/>
          <p:nvPr/>
        </p:nvSpPr>
        <p:spPr>
          <a:xfrm>
            <a:off x="5943600" y="3063240"/>
            <a:ext cx="2606040" cy="4572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Au milieu, l'exactitude est pire que sans aucun document (56,1 %).</a:t>
            </a:r>
            <a:endParaRPr lang="en-US" sz="1100" dirty="0"/>
          </a:p>
        </p:txBody>
      </p:sp>
      <p:sp>
        <p:nvSpPr>
          <p:cNvPr id="25" name="Shape 21"/>
          <p:cNvSpPr/>
          <p:nvPr/>
        </p:nvSpPr>
        <p:spPr>
          <a:xfrm>
            <a:off x="5760720" y="3703320"/>
            <a:ext cx="2926080" cy="960120"/>
          </a:xfrm>
          <a:prstGeom prst="roundRect">
            <a:avLst>
              <a:gd name="adj" fmla="val 7619"/>
            </a:avLst>
          </a:prstGeom>
          <a:solidFill>
            <a:srgbClr val="E8F5EF"/>
          </a:solidFill>
          <a:ln w="15875">
            <a:solidFill>
              <a:srgbClr val="00A86A"/>
            </a:solidFill>
            <a:prstDash val="solid"/>
          </a:ln>
        </p:spPr>
      </p:sp>
      <p:sp>
        <p:nvSpPr>
          <p:cNvPr id="26" name="Text 22"/>
          <p:cNvSpPr txBox="1"/>
          <p:nvPr/>
        </p:nvSpPr>
        <p:spPr>
          <a:xfrm>
            <a:off x="5943600" y="3703320"/>
            <a:ext cx="2606040" cy="960120"/>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Pour le RAG : </a:t>
            </a:r>
            <a:r>
              <a:rPr lang="en-US" sz="1200" dirty="0">
                <a:solidFill>
                  <a:srgbClr val="231F20"/>
                </a:solidFill>
                <a:latin typeface="Calibri" pitchFamily="34" charset="0"/>
                <a:ea typeface="Calibri" pitchFamily="34" charset="-122"/>
                <a:cs typeface="Calibri" pitchFamily="34" charset="-120"/>
              </a:rPr>
              <a:t>reclasser pour mettre les meilleurs éléments en tête, et envoyer moins de fragments, mais meilleurs.</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PREUVES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Contextual Retrieval : restaurer le contexte perdu</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7" name="Chart 0"/>
          <p:cNvGraphicFramePr/>
          <p:nvPr/>
        </p:nvGraphicFramePr>
        <p:xfrm>
          <a:off x="365760" y="1280160"/>
          <a:ext cx="475488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572000"/>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 Anthropic, « Introducing Contextual Retrieval », septembre 2024.</a:t>
            </a:r>
            <a:endParaRPr lang="en-US" sz="900" dirty="0"/>
          </a:p>
        </p:txBody>
      </p:sp>
      <p:sp>
        <p:nvSpPr>
          <p:cNvPr id="19" name="Shape 15"/>
          <p:cNvSpPr/>
          <p:nvPr/>
        </p:nvSpPr>
        <p:spPr>
          <a:xfrm>
            <a:off x="5394960" y="1325880"/>
            <a:ext cx="3291840" cy="1463040"/>
          </a:xfrm>
          <a:prstGeom prst="roundRect">
            <a:avLst>
              <a:gd name="adj" fmla="val 5000"/>
            </a:avLst>
          </a:prstGeom>
          <a:solidFill>
            <a:srgbClr val="B83B2E">
              <a:alpha val="8000"/>
            </a:srgbClr>
          </a:solidFill>
          <a:ln w="9525">
            <a:solidFill>
              <a:srgbClr val="B83B2E"/>
            </a:solidFill>
            <a:prstDash val="solid"/>
          </a:ln>
        </p:spPr>
      </p:sp>
      <p:sp>
        <p:nvSpPr>
          <p:cNvPr id="20" name="Text 16"/>
          <p:cNvSpPr txBox="1"/>
          <p:nvPr/>
        </p:nvSpPr>
        <p:spPr>
          <a:xfrm>
            <a:off x="5577840" y="1399032"/>
            <a:ext cx="2926080" cy="256032"/>
          </a:xfrm>
          <a:prstGeom prst="rect">
            <a:avLst/>
          </a:prstGeom>
          <a:noFill/>
          <a:ln/>
        </p:spPr>
        <p:txBody>
          <a:bodyPr wrap="square" lIns="0" tIns="0" rIns="0" bIns="0" rtlCol="0" anchor="ctr"/>
          <a:lstStyle/>
          <a:p>
            <a:pPr marL="0" indent="0">
              <a:buNone/>
            </a:pPr>
            <a:r>
              <a:rPr lang="en-US" sz="1400" b="1" dirty="0">
                <a:solidFill>
                  <a:srgbClr val="B83B2E"/>
                </a:solidFill>
                <a:latin typeface="Calibri" pitchFamily="34" charset="0"/>
                <a:ea typeface="Calibri" pitchFamily="34" charset="-122"/>
                <a:cs typeface="Calibri" pitchFamily="34" charset="-120"/>
              </a:rPr>
              <a:t>Le problème</a:t>
            </a:r>
            <a:endParaRPr lang="en-US" sz="1400" dirty="0"/>
          </a:p>
        </p:txBody>
      </p:sp>
      <p:sp>
        <p:nvSpPr>
          <p:cNvPr id="21" name="Text 17"/>
          <p:cNvSpPr txBox="1"/>
          <p:nvPr/>
        </p:nvSpPr>
        <p:spPr>
          <a:xfrm>
            <a:off x="5577840" y="1673352"/>
            <a:ext cx="2971800" cy="22860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Isolé, un fragment perd son contexte :</a:t>
            </a:r>
            <a:endParaRPr lang="en-US" sz="1100" dirty="0"/>
          </a:p>
        </p:txBody>
      </p:sp>
      <p:sp>
        <p:nvSpPr>
          <p:cNvPr id="22" name="Shape 18"/>
          <p:cNvSpPr/>
          <p:nvPr/>
        </p:nvSpPr>
        <p:spPr>
          <a:xfrm>
            <a:off x="5577840" y="1965960"/>
            <a:ext cx="2926080" cy="713232"/>
          </a:xfrm>
          <a:prstGeom prst="roundRect">
            <a:avLst>
              <a:gd name="adj" fmla="val 10256"/>
            </a:avLst>
          </a:prstGeom>
          <a:solidFill>
            <a:srgbClr val="FFFFFF"/>
          </a:solidFill>
          <a:ln w="9525">
            <a:solidFill>
              <a:srgbClr val="D5DED9"/>
            </a:solidFill>
            <a:prstDash val="solid"/>
          </a:ln>
        </p:spPr>
      </p:sp>
      <p:sp>
        <p:nvSpPr>
          <p:cNvPr id="23" name="Text 19"/>
          <p:cNvSpPr txBox="1"/>
          <p:nvPr/>
        </p:nvSpPr>
        <p:spPr>
          <a:xfrm>
            <a:off x="5669280" y="1965960"/>
            <a:ext cx="2788920" cy="713232"/>
          </a:xfrm>
          <a:prstGeom prst="rect">
            <a:avLst/>
          </a:prstGeom>
          <a:noFill/>
          <a:ln/>
        </p:spPr>
        <p:txBody>
          <a:bodyPr wrap="square" lIns="0" tIns="0" rIns="0" bIns="0" rtlCol="0" anchor="ctr"/>
          <a:lstStyle/>
          <a:p>
            <a:pPr marL="0" indent="0">
              <a:spcAft>
                <a:spcPts val="300"/>
              </a:spcAft>
              <a:buNone/>
            </a:pPr>
            <a:r>
              <a:rPr lang="en-US" sz="1000" b="1" dirty="0">
                <a:solidFill>
                  <a:srgbClr val="B83B2E"/>
                </a:solidFill>
                <a:latin typeface="Calibri" pitchFamily="34" charset="0"/>
                <a:ea typeface="Calibri" pitchFamily="34" charset="-122"/>
                <a:cs typeface="Calibri" pitchFamily="34" charset="-120"/>
              </a:rPr>
              <a:t>Avant : </a:t>
            </a:r>
            <a:r>
              <a:rPr lang="en-US" sz="1000" dirty="0">
                <a:solidFill>
                  <a:srgbClr val="231F20"/>
                </a:solidFill>
                <a:latin typeface="Calibri" pitchFamily="34" charset="0"/>
                <a:ea typeface="Calibri" pitchFamily="34" charset="-122"/>
                <a:cs typeface="Calibri" pitchFamily="34" charset="-120"/>
              </a:rPr>
              <a:t>« Le chiffre d'affaires a progressé de 3 % sur le trimestre. »</a:t>
            </a:r>
            <a:endParaRPr lang="en-US" sz="1000" dirty="0"/>
          </a:p>
          <a:p>
            <a:pPr marL="0" indent="0">
              <a:spcAft>
                <a:spcPts val="300"/>
              </a:spcAft>
              <a:buNone/>
            </a:pPr>
            <a:r>
              <a:rPr lang="en-US" sz="1000" b="1" dirty="0">
                <a:solidFill>
                  <a:srgbClr val="00704A"/>
                </a:solidFill>
                <a:latin typeface="Calibri" pitchFamily="34" charset="0"/>
                <a:ea typeface="Calibri" pitchFamily="34" charset="-122"/>
                <a:cs typeface="Calibri" pitchFamily="34" charset="-120"/>
              </a:rPr>
              <a:t>Après : </a:t>
            </a:r>
            <a:r>
              <a:rPr lang="en-US" sz="1000" dirty="0">
                <a:solidFill>
                  <a:srgbClr val="231F20"/>
                </a:solidFill>
                <a:latin typeface="Calibri" pitchFamily="34" charset="0"/>
                <a:ea typeface="Calibri" pitchFamily="34" charset="-122"/>
                <a:cs typeface="Calibri" pitchFamily="34" charset="-120"/>
              </a:rPr>
              <a:t>« [ACME Corp, rapport T2] Le chiffre d'affaires a progressé de 3 %… »</a:t>
            </a:r>
            <a:endParaRPr lang="en-US" sz="1000" dirty="0"/>
          </a:p>
        </p:txBody>
      </p:sp>
      <p:sp>
        <p:nvSpPr>
          <p:cNvPr id="24" name="Shape 20"/>
          <p:cNvSpPr/>
          <p:nvPr/>
        </p:nvSpPr>
        <p:spPr>
          <a:xfrm>
            <a:off x="5394960" y="2926080"/>
            <a:ext cx="3291840" cy="1737360"/>
          </a:xfrm>
          <a:prstGeom prst="roundRect">
            <a:avLst>
              <a:gd name="adj" fmla="val 4211"/>
            </a:avLst>
          </a:prstGeom>
          <a:solidFill>
            <a:srgbClr val="E8F5EF"/>
          </a:solidFill>
          <a:ln w="15875">
            <a:solidFill>
              <a:srgbClr val="00A86A"/>
            </a:solidFill>
            <a:prstDash val="solid"/>
          </a:ln>
        </p:spPr>
      </p:sp>
      <p:sp>
        <p:nvSpPr>
          <p:cNvPr id="25" name="Text 21"/>
          <p:cNvSpPr txBox="1"/>
          <p:nvPr/>
        </p:nvSpPr>
        <p:spPr>
          <a:xfrm>
            <a:off x="5577840" y="2999232"/>
            <a:ext cx="2926080" cy="256032"/>
          </a:xfrm>
          <a:prstGeom prst="rect">
            <a:avLst/>
          </a:prstGeom>
          <a:noFill/>
          <a:ln/>
        </p:spPr>
        <p:txBody>
          <a:bodyPr wrap="square" lIns="0" tIns="0" rIns="0" bIns="0" rtlCol="0" anchor="ctr"/>
          <a:lstStyle/>
          <a:p>
            <a:pPr marL="0" indent="0">
              <a:buNone/>
            </a:pPr>
            <a:r>
              <a:rPr lang="en-US" sz="1400" b="1" dirty="0">
                <a:solidFill>
                  <a:srgbClr val="00704A"/>
                </a:solidFill>
                <a:latin typeface="Calibri" pitchFamily="34" charset="0"/>
                <a:ea typeface="Calibri" pitchFamily="34" charset="-122"/>
                <a:cs typeface="Calibri" pitchFamily="34" charset="-120"/>
              </a:rPr>
              <a:t>La solution</a:t>
            </a:r>
            <a:endParaRPr lang="en-US" sz="1400" dirty="0"/>
          </a:p>
        </p:txBody>
      </p:sp>
      <p:sp>
        <p:nvSpPr>
          <p:cNvPr id="26" name="Text 22"/>
          <p:cNvSpPr txBox="1"/>
          <p:nvPr/>
        </p:nvSpPr>
        <p:spPr>
          <a:xfrm>
            <a:off x="5577840" y="3291840"/>
            <a:ext cx="2971800" cy="77724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Un LLM rédige un court contexte (≈ 50–100 tokens) situant chaque fragment dans son document, ajouté avant l'embedding et l'indexation BM25.</a:t>
            </a:r>
            <a:endParaRPr lang="en-US" sz="1100" dirty="0"/>
          </a:p>
        </p:txBody>
      </p:sp>
      <p:sp>
        <p:nvSpPr>
          <p:cNvPr id="27" name="Text 23"/>
          <p:cNvSpPr txBox="1"/>
          <p:nvPr/>
        </p:nvSpPr>
        <p:spPr>
          <a:xfrm>
            <a:off x="5577840" y="4160520"/>
            <a:ext cx="3017520" cy="365760"/>
          </a:xfrm>
          <a:prstGeom prst="rect">
            <a:avLst/>
          </a:prstGeom>
          <a:noFill/>
          <a:ln/>
        </p:spPr>
        <p:txBody>
          <a:bodyPr wrap="square" lIns="0" tIns="0" rIns="0" bIns="0"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−49 % </a:t>
            </a:r>
            <a:r>
              <a:rPr lang="en-US" sz="1100" dirty="0">
                <a:solidFill>
                  <a:srgbClr val="5E6964"/>
                </a:solidFill>
                <a:latin typeface="Calibri" pitchFamily="34" charset="0"/>
                <a:ea typeface="Calibri" pitchFamily="34" charset="-122"/>
                <a:cs typeface="Calibri" pitchFamily="34" charset="-120"/>
              </a:rPr>
              <a:t>d'échecs  ·  </a:t>
            </a:r>
            <a:r>
              <a:rPr lang="en-US" sz="1800" b="1" dirty="0">
                <a:solidFill>
                  <a:srgbClr val="00704A"/>
                </a:solidFill>
                <a:latin typeface="Calibri" pitchFamily="34" charset="0"/>
                <a:ea typeface="Calibri" pitchFamily="34" charset="-122"/>
                <a:cs typeface="Calibri" pitchFamily="34" charset="-120"/>
              </a:rPr>
              <a:t>−67 % </a:t>
            </a:r>
            <a:r>
              <a:rPr lang="en-US" sz="1100" dirty="0">
                <a:solidFill>
                  <a:srgbClr val="5E6964"/>
                </a:solidFill>
                <a:latin typeface="Calibri" pitchFamily="34" charset="0"/>
                <a:ea typeface="Calibri" pitchFamily="34" charset="-122"/>
                <a:cs typeface="Calibri" pitchFamily="34" charset="-120"/>
              </a:rPr>
              <a:t>avec reclassement</a:t>
            </a:r>
            <a:endParaRPr lang="en-US" sz="11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04</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Évolution du RAG</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Comment le concept a-t-il mûri depuis 2017 ?</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5C242"/>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ÉVOLUTION DU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Comment le concept de RAG a progressé</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2834640"/>
            <a:ext cx="1097280" cy="1828800"/>
          </a:xfrm>
          <a:prstGeom prst="roundRect">
            <a:avLst>
              <a:gd name="adj" fmla="val 6667"/>
            </a:avLst>
          </a:prstGeom>
          <a:solidFill>
            <a:srgbClr val="F4F7F5"/>
          </a:solidFill>
          <a:ln w="9525">
            <a:solidFill>
              <a:srgbClr val="D5DED9"/>
            </a:solidFill>
            <a:prstDash val="solid"/>
          </a:ln>
        </p:spPr>
      </p:sp>
      <p:sp>
        <p:nvSpPr>
          <p:cNvPr id="18" name="Text 15"/>
          <p:cNvSpPr txBox="1"/>
          <p:nvPr/>
        </p:nvSpPr>
        <p:spPr>
          <a:xfrm>
            <a:off x="548640" y="2926080"/>
            <a:ext cx="914400" cy="274320"/>
          </a:xfrm>
          <a:prstGeom prst="rect">
            <a:avLst/>
          </a:prstGeom>
          <a:noFill/>
          <a:ln/>
        </p:spPr>
        <p:txBody>
          <a:bodyPr wrap="square" lIns="0" tIns="0" rIns="0" bIns="0" rtlCol="0" anchor="ctr"/>
          <a:lstStyle/>
          <a:p>
            <a:pPr marL="0" indent="0">
              <a:buNone/>
            </a:pPr>
            <a:r>
              <a:rPr lang="en-US" sz="1500" b="1" dirty="0">
                <a:solidFill>
                  <a:srgbClr val="7F8C87"/>
                </a:solidFill>
                <a:latin typeface="Calibri" pitchFamily="34" charset="0"/>
                <a:ea typeface="Calibri" pitchFamily="34" charset="-122"/>
                <a:cs typeface="Calibri" pitchFamily="34" charset="-120"/>
              </a:rPr>
              <a:t>2017–19</a:t>
            </a:r>
            <a:endParaRPr lang="en-US" sz="1500" dirty="0"/>
          </a:p>
        </p:txBody>
      </p:sp>
      <p:sp>
        <p:nvSpPr>
          <p:cNvPr id="19" name="Text 16"/>
          <p:cNvSpPr txBox="1"/>
          <p:nvPr/>
        </p:nvSpPr>
        <p:spPr>
          <a:xfrm>
            <a:off x="548640" y="3218688"/>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Chercher, puis lire</a:t>
            </a:r>
            <a:endParaRPr lang="en-US" sz="1050" dirty="0"/>
          </a:p>
        </p:txBody>
      </p:sp>
      <p:sp>
        <p:nvSpPr>
          <p:cNvPr id="20" name="Text 17"/>
          <p:cNvSpPr txBox="1"/>
          <p:nvPr/>
        </p:nvSpPr>
        <p:spPr>
          <a:xfrm>
            <a:off x="548640" y="3703320"/>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Un moteur de recherche alimente un lecteur extractif.</a:t>
            </a:r>
            <a:endParaRPr lang="en-US" sz="950" dirty="0"/>
          </a:p>
        </p:txBody>
      </p:sp>
      <p:sp>
        <p:nvSpPr>
          <p:cNvPr id="21" name="Text 18"/>
          <p:cNvSpPr txBox="1"/>
          <p:nvPr/>
        </p:nvSpPr>
        <p:spPr>
          <a:xfrm>
            <a:off x="54864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DrQA · ORQA</a:t>
            </a:r>
            <a:endParaRPr lang="en-US" sz="850" dirty="0"/>
          </a:p>
        </p:txBody>
      </p:sp>
      <p:sp>
        <p:nvSpPr>
          <p:cNvPr id="22" name="Shape 19"/>
          <p:cNvSpPr/>
          <p:nvPr/>
        </p:nvSpPr>
        <p:spPr>
          <a:xfrm>
            <a:off x="1645920" y="2615184"/>
            <a:ext cx="1097280" cy="2048256"/>
          </a:xfrm>
          <a:prstGeom prst="roundRect">
            <a:avLst>
              <a:gd name="adj" fmla="val 6667"/>
            </a:avLst>
          </a:prstGeom>
          <a:solidFill>
            <a:srgbClr val="F4F7F5"/>
          </a:solidFill>
          <a:ln w="9525">
            <a:solidFill>
              <a:srgbClr val="D5DED9"/>
            </a:solidFill>
            <a:prstDash val="solid"/>
          </a:ln>
        </p:spPr>
      </p:sp>
      <p:sp>
        <p:nvSpPr>
          <p:cNvPr id="23" name="Text 20"/>
          <p:cNvSpPr txBox="1"/>
          <p:nvPr/>
        </p:nvSpPr>
        <p:spPr>
          <a:xfrm>
            <a:off x="1737360" y="2706624"/>
            <a:ext cx="914400" cy="274320"/>
          </a:xfrm>
          <a:prstGeom prst="rect">
            <a:avLst/>
          </a:prstGeom>
          <a:noFill/>
          <a:ln/>
        </p:spPr>
        <p:txBody>
          <a:bodyPr wrap="square" lIns="0" tIns="0" rIns="0" bIns="0" rtlCol="0" anchor="ctr"/>
          <a:lstStyle/>
          <a:p>
            <a:pPr marL="0" indent="0">
              <a:buNone/>
            </a:pPr>
            <a:r>
              <a:rPr lang="en-US" sz="1500" b="1" dirty="0">
                <a:solidFill>
                  <a:srgbClr val="57BD92"/>
                </a:solidFill>
                <a:latin typeface="Calibri" pitchFamily="34" charset="0"/>
                <a:ea typeface="Calibri" pitchFamily="34" charset="-122"/>
                <a:cs typeface="Calibri" pitchFamily="34" charset="-120"/>
              </a:rPr>
              <a:t>2020</a:t>
            </a:r>
            <a:endParaRPr lang="en-US" sz="1500" dirty="0"/>
          </a:p>
        </p:txBody>
      </p:sp>
      <p:sp>
        <p:nvSpPr>
          <p:cNvPr id="24" name="Text 21"/>
          <p:cNvSpPr txBox="1"/>
          <p:nvPr/>
        </p:nvSpPr>
        <p:spPr>
          <a:xfrm>
            <a:off x="1737360" y="2999232"/>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Entraîné de bout en bout</a:t>
            </a:r>
            <a:endParaRPr lang="en-US" sz="1050" dirty="0"/>
          </a:p>
        </p:txBody>
      </p:sp>
      <p:sp>
        <p:nvSpPr>
          <p:cNvPr id="25" name="Text 22"/>
          <p:cNvSpPr txBox="1"/>
          <p:nvPr/>
        </p:nvSpPr>
        <p:spPr>
          <a:xfrm>
            <a:off x="1737360" y="3483864"/>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Récupérateur et générateur apprennent ensemble.</a:t>
            </a:r>
            <a:endParaRPr lang="en-US" sz="950" dirty="0"/>
          </a:p>
        </p:txBody>
      </p:sp>
      <p:sp>
        <p:nvSpPr>
          <p:cNvPr id="26" name="Text 23"/>
          <p:cNvSpPr txBox="1"/>
          <p:nvPr/>
        </p:nvSpPr>
        <p:spPr>
          <a:xfrm>
            <a:off x="173736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REALM · DPR · RAG · FiD</a:t>
            </a:r>
            <a:endParaRPr lang="en-US" sz="850" dirty="0"/>
          </a:p>
        </p:txBody>
      </p:sp>
      <p:sp>
        <p:nvSpPr>
          <p:cNvPr id="27" name="Shape 24"/>
          <p:cNvSpPr/>
          <p:nvPr/>
        </p:nvSpPr>
        <p:spPr>
          <a:xfrm>
            <a:off x="2834640" y="2395728"/>
            <a:ext cx="1097280" cy="2267712"/>
          </a:xfrm>
          <a:prstGeom prst="roundRect">
            <a:avLst>
              <a:gd name="adj" fmla="val 6667"/>
            </a:avLst>
          </a:prstGeom>
          <a:solidFill>
            <a:srgbClr val="F4F7F5"/>
          </a:solidFill>
          <a:ln w="9525">
            <a:solidFill>
              <a:srgbClr val="D5DED9"/>
            </a:solidFill>
            <a:prstDash val="solid"/>
          </a:ln>
        </p:spPr>
      </p:sp>
      <p:sp>
        <p:nvSpPr>
          <p:cNvPr id="28" name="Text 25"/>
          <p:cNvSpPr txBox="1"/>
          <p:nvPr/>
        </p:nvSpPr>
        <p:spPr>
          <a:xfrm>
            <a:off x="2926080" y="2487168"/>
            <a:ext cx="914400" cy="274320"/>
          </a:xfrm>
          <a:prstGeom prst="rect">
            <a:avLst/>
          </a:prstGeom>
          <a:noFill/>
          <a:ln/>
        </p:spPr>
        <p:txBody>
          <a:bodyPr wrap="square" lIns="0" tIns="0" rIns="0" bIns="0" rtlCol="0" anchor="ctr"/>
          <a:lstStyle/>
          <a:p>
            <a:pPr marL="0" indent="0">
              <a:buNone/>
            </a:pPr>
            <a:r>
              <a:rPr lang="en-US" sz="1500" b="1" dirty="0">
                <a:solidFill>
                  <a:srgbClr val="33AF7C"/>
                </a:solidFill>
                <a:latin typeface="Calibri" pitchFamily="34" charset="0"/>
                <a:ea typeface="Calibri" pitchFamily="34" charset="-122"/>
                <a:cs typeface="Calibri" pitchFamily="34" charset="-120"/>
              </a:rPr>
              <a:t>2021–22</a:t>
            </a:r>
            <a:endParaRPr lang="en-US" sz="1500" dirty="0"/>
          </a:p>
        </p:txBody>
      </p:sp>
      <p:sp>
        <p:nvSpPr>
          <p:cNvPr id="29" name="Text 26"/>
          <p:cNvSpPr txBox="1"/>
          <p:nvPr/>
        </p:nvSpPr>
        <p:spPr>
          <a:xfrm>
            <a:off x="2926080" y="2779776"/>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Récupération à grande échelle</a:t>
            </a:r>
            <a:endParaRPr lang="en-US" sz="1050" dirty="0"/>
          </a:p>
        </p:txBody>
      </p:sp>
      <p:sp>
        <p:nvSpPr>
          <p:cNvPr id="30" name="Text 27"/>
          <p:cNvSpPr txBox="1"/>
          <p:nvPr/>
        </p:nvSpPr>
        <p:spPr>
          <a:xfrm>
            <a:off x="2926080" y="3264408"/>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Récupération intégrée aux grands modèles.</a:t>
            </a:r>
            <a:endParaRPr lang="en-US" sz="950" dirty="0"/>
          </a:p>
        </p:txBody>
      </p:sp>
      <p:sp>
        <p:nvSpPr>
          <p:cNvPr id="31" name="Text 28"/>
          <p:cNvSpPr txBox="1"/>
          <p:nvPr/>
        </p:nvSpPr>
        <p:spPr>
          <a:xfrm>
            <a:off x="292608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RETRO (2 000 Md tokens) · Atlas</a:t>
            </a:r>
            <a:endParaRPr lang="en-US" sz="850" dirty="0"/>
          </a:p>
        </p:txBody>
      </p:sp>
      <p:sp>
        <p:nvSpPr>
          <p:cNvPr id="32" name="Shape 29"/>
          <p:cNvSpPr/>
          <p:nvPr/>
        </p:nvSpPr>
        <p:spPr>
          <a:xfrm>
            <a:off x="4023360" y="2176272"/>
            <a:ext cx="1097280" cy="2487168"/>
          </a:xfrm>
          <a:prstGeom prst="roundRect">
            <a:avLst>
              <a:gd name="adj" fmla="val 6667"/>
            </a:avLst>
          </a:prstGeom>
          <a:solidFill>
            <a:srgbClr val="F4F7F5"/>
          </a:solidFill>
          <a:ln w="9525">
            <a:solidFill>
              <a:srgbClr val="D5DED9"/>
            </a:solidFill>
            <a:prstDash val="solid"/>
          </a:ln>
        </p:spPr>
      </p:sp>
      <p:sp>
        <p:nvSpPr>
          <p:cNvPr id="33" name="Text 30"/>
          <p:cNvSpPr txBox="1"/>
          <p:nvPr/>
        </p:nvSpPr>
        <p:spPr>
          <a:xfrm>
            <a:off x="4114800" y="2267712"/>
            <a:ext cx="914400" cy="274320"/>
          </a:xfrm>
          <a:prstGeom prst="rect">
            <a:avLst/>
          </a:prstGeom>
          <a:noFill/>
          <a:ln/>
        </p:spPr>
        <p:txBody>
          <a:bodyPr wrap="square" lIns="0" tIns="0" rIns="0" bIns="0" rtlCol="0" anchor="ctr"/>
          <a:lstStyle/>
          <a:p>
            <a:pPr marL="0" indent="0">
              <a:buNone/>
            </a:pPr>
            <a:r>
              <a:rPr lang="en-US" sz="1500" b="1" dirty="0">
                <a:solidFill>
                  <a:srgbClr val="10A06A"/>
                </a:solidFill>
                <a:latin typeface="Calibri" pitchFamily="34" charset="0"/>
                <a:ea typeface="Calibri" pitchFamily="34" charset="-122"/>
                <a:cs typeface="Calibri" pitchFamily="34" charset="-120"/>
              </a:rPr>
              <a:t>2023</a:t>
            </a:r>
            <a:endParaRPr lang="en-US" sz="1500" dirty="0"/>
          </a:p>
        </p:txBody>
      </p:sp>
      <p:sp>
        <p:nvSpPr>
          <p:cNvPr id="34" name="Text 31"/>
          <p:cNvSpPr txBox="1"/>
          <p:nvPr/>
        </p:nvSpPr>
        <p:spPr>
          <a:xfrm>
            <a:off x="4114800" y="2560320"/>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RAG pour tout LLM</a:t>
            </a:r>
            <a:endParaRPr lang="en-US" sz="1050" dirty="0"/>
          </a:p>
        </p:txBody>
      </p:sp>
      <p:sp>
        <p:nvSpPr>
          <p:cNvPr id="35" name="Text 32"/>
          <p:cNvSpPr txBox="1"/>
          <p:nvPr/>
        </p:nvSpPr>
        <p:spPr>
          <a:xfrm>
            <a:off x="4114800" y="3044952"/>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LLM figés, en boîte noire ; les passages vont dans le prompt.</a:t>
            </a:r>
            <a:endParaRPr lang="en-US" sz="950" dirty="0"/>
          </a:p>
        </p:txBody>
      </p:sp>
      <p:sp>
        <p:nvSpPr>
          <p:cNvPr id="36" name="Text 33"/>
          <p:cNvSpPr txBox="1"/>
          <p:nvPr/>
        </p:nvSpPr>
        <p:spPr>
          <a:xfrm>
            <a:off x="411480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In-Context RALM · REPLUG</a:t>
            </a:r>
            <a:endParaRPr lang="en-US" sz="850" dirty="0"/>
          </a:p>
        </p:txBody>
      </p:sp>
      <p:sp>
        <p:nvSpPr>
          <p:cNvPr id="37" name="Shape 34"/>
          <p:cNvSpPr/>
          <p:nvPr/>
        </p:nvSpPr>
        <p:spPr>
          <a:xfrm>
            <a:off x="5212080" y="1956816"/>
            <a:ext cx="1097280" cy="2706624"/>
          </a:xfrm>
          <a:prstGeom prst="roundRect">
            <a:avLst>
              <a:gd name="adj" fmla="val 6667"/>
            </a:avLst>
          </a:prstGeom>
          <a:solidFill>
            <a:srgbClr val="F4F7F5"/>
          </a:solidFill>
          <a:ln w="9525">
            <a:solidFill>
              <a:srgbClr val="D5DED9"/>
            </a:solidFill>
            <a:prstDash val="solid"/>
          </a:ln>
        </p:spPr>
      </p:sp>
      <p:sp>
        <p:nvSpPr>
          <p:cNvPr id="38" name="Text 35"/>
          <p:cNvSpPr txBox="1"/>
          <p:nvPr/>
        </p:nvSpPr>
        <p:spPr>
          <a:xfrm>
            <a:off x="5303520" y="2048256"/>
            <a:ext cx="914400" cy="274320"/>
          </a:xfrm>
          <a:prstGeom prst="rect">
            <a:avLst/>
          </a:prstGeom>
          <a:noFill/>
          <a:ln/>
        </p:spPr>
        <p:txBody>
          <a:bodyPr wrap="square" lIns="0" tIns="0" rIns="0" bIns="0" rtlCol="0" anchor="ctr"/>
          <a:lstStyle/>
          <a:p>
            <a:pPr marL="0" indent="0">
              <a:buNone/>
            </a:pPr>
            <a:r>
              <a:rPr lang="en-US" sz="1500" b="1" dirty="0">
                <a:solidFill>
                  <a:srgbClr val="008A5B"/>
                </a:solidFill>
                <a:latin typeface="Calibri" pitchFamily="34" charset="0"/>
                <a:ea typeface="Calibri" pitchFamily="34" charset="-122"/>
                <a:cs typeface="Calibri" pitchFamily="34" charset="-120"/>
              </a:rPr>
              <a:t>2023–24</a:t>
            </a:r>
            <a:endParaRPr lang="en-US" sz="1500" dirty="0"/>
          </a:p>
        </p:txBody>
      </p:sp>
      <p:sp>
        <p:nvSpPr>
          <p:cNvPr id="39" name="Text 36"/>
          <p:cNvSpPr txBox="1"/>
          <p:nvPr/>
        </p:nvSpPr>
        <p:spPr>
          <a:xfrm>
            <a:off x="5303520" y="2340864"/>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Adaptatif &amp; autocorrectif</a:t>
            </a:r>
            <a:endParaRPr lang="en-US" sz="1050" dirty="0"/>
          </a:p>
        </p:txBody>
      </p:sp>
      <p:sp>
        <p:nvSpPr>
          <p:cNvPr id="40" name="Text 37"/>
          <p:cNvSpPr txBox="1"/>
          <p:nvPr/>
        </p:nvSpPr>
        <p:spPr>
          <a:xfrm>
            <a:off x="5303520" y="2825496"/>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Chercher si besoin, vérifier et corriger.</a:t>
            </a:r>
            <a:endParaRPr lang="en-US" sz="950" dirty="0"/>
          </a:p>
        </p:txBody>
      </p:sp>
      <p:sp>
        <p:nvSpPr>
          <p:cNvPr id="41" name="Text 38"/>
          <p:cNvSpPr txBox="1"/>
          <p:nvPr/>
        </p:nvSpPr>
        <p:spPr>
          <a:xfrm>
            <a:off x="530352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FLARE · IRCoT · Self-RAG · CRAG · Adaptive-RAG</a:t>
            </a:r>
            <a:endParaRPr lang="en-US" sz="850" dirty="0"/>
          </a:p>
        </p:txBody>
      </p:sp>
      <p:sp>
        <p:nvSpPr>
          <p:cNvPr id="42" name="Shape 39"/>
          <p:cNvSpPr/>
          <p:nvPr/>
        </p:nvSpPr>
        <p:spPr>
          <a:xfrm>
            <a:off x="6400800" y="1737360"/>
            <a:ext cx="1097280" cy="2926080"/>
          </a:xfrm>
          <a:prstGeom prst="roundRect">
            <a:avLst>
              <a:gd name="adj" fmla="val 6667"/>
            </a:avLst>
          </a:prstGeom>
          <a:solidFill>
            <a:srgbClr val="F4F7F5"/>
          </a:solidFill>
          <a:ln w="9525">
            <a:solidFill>
              <a:srgbClr val="D5DED9"/>
            </a:solidFill>
            <a:prstDash val="solid"/>
          </a:ln>
        </p:spPr>
      </p:sp>
      <p:sp>
        <p:nvSpPr>
          <p:cNvPr id="43" name="Text 40"/>
          <p:cNvSpPr txBox="1"/>
          <p:nvPr/>
        </p:nvSpPr>
        <p:spPr>
          <a:xfrm>
            <a:off x="6492240" y="1828800"/>
            <a:ext cx="914400" cy="274320"/>
          </a:xfrm>
          <a:prstGeom prst="rect">
            <a:avLst/>
          </a:prstGeom>
          <a:noFill/>
          <a:ln/>
        </p:spPr>
        <p:txBody>
          <a:bodyPr wrap="square" lIns="0" tIns="0" rIns="0" bIns="0" rtlCol="0" anchor="ctr"/>
          <a:lstStyle/>
          <a:p>
            <a:pPr marL="0" indent="0">
              <a:buNone/>
            </a:pPr>
            <a:r>
              <a:rPr lang="en-US" sz="1500" b="1" dirty="0">
                <a:solidFill>
                  <a:srgbClr val="00664A"/>
                </a:solidFill>
                <a:latin typeface="Calibri" pitchFamily="34" charset="0"/>
                <a:ea typeface="Calibri" pitchFamily="34" charset="-122"/>
                <a:cs typeface="Calibri" pitchFamily="34" charset="-120"/>
              </a:rPr>
              <a:t>2024</a:t>
            </a:r>
            <a:endParaRPr lang="en-US" sz="1500" dirty="0"/>
          </a:p>
        </p:txBody>
      </p:sp>
      <p:sp>
        <p:nvSpPr>
          <p:cNvPr id="44" name="Text 41"/>
          <p:cNvSpPr txBox="1"/>
          <p:nvPr/>
        </p:nvSpPr>
        <p:spPr>
          <a:xfrm>
            <a:off x="6492240" y="2121408"/>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Structuré &amp; multimodal</a:t>
            </a:r>
            <a:endParaRPr lang="en-US" sz="1050" dirty="0"/>
          </a:p>
        </p:txBody>
      </p:sp>
      <p:sp>
        <p:nvSpPr>
          <p:cNvPr id="45" name="Text 42"/>
          <p:cNvSpPr txBox="1"/>
          <p:nvPr/>
        </p:nvSpPr>
        <p:spPr>
          <a:xfrm>
            <a:off x="6492240" y="2606040"/>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Graphes, arbres de résumés, images de pages.</a:t>
            </a:r>
            <a:endParaRPr lang="en-US" sz="950" dirty="0"/>
          </a:p>
        </p:txBody>
      </p:sp>
      <p:sp>
        <p:nvSpPr>
          <p:cNvPr id="46" name="Text 43"/>
          <p:cNvSpPr txBox="1"/>
          <p:nvPr/>
        </p:nvSpPr>
        <p:spPr>
          <a:xfrm>
            <a:off x="649224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GraphRAG · RAPTOR · HippoRAG · ColPali</a:t>
            </a:r>
            <a:endParaRPr lang="en-US" sz="850" dirty="0"/>
          </a:p>
        </p:txBody>
      </p:sp>
      <p:sp>
        <p:nvSpPr>
          <p:cNvPr id="47" name="Shape 44"/>
          <p:cNvSpPr/>
          <p:nvPr/>
        </p:nvSpPr>
        <p:spPr>
          <a:xfrm>
            <a:off x="7589520" y="1517904"/>
            <a:ext cx="1097280" cy="3145536"/>
          </a:xfrm>
          <a:prstGeom prst="roundRect">
            <a:avLst>
              <a:gd name="adj" fmla="val 6667"/>
            </a:avLst>
          </a:prstGeom>
          <a:solidFill>
            <a:srgbClr val="E8F5EF"/>
          </a:solidFill>
          <a:ln w="15875">
            <a:solidFill>
              <a:srgbClr val="D49A00"/>
            </a:solidFill>
            <a:prstDash val="solid"/>
          </a:ln>
        </p:spPr>
      </p:sp>
      <p:sp>
        <p:nvSpPr>
          <p:cNvPr id="48" name="Text 45"/>
          <p:cNvSpPr txBox="1"/>
          <p:nvPr/>
        </p:nvSpPr>
        <p:spPr>
          <a:xfrm>
            <a:off x="7680960" y="1609344"/>
            <a:ext cx="914400" cy="274320"/>
          </a:xfrm>
          <a:prstGeom prst="rect">
            <a:avLst/>
          </a:prstGeom>
          <a:noFill/>
          <a:ln/>
        </p:spPr>
        <p:txBody>
          <a:bodyPr wrap="square" lIns="0" tIns="0" rIns="0" bIns="0" rtlCol="0" anchor="ctr"/>
          <a:lstStyle/>
          <a:p>
            <a:pPr marL="0" indent="0">
              <a:buNone/>
            </a:pPr>
            <a:r>
              <a:rPr lang="en-US" sz="1500" b="1" dirty="0">
                <a:solidFill>
                  <a:srgbClr val="D49A00"/>
                </a:solidFill>
                <a:latin typeface="Calibri" pitchFamily="34" charset="0"/>
                <a:ea typeface="Calibri" pitchFamily="34" charset="-122"/>
                <a:cs typeface="Calibri" pitchFamily="34" charset="-120"/>
              </a:rPr>
              <a:t>2025+</a:t>
            </a:r>
            <a:endParaRPr lang="en-US" sz="1500" dirty="0"/>
          </a:p>
        </p:txBody>
      </p:sp>
      <p:sp>
        <p:nvSpPr>
          <p:cNvPr id="49" name="Text 46"/>
          <p:cNvSpPr txBox="1"/>
          <p:nvPr/>
        </p:nvSpPr>
        <p:spPr>
          <a:xfrm>
            <a:off x="7680960" y="1901952"/>
            <a:ext cx="914400" cy="475488"/>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Agentique &amp; entraîné par RL</a:t>
            </a:r>
            <a:endParaRPr lang="en-US" sz="1050" dirty="0"/>
          </a:p>
        </p:txBody>
      </p:sp>
      <p:sp>
        <p:nvSpPr>
          <p:cNvPr id="50" name="Text 47"/>
          <p:cNvSpPr txBox="1"/>
          <p:nvPr/>
        </p:nvSpPr>
        <p:spPr>
          <a:xfrm>
            <a:off x="7680960" y="2386584"/>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Les modèles apprennent à planifier et chercher en plusieurs étapes.</a:t>
            </a:r>
            <a:endParaRPr lang="en-US" sz="950" dirty="0"/>
          </a:p>
        </p:txBody>
      </p:sp>
      <p:sp>
        <p:nvSpPr>
          <p:cNvPr id="51" name="Text 48"/>
          <p:cNvSpPr txBox="1"/>
          <p:nvPr/>
        </p:nvSpPr>
        <p:spPr>
          <a:xfrm>
            <a:off x="768096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Search-o1 · Search-R1 · agents « deep research »</a:t>
            </a:r>
            <a:endParaRPr lang="en-US" sz="850" dirty="0"/>
          </a:p>
        </p:txBody>
      </p:sp>
      <p:sp>
        <p:nvSpPr>
          <p:cNvPr id="52" name="Shape 49"/>
          <p:cNvSpPr/>
          <p:nvPr/>
        </p:nvSpPr>
        <p:spPr>
          <a:xfrm flipV="1">
            <a:off x="548640" y="1298448"/>
            <a:ext cx="8001000" cy="1280160"/>
          </a:xfrm>
          <a:prstGeom prst="line">
            <a:avLst/>
          </a:prstGeom>
          <a:noFill/>
          <a:ln w="22225">
            <a:solidFill>
              <a:srgbClr val="D49A00"/>
            </a:solidFill>
            <a:prstDash val="dash"/>
            <a:tailEnd type="triangle"/>
          </a:ln>
        </p:spPr>
      </p:sp>
      <p:sp>
        <p:nvSpPr>
          <p:cNvPr id="53" name="Text 50"/>
          <p:cNvSpPr txBox="1"/>
          <p:nvPr/>
        </p:nvSpPr>
        <p:spPr>
          <a:xfrm>
            <a:off x="457200" y="1325880"/>
            <a:ext cx="4114800" cy="274320"/>
          </a:xfrm>
          <a:prstGeom prst="rect">
            <a:avLst/>
          </a:prstGeom>
          <a:noFill/>
          <a:ln/>
        </p:spPr>
        <p:txBody>
          <a:bodyPr wrap="square" lIns="0" tIns="0" rIns="0" bIns="0" rtlCol="0" anchor="ctr"/>
          <a:lstStyle/>
          <a:p>
            <a:pPr marL="0" indent="0">
              <a:buNone/>
            </a:pPr>
            <a:r>
              <a:rPr lang="en-US" sz="1250" i="1" dirty="0">
                <a:solidFill>
                  <a:srgbClr val="D49A00"/>
                </a:solidFill>
                <a:latin typeface="Calibri" pitchFamily="34" charset="0"/>
                <a:ea typeface="Calibri" pitchFamily="34" charset="-122"/>
                <a:cs typeface="Calibri" pitchFamily="34" charset="-120"/>
              </a:rPr>
              <a:t>Plus adaptatif  ·  plus structuré  ·  plus autonome</a:t>
            </a:r>
            <a:endParaRPr lang="en-US" sz="12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ÉVOLUTION DU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Cinq axes de progrès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Axe</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553A"/>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RAG initial (2020)</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7F8C87"/>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Pratique établie</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A86A"/>
                    </a:solidFill>
                  </a:tcPr>
                </a:tc>
                <a:tc>
                  <a:txBody>
                    <a:bodyPr/>
                    <a:lstStyle/>
                    <a:p>
                      <a:pPr marL="0" indent="0" algn="ctr">
                        <a:buNone/>
                      </a:pPr>
                      <a:r>
                        <a:rPr lang="en-US" sz="1250" b="1" dirty="0">
                          <a:solidFill>
                            <a:srgbClr val="231F20"/>
                          </a:solidFill>
                          <a:latin typeface="Calibri" pitchFamily="34" charset="0"/>
                          <a:ea typeface="Calibri" pitchFamily="34" charset="-122"/>
                          <a:cs typeface="Calibri" pitchFamily="34" charset="-120"/>
                        </a:rPr>
                        <a:t>Frontière</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5C242"/>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Quand chercher</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Une fois, avant de générer</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Plusieurs fois, en alternance avec le raisonnement (IRCoT, FLARE)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Le modèle décide si et quand (Self-RAG, Adaptive-RAG)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Quoi récupérer</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Passages de taille fixe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Fragments hybrides, reclassés, contextualisés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Graphes, arbres de résumés, images de pages (GraphRAG, RAPTOR, ColPali)</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Apprentissage de la recherche</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Récupérateur entraîné avec un petit générateur</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LLM figé ; récupérateur standard ou ajusté via le LLM (REPLUG)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LLM entraîné par renforcement à chercher (Search-R1)</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Qui pilote le flux</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Chaîne linéaire fixe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Chaînes modulaires avec routage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Agents qui planifient une recherche en plusieurs étapes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Contrôle qualité</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Classement seul</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Reclassement, citations, évaluation automatisée (RAGAS)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Autocritique et récupération corrective (Self-RAG, CRAG)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5"/>
                  </a:ext>
                </a:extLst>
              </a:tr>
            </a:tbl>
          </a:graphicData>
        </a:graphic>
      </p:graphicFrame>
      <p:sp>
        <p:nvSpPr>
          <p:cNvPr id="18" name="Shape 14"/>
          <p:cNvSpPr/>
          <p:nvPr/>
        </p:nvSpPr>
        <p:spPr>
          <a:xfrm>
            <a:off x="2194560" y="4617720"/>
            <a:ext cx="6400800" cy="914"/>
          </a:xfrm>
          <a:prstGeom prst="line">
            <a:avLst/>
          </a:prstGeom>
          <a:noFill/>
          <a:ln w="25400">
            <a:solidFill>
              <a:srgbClr val="D49A00"/>
            </a:solidFill>
            <a:prstDash val="solid"/>
            <a:tailEnd type="triangle"/>
          </a:ln>
        </p:spPr>
      </p:sp>
      <p:sp>
        <p:nvSpPr>
          <p:cNvPr id="19" name="Text 15"/>
          <p:cNvSpPr txBox="1"/>
          <p:nvPr/>
        </p:nvSpPr>
        <p:spPr>
          <a:xfrm>
            <a:off x="457200" y="4507992"/>
            <a:ext cx="1645920" cy="2286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Sens du progrès</a:t>
            </a:r>
            <a:endParaRPr lang="en-US" sz="10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ÉVOLUTION DU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Du RAG naïf au RAG avancé, puis modulaire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7" name="Shape 14"/>
          <p:cNvSpPr/>
          <p:nvPr/>
        </p:nvSpPr>
        <p:spPr>
          <a:xfrm>
            <a:off x="457200" y="1325880"/>
            <a:ext cx="2615184" cy="2697480"/>
          </a:xfrm>
          <a:prstGeom prst="roundRect">
            <a:avLst>
              <a:gd name="adj" fmla="val 2797"/>
            </a:avLst>
          </a:prstGeom>
          <a:solidFill>
            <a:srgbClr val="F4F7F5"/>
          </a:solidFill>
          <a:ln w="9525">
            <a:solidFill>
              <a:srgbClr val="D5DED9"/>
            </a:solidFill>
            <a:prstDash val="solid"/>
          </a:ln>
        </p:spPr>
      </p:sp>
      <p:sp>
        <p:nvSpPr>
          <p:cNvPr id="18" name="Shape 15"/>
          <p:cNvSpPr/>
          <p:nvPr/>
        </p:nvSpPr>
        <p:spPr>
          <a:xfrm>
            <a:off x="640080" y="1481328"/>
            <a:ext cx="502920" cy="502920"/>
          </a:xfrm>
          <a:prstGeom prst="ellipse">
            <a:avLst/>
          </a:prstGeom>
          <a:solidFill>
            <a:srgbClr val="7F8C87">
              <a:alpha val="22000"/>
            </a:srgbClr>
          </a:solidFill>
          <a:ln w="12700">
            <a:solidFill>
              <a:srgbClr val="7F8C87">
                <a:alpha val="0"/>
              </a:srgbClr>
            </a:solidFill>
            <a:prstDash val="solid"/>
          </a:ln>
        </p:spPr>
      </p:sp>
      <p:pic>
        <p:nvPicPr>
          <p:cNvPr id="19" name="Image 0" descr="preencoded.png"/>
          <p:cNvPicPr>
            <a:picLocks noChangeAspect="1"/>
          </p:cNvPicPr>
          <p:nvPr/>
        </p:nvPicPr>
        <p:blipFill>
          <a:blip r:embed="rId3"/>
          <a:stretch>
            <a:fillRect/>
          </a:stretch>
        </p:blipFill>
        <p:spPr>
          <a:xfrm>
            <a:off x="760781" y="1602029"/>
            <a:ext cx="261518" cy="261518"/>
          </a:xfrm>
          <a:prstGeom prst="rect">
            <a:avLst/>
          </a:prstGeom>
        </p:spPr>
      </p:pic>
      <p:sp>
        <p:nvSpPr>
          <p:cNvPr id="20" name="Text 16"/>
          <p:cNvSpPr txBox="1"/>
          <p:nvPr/>
        </p:nvSpPr>
        <p:spPr>
          <a:xfrm>
            <a:off x="1280160" y="1581912"/>
            <a:ext cx="1737360" cy="320040"/>
          </a:xfrm>
          <a:prstGeom prst="rect">
            <a:avLst/>
          </a:prstGeom>
          <a:noFill/>
          <a:ln/>
        </p:spPr>
        <p:txBody>
          <a:bodyPr wrap="square" lIns="0" tIns="0" rIns="0" bIns="0" rtlCol="0" anchor="ctr"/>
          <a:lstStyle/>
          <a:p>
            <a:pPr marL="0" indent="0">
              <a:buNone/>
            </a:pPr>
            <a:r>
              <a:rPr lang="en-US" sz="1700" b="1" dirty="0">
                <a:solidFill>
                  <a:srgbClr val="231F20"/>
                </a:solidFill>
                <a:latin typeface="Calibri" pitchFamily="34" charset="0"/>
                <a:ea typeface="Calibri" pitchFamily="34" charset="-122"/>
                <a:cs typeface="Calibri" pitchFamily="34" charset="-120"/>
              </a:rPr>
              <a:t>RAG naïf</a:t>
            </a:r>
            <a:endParaRPr lang="en-US" sz="1700" dirty="0"/>
          </a:p>
        </p:txBody>
      </p:sp>
      <p:sp>
        <p:nvSpPr>
          <p:cNvPr id="21" name="Text 17"/>
          <p:cNvSpPr txBox="1"/>
          <p:nvPr/>
        </p:nvSpPr>
        <p:spPr>
          <a:xfrm>
            <a:off x="640080"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Indexer → Chercher → Générer, en chaîne linéaire fixe.</a:t>
            </a:r>
            <a:endParaRPr lang="en-US" sz="1200" dirty="0"/>
          </a:p>
        </p:txBody>
      </p:sp>
      <p:sp>
        <p:nvSpPr>
          <p:cNvPr id="22" name="Text 18"/>
          <p:cNvSpPr txBox="1"/>
          <p:nvPr/>
        </p:nvSpPr>
        <p:spPr>
          <a:xfrm>
            <a:off x="640080" y="2788920"/>
            <a:ext cx="2331720" cy="11887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Faible précision de recherche</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Contexte redondant ou bruité</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Hallucinations persistantes</a:t>
            </a:r>
            <a:endParaRPr lang="en-US" sz="1050" dirty="0"/>
          </a:p>
        </p:txBody>
      </p:sp>
      <p:sp>
        <p:nvSpPr>
          <p:cNvPr id="23" name="Shape 19"/>
          <p:cNvSpPr/>
          <p:nvPr/>
        </p:nvSpPr>
        <p:spPr>
          <a:xfrm>
            <a:off x="3090672" y="2697480"/>
            <a:ext cx="155448" cy="914"/>
          </a:xfrm>
          <a:prstGeom prst="line">
            <a:avLst/>
          </a:prstGeom>
          <a:noFill/>
          <a:ln w="25400">
            <a:solidFill>
              <a:srgbClr val="5E6964"/>
            </a:solidFill>
            <a:prstDash val="solid"/>
            <a:tailEnd type="triangle"/>
          </a:ln>
        </p:spPr>
      </p:sp>
      <p:sp>
        <p:nvSpPr>
          <p:cNvPr id="24" name="Shape 20"/>
          <p:cNvSpPr/>
          <p:nvPr/>
        </p:nvSpPr>
        <p:spPr>
          <a:xfrm>
            <a:off x="3264408" y="1325880"/>
            <a:ext cx="2615184" cy="2697480"/>
          </a:xfrm>
          <a:prstGeom prst="roundRect">
            <a:avLst>
              <a:gd name="adj" fmla="val 2797"/>
            </a:avLst>
          </a:prstGeom>
          <a:solidFill>
            <a:srgbClr val="F4F7F5"/>
          </a:solidFill>
          <a:ln w="9525">
            <a:solidFill>
              <a:srgbClr val="D5DED9"/>
            </a:solidFill>
            <a:prstDash val="solid"/>
          </a:ln>
        </p:spPr>
      </p:sp>
      <p:sp>
        <p:nvSpPr>
          <p:cNvPr id="25" name="Shape 21"/>
          <p:cNvSpPr/>
          <p:nvPr/>
        </p:nvSpPr>
        <p:spPr>
          <a:xfrm>
            <a:off x="3447288" y="1481328"/>
            <a:ext cx="502920" cy="502920"/>
          </a:xfrm>
          <a:prstGeom prst="ellipse">
            <a:avLst/>
          </a:prstGeom>
          <a:solidFill>
            <a:srgbClr val="0E7C86">
              <a:alpha val="22000"/>
            </a:srgbClr>
          </a:solidFill>
          <a:ln w="12700">
            <a:solidFill>
              <a:srgbClr val="0E7C86">
                <a:alpha val="0"/>
              </a:srgbClr>
            </a:solidFill>
            <a:prstDash val="solid"/>
          </a:ln>
        </p:spPr>
      </p:sp>
      <p:pic>
        <p:nvPicPr>
          <p:cNvPr id="26" name="Image 1" descr="preencoded.png"/>
          <p:cNvPicPr>
            <a:picLocks noChangeAspect="1"/>
          </p:cNvPicPr>
          <p:nvPr/>
        </p:nvPicPr>
        <p:blipFill>
          <a:blip r:embed="rId4"/>
          <a:stretch>
            <a:fillRect/>
          </a:stretch>
        </p:blipFill>
        <p:spPr>
          <a:xfrm>
            <a:off x="3567989" y="1602029"/>
            <a:ext cx="261518" cy="261518"/>
          </a:xfrm>
          <a:prstGeom prst="rect">
            <a:avLst/>
          </a:prstGeom>
        </p:spPr>
      </p:pic>
      <p:sp>
        <p:nvSpPr>
          <p:cNvPr id="27" name="Text 22"/>
          <p:cNvSpPr txBox="1"/>
          <p:nvPr/>
        </p:nvSpPr>
        <p:spPr>
          <a:xfrm>
            <a:off x="4087368" y="1581912"/>
            <a:ext cx="1737360" cy="320040"/>
          </a:xfrm>
          <a:prstGeom prst="rect">
            <a:avLst/>
          </a:prstGeom>
          <a:noFill/>
          <a:ln/>
        </p:spPr>
        <p:txBody>
          <a:bodyPr wrap="square" lIns="0" tIns="0" rIns="0" bIns="0" rtlCol="0" anchor="ctr"/>
          <a:lstStyle/>
          <a:p>
            <a:pPr marL="0" indent="0">
              <a:buNone/>
            </a:pPr>
            <a:r>
              <a:rPr lang="en-US" sz="1700" b="1" dirty="0">
                <a:solidFill>
                  <a:srgbClr val="0E7C86"/>
                </a:solidFill>
                <a:latin typeface="Calibri" pitchFamily="34" charset="0"/>
                <a:ea typeface="Calibri" pitchFamily="34" charset="-122"/>
                <a:cs typeface="Calibri" pitchFamily="34" charset="-120"/>
              </a:rPr>
              <a:t>RAG avancé</a:t>
            </a:r>
            <a:endParaRPr lang="en-US" sz="1700" dirty="0"/>
          </a:p>
        </p:txBody>
      </p:sp>
      <p:sp>
        <p:nvSpPr>
          <p:cNvPr id="28" name="Text 23"/>
          <p:cNvSpPr txBox="1"/>
          <p:nvPr/>
        </p:nvSpPr>
        <p:spPr>
          <a:xfrm>
            <a:off x="3447288"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Ajoute des optimisations avant et après la recherche.</a:t>
            </a:r>
            <a:endParaRPr lang="en-US" sz="1200" dirty="0"/>
          </a:p>
        </p:txBody>
      </p:sp>
      <p:sp>
        <p:nvSpPr>
          <p:cNvPr id="29" name="Text 24"/>
          <p:cNvSpPr txBox="1"/>
          <p:nvPr/>
        </p:nvSpPr>
        <p:spPr>
          <a:xfrm>
            <a:off x="3447288" y="2788920"/>
            <a:ext cx="2331720" cy="11887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Avant : reformulation, meilleure indexation</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Après : reclassement, compression</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Recherche hybride, filtres de métadonnées</a:t>
            </a:r>
            <a:endParaRPr lang="en-US" sz="1050" dirty="0"/>
          </a:p>
        </p:txBody>
      </p:sp>
      <p:sp>
        <p:nvSpPr>
          <p:cNvPr id="30" name="Shape 25"/>
          <p:cNvSpPr/>
          <p:nvPr/>
        </p:nvSpPr>
        <p:spPr>
          <a:xfrm>
            <a:off x="5897880" y="2697480"/>
            <a:ext cx="155448" cy="914"/>
          </a:xfrm>
          <a:prstGeom prst="line">
            <a:avLst/>
          </a:prstGeom>
          <a:noFill/>
          <a:ln w="25400">
            <a:solidFill>
              <a:srgbClr val="5E6964"/>
            </a:solidFill>
            <a:prstDash val="solid"/>
            <a:tailEnd type="triangle"/>
          </a:ln>
        </p:spPr>
      </p:sp>
      <p:sp>
        <p:nvSpPr>
          <p:cNvPr id="31" name="Shape 26"/>
          <p:cNvSpPr/>
          <p:nvPr/>
        </p:nvSpPr>
        <p:spPr>
          <a:xfrm>
            <a:off x="6071616" y="1325880"/>
            <a:ext cx="2615184" cy="2697480"/>
          </a:xfrm>
          <a:prstGeom prst="roundRect">
            <a:avLst>
              <a:gd name="adj" fmla="val 2797"/>
            </a:avLst>
          </a:prstGeom>
          <a:solidFill>
            <a:srgbClr val="E8F5EF"/>
          </a:solidFill>
          <a:ln w="15875">
            <a:solidFill>
              <a:srgbClr val="00A86A"/>
            </a:solidFill>
            <a:prstDash val="solid"/>
          </a:ln>
        </p:spPr>
      </p:sp>
      <p:sp>
        <p:nvSpPr>
          <p:cNvPr id="32" name="Shape 27"/>
          <p:cNvSpPr/>
          <p:nvPr/>
        </p:nvSpPr>
        <p:spPr>
          <a:xfrm>
            <a:off x="6254496" y="1481328"/>
            <a:ext cx="502920" cy="502920"/>
          </a:xfrm>
          <a:prstGeom prst="ellipse">
            <a:avLst/>
          </a:prstGeom>
          <a:solidFill>
            <a:srgbClr val="00A86A">
              <a:alpha val="22000"/>
            </a:srgbClr>
          </a:solidFill>
          <a:ln w="12700">
            <a:solidFill>
              <a:srgbClr val="00A86A">
                <a:alpha val="0"/>
              </a:srgbClr>
            </a:solidFill>
            <a:prstDash val="solid"/>
          </a:ln>
        </p:spPr>
      </p:sp>
      <p:pic>
        <p:nvPicPr>
          <p:cNvPr id="33" name="Image 2" descr="preencoded.png"/>
          <p:cNvPicPr>
            <a:picLocks noChangeAspect="1"/>
          </p:cNvPicPr>
          <p:nvPr/>
        </p:nvPicPr>
        <p:blipFill>
          <a:blip r:embed="rId5"/>
          <a:stretch>
            <a:fillRect/>
          </a:stretch>
        </p:blipFill>
        <p:spPr>
          <a:xfrm>
            <a:off x="6375197" y="1602029"/>
            <a:ext cx="261518" cy="261518"/>
          </a:xfrm>
          <a:prstGeom prst="rect">
            <a:avLst/>
          </a:prstGeom>
        </p:spPr>
      </p:pic>
      <p:sp>
        <p:nvSpPr>
          <p:cNvPr id="34" name="Text 28"/>
          <p:cNvSpPr txBox="1"/>
          <p:nvPr/>
        </p:nvSpPr>
        <p:spPr>
          <a:xfrm>
            <a:off x="6894576" y="1581912"/>
            <a:ext cx="1737360" cy="320040"/>
          </a:xfrm>
          <a:prstGeom prst="rect">
            <a:avLst/>
          </a:prstGeom>
          <a:noFill/>
          <a:ln/>
        </p:spPr>
        <p:txBody>
          <a:bodyPr wrap="square" lIns="0" tIns="0" rIns="0" bIns="0" rtlCol="0" anchor="ctr"/>
          <a:lstStyle/>
          <a:p>
            <a:pPr marL="0" indent="0">
              <a:buNone/>
            </a:pPr>
            <a:r>
              <a:rPr lang="en-US" sz="1700" b="1" dirty="0">
                <a:solidFill>
                  <a:srgbClr val="00A86A"/>
                </a:solidFill>
                <a:latin typeface="Calibri" pitchFamily="34" charset="0"/>
                <a:ea typeface="Calibri" pitchFamily="34" charset="-122"/>
                <a:cs typeface="Calibri" pitchFamily="34" charset="-120"/>
              </a:rPr>
              <a:t>RAG modulaire</a:t>
            </a:r>
            <a:endParaRPr lang="en-US" sz="1700" dirty="0"/>
          </a:p>
        </p:txBody>
      </p:sp>
      <p:sp>
        <p:nvSpPr>
          <p:cNvPr id="35" name="Text 29"/>
          <p:cNvSpPr txBox="1"/>
          <p:nvPr/>
        </p:nvSpPr>
        <p:spPr>
          <a:xfrm>
            <a:off x="6254496"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Modules interchangeables et flux flexibles.</a:t>
            </a:r>
            <a:endParaRPr lang="en-US" sz="1200" dirty="0"/>
          </a:p>
        </p:txBody>
      </p:sp>
      <p:sp>
        <p:nvSpPr>
          <p:cNvPr id="36" name="Text 30"/>
          <p:cNvSpPr txBox="1"/>
          <p:nvPr/>
        </p:nvSpPr>
        <p:spPr>
          <a:xfrm>
            <a:off x="6254496" y="2788920"/>
            <a:ext cx="2331720" cy="11887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Modules de routage, recherche, mémoire, fusion</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Récupération itérative et adaptative</a:t>
            </a:r>
            <a:endParaRPr lang="en-US" sz="1050" dirty="0"/>
          </a:p>
          <a:p>
            <a:pPr marL="152400" indent="-152400">
              <a:spcAft>
                <a:spcPts val="500"/>
              </a:spcAft>
              <a:buSzPct val="100000"/>
              <a:buChar char="•"/>
            </a:pPr>
            <a:r>
              <a:rPr lang="en-US" sz="1050" dirty="0">
                <a:solidFill>
                  <a:srgbClr val="5E6964"/>
                </a:solidFill>
                <a:latin typeface="Calibri" pitchFamily="34" charset="0"/>
                <a:ea typeface="Calibri" pitchFamily="34" charset="-122"/>
                <a:cs typeface="Calibri" pitchFamily="34" charset="-120"/>
              </a:rPr>
              <a:t>Orchestration pilotée par des agents</a:t>
            </a:r>
            <a:endParaRPr lang="en-US" sz="1050" dirty="0"/>
          </a:p>
        </p:txBody>
      </p:sp>
      <p:sp>
        <p:nvSpPr>
          <p:cNvPr id="37" name="Shape 31"/>
          <p:cNvSpPr/>
          <p:nvPr/>
        </p:nvSpPr>
        <p:spPr>
          <a:xfrm>
            <a:off x="457200" y="4160520"/>
            <a:ext cx="8229600" cy="457200"/>
          </a:xfrm>
          <a:prstGeom prst="roundRect">
            <a:avLst>
              <a:gd name="adj" fmla="val 16000"/>
            </a:avLst>
          </a:prstGeom>
          <a:solidFill>
            <a:srgbClr val="D49A00">
              <a:alpha val="13000"/>
            </a:srgbClr>
          </a:solidFill>
          <a:ln w="9525">
            <a:solidFill>
              <a:srgbClr val="D49A00"/>
            </a:solidFill>
            <a:prstDash val="solid"/>
          </a:ln>
        </p:spPr>
      </p:sp>
      <p:pic>
        <p:nvPicPr>
          <p:cNvPr id="38" name="Image 3" descr="preencoded.png"/>
          <p:cNvPicPr>
            <a:picLocks noChangeAspect="1"/>
          </p:cNvPicPr>
          <p:nvPr/>
        </p:nvPicPr>
        <p:blipFill>
          <a:blip r:embed="rId6"/>
          <a:stretch>
            <a:fillRect/>
          </a:stretch>
        </p:blipFill>
        <p:spPr>
          <a:xfrm>
            <a:off x="621792" y="4261104"/>
            <a:ext cx="256032" cy="256032"/>
          </a:xfrm>
          <a:prstGeom prst="rect">
            <a:avLst/>
          </a:prstGeom>
        </p:spPr>
      </p:pic>
      <p:sp>
        <p:nvSpPr>
          <p:cNvPr id="39" name="Text 32"/>
          <p:cNvSpPr txBox="1"/>
          <p:nvPr/>
        </p:nvSpPr>
        <p:spPr>
          <a:xfrm>
            <a:off x="1005840" y="4160520"/>
            <a:ext cx="7498080" cy="457200"/>
          </a:xfrm>
          <a:prstGeom prst="rect">
            <a:avLst/>
          </a:prstGeom>
          <a:noFill/>
          <a:ln/>
        </p:spPr>
        <p:txBody>
          <a:bodyPr wrap="square" lIns="0" tIns="0" rIns="0" bIns="0" rtlCol="0" anchor="ctr"/>
          <a:lstStyle/>
          <a:p>
            <a:pPr marL="0" indent="0">
              <a:buNone/>
            </a:pPr>
            <a:r>
              <a:rPr lang="en-US" sz="1250" b="1" dirty="0">
                <a:solidFill>
                  <a:srgbClr val="D49A00"/>
                </a:solidFill>
                <a:latin typeface="Calibri" pitchFamily="34" charset="0"/>
                <a:ea typeface="Calibri" pitchFamily="34" charset="-122"/>
                <a:cs typeface="Calibri" pitchFamily="34" charset="-120"/>
              </a:rPr>
              <a:t>Cumulatif, pas un remplacement : </a:t>
            </a:r>
            <a:r>
              <a:rPr lang="en-US" sz="1250" dirty="0">
                <a:solidFill>
                  <a:srgbClr val="231F20"/>
                </a:solidFill>
                <a:latin typeface="Calibri" pitchFamily="34" charset="0"/>
                <a:ea typeface="Calibri" pitchFamily="34" charset="-122"/>
                <a:cs typeface="Calibri" pitchFamily="34" charset="-120"/>
              </a:rPr>
              <a:t>chaque paradigme s'appuie sur les composants du précédent.</a:t>
            </a:r>
            <a:endParaRPr lang="en-US" sz="1250" dirty="0"/>
          </a:p>
        </p:txBody>
      </p:sp>
      <p:sp>
        <p:nvSpPr>
          <p:cNvPr id="40" name="Text 33"/>
          <p:cNvSpPr txBox="1"/>
          <p:nvPr/>
        </p:nvSpPr>
        <p:spPr>
          <a:xfrm>
            <a:off x="457200" y="4663440"/>
            <a:ext cx="6858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Cadre issu de Gao et al., « Retrieval-Augmented Generation for Large Language Models: A Survey », 2023.</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ÉVOLUTION DU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D'une chaîne unique à une boucle de raisonnement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2651760" cy="2651760"/>
          </a:xfrm>
          <a:prstGeom prst="roundRect">
            <a:avLst>
              <a:gd name="adj" fmla="val 2759"/>
            </a:avLst>
          </a:prstGeom>
          <a:solidFill>
            <a:srgbClr val="F4F7F5"/>
          </a:solidFill>
          <a:ln w="9525">
            <a:solidFill>
              <a:srgbClr val="D5DED9"/>
            </a:solidFill>
            <a:prstDash val="solid"/>
          </a:ln>
        </p:spPr>
      </p:sp>
      <p:sp>
        <p:nvSpPr>
          <p:cNvPr id="18" name="Text 15"/>
          <p:cNvSpPr txBox="1"/>
          <p:nvPr/>
        </p:nvSpPr>
        <p:spPr>
          <a:xfrm>
            <a:off x="640080" y="1435608"/>
            <a:ext cx="2286000" cy="228600"/>
          </a:xfrm>
          <a:prstGeom prst="rect">
            <a:avLst/>
          </a:prstGeom>
          <a:noFill/>
          <a:ln/>
        </p:spPr>
        <p:txBody>
          <a:bodyPr wrap="square" lIns="0" tIns="0" rIns="0" bIns="0" rtlCol="0" anchor="ctr"/>
          <a:lstStyle/>
          <a:p>
            <a:pPr marL="0" indent="0">
              <a:buNone/>
            </a:pPr>
            <a:r>
              <a:rPr lang="en-US" sz="1050" b="1" kern="0" spc="200" dirty="0">
                <a:solidFill>
                  <a:srgbClr val="5E6964"/>
                </a:solidFill>
                <a:latin typeface="Calibri" pitchFamily="34" charset="0"/>
                <a:ea typeface="Calibri" pitchFamily="34" charset="-122"/>
                <a:cs typeface="Calibri" pitchFamily="34" charset="-120"/>
              </a:rPr>
              <a:t>AVANT · UN SEUL PASSAGE</a:t>
            </a:r>
            <a:endParaRPr lang="en-US" sz="1050" dirty="0"/>
          </a:p>
        </p:txBody>
      </p:sp>
      <p:sp>
        <p:nvSpPr>
          <p:cNvPr id="19" name="Shape 16"/>
          <p:cNvSpPr/>
          <p:nvPr/>
        </p:nvSpPr>
        <p:spPr>
          <a:xfrm>
            <a:off x="731520" y="1810512"/>
            <a:ext cx="438912" cy="438912"/>
          </a:xfrm>
          <a:prstGeom prst="ellipse">
            <a:avLst/>
          </a:prstGeom>
          <a:solidFill>
            <a:srgbClr val="7F8C87">
              <a:alpha val="22000"/>
            </a:srgbClr>
          </a:solidFill>
          <a:ln w="12700">
            <a:solidFill>
              <a:srgbClr val="7F8C87">
                <a:alpha val="0"/>
              </a:srgbClr>
            </a:solidFill>
            <a:prstDash val="solid"/>
          </a:ln>
        </p:spPr>
      </p:sp>
      <p:pic>
        <p:nvPicPr>
          <p:cNvPr id="20" name="Image 0" descr="preencoded.png"/>
          <p:cNvPicPr>
            <a:picLocks noChangeAspect="1"/>
          </p:cNvPicPr>
          <p:nvPr/>
        </p:nvPicPr>
        <p:blipFill>
          <a:blip r:embed="rId3"/>
          <a:stretch>
            <a:fillRect/>
          </a:stretch>
        </p:blipFill>
        <p:spPr>
          <a:xfrm>
            <a:off x="836859" y="1915851"/>
            <a:ext cx="228234" cy="228234"/>
          </a:xfrm>
          <a:prstGeom prst="rect">
            <a:avLst/>
          </a:prstGeom>
        </p:spPr>
      </p:pic>
      <p:sp>
        <p:nvSpPr>
          <p:cNvPr id="21" name="Text 17"/>
          <p:cNvSpPr txBox="1"/>
          <p:nvPr/>
        </p:nvSpPr>
        <p:spPr>
          <a:xfrm>
            <a:off x="1325880" y="1810512"/>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Question</a:t>
            </a:r>
            <a:endParaRPr lang="en-US" sz="1300" dirty="0"/>
          </a:p>
        </p:txBody>
      </p:sp>
      <p:sp>
        <p:nvSpPr>
          <p:cNvPr id="22" name="Shape 18"/>
          <p:cNvSpPr/>
          <p:nvPr/>
        </p:nvSpPr>
        <p:spPr>
          <a:xfrm>
            <a:off x="950976" y="2267712"/>
            <a:ext cx="914" cy="182880"/>
          </a:xfrm>
          <a:prstGeom prst="line">
            <a:avLst/>
          </a:prstGeom>
          <a:noFill/>
          <a:ln w="19050">
            <a:solidFill>
              <a:srgbClr val="5E6964"/>
            </a:solidFill>
            <a:prstDash val="solid"/>
            <a:tailEnd type="triangle"/>
          </a:ln>
        </p:spPr>
      </p:sp>
      <p:sp>
        <p:nvSpPr>
          <p:cNvPr id="23" name="Shape 19"/>
          <p:cNvSpPr/>
          <p:nvPr/>
        </p:nvSpPr>
        <p:spPr>
          <a:xfrm>
            <a:off x="731520" y="2468880"/>
            <a:ext cx="438912" cy="438912"/>
          </a:xfrm>
          <a:prstGeom prst="ellipse">
            <a:avLst/>
          </a:prstGeom>
          <a:solidFill>
            <a:srgbClr val="7F8C87">
              <a:alpha val="22000"/>
            </a:srgbClr>
          </a:solidFill>
          <a:ln w="12700">
            <a:solidFill>
              <a:srgbClr val="7F8C87">
                <a:alpha val="0"/>
              </a:srgbClr>
            </a:solidFill>
            <a:prstDash val="solid"/>
          </a:ln>
        </p:spPr>
      </p:sp>
      <p:pic>
        <p:nvPicPr>
          <p:cNvPr id="24" name="Image 1" descr="preencoded.png"/>
          <p:cNvPicPr>
            <a:picLocks noChangeAspect="1"/>
          </p:cNvPicPr>
          <p:nvPr/>
        </p:nvPicPr>
        <p:blipFill>
          <a:blip r:embed="rId4"/>
          <a:stretch>
            <a:fillRect/>
          </a:stretch>
        </p:blipFill>
        <p:spPr>
          <a:xfrm>
            <a:off x="836859" y="2574219"/>
            <a:ext cx="228234" cy="228234"/>
          </a:xfrm>
          <a:prstGeom prst="rect">
            <a:avLst/>
          </a:prstGeom>
        </p:spPr>
      </p:pic>
      <p:sp>
        <p:nvSpPr>
          <p:cNvPr id="25" name="Text 20"/>
          <p:cNvSpPr txBox="1"/>
          <p:nvPr/>
        </p:nvSpPr>
        <p:spPr>
          <a:xfrm>
            <a:off x="1325880" y="2468880"/>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Une seule recherche</a:t>
            </a:r>
            <a:endParaRPr lang="en-US" sz="1300" dirty="0"/>
          </a:p>
        </p:txBody>
      </p:sp>
      <p:sp>
        <p:nvSpPr>
          <p:cNvPr id="26" name="Shape 21"/>
          <p:cNvSpPr/>
          <p:nvPr/>
        </p:nvSpPr>
        <p:spPr>
          <a:xfrm>
            <a:off x="950976" y="2926080"/>
            <a:ext cx="914" cy="182880"/>
          </a:xfrm>
          <a:prstGeom prst="line">
            <a:avLst/>
          </a:prstGeom>
          <a:noFill/>
          <a:ln w="19050">
            <a:solidFill>
              <a:srgbClr val="5E6964"/>
            </a:solidFill>
            <a:prstDash val="solid"/>
            <a:tailEnd type="triangle"/>
          </a:ln>
        </p:spPr>
      </p:sp>
      <p:sp>
        <p:nvSpPr>
          <p:cNvPr id="27" name="Shape 22"/>
          <p:cNvSpPr/>
          <p:nvPr/>
        </p:nvSpPr>
        <p:spPr>
          <a:xfrm>
            <a:off x="731520" y="3127248"/>
            <a:ext cx="438912" cy="438912"/>
          </a:xfrm>
          <a:prstGeom prst="ellipse">
            <a:avLst/>
          </a:prstGeom>
          <a:solidFill>
            <a:srgbClr val="7F8C87">
              <a:alpha val="22000"/>
            </a:srgbClr>
          </a:solidFill>
          <a:ln w="12700">
            <a:solidFill>
              <a:srgbClr val="7F8C87">
                <a:alpha val="0"/>
              </a:srgbClr>
            </a:solidFill>
            <a:prstDash val="solid"/>
          </a:ln>
        </p:spPr>
      </p:sp>
      <p:pic>
        <p:nvPicPr>
          <p:cNvPr id="28" name="Image 2" descr="preencoded.png"/>
          <p:cNvPicPr>
            <a:picLocks noChangeAspect="1"/>
          </p:cNvPicPr>
          <p:nvPr/>
        </p:nvPicPr>
        <p:blipFill>
          <a:blip r:embed="rId5"/>
          <a:stretch>
            <a:fillRect/>
          </a:stretch>
        </p:blipFill>
        <p:spPr>
          <a:xfrm>
            <a:off x="836859" y="3232587"/>
            <a:ext cx="228234" cy="228234"/>
          </a:xfrm>
          <a:prstGeom prst="rect">
            <a:avLst/>
          </a:prstGeom>
        </p:spPr>
      </p:pic>
      <p:sp>
        <p:nvSpPr>
          <p:cNvPr id="29" name="Text 23"/>
          <p:cNvSpPr txBox="1"/>
          <p:nvPr/>
        </p:nvSpPr>
        <p:spPr>
          <a:xfrm>
            <a:off x="1325880" y="3127248"/>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Génération</a:t>
            </a:r>
            <a:endParaRPr lang="en-US" sz="1300" dirty="0"/>
          </a:p>
        </p:txBody>
      </p:sp>
      <p:sp>
        <p:nvSpPr>
          <p:cNvPr id="30" name="Text 24"/>
          <p:cNvSpPr txBox="1"/>
          <p:nvPr/>
        </p:nvSpPr>
        <p:spPr>
          <a:xfrm>
            <a:off x="640080" y="3657600"/>
            <a:ext cx="2331720" cy="274320"/>
          </a:xfrm>
          <a:prstGeom prst="rect">
            <a:avLst/>
          </a:prstGeom>
          <a:noFill/>
          <a:ln/>
        </p:spPr>
        <p:txBody>
          <a:bodyPr wrap="square" lIns="0" tIns="0" rIns="0" bIns="0" rtlCol="0" anchor="ctr"/>
          <a:lstStyle/>
          <a:p>
            <a:pPr marL="0" indent="0">
              <a:buNone/>
            </a:pPr>
            <a:r>
              <a:rPr lang="en-US" sz="1000" i="1" dirty="0">
                <a:solidFill>
                  <a:srgbClr val="B83B2E"/>
                </a:solidFill>
                <a:latin typeface="Calibri" pitchFamily="34" charset="0"/>
                <a:ea typeface="Calibri" pitchFamily="34" charset="-122"/>
                <a:cs typeface="Calibri" pitchFamily="34" charset="-120"/>
              </a:rPr>
              <a:t>Recherche ratée = réponse ratée.</a:t>
            </a:r>
            <a:endParaRPr lang="en-US" sz="1000" dirty="0"/>
          </a:p>
        </p:txBody>
      </p:sp>
      <p:sp>
        <p:nvSpPr>
          <p:cNvPr id="31" name="Shape 25"/>
          <p:cNvSpPr/>
          <p:nvPr/>
        </p:nvSpPr>
        <p:spPr>
          <a:xfrm>
            <a:off x="3337560" y="1325880"/>
            <a:ext cx="5349240" cy="2651760"/>
          </a:xfrm>
          <a:prstGeom prst="roundRect">
            <a:avLst>
              <a:gd name="adj" fmla="val 2759"/>
            </a:avLst>
          </a:prstGeom>
          <a:solidFill>
            <a:srgbClr val="E8F5EF"/>
          </a:solidFill>
          <a:ln w="15875">
            <a:solidFill>
              <a:srgbClr val="00A86A"/>
            </a:solidFill>
            <a:prstDash val="solid"/>
          </a:ln>
        </p:spPr>
      </p:sp>
      <p:sp>
        <p:nvSpPr>
          <p:cNvPr id="32" name="Text 26"/>
          <p:cNvSpPr txBox="1"/>
          <p:nvPr/>
        </p:nvSpPr>
        <p:spPr>
          <a:xfrm>
            <a:off x="3520440" y="1435608"/>
            <a:ext cx="4937760" cy="228600"/>
          </a:xfrm>
          <a:prstGeom prst="rect">
            <a:avLst/>
          </a:prstGeom>
          <a:noFill/>
          <a:ln/>
        </p:spPr>
        <p:txBody>
          <a:bodyPr wrap="square" lIns="0" tIns="0" rIns="0" bIns="0" rtlCol="0" anchor="ctr"/>
          <a:lstStyle/>
          <a:p>
            <a:pPr marL="0" indent="0">
              <a:buNone/>
            </a:pPr>
            <a:r>
              <a:rPr lang="en-US" sz="1050" b="1" kern="0" spc="200" dirty="0">
                <a:solidFill>
                  <a:srgbClr val="00704A"/>
                </a:solidFill>
                <a:latin typeface="Calibri" pitchFamily="34" charset="0"/>
                <a:ea typeface="Calibri" pitchFamily="34" charset="-122"/>
                <a:cs typeface="Calibri" pitchFamily="34" charset="-120"/>
              </a:rPr>
              <a:t>AUJOURD'HUI · BOUCLE AGENTIQUE</a:t>
            </a:r>
            <a:endParaRPr lang="en-US" sz="1050" dirty="0"/>
          </a:p>
        </p:txBody>
      </p:sp>
      <p:sp>
        <p:nvSpPr>
          <p:cNvPr id="33" name="Shape 27"/>
          <p:cNvSpPr/>
          <p:nvPr/>
        </p:nvSpPr>
        <p:spPr>
          <a:xfrm>
            <a:off x="4727448" y="2011680"/>
            <a:ext cx="1426464" cy="1426464"/>
          </a:xfrm>
          <a:prstGeom prst="ellipse">
            <a:avLst/>
          </a:prstGeom>
          <a:solidFill>
            <a:srgbClr val="E8F5EF"/>
          </a:solidFill>
          <a:ln w="19050">
            <a:solidFill>
              <a:srgbClr val="00A86A"/>
            </a:solidFill>
            <a:prstDash val="dash"/>
          </a:ln>
        </p:spPr>
      </p:sp>
      <p:sp>
        <p:nvSpPr>
          <p:cNvPr id="34" name="Shape 28"/>
          <p:cNvSpPr/>
          <p:nvPr/>
        </p:nvSpPr>
        <p:spPr>
          <a:xfrm>
            <a:off x="5202936" y="1773936"/>
            <a:ext cx="475488" cy="475488"/>
          </a:xfrm>
          <a:prstGeom prst="ellipse">
            <a:avLst/>
          </a:prstGeom>
          <a:solidFill>
            <a:srgbClr val="FFFFFF"/>
          </a:solidFill>
          <a:ln w="19050">
            <a:solidFill>
              <a:srgbClr val="00A86A"/>
            </a:solidFill>
            <a:prstDash val="solid"/>
          </a:ln>
        </p:spPr>
      </p:sp>
      <p:pic>
        <p:nvPicPr>
          <p:cNvPr id="35" name="Image 3" descr="preencoded.png"/>
          <p:cNvPicPr>
            <a:picLocks noChangeAspect="1"/>
          </p:cNvPicPr>
          <p:nvPr/>
        </p:nvPicPr>
        <p:blipFill>
          <a:blip r:embed="rId6"/>
          <a:stretch>
            <a:fillRect/>
          </a:stretch>
        </p:blipFill>
        <p:spPr>
          <a:xfrm>
            <a:off x="5317053" y="1888053"/>
            <a:ext cx="247254" cy="247254"/>
          </a:xfrm>
          <a:prstGeom prst="rect">
            <a:avLst/>
          </a:prstGeom>
        </p:spPr>
      </p:pic>
      <p:sp>
        <p:nvSpPr>
          <p:cNvPr id="36" name="Text 29"/>
          <p:cNvSpPr txBox="1"/>
          <p:nvPr/>
        </p:nvSpPr>
        <p:spPr>
          <a:xfrm>
            <a:off x="5751576" y="1901952"/>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Planifier</a:t>
            </a:r>
            <a:endParaRPr lang="en-US" sz="1100" dirty="0"/>
          </a:p>
        </p:txBody>
      </p:sp>
      <p:sp>
        <p:nvSpPr>
          <p:cNvPr id="37" name="Shape 30"/>
          <p:cNvSpPr/>
          <p:nvPr/>
        </p:nvSpPr>
        <p:spPr>
          <a:xfrm>
            <a:off x="5916168" y="2487168"/>
            <a:ext cx="475488" cy="475488"/>
          </a:xfrm>
          <a:prstGeom prst="ellipse">
            <a:avLst/>
          </a:prstGeom>
          <a:solidFill>
            <a:srgbClr val="FFFFFF"/>
          </a:solidFill>
          <a:ln w="19050">
            <a:solidFill>
              <a:srgbClr val="00A86A"/>
            </a:solidFill>
            <a:prstDash val="solid"/>
          </a:ln>
        </p:spPr>
      </p:sp>
      <p:pic>
        <p:nvPicPr>
          <p:cNvPr id="38" name="Image 4" descr="preencoded.png"/>
          <p:cNvPicPr>
            <a:picLocks noChangeAspect="1"/>
          </p:cNvPicPr>
          <p:nvPr/>
        </p:nvPicPr>
        <p:blipFill>
          <a:blip r:embed="rId7"/>
          <a:stretch>
            <a:fillRect/>
          </a:stretch>
        </p:blipFill>
        <p:spPr>
          <a:xfrm>
            <a:off x="6030285" y="2601285"/>
            <a:ext cx="247254" cy="247254"/>
          </a:xfrm>
          <a:prstGeom prst="rect">
            <a:avLst/>
          </a:prstGeom>
        </p:spPr>
      </p:pic>
      <p:sp>
        <p:nvSpPr>
          <p:cNvPr id="39" name="Text 31"/>
          <p:cNvSpPr txBox="1"/>
          <p:nvPr/>
        </p:nvSpPr>
        <p:spPr>
          <a:xfrm>
            <a:off x="6464808" y="2615184"/>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Chercher</a:t>
            </a:r>
            <a:endParaRPr lang="en-US" sz="1100" dirty="0"/>
          </a:p>
        </p:txBody>
      </p:sp>
      <p:sp>
        <p:nvSpPr>
          <p:cNvPr id="40" name="Shape 32"/>
          <p:cNvSpPr/>
          <p:nvPr/>
        </p:nvSpPr>
        <p:spPr>
          <a:xfrm>
            <a:off x="5202936" y="3200400"/>
            <a:ext cx="475488" cy="475488"/>
          </a:xfrm>
          <a:prstGeom prst="ellipse">
            <a:avLst/>
          </a:prstGeom>
          <a:solidFill>
            <a:srgbClr val="FFFFFF"/>
          </a:solidFill>
          <a:ln w="19050">
            <a:solidFill>
              <a:srgbClr val="00A86A"/>
            </a:solidFill>
            <a:prstDash val="solid"/>
          </a:ln>
        </p:spPr>
      </p:sp>
      <p:pic>
        <p:nvPicPr>
          <p:cNvPr id="41" name="Image 5" descr="preencoded.png"/>
          <p:cNvPicPr>
            <a:picLocks noChangeAspect="1"/>
          </p:cNvPicPr>
          <p:nvPr/>
        </p:nvPicPr>
        <p:blipFill>
          <a:blip r:embed="rId8"/>
          <a:stretch>
            <a:fillRect/>
          </a:stretch>
        </p:blipFill>
        <p:spPr>
          <a:xfrm>
            <a:off x="5317053" y="3314517"/>
            <a:ext cx="247254" cy="247254"/>
          </a:xfrm>
          <a:prstGeom prst="rect">
            <a:avLst/>
          </a:prstGeom>
        </p:spPr>
      </p:pic>
      <p:sp>
        <p:nvSpPr>
          <p:cNvPr id="42" name="Text 33"/>
          <p:cNvSpPr txBox="1"/>
          <p:nvPr/>
        </p:nvSpPr>
        <p:spPr>
          <a:xfrm>
            <a:off x="5751576" y="3328416"/>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Lire &amp; juger</a:t>
            </a:r>
            <a:endParaRPr lang="en-US" sz="1100" dirty="0"/>
          </a:p>
        </p:txBody>
      </p:sp>
      <p:sp>
        <p:nvSpPr>
          <p:cNvPr id="43" name="Shape 34"/>
          <p:cNvSpPr/>
          <p:nvPr/>
        </p:nvSpPr>
        <p:spPr>
          <a:xfrm>
            <a:off x="4489704" y="2487168"/>
            <a:ext cx="475488" cy="475488"/>
          </a:xfrm>
          <a:prstGeom prst="ellipse">
            <a:avLst/>
          </a:prstGeom>
          <a:solidFill>
            <a:srgbClr val="FFFFFF"/>
          </a:solidFill>
          <a:ln w="19050">
            <a:solidFill>
              <a:srgbClr val="00A86A"/>
            </a:solidFill>
            <a:prstDash val="solid"/>
          </a:ln>
        </p:spPr>
      </p:sp>
      <p:pic>
        <p:nvPicPr>
          <p:cNvPr id="44" name="Image 6" descr="preencoded.png"/>
          <p:cNvPicPr>
            <a:picLocks noChangeAspect="1"/>
          </p:cNvPicPr>
          <p:nvPr/>
        </p:nvPicPr>
        <p:blipFill>
          <a:blip r:embed="rId9"/>
          <a:stretch>
            <a:fillRect/>
          </a:stretch>
        </p:blipFill>
        <p:spPr>
          <a:xfrm>
            <a:off x="4603821" y="2601285"/>
            <a:ext cx="247254" cy="247254"/>
          </a:xfrm>
          <a:prstGeom prst="rect">
            <a:avLst/>
          </a:prstGeom>
        </p:spPr>
      </p:pic>
      <p:sp>
        <p:nvSpPr>
          <p:cNvPr id="45" name="Text 35"/>
          <p:cNvSpPr txBox="1"/>
          <p:nvPr/>
        </p:nvSpPr>
        <p:spPr>
          <a:xfrm>
            <a:off x="3502152" y="2615184"/>
            <a:ext cx="914400" cy="219456"/>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Reformuler</a:t>
            </a:r>
            <a:endParaRPr lang="en-US" sz="1100" dirty="0"/>
          </a:p>
        </p:txBody>
      </p:sp>
      <p:sp>
        <p:nvSpPr>
          <p:cNvPr id="46" name="Text 36"/>
          <p:cNvSpPr txBox="1"/>
          <p:nvPr/>
        </p:nvSpPr>
        <p:spPr>
          <a:xfrm>
            <a:off x="4937760" y="2569464"/>
            <a:ext cx="1005840" cy="310896"/>
          </a:xfrm>
          <a:prstGeom prst="rect">
            <a:avLst/>
          </a:prstGeom>
          <a:noFill/>
          <a:ln/>
        </p:spPr>
        <p:txBody>
          <a:bodyPr wrap="square" lIns="0" tIns="0" rIns="0" bIns="0" rtlCol="0" anchor="ctr"/>
          <a:lstStyle/>
          <a:p>
            <a:pPr marL="0" indent="0" algn="ctr">
              <a:buNone/>
            </a:pPr>
            <a:r>
              <a:rPr lang="en-US" sz="850" i="1" dirty="0">
                <a:solidFill>
                  <a:srgbClr val="5E6964"/>
                </a:solidFill>
                <a:latin typeface="Calibri" pitchFamily="34" charset="0"/>
                <a:ea typeface="Calibri" pitchFamily="34" charset="-122"/>
                <a:cs typeface="Calibri" pitchFamily="34" charset="-120"/>
              </a:rPr>
              <a:t>jusqu'à preuves suffisantes</a:t>
            </a:r>
            <a:endParaRPr lang="en-US" sz="850" dirty="0"/>
          </a:p>
        </p:txBody>
      </p:sp>
      <p:sp>
        <p:nvSpPr>
          <p:cNvPr id="47" name="Shape 37"/>
          <p:cNvSpPr/>
          <p:nvPr/>
        </p:nvSpPr>
        <p:spPr>
          <a:xfrm>
            <a:off x="7132320" y="2724912"/>
            <a:ext cx="274320" cy="914"/>
          </a:xfrm>
          <a:prstGeom prst="line">
            <a:avLst/>
          </a:prstGeom>
          <a:noFill/>
          <a:ln w="25400">
            <a:solidFill>
              <a:srgbClr val="D49A00"/>
            </a:solidFill>
            <a:prstDash val="solid"/>
            <a:tailEnd type="triangle"/>
          </a:ln>
        </p:spPr>
      </p:sp>
      <p:sp>
        <p:nvSpPr>
          <p:cNvPr id="48" name="Shape 38"/>
          <p:cNvSpPr/>
          <p:nvPr/>
        </p:nvSpPr>
        <p:spPr>
          <a:xfrm>
            <a:off x="7452360" y="2441448"/>
            <a:ext cx="566928" cy="566928"/>
          </a:xfrm>
          <a:prstGeom prst="ellipse">
            <a:avLst/>
          </a:prstGeom>
          <a:solidFill>
            <a:srgbClr val="F5C242"/>
          </a:solidFill>
          <a:ln w="12700">
            <a:solidFill>
              <a:srgbClr val="F5C242"/>
            </a:solidFill>
            <a:prstDash val="solid"/>
          </a:ln>
        </p:spPr>
      </p:sp>
      <p:pic>
        <p:nvPicPr>
          <p:cNvPr id="49" name="Image 7" descr="preencoded.png"/>
          <p:cNvPicPr>
            <a:picLocks noChangeAspect="1"/>
          </p:cNvPicPr>
          <p:nvPr/>
        </p:nvPicPr>
        <p:blipFill>
          <a:blip r:embed="rId10"/>
          <a:stretch>
            <a:fillRect/>
          </a:stretch>
        </p:blipFill>
        <p:spPr>
          <a:xfrm>
            <a:off x="7588423" y="2577511"/>
            <a:ext cx="294803" cy="294803"/>
          </a:xfrm>
          <a:prstGeom prst="rect">
            <a:avLst/>
          </a:prstGeom>
        </p:spPr>
      </p:pic>
      <p:sp>
        <p:nvSpPr>
          <p:cNvPr id="50" name="Text 39"/>
          <p:cNvSpPr txBox="1"/>
          <p:nvPr/>
        </p:nvSpPr>
        <p:spPr>
          <a:xfrm>
            <a:off x="7095744" y="3072384"/>
            <a:ext cx="1280160" cy="274320"/>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Réponse + sources</a:t>
            </a:r>
            <a:endParaRPr lang="en-US" sz="1100" dirty="0"/>
          </a:p>
        </p:txBody>
      </p:sp>
      <p:sp>
        <p:nvSpPr>
          <p:cNvPr id="51" name="Shape 40"/>
          <p:cNvSpPr/>
          <p:nvPr/>
        </p:nvSpPr>
        <p:spPr>
          <a:xfrm>
            <a:off x="457200" y="4096512"/>
            <a:ext cx="2615184" cy="603504"/>
          </a:xfrm>
          <a:prstGeom prst="roundRect">
            <a:avLst>
              <a:gd name="adj" fmla="val 12121"/>
            </a:avLst>
          </a:prstGeom>
          <a:solidFill>
            <a:srgbClr val="F4F7F5"/>
          </a:solidFill>
          <a:ln w="9525">
            <a:solidFill>
              <a:srgbClr val="D5DED9"/>
            </a:solidFill>
            <a:prstDash val="solid"/>
          </a:ln>
        </p:spPr>
      </p:sp>
      <p:sp>
        <p:nvSpPr>
          <p:cNvPr id="52" name="Text 41"/>
          <p:cNvSpPr txBox="1"/>
          <p:nvPr/>
        </p:nvSpPr>
        <p:spPr>
          <a:xfrm>
            <a:off x="594360"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IRCoT  </a:t>
            </a:r>
            <a:r>
              <a:rPr lang="en-US" sz="900" i="1" dirty="0">
                <a:solidFill>
                  <a:srgbClr val="5E6964"/>
                </a:solidFill>
                <a:latin typeface="Calibri" pitchFamily="34" charset="0"/>
                <a:ea typeface="Calibri" pitchFamily="34" charset="-122"/>
                <a:cs typeface="Calibri" pitchFamily="34" charset="-120"/>
              </a:rPr>
              <a:t>Trivedi et al., 2023</a:t>
            </a:r>
            <a:endParaRPr lang="en-US" sz="1250" dirty="0"/>
          </a:p>
        </p:txBody>
      </p:sp>
      <p:sp>
        <p:nvSpPr>
          <p:cNvPr id="53" name="Text 42"/>
          <p:cNvSpPr txBox="1"/>
          <p:nvPr/>
        </p:nvSpPr>
        <p:spPr>
          <a:xfrm>
            <a:off x="594360"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Alterne recherche et étapes de raisonnement.</a:t>
            </a:r>
            <a:endParaRPr lang="en-US" sz="1000" dirty="0"/>
          </a:p>
        </p:txBody>
      </p:sp>
      <p:sp>
        <p:nvSpPr>
          <p:cNvPr id="54" name="Shape 43"/>
          <p:cNvSpPr/>
          <p:nvPr/>
        </p:nvSpPr>
        <p:spPr>
          <a:xfrm>
            <a:off x="3264408" y="4096512"/>
            <a:ext cx="2615184" cy="603504"/>
          </a:xfrm>
          <a:prstGeom prst="roundRect">
            <a:avLst>
              <a:gd name="adj" fmla="val 12121"/>
            </a:avLst>
          </a:prstGeom>
          <a:solidFill>
            <a:srgbClr val="F4F7F5"/>
          </a:solidFill>
          <a:ln w="9525">
            <a:solidFill>
              <a:srgbClr val="D5DED9"/>
            </a:solidFill>
            <a:prstDash val="solid"/>
          </a:ln>
        </p:spPr>
      </p:sp>
      <p:sp>
        <p:nvSpPr>
          <p:cNvPr id="55" name="Text 44"/>
          <p:cNvSpPr txBox="1"/>
          <p:nvPr/>
        </p:nvSpPr>
        <p:spPr>
          <a:xfrm>
            <a:off x="3401568"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FLARE  </a:t>
            </a:r>
            <a:r>
              <a:rPr lang="en-US" sz="900" i="1" dirty="0">
                <a:solidFill>
                  <a:srgbClr val="5E6964"/>
                </a:solidFill>
                <a:latin typeface="Calibri" pitchFamily="34" charset="0"/>
                <a:ea typeface="Calibri" pitchFamily="34" charset="-122"/>
                <a:cs typeface="Calibri" pitchFamily="34" charset="-120"/>
              </a:rPr>
              <a:t>Jiang et al., 2023</a:t>
            </a:r>
            <a:endParaRPr lang="en-US" sz="1250" dirty="0"/>
          </a:p>
        </p:txBody>
      </p:sp>
      <p:sp>
        <p:nvSpPr>
          <p:cNvPr id="56" name="Text 45"/>
          <p:cNvSpPr txBox="1"/>
          <p:nvPr/>
        </p:nvSpPr>
        <p:spPr>
          <a:xfrm>
            <a:off x="3401568"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Cherche quand la phrase suivante contient des tokens peu sûrs.</a:t>
            </a:r>
            <a:endParaRPr lang="en-US" sz="1000" dirty="0"/>
          </a:p>
        </p:txBody>
      </p:sp>
      <p:sp>
        <p:nvSpPr>
          <p:cNvPr id="57" name="Shape 46"/>
          <p:cNvSpPr/>
          <p:nvPr/>
        </p:nvSpPr>
        <p:spPr>
          <a:xfrm>
            <a:off x="6071616" y="4096512"/>
            <a:ext cx="2615184" cy="603504"/>
          </a:xfrm>
          <a:prstGeom prst="roundRect">
            <a:avLst>
              <a:gd name="adj" fmla="val 12121"/>
            </a:avLst>
          </a:prstGeom>
          <a:solidFill>
            <a:srgbClr val="F4F7F5"/>
          </a:solidFill>
          <a:ln w="9525">
            <a:solidFill>
              <a:srgbClr val="D5DED9"/>
            </a:solidFill>
            <a:prstDash val="solid"/>
          </a:ln>
        </p:spPr>
      </p:sp>
      <p:sp>
        <p:nvSpPr>
          <p:cNvPr id="58" name="Text 47"/>
          <p:cNvSpPr txBox="1"/>
          <p:nvPr/>
        </p:nvSpPr>
        <p:spPr>
          <a:xfrm>
            <a:off x="6208776"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Search-R1  </a:t>
            </a:r>
            <a:r>
              <a:rPr lang="en-US" sz="900" i="1" dirty="0">
                <a:solidFill>
                  <a:srgbClr val="5E6964"/>
                </a:solidFill>
                <a:latin typeface="Calibri" pitchFamily="34" charset="0"/>
                <a:ea typeface="Calibri" pitchFamily="34" charset="-122"/>
                <a:cs typeface="Calibri" pitchFamily="34" charset="-120"/>
              </a:rPr>
              <a:t>Jin et al., 2025</a:t>
            </a:r>
            <a:endParaRPr lang="en-US" sz="1250" dirty="0"/>
          </a:p>
        </p:txBody>
      </p:sp>
      <p:sp>
        <p:nvSpPr>
          <p:cNvPr id="59" name="Text 48"/>
          <p:cNvSpPr txBox="1"/>
          <p:nvPr/>
        </p:nvSpPr>
        <p:spPr>
          <a:xfrm>
            <a:off x="6208776"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LLM entraîné par RL à lancer plusieurs recherches en raisonnant.</a:t>
            </a:r>
            <a:endParaRPr lang="en-US" sz="10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ÉVOLUTION DU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Les longs contextes ont changé le rôle du RAG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graphicFrame>
        <p:nvGraphicFramePr>
          <p:cNvPr id="17" name="Chart 0"/>
          <p:cNvGraphicFramePr/>
          <p:nvPr/>
        </p:nvGraphicFramePr>
        <p:xfrm>
          <a:off x="365760" y="1280160"/>
          <a:ext cx="5029200" cy="3310128"/>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617720"/>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Chiffres annoncés par chaque fournisseur.</a:t>
            </a:r>
            <a:endParaRPr lang="en-US" sz="900" dirty="0"/>
          </a:p>
        </p:txBody>
      </p:sp>
      <p:sp>
        <p:nvSpPr>
          <p:cNvPr id="19" name="Shape 15"/>
          <p:cNvSpPr/>
          <p:nvPr/>
        </p:nvSpPr>
        <p:spPr>
          <a:xfrm>
            <a:off x="5623560" y="1325880"/>
            <a:ext cx="3063240" cy="914400"/>
          </a:xfrm>
          <a:prstGeom prst="roundRect">
            <a:avLst>
              <a:gd name="adj" fmla="val 8000"/>
            </a:avLst>
          </a:prstGeom>
          <a:solidFill>
            <a:srgbClr val="F4F7F5"/>
          </a:solidFill>
          <a:ln w="9525">
            <a:solidFill>
              <a:srgbClr val="D5DED9"/>
            </a:solidFill>
            <a:prstDash val="solid"/>
          </a:ln>
        </p:spPr>
      </p:sp>
      <p:sp>
        <p:nvSpPr>
          <p:cNvPr id="20" name="Text 16"/>
          <p:cNvSpPr txBox="1"/>
          <p:nvPr/>
        </p:nvSpPr>
        <p:spPr>
          <a:xfrm>
            <a:off x="5806440" y="1325880"/>
            <a:ext cx="2743200" cy="914400"/>
          </a:xfrm>
          <a:prstGeom prst="rect">
            <a:avLst/>
          </a:prstGeom>
          <a:noFill/>
          <a:ln/>
        </p:spPr>
        <p:txBody>
          <a:bodyPr wrap="square" lIns="0" tIns="0" rIns="0" bIns="0" rtlCol="0" anchor="ctr"/>
          <a:lstStyle/>
          <a:p>
            <a:pPr marL="0" indent="0">
              <a:buNone/>
            </a:pPr>
            <a:r>
              <a:rPr lang="en-US" sz="1150" b="1" dirty="0">
                <a:solidFill>
                  <a:srgbClr val="5E6964"/>
                </a:solidFill>
                <a:latin typeface="Calibri" pitchFamily="34" charset="0"/>
                <a:ea typeface="Calibri" pitchFamily="34" charset="-122"/>
                <a:cs typeface="Calibri" pitchFamily="34" charset="-120"/>
              </a:rPr>
              <a:t>Avant : </a:t>
            </a:r>
            <a:r>
              <a:rPr lang="en-US" sz="1150" dirty="0">
                <a:solidFill>
                  <a:srgbClr val="231F20"/>
                </a:solidFill>
                <a:latin typeface="Calibri" pitchFamily="34" charset="0"/>
                <a:ea typeface="Calibri" pitchFamily="34" charset="-122"/>
                <a:cs typeface="Calibri" pitchFamily="34" charset="-120"/>
              </a:rPr>
              <a:t>le RAG était un palliatif — les modèles ne lisaient que quelques pages à la fois.</a:t>
            </a:r>
            <a:endParaRPr lang="en-US" sz="1150" dirty="0"/>
          </a:p>
        </p:txBody>
      </p:sp>
      <p:sp>
        <p:nvSpPr>
          <p:cNvPr id="21" name="Shape 17"/>
          <p:cNvSpPr/>
          <p:nvPr/>
        </p:nvSpPr>
        <p:spPr>
          <a:xfrm>
            <a:off x="5623560" y="2359152"/>
            <a:ext cx="3063240" cy="1371600"/>
          </a:xfrm>
          <a:prstGeom prst="roundRect">
            <a:avLst>
              <a:gd name="adj" fmla="val 5333"/>
            </a:avLst>
          </a:prstGeom>
          <a:solidFill>
            <a:srgbClr val="E8F5EF"/>
          </a:solidFill>
          <a:ln w="15875">
            <a:solidFill>
              <a:srgbClr val="00A86A"/>
            </a:solidFill>
            <a:prstDash val="solid"/>
          </a:ln>
        </p:spPr>
      </p:sp>
      <p:sp>
        <p:nvSpPr>
          <p:cNvPr id="22" name="Text 18"/>
          <p:cNvSpPr txBox="1"/>
          <p:nvPr/>
        </p:nvSpPr>
        <p:spPr>
          <a:xfrm>
            <a:off x="5806440" y="2359152"/>
            <a:ext cx="2743200" cy="1371600"/>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Constat : </a:t>
            </a:r>
            <a:r>
              <a:rPr lang="en-US" sz="1100" dirty="0">
                <a:solidFill>
                  <a:srgbClr val="231F20"/>
                </a:solidFill>
                <a:latin typeface="Calibri" pitchFamily="34" charset="0"/>
                <a:ea typeface="Calibri" pitchFamily="34" charset="-122"/>
                <a:cs typeface="Calibri" pitchFamily="34" charset="-120"/>
              </a:rPr>
              <a:t>les modèles à long contexte peuvent battre le RAG en moyenne, mais le RAG coûte bien moins cher. Self-Route (Li et al., 2024) tente d'abord le RAG et ne passe au contexte complet qu'en cas de besoin.</a:t>
            </a:r>
            <a:endParaRPr lang="en-US" sz="1100" dirty="0"/>
          </a:p>
        </p:txBody>
      </p:sp>
      <p:sp>
        <p:nvSpPr>
          <p:cNvPr id="23" name="Shape 19"/>
          <p:cNvSpPr/>
          <p:nvPr/>
        </p:nvSpPr>
        <p:spPr>
          <a:xfrm>
            <a:off x="5623560" y="3840480"/>
            <a:ext cx="3063240" cy="822960"/>
          </a:xfrm>
          <a:prstGeom prst="roundRect">
            <a:avLst>
              <a:gd name="adj" fmla="val 8889"/>
            </a:avLst>
          </a:prstGeom>
          <a:solidFill>
            <a:srgbClr val="FDF3D7"/>
          </a:solidFill>
          <a:ln w="15875">
            <a:solidFill>
              <a:srgbClr val="D49A00"/>
            </a:solidFill>
            <a:prstDash val="solid"/>
          </a:ln>
        </p:spPr>
      </p:sp>
      <p:sp>
        <p:nvSpPr>
          <p:cNvPr id="24" name="Text 20"/>
          <p:cNvSpPr txBox="1"/>
          <p:nvPr/>
        </p:nvSpPr>
        <p:spPr>
          <a:xfrm>
            <a:off x="5806440" y="3840480"/>
            <a:ext cx="2743200" cy="82296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Aujourd'hui : </a:t>
            </a:r>
            <a:r>
              <a:rPr lang="en-US" sz="1150" dirty="0">
                <a:solidFill>
                  <a:srgbClr val="231F20"/>
                </a:solidFill>
                <a:latin typeface="Calibri" pitchFamily="34" charset="0"/>
                <a:ea typeface="Calibri" pitchFamily="34" charset="-122"/>
                <a:cs typeface="Calibri" pitchFamily="34" charset="-120"/>
              </a:rPr>
              <a:t>le RAG est la couche du coût, de la fraîcheur, du contrôle d'accès et de la précision.</a:t>
            </a:r>
            <a:endParaRPr lang="en-US" sz="11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05</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Techniques avancées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Quelles techniques améliorent encore la qualité ?</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5C242"/>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TECHNIQUES AVANCÉES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Techniques RAG avancées en pratique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C4621D"/>
          </a:solidFill>
          <a:ln w="12700">
            <a:solidFill>
              <a:srgbClr val="C4621D"/>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25880"/>
            <a:ext cx="1938528"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594360" y="1463040"/>
            <a:ext cx="411480" cy="411480"/>
          </a:xfrm>
          <a:prstGeom prst="ellipse">
            <a:avLst/>
          </a:prstGeom>
          <a:solidFill>
            <a:srgbClr val="00A86A">
              <a:alpha val="22000"/>
            </a:srgbClr>
          </a:solidFill>
          <a:ln w="12700">
            <a:solidFill>
              <a:srgbClr val="00A86A">
                <a:alpha val="0"/>
              </a:srgbClr>
            </a:solidFill>
            <a:prstDash val="solid"/>
          </a:ln>
        </p:spPr>
      </p:sp>
      <p:pic>
        <p:nvPicPr>
          <p:cNvPr id="19" name="Image 0" descr="preencoded.png"/>
          <p:cNvPicPr>
            <a:picLocks noChangeAspect="1"/>
          </p:cNvPicPr>
          <p:nvPr/>
        </p:nvPicPr>
        <p:blipFill>
          <a:blip r:embed="rId3"/>
          <a:stretch>
            <a:fillRect/>
          </a:stretch>
        </p:blipFill>
        <p:spPr>
          <a:xfrm>
            <a:off x="693115" y="1561795"/>
            <a:ext cx="213970" cy="213970"/>
          </a:xfrm>
          <a:prstGeom prst="rect">
            <a:avLst/>
          </a:prstGeom>
        </p:spPr>
      </p:pic>
      <p:sp>
        <p:nvSpPr>
          <p:cNvPr id="20" name="Text 16"/>
          <p:cNvSpPr txBox="1"/>
          <p:nvPr/>
        </p:nvSpPr>
        <p:spPr>
          <a:xfrm>
            <a:off x="109728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Gao et al., 2022</a:t>
            </a:r>
            <a:endParaRPr lang="en-US" sz="900" dirty="0"/>
          </a:p>
        </p:txBody>
      </p:sp>
      <p:sp>
        <p:nvSpPr>
          <p:cNvPr id="21" name="Text 17"/>
          <p:cNvSpPr txBox="1"/>
          <p:nvPr/>
        </p:nvSpPr>
        <p:spPr>
          <a:xfrm>
            <a:off x="59436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HyDE</a:t>
            </a:r>
            <a:endParaRPr lang="en-US" sz="1300" dirty="0"/>
          </a:p>
        </p:txBody>
      </p:sp>
      <p:sp>
        <p:nvSpPr>
          <p:cNvPr id="22" name="Text 18"/>
          <p:cNvSpPr txBox="1"/>
          <p:nvPr/>
        </p:nvSpPr>
        <p:spPr>
          <a:xfrm>
            <a:off x="594360" y="21945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 LLM rédige une réponse hypothétique dont l'embedding sert à chercher.</a:t>
            </a:r>
            <a:endParaRPr lang="en-US" sz="950" dirty="0"/>
          </a:p>
        </p:txBody>
      </p:sp>
      <p:sp>
        <p:nvSpPr>
          <p:cNvPr id="23" name="Shape 19"/>
          <p:cNvSpPr/>
          <p:nvPr/>
        </p:nvSpPr>
        <p:spPr>
          <a:xfrm>
            <a:off x="2560320" y="1325880"/>
            <a:ext cx="1938528" cy="1463040"/>
          </a:xfrm>
          <a:prstGeom prst="roundRect">
            <a:avLst>
              <a:gd name="adj" fmla="val 5000"/>
            </a:avLst>
          </a:prstGeom>
          <a:solidFill>
            <a:srgbClr val="F4F7F5"/>
          </a:solidFill>
          <a:ln w="9525">
            <a:solidFill>
              <a:srgbClr val="D5DED9"/>
            </a:solidFill>
            <a:prstDash val="solid"/>
          </a:ln>
        </p:spPr>
      </p:sp>
      <p:sp>
        <p:nvSpPr>
          <p:cNvPr id="24" name="Shape 20"/>
          <p:cNvSpPr/>
          <p:nvPr/>
        </p:nvSpPr>
        <p:spPr>
          <a:xfrm>
            <a:off x="2697480" y="1463040"/>
            <a:ext cx="411480" cy="411480"/>
          </a:xfrm>
          <a:prstGeom prst="ellipse">
            <a:avLst/>
          </a:prstGeom>
          <a:solidFill>
            <a:srgbClr val="00A86A">
              <a:alpha val="22000"/>
            </a:srgbClr>
          </a:solidFill>
          <a:ln w="12700">
            <a:solidFill>
              <a:srgbClr val="00A86A">
                <a:alpha val="0"/>
              </a:srgbClr>
            </a:solidFill>
            <a:prstDash val="solid"/>
          </a:ln>
        </p:spPr>
      </p:sp>
      <p:pic>
        <p:nvPicPr>
          <p:cNvPr id="25" name="Image 1" descr="preencoded.png"/>
          <p:cNvPicPr>
            <a:picLocks noChangeAspect="1"/>
          </p:cNvPicPr>
          <p:nvPr/>
        </p:nvPicPr>
        <p:blipFill>
          <a:blip r:embed="rId4"/>
          <a:stretch>
            <a:fillRect/>
          </a:stretch>
        </p:blipFill>
        <p:spPr>
          <a:xfrm>
            <a:off x="2796235" y="1561795"/>
            <a:ext cx="213970" cy="213970"/>
          </a:xfrm>
          <a:prstGeom prst="rect">
            <a:avLst/>
          </a:prstGeom>
        </p:spPr>
      </p:pic>
      <p:sp>
        <p:nvSpPr>
          <p:cNvPr id="26" name="Text 21"/>
          <p:cNvSpPr txBox="1"/>
          <p:nvPr/>
        </p:nvSpPr>
        <p:spPr>
          <a:xfrm>
            <a:off x="320040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Transformation de requête</a:t>
            </a:r>
            <a:endParaRPr lang="en-US" sz="900" dirty="0"/>
          </a:p>
        </p:txBody>
      </p:sp>
      <p:sp>
        <p:nvSpPr>
          <p:cNvPr id="27" name="Text 22"/>
          <p:cNvSpPr txBox="1"/>
          <p:nvPr/>
        </p:nvSpPr>
        <p:spPr>
          <a:xfrm>
            <a:off x="269748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Reformulation multiple</a:t>
            </a:r>
            <a:endParaRPr lang="en-US" sz="1300" dirty="0"/>
          </a:p>
        </p:txBody>
      </p:sp>
      <p:sp>
        <p:nvSpPr>
          <p:cNvPr id="28" name="Text 23"/>
          <p:cNvSpPr txBox="1"/>
          <p:nvPr/>
        </p:nvSpPr>
        <p:spPr>
          <a:xfrm>
            <a:off x="2697480" y="21945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Reformule ou scinde la question en sous-requêtes, puis fusionne.</a:t>
            </a:r>
            <a:endParaRPr lang="en-US" sz="950" dirty="0"/>
          </a:p>
        </p:txBody>
      </p:sp>
      <p:sp>
        <p:nvSpPr>
          <p:cNvPr id="29" name="Shape 24"/>
          <p:cNvSpPr/>
          <p:nvPr/>
        </p:nvSpPr>
        <p:spPr>
          <a:xfrm>
            <a:off x="4663440" y="1325880"/>
            <a:ext cx="1938528" cy="1463040"/>
          </a:xfrm>
          <a:prstGeom prst="roundRect">
            <a:avLst>
              <a:gd name="adj" fmla="val 5000"/>
            </a:avLst>
          </a:prstGeom>
          <a:solidFill>
            <a:srgbClr val="F4F7F5"/>
          </a:solidFill>
          <a:ln w="9525">
            <a:solidFill>
              <a:srgbClr val="D5DED9"/>
            </a:solidFill>
            <a:prstDash val="solid"/>
          </a:ln>
        </p:spPr>
      </p:sp>
      <p:sp>
        <p:nvSpPr>
          <p:cNvPr id="30" name="Shape 25"/>
          <p:cNvSpPr/>
          <p:nvPr/>
        </p:nvSpPr>
        <p:spPr>
          <a:xfrm>
            <a:off x="4800600" y="1463040"/>
            <a:ext cx="411480" cy="411480"/>
          </a:xfrm>
          <a:prstGeom prst="ellipse">
            <a:avLst/>
          </a:prstGeom>
          <a:solidFill>
            <a:srgbClr val="00A86A">
              <a:alpha val="22000"/>
            </a:srgbClr>
          </a:solidFill>
          <a:ln w="12700">
            <a:solidFill>
              <a:srgbClr val="00A86A">
                <a:alpha val="0"/>
              </a:srgbClr>
            </a:solidFill>
            <a:prstDash val="solid"/>
          </a:ln>
        </p:spPr>
      </p:sp>
      <p:pic>
        <p:nvPicPr>
          <p:cNvPr id="31" name="Image 2" descr="preencoded.png"/>
          <p:cNvPicPr>
            <a:picLocks noChangeAspect="1"/>
          </p:cNvPicPr>
          <p:nvPr/>
        </p:nvPicPr>
        <p:blipFill>
          <a:blip r:embed="rId5"/>
          <a:stretch>
            <a:fillRect/>
          </a:stretch>
        </p:blipFill>
        <p:spPr>
          <a:xfrm>
            <a:off x="4899355" y="1561795"/>
            <a:ext cx="213970" cy="213970"/>
          </a:xfrm>
          <a:prstGeom prst="rect">
            <a:avLst/>
          </a:prstGeom>
        </p:spPr>
      </p:pic>
      <p:sp>
        <p:nvSpPr>
          <p:cNvPr id="32" name="Text 26"/>
          <p:cNvSpPr txBox="1"/>
          <p:nvPr/>
        </p:nvSpPr>
        <p:spPr>
          <a:xfrm>
            <a:off x="530352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Document parent</a:t>
            </a:r>
            <a:endParaRPr lang="en-US" sz="900" dirty="0"/>
          </a:p>
        </p:txBody>
      </p:sp>
      <p:sp>
        <p:nvSpPr>
          <p:cNvPr id="33" name="Text 27"/>
          <p:cNvSpPr txBox="1"/>
          <p:nvPr/>
        </p:nvSpPr>
        <p:spPr>
          <a:xfrm>
            <a:off x="4800600" y="1947672"/>
            <a:ext cx="1737360" cy="237744"/>
          </a:xfrm>
          <a:prstGeom prst="rect">
            <a:avLst/>
          </a:prstGeom>
          <a:noFill/>
          <a:ln/>
        </p:spPr>
        <p:txBody>
          <a:bodyPr wrap="square" lIns="0" tIns="0" rIns="0" bIns="0" rtlCol="0" anchor="ctr">
            <a:normAutofit fontScale="92500"/>
          </a:bodyPr>
          <a:lstStyle/>
          <a:p>
            <a:pPr marL="0" indent="0">
              <a:buNone/>
            </a:pPr>
            <a:r>
              <a:rPr lang="en-US" sz="1300" b="1" dirty="0">
                <a:solidFill>
                  <a:srgbClr val="231F20"/>
                </a:solidFill>
                <a:latin typeface="Calibri" pitchFamily="34" charset="0"/>
                <a:ea typeface="Calibri" pitchFamily="34" charset="-122"/>
                <a:cs typeface="Calibri" pitchFamily="34" charset="-120"/>
              </a:rPr>
              <a:t>Récupération petit-à-grand</a:t>
            </a:r>
            <a:endParaRPr lang="en-US" sz="1300" dirty="0"/>
          </a:p>
        </p:txBody>
      </p:sp>
      <p:sp>
        <p:nvSpPr>
          <p:cNvPr id="34" name="Text 28"/>
          <p:cNvSpPr txBox="1"/>
          <p:nvPr/>
        </p:nvSpPr>
        <p:spPr>
          <a:xfrm>
            <a:off x="4800600" y="21945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Cherche sur de petits fragments, renvoie la section parente.</a:t>
            </a:r>
            <a:endParaRPr lang="en-US" sz="950" dirty="0"/>
          </a:p>
        </p:txBody>
      </p:sp>
      <p:sp>
        <p:nvSpPr>
          <p:cNvPr id="35" name="Shape 29"/>
          <p:cNvSpPr/>
          <p:nvPr/>
        </p:nvSpPr>
        <p:spPr>
          <a:xfrm>
            <a:off x="6766560" y="1325880"/>
            <a:ext cx="1938528" cy="1463040"/>
          </a:xfrm>
          <a:prstGeom prst="roundRect">
            <a:avLst>
              <a:gd name="adj" fmla="val 5000"/>
            </a:avLst>
          </a:prstGeom>
          <a:solidFill>
            <a:srgbClr val="F4F7F5"/>
          </a:solidFill>
          <a:ln w="9525">
            <a:solidFill>
              <a:srgbClr val="D5DED9"/>
            </a:solidFill>
            <a:prstDash val="solid"/>
          </a:ln>
        </p:spPr>
      </p:sp>
      <p:sp>
        <p:nvSpPr>
          <p:cNvPr id="36" name="Shape 30"/>
          <p:cNvSpPr/>
          <p:nvPr/>
        </p:nvSpPr>
        <p:spPr>
          <a:xfrm>
            <a:off x="6903720" y="1463040"/>
            <a:ext cx="411480" cy="411480"/>
          </a:xfrm>
          <a:prstGeom prst="ellipse">
            <a:avLst/>
          </a:prstGeom>
          <a:solidFill>
            <a:srgbClr val="0E7C86">
              <a:alpha val="22000"/>
            </a:srgbClr>
          </a:solidFill>
          <a:ln w="12700">
            <a:solidFill>
              <a:srgbClr val="0E7C86">
                <a:alpha val="0"/>
              </a:srgbClr>
            </a:solidFill>
            <a:prstDash val="solid"/>
          </a:ln>
        </p:spPr>
      </p:sp>
      <p:pic>
        <p:nvPicPr>
          <p:cNvPr id="37" name="Image 3" descr="preencoded.png"/>
          <p:cNvPicPr>
            <a:picLocks noChangeAspect="1"/>
          </p:cNvPicPr>
          <p:nvPr/>
        </p:nvPicPr>
        <p:blipFill>
          <a:blip r:embed="rId6"/>
          <a:stretch>
            <a:fillRect/>
          </a:stretch>
        </p:blipFill>
        <p:spPr>
          <a:xfrm>
            <a:off x="7002475" y="1561795"/>
            <a:ext cx="213970" cy="213970"/>
          </a:xfrm>
          <a:prstGeom prst="rect">
            <a:avLst/>
          </a:prstGeom>
        </p:spPr>
      </p:pic>
      <p:sp>
        <p:nvSpPr>
          <p:cNvPr id="38" name="Text 31"/>
          <p:cNvSpPr txBox="1"/>
          <p:nvPr/>
        </p:nvSpPr>
        <p:spPr>
          <a:xfrm>
            <a:off x="740664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Asai et al., 2023</a:t>
            </a:r>
            <a:endParaRPr lang="en-US" sz="900" dirty="0"/>
          </a:p>
        </p:txBody>
      </p:sp>
      <p:sp>
        <p:nvSpPr>
          <p:cNvPr id="39" name="Text 32"/>
          <p:cNvSpPr txBox="1"/>
          <p:nvPr/>
        </p:nvSpPr>
        <p:spPr>
          <a:xfrm>
            <a:off x="690372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Self-RAG</a:t>
            </a:r>
            <a:endParaRPr lang="en-US" sz="1300" dirty="0"/>
          </a:p>
        </p:txBody>
      </p:sp>
      <p:sp>
        <p:nvSpPr>
          <p:cNvPr id="40" name="Text 33"/>
          <p:cNvSpPr txBox="1"/>
          <p:nvPr/>
        </p:nvSpPr>
        <p:spPr>
          <a:xfrm>
            <a:off x="6903720" y="21945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 modèle décide quand chercher et critique ses sorties via des tokens de réflexion.</a:t>
            </a:r>
            <a:endParaRPr lang="en-US" sz="950" dirty="0"/>
          </a:p>
        </p:txBody>
      </p:sp>
      <p:sp>
        <p:nvSpPr>
          <p:cNvPr id="41" name="Shape 34"/>
          <p:cNvSpPr/>
          <p:nvPr/>
        </p:nvSpPr>
        <p:spPr>
          <a:xfrm>
            <a:off x="457200" y="2926080"/>
            <a:ext cx="1938528" cy="1463040"/>
          </a:xfrm>
          <a:prstGeom prst="roundRect">
            <a:avLst>
              <a:gd name="adj" fmla="val 5000"/>
            </a:avLst>
          </a:prstGeom>
          <a:solidFill>
            <a:srgbClr val="F4F7F5"/>
          </a:solidFill>
          <a:ln w="9525">
            <a:solidFill>
              <a:srgbClr val="D5DED9"/>
            </a:solidFill>
            <a:prstDash val="solid"/>
          </a:ln>
        </p:spPr>
      </p:sp>
      <p:sp>
        <p:nvSpPr>
          <p:cNvPr id="42" name="Shape 35"/>
          <p:cNvSpPr/>
          <p:nvPr/>
        </p:nvSpPr>
        <p:spPr>
          <a:xfrm>
            <a:off x="594360" y="3063240"/>
            <a:ext cx="411480" cy="411480"/>
          </a:xfrm>
          <a:prstGeom prst="ellipse">
            <a:avLst/>
          </a:prstGeom>
          <a:solidFill>
            <a:srgbClr val="0E7C86">
              <a:alpha val="22000"/>
            </a:srgbClr>
          </a:solidFill>
          <a:ln w="12700">
            <a:solidFill>
              <a:srgbClr val="0E7C86">
                <a:alpha val="0"/>
              </a:srgbClr>
            </a:solidFill>
            <a:prstDash val="solid"/>
          </a:ln>
        </p:spPr>
      </p:sp>
      <p:pic>
        <p:nvPicPr>
          <p:cNvPr id="43" name="Image 4" descr="preencoded.png"/>
          <p:cNvPicPr>
            <a:picLocks noChangeAspect="1"/>
          </p:cNvPicPr>
          <p:nvPr/>
        </p:nvPicPr>
        <p:blipFill>
          <a:blip r:embed="rId7"/>
          <a:stretch>
            <a:fillRect/>
          </a:stretch>
        </p:blipFill>
        <p:spPr>
          <a:xfrm>
            <a:off x="693115" y="3161995"/>
            <a:ext cx="213970" cy="213970"/>
          </a:xfrm>
          <a:prstGeom prst="rect">
            <a:avLst/>
          </a:prstGeom>
        </p:spPr>
      </p:pic>
      <p:sp>
        <p:nvSpPr>
          <p:cNvPr id="44" name="Text 36"/>
          <p:cNvSpPr txBox="1"/>
          <p:nvPr/>
        </p:nvSpPr>
        <p:spPr>
          <a:xfrm>
            <a:off x="109728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Yan et al., 2024</a:t>
            </a:r>
            <a:endParaRPr lang="en-US" sz="900" dirty="0"/>
          </a:p>
        </p:txBody>
      </p:sp>
      <p:sp>
        <p:nvSpPr>
          <p:cNvPr id="45" name="Text 37"/>
          <p:cNvSpPr txBox="1"/>
          <p:nvPr/>
        </p:nvSpPr>
        <p:spPr>
          <a:xfrm>
            <a:off x="59436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Corrective RAG (CRAG)</a:t>
            </a:r>
            <a:endParaRPr lang="en-US" sz="1300" dirty="0"/>
          </a:p>
        </p:txBody>
      </p:sp>
      <p:sp>
        <p:nvSpPr>
          <p:cNvPr id="46" name="Text 38"/>
          <p:cNvSpPr txBox="1"/>
          <p:nvPr/>
        </p:nvSpPr>
        <p:spPr>
          <a:xfrm>
            <a:off x="594360" y="37947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Un évaluateur note les documents et déclenche des corrections (p. ex. recherche web).</a:t>
            </a:r>
            <a:endParaRPr lang="en-US" sz="950" dirty="0"/>
          </a:p>
        </p:txBody>
      </p:sp>
      <p:sp>
        <p:nvSpPr>
          <p:cNvPr id="47" name="Shape 39"/>
          <p:cNvSpPr/>
          <p:nvPr/>
        </p:nvSpPr>
        <p:spPr>
          <a:xfrm>
            <a:off x="2560320" y="2926080"/>
            <a:ext cx="1938528" cy="1463040"/>
          </a:xfrm>
          <a:prstGeom prst="roundRect">
            <a:avLst>
              <a:gd name="adj" fmla="val 5000"/>
            </a:avLst>
          </a:prstGeom>
          <a:solidFill>
            <a:srgbClr val="F4F7F5"/>
          </a:solidFill>
          <a:ln w="9525">
            <a:solidFill>
              <a:srgbClr val="D5DED9"/>
            </a:solidFill>
            <a:prstDash val="solid"/>
          </a:ln>
        </p:spPr>
      </p:sp>
      <p:sp>
        <p:nvSpPr>
          <p:cNvPr id="48" name="Shape 40"/>
          <p:cNvSpPr/>
          <p:nvPr/>
        </p:nvSpPr>
        <p:spPr>
          <a:xfrm>
            <a:off x="2697480" y="3063240"/>
            <a:ext cx="411480" cy="411480"/>
          </a:xfrm>
          <a:prstGeom prst="ellipse">
            <a:avLst/>
          </a:prstGeom>
          <a:solidFill>
            <a:srgbClr val="0E7C86">
              <a:alpha val="22000"/>
            </a:srgbClr>
          </a:solidFill>
          <a:ln w="12700">
            <a:solidFill>
              <a:srgbClr val="0E7C86">
                <a:alpha val="0"/>
              </a:srgbClr>
            </a:solidFill>
            <a:prstDash val="solid"/>
          </a:ln>
        </p:spPr>
      </p:sp>
      <p:pic>
        <p:nvPicPr>
          <p:cNvPr id="49" name="Image 5" descr="preencoded.png"/>
          <p:cNvPicPr>
            <a:picLocks noChangeAspect="1"/>
          </p:cNvPicPr>
          <p:nvPr/>
        </p:nvPicPr>
        <p:blipFill>
          <a:blip r:embed="rId8"/>
          <a:stretch>
            <a:fillRect/>
          </a:stretch>
        </p:blipFill>
        <p:spPr>
          <a:xfrm>
            <a:off x="2796235" y="3161995"/>
            <a:ext cx="213970" cy="213970"/>
          </a:xfrm>
          <a:prstGeom prst="rect">
            <a:avLst/>
          </a:prstGeom>
        </p:spPr>
      </p:pic>
      <p:sp>
        <p:nvSpPr>
          <p:cNvPr id="50" name="Text 41"/>
          <p:cNvSpPr txBox="1"/>
          <p:nvPr/>
        </p:nvSpPr>
        <p:spPr>
          <a:xfrm>
            <a:off x="320040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Microsoft, 2024</a:t>
            </a:r>
            <a:endParaRPr lang="en-US" sz="900" dirty="0"/>
          </a:p>
        </p:txBody>
      </p:sp>
      <p:sp>
        <p:nvSpPr>
          <p:cNvPr id="51" name="Text 42"/>
          <p:cNvSpPr txBox="1"/>
          <p:nvPr/>
        </p:nvSpPr>
        <p:spPr>
          <a:xfrm>
            <a:off x="269748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GraphRAG</a:t>
            </a:r>
            <a:endParaRPr lang="en-US" sz="1300" dirty="0"/>
          </a:p>
        </p:txBody>
      </p:sp>
      <p:sp>
        <p:nvSpPr>
          <p:cNvPr id="52" name="Text 43"/>
          <p:cNvSpPr txBox="1"/>
          <p:nvPr/>
        </p:nvSpPr>
        <p:spPr>
          <a:xfrm>
            <a:off x="2697480" y="37947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Construit un graphe de connaissances + résumés pour les questions globales.</a:t>
            </a:r>
            <a:endParaRPr lang="en-US" sz="950" dirty="0"/>
          </a:p>
        </p:txBody>
      </p:sp>
      <p:sp>
        <p:nvSpPr>
          <p:cNvPr id="53" name="Shape 44"/>
          <p:cNvSpPr/>
          <p:nvPr/>
        </p:nvSpPr>
        <p:spPr>
          <a:xfrm>
            <a:off x="4663440" y="2926080"/>
            <a:ext cx="1938528" cy="1463040"/>
          </a:xfrm>
          <a:prstGeom prst="roundRect">
            <a:avLst>
              <a:gd name="adj" fmla="val 5000"/>
            </a:avLst>
          </a:prstGeom>
          <a:solidFill>
            <a:srgbClr val="F4F7F5"/>
          </a:solidFill>
          <a:ln w="9525">
            <a:solidFill>
              <a:srgbClr val="D5DED9"/>
            </a:solidFill>
            <a:prstDash val="solid"/>
          </a:ln>
        </p:spPr>
      </p:sp>
      <p:sp>
        <p:nvSpPr>
          <p:cNvPr id="54" name="Shape 45"/>
          <p:cNvSpPr/>
          <p:nvPr/>
        </p:nvSpPr>
        <p:spPr>
          <a:xfrm>
            <a:off x="4800600" y="3063240"/>
            <a:ext cx="411480" cy="411480"/>
          </a:xfrm>
          <a:prstGeom prst="ellipse">
            <a:avLst/>
          </a:prstGeom>
          <a:solidFill>
            <a:srgbClr val="0E7C86">
              <a:alpha val="22000"/>
            </a:srgbClr>
          </a:solidFill>
          <a:ln w="12700">
            <a:solidFill>
              <a:srgbClr val="0E7C86">
                <a:alpha val="0"/>
              </a:srgbClr>
            </a:solidFill>
            <a:prstDash val="solid"/>
          </a:ln>
        </p:spPr>
      </p:sp>
      <p:pic>
        <p:nvPicPr>
          <p:cNvPr id="55" name="Image 6" descr="preencoded.png"/>
          <p:cNvPicPr>
            <a:picLocks noChangeAspect="1"/>
          </p:cNvPicPr>
          <p:nvPr/>
        </p:nvPicPr>
        <p:blipFill>
          <a:blip r:embed="rId9"/>
          <a:stretch>
            <a:fillRect/>
          </a:stretch>
        </p:blipFill>
        <p:spPr>
          <a:xfrm>
            <a:off x="4899355" y="3161995"/>
            <a:ext cx="213970" cy="213970"/>
          </a:xfrm>
          <a:prstGeom prst="rect">
            <a:avLst/>
          </a:prstGeom>
        </p:spPr>
      </p:pic>
      <p:sp>
        <p:nvSpPr>
          <p:cNvPr id="56" name="Text 46"/>
          <p:cNvSpPr txBox="1"/>
          <p:nvPr/>
        </p:nvSpPr>
        <p:spPr>
          <a:xfrm>
            <a:off x="530352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Sarthi et al., 2024</a:t>
            </a:r>
            <a:endParaRPr lang="en-US" sz="900" dirty="0"/>
          </a:p>
        </p:txBody>
      </p:sp>
      <p:sp>
        <p:nvSpPr>
          <p:cNvPr id="57" name="Text 47"/>
          <p:cNvSpPr txBox="1"/>
          <p:nvPr/>
        </p:nvSpPr>
        <p:spPr>
          <a:xfrm>
            <a:off x="480060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RAPTOR</a:t>
            </a:r>
            <a:endParaRPr lang="en-US" sz="1300" dirty="0"/>
          </a:p>
        </p:txBody>
      </p:sp>
      <p:sp>
        <p:nvSpPr>
          <p:cNvPr id="58" name="Text 48"/>
          <p:cNvSpPr txBox="1"/>
          <p:nvPr/>
        </p:nvSpPr>
        <p:spPr>
          <a:xfrm>
            <a:off x="4800600" y="37947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Arbre récursif de résumés groupés pour une recherche multi-niveaux.</a:t>
            </a:r>
            <a:endParaRPr lang="en-US" sz="950" dirty="0"/>
          </a:p>
        </p:txBody>
      </p:sp>
      <p:sp>
        <p:nvSpPr>
          <p:cNvPr id="59" name="Shape 49"/>
          <p:cNvSpPr/>
          <p:nvPr/>
        </p:nvSpPr>
        <p:spPr>
          <a:xfrm>
            <a:off x="6766560" y="2926080"/>
            <a:ext cx="1938528" cy="1463040"/>
          </a:xfrm>
          <a:prstGeom prst="roundRect">
            <a:avLst>
              <a:gd name="adj" fmla="val 5000"/>
            </a:avLst>
          </a:prstGeom>
          <a:solidFill>
            <a:srgbClr val="F4F7F5"/>
          </a:solidFill>
          <a:ln w="9525">
            <a:solidFill>
              <a:srgbClr val="D5DED9"/>
            </a:solidFill>
            <a:prstDash val="solid"/>
          </a:ln>
        </p:spPr>
      </p:sp>
      <p:sp>
        <p:nvSpPr>
          <p:cNvPr id="60" name="Shape 50"/>
          <p:cNvSpPr/>
          <p:nvPr/>
        </p:nvSpPr>
        <p:spPr>
          <a:xfrm>
            <a:off x="6903720" y="3063240"/>
            <a:ext cx="411480" cy="411480"/>
          </a:xfrm>
          <a:prstGeom prst="ellipse">
            <a:avLst/>
          </a:prstGeom>
          <a:solidFill>
            <a:srgbClr val="D49A00">
              <a:alpha val="22000"/>
            </a:srgbClr>
          </a:solidFill>
          <a:ln w="12700">
            <a:solidFill>
              <a:srgbClr val="D49A00">
                <a:alpha val="0"/>
              </a:srgbClr>
            </a:solidFill>
            <a:prstDash val="solid"/>
          </a:ln>
        </p:spPr>
      </p:sp>
      <p:pic>
        <p:nvPicPr>
          <p:cNvPr id="61" name="Image 7" descr="preencoded.png"/>
          <p:cNvPicPr>
            <a:picLocks noChangeAspect="1"/>
          </p:cNvPicPr>
          <p:nvPr/>
        </p:nvPicPr>
        <p:blipFill>
          <a:blip r:embed="rId10"/>
          <a:stretch>
            <a:fillRect/>
          </a:stretch>
        </p:blipFill>
        <p:spPr>
          <a:xfrm>
            <a:off x="7002475" y="3161995"/>
            <a:ext cx="213970" cy="213970"/>
          </a:xfrm>
          <a:prstGeom prst="rect">
            <a:avLst/>
          </a:prstGeom>
        </p:spPr>
      </p:pic>
      <p:sp>
        <p:nvSpPr>
          <p:cNvPr id="62" name="Text 51"/>
          <p:cNvSpPr txBox="1"/>
          <p:nvPr/>
        </p:nvSpPr>
        <p:spPr>
          <a:xfrm>
            <a:off x="740664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Agents + outils</a:t>
            </a:r>
            <a:endParaRPr lang="en-US" sz="900" dirty="0"/>
          </a:p>
        </p:txBody>
      </p:sp>
      <p:sp>
        <p:nvSpPr>
          <p:cNvPr id="63" name="Text 52"/>
          <p:cNvSpPr txBox="1"/>
          <p:nvPr/>
        </p:nvSpPr>
        <p:spPr>
          <a:xfrm>
            <a:off x="690372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RAG agentique</a:t>
            </a:r>
            <a:endParaRPr lang="en-US" sz="1300" dirty="0"/>
          </a:p>
        </p:txBody>
      </p:sp>
      <p:sp>
        <p:nvSpPr>
          <p:cNvPr id="64" name="Text 53"/>
          <p:cNvSpPr txBox="1"/>
          <p:nvPr/>
        </p:nvSpPr>
        <p:spPr>
          <a:xfrm>
            <a:off x="6903720" y="3794760"/>
            <a:ext cx="169164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Un agent planifie, appelle les outils de recherche en boucle et vérifie avant de répondre.</a:t>
            </a:r>
            <a:endParaRPr lang="en-US" sz="950" dirty="0"/>
          </a:p>
        </p:txBody>
      </p:sp>
      <p:sp>
        <p:nvSpPr>
          <p:cNvPr id="65" name="Shape 54"/>
          <p:cNvSpPr/>
          <p:nvPr/>
        </p:nvSpPr>
        <p:spPr>
          <a:xfrm>
            <a:off x="457200" y="4599432"/>
            <a:ext cx="128016" cy="128016"/>
          </a:xfrm>
          <a:prstGeom prst="ellipse">
            <a:avLst/>
          </a:prstGeom>
          <a:solidFill>
            <a:srgbClr val="00A86A"/>
          </a:solidFill>
          <a:ln w="12700">
            <a:solidFill>
              <a:srgbClr val="00A86A"/>
            </a:solidFill>
            <a:prstDash val="solid"/>
          </a:ln>
        </p:spPr>
      </p:sp>
      <p:sp>
        <p:nvSpPr>
          <p:cNvPr id="66" name="Text 55"/>
          <p:cNvSpPr txBox="1"/>
          <p:nvPr/>
        </p:nvSpPr>
        <p:spPr>
          <a:xfrm>
            <a:off x="65836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Requête &amp; indexation</a:t>
            </a:r>
            <a:endParaRPr lang="en-US" sz="1050" dirty="0"/>
          </a:p>
        </p:txBody>
      </p:sp>
      <p:sp>
        <p:nvSpPr>
          <p:cNvPr id="67" name="Shape 56"/>
          <p:cNvSpPr/>
          <p:nvPr/>
        </p:nvSpPr>
        <p:spPr>
          <a:xfrm>
            <a:off x="2194560" y="4599432"/>
            <a:ext cx="128016" cy="128016"/>
          </a:xfrm>
          <a:prstGeom prst="ellipse">
            <a:avLst/>
          </a:prstGeom>
          <a:solidFill>
            <a:srgbClr val="0E7C86"/>
          </a:solidFill>
          <a:ln w="12700">
            <a:solidFill>
              <a:srgbClr val="0E7C86"/>
            </a:solidFill>
            <a:prstDash val="solid"/>
          </a:ln>
        </p:spPr>
      </p:sp>
      <p:sp>
        <p:nvSpPr>
          <p:cNvPr id="68" name="Text 57"/>
          <p:cNvSpPr txBox="1"/>
          <p:nvPr/>
        </p:nvSpPr>
        <p:spPr>
          <a:xfrm>
            <a:off x="239572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Méthodes de recherche</a:t>
            </a:r>
            <a:endParaRPr lang="en-US" sz="1050" dirty="0"/>
          </a:p>
        </p:txBody>
      </p:sp>
      <p:sp>
        <p:nvSpPr>
          <p:cNvPr id="69" name="Shape 58"/>
          <p:cNvSpPr/>
          <p:nvPr/>
        </p:nvSpPr>
        <p:spPr>
          <a:xfrm>
            <a:off x="3931920" y="4599432"/>
            <a:ext cx="128016" cy="128016"/>
          </a:xfrm>
          <a:prstGeom prst="ellipse">
            <a:avLst/>
          </a:prstGeom>
          <a:solidFill>
            <a:srgbClr val="D49A00"/>
          </a:solidFill>
          <a:ln w="12700">
            <a:solidFill>
              <a:srgbClr val="D49A00"/>
            </a:solidFill>
            <a:prstDash val="solid"/>
          </a:ln>
        </p:spPr>
      </p:sp>
      <p:sp>
        <p:nvSpPr>
          <p:cNvPr id="70" name="Text 59"/>
          <p:cNvSpPr txBox="1"/>
          <p:nvPr/>
        </p:nvSpPr>
        <p:spPr>
          <a:xfrm>
            <a:off x="413308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Agentique</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TECHNIQUES AVANCÉES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RAG, fine-tuning ou contexte long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C4621D"/>
          </a:solidFill>
          <a:ln w="12700">
            <a:solidFill>
              <a:srgbClr val="C4621D"/>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8229600" cy="914400"/>
        </p:xfrm>
        <a:graphic>
          <a:graphicData uri="http://schemas.openxmlformats.org/drawingml/2006/table">
            <a:tbl>
              <a:tblPr/>
              <a:tblGrid>
                <a:gridCol w="17830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tblGrid>
              <a:tr h="384048">
                <a:tc>
                  <a:txBody>
                    <a:bodyPr/>
                    <a:lstStyle/>
                    <a:p>
                      <a:pPr marL="0" indent="0" algn="ctr">
                        <a:buNone/>
                      </a:pP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553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RAG</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A86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Fine-tuning</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5E6964"/>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Contexte long</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5E696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Mise à jour du savoir</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Réindexer les documents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Réentraîner le modèle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Modifier le prompt</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Citation des sources</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Native (fragments récupérés)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Non disponible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Possible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Volume de savoir</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Des millions de documents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Absorbé dans les poids, imprécis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Limité par la fenêtre de contexte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Coût par requête</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Faible — fragments utiles seuls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Faible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Élevé pour les longs contextes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Contrôle d'accès</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Filtrage par droits à la recherche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Très difficile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Par requête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Idéal pour</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Faits privés et évolutifs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Style, comportement spécialisé</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Petits corpus autonomes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extLst>
                  <a:ext uri="{0D108BD9-81ED-4DB2-BD59-A6C34878D82A}">
                    <a16:rowId xmlns:a16="http://schemas.microsoft.com/office/drawing/2014/main" val="10006"/>
                  </a:ext>
                </a:extLst>
              </a:tr>
            </a:tbl>
          </a:graphicData>
        </a:graphic>
      </p:graphicFrame>
      <p:sp>
        <p:nvSpPr>
          <p:cNvPr id="18" name="Shape 14"/>
          <p:cNvSpPr/>
          <p:nvPr/>
        </p:nvSpPr>
        <p:spPr>
          <a:xfrm>
            <a:off x="457200" y="4242816"/>
            <a:ext cx="8229600" cy="420624"/>
          </a:xfrm>
          <a:prstGeom prst="roundRect">
            <a:avLst>
              <a:gd name="adj" fmla="val 17391"/>
            </a:avLst>
          </a:prstGeom>
          <a:solidFill>
            <a:srgbClr val="D49A00">
              <a:alpha val="13000"/>
            </a:srgbClr>
          </a:solidFill>
          <a:ln w="9525">
            <a:solidFill>
              <a:srgbClr val="D49A00"/>
            </a:solidFill>
            <a:prstDash val="solid"/>
          </a:ln>
        </p:spPr>
      </p:sp>
      <p:pic>
        <p:nvPicPr>
          <p:cNvPr id="19" name="Image 0" descr="preencoded.png"/>
          <p:cNvPicPr>
            <a:picLocks noChangeAspect="1"/>
          </p:cNvPicPr>
          <p:nvPr/>
        </p:nvPicPr>
        <p:blipFill>
          <a:blip r:embed="rId3"/>
          <a:stretch>
            <a:fillRect/>
          </a:stretch>
        </p:blipFill>
        <p:spPr>
          <a:xfrm>
            <a:off x="621792" y="4325112"/>
            <a:ext cx="256032" cy="256032"/>
          </a:xfrm>
          <a:prstGeom prst="rect">
            <a:avLst/>
          </a:prstGeom>
        </p:spPr>
      </p:pic>
      <p:sp>
        <p:nvSpPr>
          <p:cNvPr id="20" name="Text 15"/>
          <p:cNvSpPr txBox="1"/>
          <p:nvPr/>
        </p:nvSpPr>
        <p:spPr>
          <a:xfrm>
            <a:off x="1005840" y="4242816"/>
            <a:ext cx="7498080" cy="420624"/>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Complémentaires, pas exclusifs : </a:t>
            </a:r>
            <a:r>
              <a:rPr lang="en-US" sz="1200" dirty="0">
                <a:solidFill>
                  <a:srgbClr val="231F20"/>
                </a:solidFill>
                <a:latin typeface="Calibri" pitchFamily="34" charset="0"/>
                <a:ea typeface="Calibri" pitchFamily="34" charset="-122"/>
                <a:cs typeface="Calibri" pitchFamily="34" charset="-120"/>
              </a:rPr>
              <a:t>fine-tuning = comportement, RAG = savoir, contexte long = petits corpus.</a:t>
            </a:r>
            <a:endParaRPr lang="en-US" sz="12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06</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Production</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Comment exploiter le RAG de façon fiable et sûre ?</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5C242"/>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Mesurer séparément récupération et génération</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flipH="1">
            <a:off x="1051560" y="1874520"/>
            <a:ext cx="1463040" cy="2103120"/>
          </a:xfrm>
          <a:prstGeom prst="line">
            <a:avLst/>
          </a:prstGeom>
          <a:noFill/>
          <a:ln w="31750">
            <a:solidFill>
              <a:srgbClr val="00A86A"/>
            </a:solidFill>
            <a:prstDash val="solid"/>
          </a:ln>
        </p:spPr>
      </p:sp>
      <p:sp>
        <p:nvSpPr>
          <p:cNvPr id="18" name="Shape 15"/>
          <p:cNvSpPr/>
          <p:nvPr/>
        </p:nvSpPr>
        <p:spPr>
          <a:xfrm>
            <a:off x="868680" y="2761488"/>
            <a:ext cx="1600200" cy="274320"/>
          </a:xfrm>
          <a:prstGeom prst="roundRect">
            <a:avLst>
              <a:gd name="adj" fmla="val 50000"/>
            </a:avLst>
          </a:prstGeom>
          <a:solidFill>
            <a:srgbClr val="FFFFFF"/>
          </a:solidFill>
          <a:ln w="15875">
            <a:solidFill>
              <a:srgbClr val="00A86A"/>
            </a:solidFill>
            <a:prstDash val="solid"/>
          </a:ln>
        </p:spPr>
      </p:sp>
      <p:sp>
        <p:nvSpPr>
          <p:cNvPr id="19" name="Text 16"/>
          <p:cNvSpPr txBox="1"/>
          <p:nvPr/>
        </p:nvSpPr>
        <p:spPr>
          <a:xfrm>
            <a:off x="868680" y="2761488"/>
            <a:ext cx="1600200" cy="274320"/>
          </a:xfrm>
          <a:prstGeom prst="rect">
            <a:avLst/>
          </a:prstGeom>
          <a:noFill/>
          <a:ln/>
        </p:spPr>
        <p:txBody>
          <a:bodyPr wrap="square" lIns="0" tIns="0" rIns="0" bIns="0" rtlCol="0" anchor="ctr"/>
          <a:lstStyle/>
          <a:p>
            <a:pPr marL="0" indent="0" algn="ctr">
              <a:buNone/>
            </a:pPr>
            <a:r>
              <a:rPr lang="en-US" sz="1050" b="1" dirty="0">
                <a:solidFill>
                  <a:srgbClr val="00A86A"/>
                </a:solidFill>
                <a:latin typeface="Calibri" pitchFamily="34" charset="0"/>
                <a:ea typeface="Calibri" pitchFamily="34" charset="-122"/>
                <a:cs typeface="Calibri" pitchFamily="34" charset="-120"/>
              </a:rPr>
              <a:t>Pertinence du contexte</a:t>
            </a:r>
            <a:endParaRPr lang="en-US" sz="1050" dirty="0"/>
          </a:p>
        </p:txBody>
      </p:sp>
      <p:sp>
        <p:nvSpPr>
          <p:cNvPr id="20" name="Shape 17"/>
          <p:cNvSpPr/>
          <p:nvPr/>
        </p:nvSpPr>
        <p:spPr>
          <a:xfrm>
            <a:off x="2514600" y="1874520"/>
            <a:ext cx="1463040" cy="2103120"/>
          </a:xfrm>
          <a:prstGeom prst="line">
            <a:avLst/>
          </a:prstGeom>
          <a:noFill/>
          <a:ln w="31750">
            <a:solidFill>
              <a:srgbClr val="0E7C86"/>
            </a:solidFill>
            <a:prstDash val="solid"/>
          </a:ln>
        </p:spPr>
      </p:sp>
      <p:sp>
        <p:nvSpPr>
          <p:cNvPr id="21" name="Shape 18"/>
          <p:cNvSpPr/>
          <p:nvPr/>
        </p:nvSpPr>
        <p:spPr>
          <a:xfrm>
            <a:off x="2560320" y="2761488"/>
            <a:ext cx="1691640" cy="274320"/>
          </a:xfrm>
          <a:prstGeom prst="roundRect">
            <a:avLst>
              <a:gd name="adj" fmla="val 50000"/>
            </a:avLst>
          </a:prstGeom>
          <a:solidFill>
            <a:srgbClr val="FFFFFF"/>
          </a:solidFill>
          <a:ln w="15875">
            <a:solidFill>
              <a:srgbClr val="0E7C86"/>
            </a:solidFill>
            <a:prstDash val="solid"/>
          </a:ln>
        </p:spPr>
      </p:sp>
      <p:sp>
        <p:nvSpPr>
          <p:cNvPr id="22" name="Text 19"/>
          <p:cNvSpPr txBox="1"/>
          <p:nvPr/>
        </p:nvSpPr>
        <p:spPr>
          <a:xfrm>
            <a:off x="2560320" y="2761488"/>
            <a:ext cx="1691640" cy="274320"/>
          </a:xfrm>
          <a:prstGeom prst="rect">
            <a:avLst/>
          </a:prstGeom>
          <a:noFill/>
          <a:ln/>
        </p:spPr>
        <p:txBody>
          <a:bodyPr wrap="square" lIns="0" tIns="0" rIns="0" bIns="0" rtlCol="0" anchor="ctr"/>
          <a:lstStyle/>
          <a:p>
            <a:pPr marL="0" indent="0" algn="ctr">
              <a:buNone/>
            </a:pPr>
            <a:r>
              <a:rPr lang="en-US" sz="1050" b="1" dirty="0">
                <a:solidFill>
                  <a:srgbClr val="0E7C86"/>
                </a:solidFill>
                <a:latin typeface="Calibri" pitchFamily="34" charset="0"/>
                <a:ea typeface="Calibri" pitchFamily="34" charset="-122"/>
                <a:cs typeface="Calibri" pitchFamily="34" charset="-120"/>
              </a:rPr>
              <a:t>Pertinence de la réponse</a:t>
            </a:r>
            <a:endParaRPr lang="en-US" sz="1050" dirty="0"/>
          </a:p>
        </p:txBody>
      </p:sp>
      <p:sp>
        <p:nvSpPr>
          <p:cNvPr id="23" name="Shape 20"/>
          <p:cNvSpPr/>
          <p:nvPr/>
        </p:nvSpPr>
        <p:spPr>
          <a:xfrm>
            <a:off x="1051560" y="3977640"/>
            <a:ext cx="2926080" cy="914"/>
          </a:xfrm>
          <a:prstGeom prst="line">
            <a:avLst/>
          </a:prstGeom>
          <a:noFill/>
          <a:ln w="31750">
            <a:solidFill>
              <a:srgbClr val="D49A00"/>
            </a:solidFill>
            <a:prstDash val="solid"/>
          </a:ln>
        </p:spPr>
      </p:sp>
      <p:sp>
        <p:nvSpPr>
          <p:cNvPr id="24" name="Shape 21"/>
          <p:cNvSpPr/>
          <p:nvPr/>
        </p:nvSpPr>
        <p:spPr>
          <a:xfrm>
            <a:off x="1508760" y="3840480"/>
            <a:ext cx="1280160" cy="274320"/>
          </a:xfrm>
          <a:prstGeom prst="roundRect">
            <a:avLst>
              <a:gd name="adj" fmla="val 50000"/>
            </a:avLst>
          </a:prstGeom>
          <a:solidFill>
            <a:srgbClr val="FFFFFF"/>
          </a:solidFill>
          <a:ln w="15875">
            <a:solidFill>
              <a:srgbClr val="D49A00"/>
            </a:solidFill>
            <a:prstDash val="solid"/>
          </a:ln>
        </p:spPr>
      </p:sp>
      <p:sp>
        <p:nvSpPr>
          <p:cNvPr id="25" name="Text 22"/>
          <p:cNvSpPr txBox="1"/>
          <p:nvPr/>
        </p:nvSpPr>
        <p:spPr>
          <a:xfrm>
            <a:off x="1508760" y="3840480"/>
            <a:ext cx="1280160" cy="274320"/>
          </a:xfrm>
          <a:prstGeom prst="rect">
            <a:avLst/>
          </a:prstGeom>
          <a:noFill/>
          <a:ln/>
        </p:spPr>
        <p:txBody>
          <a:bodyPr wrap="square" lIns="0" tIns="0" rIns="0" bIns="0" rtlCol="0" anchor="ctr"/>
          <a:lstStyle/>
          <a:p>
            <a:pPr marL="0" indent="0" algn="ctr">
              <a:buNone/>
            </a:pPr>
            <a:r>
              <a:rPr lang="en-US" sz="1050" b="1" dirty="0">
                <a:solidFill>
                  <a:srgbClr val="D49A00"/>
                </a:solidFill>
                <a:latin typeface="Calibri" pitchFamily="34" charset="0"/>
                <a:ea typeface="Calibri" pitchFamily="34" charset="-122"/>
                <a:cs typeface="Calibri" pitchFamily="34" charset="-120"/>
              </a:rPr>
              <a:t>Ancrage</a:t>
            </a:r>
            <a:endParaRPr lang="en-US" sz="1050" dirty="0"/>
          </a:p>
        </p:txBody>
      </p:sp>
      <p:sp>
        <p:nvSpPr>
          <p:cNvPr id="26" name="Shape 23"/>
          <p:cNvSpPr/>
          <p:nvPr/>
        </p:nvSpPr>
        <p:spPr>
          <a:xfrm>
            <a:off x="2148840" y="1508760"/>
            <a:ext cx="731520" cy="731520"/>
          </a:xfrm>
          <a:prstGeom prst="ellipse">
            <a:avLst/>
          </a:prstGeom>
          <a:solidFill>
            <a:srgbClr val="FFFFFF"/>
          </a:solidFill>
          <a:ln w="19050">
            <a:solidFill>
              <a:srgbClr val="00704A"/>
            </a:solidFill>
            <a:prstDash val="solid"/>
          </a:ln>
        </p:spPr>
      </p:sp>
      <p:pic>
        <p:nvPicPr>
          <p:cNvPr id="27" name="Image 0" descr="preencoded.png"/>
          <p:cNvPicPr>
            <a:picLocks noChangeAspect="1"/>
          </p:cNvPicPr>
          <p:nvPr/>
        </p:nvPicPr>
        <p:blipFill>
          <a:blip r:embed="rId3"/>
          <a:stretch>
            <a:fillRect/>
          </a:stretch>
        </p:blipFill>
        <p:spPr>
          <a:xfrm>
            <a:off x="2324405" y="1684325"/>
            <a:ext cx="380390" cy="380390"/>
          </a:xfrm>
          <a:prstGeom prst="rect">
            <a:avLst/>
          </a:prstGeom>
        </p:spPr>
      </p:pic>
      <p:sp>
        <p:nvSpPr>
          <p:cNvPr id="28" name="Text 24"/>
          <p:cNvSpPr txBox="1"/>
          <p:nvPr/>
        </p:nvSpPr>
        <p:spPr>
          <a:xfrm>
            <a:off x="1874520" y="125272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Question</a:t>
            </a:r>
            <a:endParaRPr lang="en-US" sz="1200" dirty="0"/>
          </a:p>
        </p:txBody>
      </p:sp>
      <p:sp>
        <p:nvSpPr>
          <p:cNvPr id="29" name="Shape 25"/>
          <p:cNvSpPr/>
          <p:nvPr/>
        </p:nvSpPr>
        <p:spPr>
          <a:xfrm>
            <a:off x="685800" y="3611880"/>
            <a:ext cx="731520" cy="731520"/>
          </a:xfrm>
          <a:prstGeom prst="ellipse">
            <a:avLst/>
          </a:prstGeom>
          <a:solidFill>
            <a:srgbClr val="FFFFFF"/>
          </a:solidFill>
          <a:ln w="19050">
            <a:solidFill>
              <a:srgbClr val="00A86A"/>
            </a:solidFill>
            <a:prstDash val="solid"/>
          </a:ln>
        </p:spPr>
      </p:sp>
      <p:pic>
        <p:nvPicPr>
          <p:cNvPr id="30" name="Image 1" descr="preencoded.png"/>
          <p:cNvPicPr>
            <a:picLocks noChangeAspect="1"/>
          </p:cNvPicPr>
          <p:nvPr/>
        </p:nvPicPr>
        <p:blipFill>
          <a:blip r:embed="rId4"/>
          <a:stretch>
            <a:fillRect/>
          </a:stretch>
        </p:blipFill>
        <p:spPr>
          <a:xfrm>
            <a:off x="861365" y="3787445"/>
            <a:ext cx="380390" cy="380390"/>
          </a:xfrm>
          <a:prstGeom prst="rect">
            <a:avLst/>
          </a:prstGeom>
        </p:spPr>
      </p:pic>
      <p:sp>
        <p:nvSpPr>
          <p:cNvPr id="31" name="Text 26"/>
          <p:cNvSpPr txBox="1"/>
          <p:nvPr/>
        </p:nvSpPr>
        <p:spPr>
          <a:xfrm>
            <a:off x="411480" y="436168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Contexte</a:t>
            </a:r>
            <a:endParaRPr lang="en-US" sz="1200" dirty="0"/>
          </a:p>
        </p:txBody>
      </p:sp>
      <p:sp>
        <p:nvSpPr>
          <p:cNvPr id="32" name="Shape 27"/>
          <p:cNvSpPr/>
          <p:nvPr/>
        </p:nvSpPr>
        <p:spPr>
          <a:xfrm>
            <a:off x="3611880" y="3611880"/>
            <a:ext cx="731520" cy="731520"/>
          </a:xfrm>
          <a:prstGeom prst="ellipse">
            <a:avLst/>
          </a:prstGeom>
          <a:solidFill>
            <a:srgbClr val="FFFFFF"/>
          </a:solidFill>
          <a:ln w="19050">
            <a:solidFill>
              <a:srgbClr val="D49A00"/>
            </a:solidFill>
            <a:prstDash val="solid"/>
          </a:ln>
        </p:spPr>
      </p:sp>
      <p:pic>
        <p:nvPicPr>
          <p:cNvPr id="33" name="Image 2" descr="preencoded.png"/>
          <p:cNvPicPr>
            <a:picLocks noChangeAspect="1"/>
          </p:cNvPicPr>
          <p:nvPr/>
        </p:nvPicPr>
        <p:blipFill>
          <a:blip r:embed="rId5"/>
          <a:stretch>
            <a:fillRect/>
          </a:stretch>
        </p:blipFill>
        <p:spPr>
          <a:xfrm>
            <a:off x="3787445" y="3787445"/>
            <a:ext cx="380390" cy="380390"/>
          </a:xfrm>
          <a:prstGeom prst="rect">
            <a:avLst/>
          </a:prstGeom>
        </p:spPr>
      </p:pic>
      <p:sp>
        <p:nvSpPr>
          <p:cNvPr id="34" name="Text 28"/>
          <p:cNvSpPr txBox="1"/>
          <p:nvPr/>
        </p:nvSpPr>
        <p:spPr>
          <a:xfrm>
            <a:off x="3337560" y="436168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Réponse</a:t>
            </a:r>
            <a:endParaRPr lang="en-US" sz="1200" dirty="0"/>
          </a:p>
        </p:txBody>
      </p:sp>
      <p:sp>
        <p:nvSpPr>
          <p:cNvPr id="35" name="Text 29"/>
          <p:cNvSpPr txBox="1"/>
          <p:nvPr/>
        </p:nvSpPr>
        <p:spPr>
          <a:xfrm>
            <a:off x="1508760" y="4599432"/>
            <a:ext cx="27432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La « triade RAG » (TruLens)</a:t>
            </a:r>
            <a:endParaRPr lang="en-US" sz="900" dirty="0"/>
          </a:p>
        </p:txBody>
      </p:sp>
      <p:sp>
        <p:nvSpPr>
          <p:cNvPr id="36" name="Shape 30"/>
          <p:cNvSpPr/>
          <p:nvPr/>
        </p:nvSpPr>
        <p:spPr>
          <a:xfrm>
            <a:off x="4846320" y="1325880"/>
            <a:ext cx="3840480" cy="1874520"/>
          </a:xfrm>
          <a:prstGeom prst="roundRect">
            <a:avLst>
              <a:gd name="adj" fmla="val 3902"/>
            </a:avLst>
          </a:prstGeom>
          <a:solidFill>
            <a:srgbClr val="F4F7F5"/>
          </a:solidFill>
          <a:ln w="9525">
            <a:solidFill>
              <a:srgbClr val="D5DED9"/>
            </a:solidFill>
            <a:prstDash val="solid"/>
          </a:ln>
        </p:spPr>
      </p:sp>
      <p:sp>
        <p:nvSpPr>
          <p:cNvPr id="37" name="Text 31"/>
          <p:cNvSpPr txBox="1"/>
          <p:nvPr/>
        </p:nvSpPr>
        <p:spPr>
          <a:xfrm>
            <a:off x="5029200" y="1417320"/>
            <a:ext cx="356616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Métriques RAGAS (Es et al., 2023)</a:t>
            </a:r>
            <a:endParaRPr lang="en-US" sz="1400" dirty="0"/>
          </a:p>
        </p:txBody>
      </p:sp>
      <p:sp>
        <p:nvSpPr>
          <p:cNvPr id="38" name="Text 32"/>
          <p:cNvSpPr txBox="1"/>
          <p:nvPr/>
        </p:nvSpPr>
        <p:spPr>
          <a:xfrm>
            <a:off x="5029200" y="1755648"/>
            <a:ext cx="3520440" cy="1389888"/>
          </a:xfrm>
          <a:prstGeom prst="rect">
            <a:avLst/>
          </a:prstGeom>
          <a:noFill/>
          <a:ln/>
        </p:spPr>
        <p:txBody>
          <a:bodyPr wrap="square" lIns="0" tIns="0" rIns="0" bIns="0" rtlCol="0" anchor="t"/>
          <a:lstStyle/>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Fidélité: </a:t>
            </a:r>
            <a:r>
              <a:rPr lang="en-US" sz="1100" dirty="0">
                <a:solidFill>
                  <a:srgbClr val="231F20"/>
                </a:solidFill>
                <a:latin typeface="Calibri" pitchFamily="34" charset="0"/>
                <a:ea typeface="Calibri" pitchFamily="34" charset="-122"/>
                <a:cs typeface="Calibri" pitchFamily="34" charset="-120"/>
              </a:rPr>
              <a:t>Les affirmations sont-elles étayées par le contexte ?</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Pertinence de la réponse: </a:t>
            </a:r>
            <a:r>
              <a:rPr lang="en-US" sz="1100" dirty="0">
                <a:solidFill>
                  <a:srgbClr val="231F20"/>
                </a:solidFill>
                <a:latin typeface="Calibri" pitchFamily="34" charset="0"/>
                <a:ea typeface="Calibri" pitchFamily="34" charset="-122"/>
                <a:cs typeface="Calibri" pitchFamily="34" charset="-120"/>
              </a:rPr>
              <a:t>Traite-t-elle bien la question ?</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Précision du contexte: </a:t>
            </a:r>
            <a:r>
              <a:rPr lang="en-US" sz="1100" dirty="0">
                <a:solidFill>
                  <a:srgbClr val="231F20"/>
                </a:solidFill>
                <a:latin typeface="Calibri" pitchFamily="34" charset="0"/>
                <a:ea typeface="Calibri" pitchFamily="34" charset="-122"/>
                <a:cs typeface="Calibri" pitchFamily="34" charset="-120"/>
              </a:rPr>
              <a:t>Les bons fragments sont-ils en tête ?</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Rappel du contexte: </a:t>
            </a:r>
            <a:r>
              <a:rPr lang="en-US" sz="1100" dirty="0">
                <a:solidFill>
                  <a:srgbClr val="231F20"/>
                </a:solidFill>
                <a:latin typeface="Calibri" pitchFamily="34" charset="0"/>
                <a:ea typeface="Calibri" pitchFamily="34" charset="-122"/>
                <a:cs typeface="Calibri" pitchFamily="34" charset="-120"/>
              </a:rPr>
              <a:t>Toute l'information utile a-t-elle été récupérée ?</a:t>
            </a:r>
            <a:endParaRPr lang="en-US" sz="1100" dirty="0"/>
          </a:p>
        </p:txBody>
      </p:sp>
      <p:sp>
        <p:nvSpPr>
          <p:cNvPr id="39" name="Shape 33"/>
          <p:cNvSpPr/>
          <p:nvPr/>
        </p:nvSpPr>
        <p:spPr>
          <a:xfrm>
            <a:off x="4846320" y="3310128"/>
            <a:ext cx="3840480" cy="713232"/>
          </a:xfrm>
          <a:prstGeom prst="roundRect">
            <a:avLst>
              <a:gd name="adj" fmla="val 10256"/>
            </a:avLst>
          </a:prstGeom>
          <a:solidFill>
            <a:srgbClr val="F4F7F5"/>
          </a:solidFill>
          <a:ln w="9525">
            <a:solidFill>
              <a:srgbClr val="D5DED9"/>
            </a:solidFill>
            <a:prstDash val="solid"/>
          </a:ln>
        </p:spPr>
      </p:sp>
      <p:sp>
        <p:nvSpPr>
          <p:cNvPr id="40" name="Text 34"/>
          <p:cNvSpPr txBox="1"/>
          <p:nvPr/>
        </p:nvSpPr>
        <p:spPr>
          <a:xfrm>
            <a:off x="5029200" y="3310128"/>
            <a:ext cx="3566160" cy="7132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Métriques de récupération</a:t>
            </a:r>
            <a:endParaRPr lang="en-US" sz="1400" dirty="0"/>
          </a:p>
          <a:p>
            <a:pPr marL="0" indent="0">
              <a:buNone/>
            </a:pPr>
            <a:r>
              <a:rPr lang="en-US" sz="1150" dirty="0">
                <a:solidFill>
                  <a:srgbClr val="5E6964"/>
                </a:solidFill>
                <a:latin typeface="Calibri" pitchFamily="34" charset="0"/>
                <a:ea typeface="Calibri" pitchFamily="34" charset="-122"/>
                <a:cs typeface="Calibri" pitchFamily="34" charset="-120"/>
              </a:rPr>
              <a:t>Recall@k · Precision@k · MRR · nDCG</a:t>
            </a:r>
            <a:endParaRPr lang="en-US" sz="1400" dirty="0"/>
          </a:p>
        </p:txBody>
      </p:sp>
      <p:sp>
        <p:nvSpPr>
          <p:cNvPr id="41" name="Shape 35"/>
          <p:cNvSpPr/>
          <p:nvPr/>
        </p:nvSpPr>
        <p:spPr>
          <a:xfrm>
            <a:off x="4846320" y="4133088"/>
            <a:ext cx="3840480" cy="530352"/>
          </a:xfrm>
          <a:prstGeom prst="roundRect">
            <a:avLst>
              <a:gd name="adj" fmla="val 13793"/>
            </a:avLst>
          </a:prstGeom>
          <a:solidFill>
            <a:srgbClr val="E8F5EF"/>
          </a:solidFill>
          <a:ln w="15875">
            <a:solidFill>
              <a:srgbClr val="00A86A"/>
            </a:solidFill>
            <a:prstDash val="solid"/>
          </a:ln>
        </p:spPr>
      </p:sp>
      <p:sp>
        <p:nvSpPr>
          <p:cNvPr id="42" name="Text 36"/>
          <p:cNvSpPr txBox="1"/>
          <p:nvPr/>
        </p:nvSpPr>
        <p:spPr>
          <a:xfrm>
            <a:off x="5029200" y="4133088"/>
            <a:ext cx="3566160" cy="53035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Outils : </a:t>
            </a:r>
            <a:r>
              <a:rPr lang="en-US" sz="1200" dirty="0">
                <a:solidFill>
                  <a:srgbClr val="231F20"/>
                </a:solidFill>
                <a:latin typeface="Calibri" pitchFamily="34" charset="0"/>
                <a:ea typeface="Calibri" pitchFamily="34" charset="-122"/>
                <a:cs typeface="Calibri" pitchFamily="34" charset="-120"/>
              </a:rPr>
              <a:t>RAGAS · TruLens · DeepEval · Arize Phoenix</a:t>
            </a:r>
            <a:endParaRPr lang="en-US" sz="12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Sécuriser un système RAG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468880" cy="1371600"/>
          </a:xfrm>
          <a:prstGeom prst="roundRect">
            <a:avLst>
              <a:gd name="adj" fmla="val 5333"/>
            </a:avLst>
          </a:prstGeom>
          <a:solidFill>
            <a:srgbClr val="F4F7F5"/>
          </a:solidFill>
          <a:ln w="9525">
            <a:solidFill>
              <a:srgbClr val="D5DED9"/>
            </a:solidFill>
            <a:prstDash val="solid"/>
          </a:ln>
        </p:spPr>
      </p:sp>
      <p:sp>
        <p:nvSpPr>
          <p:cNvPr id="18" name="Shape 15"/>
          <p:cNvSpPr/>
          <p:nvPr/>
        </p:nvSpPr>
        <p:spPr>
          <a:xfrm>
            <a:off x="621792" y="1463040"/>
            <a:ext cx="420624" cy="420624"/>
          </a:xfrm>
          <a:prstGeom prst="ellipse">
            <a:avLst/>
          </a:prstGeom>
          <a:solidFill>
            <a:srgbClr val="B83B2E">
              <a:alpha val="22000"/>
            </a:srgbClr>
          </a:solidFill>
          <a:ln w="12700">
            <a:solidFill>
              <a:srgbClr val="B83B2E">
                <a:alpha val="0"/>
              </a:srgbClr>
            </a:solidFill>
            <a:prstDash val="solid"/>
          </a:ln>
        </p:spPr>
      </p:sp>
      <p:pic>
        <p:nvPicPr>
          <p:cNvPr id="19" name="Image 0" descr="preencoded.png"/>
          <p:cNvPicPr>
            <a:picLocks noChangeAspect="1"/>
          </p:cNvPicPr>
          <p:nvPr/>
        </p:nvPicPr>
        <p:blipFill>
          <a:blip r:embed="rId3"/>
          <a:stretch>
            <a:fillRect/>
          </a:stretch>
        </p:blipFill>
        <p:spPr>
          <a:xfrm>
            <a:off x="722742" y="1563990"/>
            <a:ext cx="218724" cy="218724"/>
          </a:xfrm>
          <a:prstGeom prst="rect">
            <a:avLst/>
          </a:prstGeom>
        </p:spPr>
      </p:pic>
      <p:sp>
        <p:nvSpPr>
          <p:cNvPr id="20" name="Text 16"/>
          <p:cNvSpPr txBox="1"/>
          <p:nvPr/>
        </p:nvSpPr>
        <p:spPr>
          <a:xfrm>
            <a:off x="1143000" y="1472184"/>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Injection de prompt indirecte</a:t>
            </a:r>
            <a:endParaRPr lang="en-US" sz="1250" dirty="0"/>
          </a:p>
        </p:txBody>
      </p:sp>
      <p:sp>
        <p:nvSpPr>
          <p:cNvPr id="21" name="Text 17"/>
          <p:cNvSpPr txBox="1"/>
          <p:nvPr/>
        </p:nvSpPr>
        <p:spPr>
          <a:xfrm>
            <a:off x="621792" y="1965960"/>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Des instructions cachées dans les documents ingérés sont lues par le LLM comme des ordres.</a:t>
            </a:r>
            <a:endParaRPr lang="en-US" sz="1000" dirty="0"/>
          </a:p>
        </p:txBody>
      </p:sp>
      <p:sp>
        <p:nvSpPr>
          <p:cNvPr id="22" name="Shape 18"/>
          <p:cNvSpPr/>
          <p:nvPr/>
        </p:nvSpPr>
        <p:spPr>
          <a:xfrm>
            <a:off x="3063240" y="1325880"/>
            <a:ext cx="2468880" cy="1371600"/>
          </a:xfrm>
          <a:prstGeom prst="roundRect">
            <a:avLst>
              <a:gd name="adj" fmla="val 5333"/>
            </a:avLst>
          </a:prstGeom>
          <a:solidFill>
            <a:srgbClr val="F4F7F5"/>
          </a:solidFill>
          <a:ln w="9525">
            <a:solidFill>
              <a:srgbClr val="D5DED9"/>
            </a:solidFill>
            <a:prstDash val="solid"/>
          </a:ln>
        </p:spPr>
      </p:sp>
      <p:sp>
        <p:nvSpPr>
          <p:cNvPr id="23" name="Shape 19"/>
          <p:cNvSpPr/>
          <p:nvPr/>
        </p:nvSpPr>
        <p:spPr>
          <a:xfrm>
            <a:off x="3227832" y="1463040"/>
            <a:ext cx="420624" cy="420624"/>
          </a:xfrm>
          <a:prstGeom prst="ellipse">
            <a:avLst/>
          </a:prstGeom>
          <a:solidFill>
            <a:srgbClr val="B83B2E">
              <a:alpha val="22000"/>
            </a:srgbClr>
          </a:solidFill>
          <a:ln w="12700">
            <a:solidFill>
              <a:srgbClr val="B83B2E">
                <a:alpha val="0"/>
              </a:srgbClr>
            </a:solidFill>
            <a:prstDash val="solid"/>
          </a:ln>
        </p:spPr>
      </p:sp>
      <p:pic>
        <p:nvPicPr>
          <p:cNvPr id="24" name="Image 1" descr="preencoded.png"/>
          <p:cNvPicPr>
            <a:picLocks noChangeAspect="1"/>
          </p:cNvPicPr>
          <p:nvPr/>
        </p:nvPicPr>
        <p:blipFill>
          <a:blip r:embed="rId4"/>
          <a:stretch>
            <a:fillRect/>
          </a:stretch>
        </p:blipFill>
        <p:spPr>
          <a:xfrm>
            <a:off x="3328782" y="1563990"/>
            <a:ext cx="218724" cy="218724"/>
          </a:xfrm>
          <a:prstGeom prst="rect">
            <a:avLst/>
          </a:prstGeom>
        </p:spPr>
      </p:pic>
      <p:sp>
        <p:nvSpPr>
          <p:cNvPr id="25" name="Text 20"/>
          <p:cNvSpPr txBox="1"/>
          <p:nvPr/>
        </p:nvSpPr>
        <p:spPr>
          <a:xfrm>
            <a:off x="3749040" y="1472184"/>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Empoisonnement du savoir</a:t>
            </a:r>
            <a:endParaRPr lang="en-US" sz="1250" dirty="0"/>
          </a:p>
        </p:txBody>
      </p:sp>
      <p:sp>
        <p:nvSpPr>
          <p:cNvPr id="26" name="Text 21"/>
          <p:cNvSpPr txBox="1"/>
          <p:nvPr/>
        </p:nvSpPr>
        <p:spPr>
          <a:xfrm>
            <a:off x="3227832" y="1965960"/>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PoisonedRAG (Zou et al., 2024) : 5 textes forgés par question cible ont atteint ~90 % de réussite dans un corpus de millions de textes.</a:t>
            </a:r>
            <a:endParaRPr lang="en-US" sz="1000" dirty="0"/>
          </a:p>
        </p:txBody>
      </p:sp>
      <p:sp>
        <p:nvSpPr>
          <p:cNvPr id="27" name="Shape 22"/>
          <p:cNvSpPr/>
          <p:nvPr/>
        </p:nvSpPr>
        <p:spPr>
          <a:xfrm>
            <a:off x="457200" y="2807208"/>
            <a:ext cx="2468880" cy="1371600"/>
          </a:xfrm>
          <a:prstGeom prst="roundRect">
            <a:avLst>
              <a:gd name="adj" fmla="val 5333"/>
            </a:avLst>
          </a:prstGeom>
          <a:solidFill>
            <a:srgbClr val="F4F7F5"/>
          </a:solidFill>
          <a:ln w="9525">
            <a:solidFill>
              <a:srgbClr val="D5DED9"/>
            </a:solidFill>
            <a:prstDash val="solid"/>
          </a:ln>
        </p:spPr>
      </p:sp>
      <p:sp>
        <p:nvSpPr>
          <p:cNvPr id="28" name="Shape 23"/>
          <p:cNvSpPr/>
          <p:nvPr/>
        </p:nvSpPr>
        <p:spPr>
          <a:xfrm>
            <a:off x="621792" y="2944368"/>
            <a:ext cx="420624" cy="420624"/>
          </a:xfrm>
          <a:prstGeom prst="ellipse">
            <a:avLst/>
          </a:prstGeom>
          <a:solidFill>
            <a:srgbClr val="B83B2E">
              <a:alpha val="22000"/>
            </a:srgbClr>
          </a:solidFill>
          <a:ln w="12700">
            <a:solidFill>
              <a:srgbClr val="B83B2E">
                <a:alpha val="0"/>
              </a:srgbClr>
            </a:solidFill>
            <a:prstDash val="solid"/>
          </a:ln>
        </p:spPr>
      </p:sp>
      <p:pic>
        <p:nvPicPr>
          <p:cNvPr id="29" name="Image 2" descr="preencoded.png"/>
          <p:cNvPicPr>
            <a:picLocks noChangeAspect="1"/>
          </p:cNvPicPr>
          <p:nvPr/>
        </p:nvPicPr>
        <p:blipFill>
          <a:blip r:embed="rId5"/>
          <a:stretch>
            <a:fillRect/>
          </a:stretch>
        </p:blipFill>
        <p:spPr>
          <a:xfrm>
            <a:off x="722742" y="3045318"/>
            <a:ext cx="218724" cy="218724"/>
          </a:xfrm>
          <a:prstGeom prst="rect">
            <a:avLst/>
          </a:prstGeom>
        </p:spPr>
      </p:pic>
      <p:sp>
        <p:nvSpPr>
          <p:cNvPr id="30" name="Text 24"/>
          <p:cNvSpPr txBox="1"/>
          <p:nvPr/>
        </p:nvSpPr>
        <p:spPr>
          <a:xfrm>
            <a:off x="1143000" y="2953512"/>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Fuite de permissions</a:t>
            </a:r>
            <a:endParaRPr lang="en-US" sz="1250" dirty="0"/>
          </a:p>
        </p:txBody>
      </p:sp>
      <p:sp>
        <p:nvSpPr>
          <p:cNvPr id="31" name="Text 25"/>
          <p:cNvSpPr txBox="1"/>
          <p:nvPr/>
        </p:nvSpPr>
        <p:spPr>
          <a:xfrm>
            <a:off x="621792" y="3447288"/>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Les vecteurs n'héritent pas des droits des sources : un utilisateur peut récupérer ce qu'il ne devrait pas voir.</a:t>
            </a:r>
            <a:endParaRPr lang="en-US" sz="1000" dirty="0"/>
          </a:p>
        </p:txBody>
      </p:sp>
      <p:sp>
        <p:nvSpPr>
          <p:cNvPr id="32" name="Shape 26"/>
          <p:cNvSpPr/>
          <p:nvPr/>
        </p:nvSpPr>
        <p:spPr>
          <a:xfrm>
            <a:off x="3063240" y="2807208"/>
            <a:ext cx="2468880" cy="1371600"/>
          </a:xfrm>
          <a:prstGeom prst="roundRect">
            <a:avLst>
              <a:gd name="adj" fmla="val 5333"/>
            </a:avLst>
          </a:prstGeom>
          <a:solidFill>
            <a:srgbClr val="F4F7F5"/>
          </a:solidFill>
          <a:ln w="9525">
            <a:solidFill>
              <a:srgbClr val="D5DED9"/>
            </a:solidFill>
            <a:prstDash val="solid"/>
          </a:ln>
        </p:spPr>
      </p:sp>
      <p:sp>
        <p:nvSpPr>
          <p:cNvPr id="33" name="Shape 27"/>
          <p:cNvSpPr/>
          <p:nvPr/>
        </p:nvSpPr>
        <p:spPr>
          <a:xfrm>
            <a:off x="3227832" y="2944368"/>
            <a:ext cx="420624" cy="420624"/>
          </a:xfrm>
          <a:prstGeom prst="ellipse">
            <a:avLst/>
          </a:prstGeom>
          <a:solidFill>
            <a:srgbClr val="B83B2E">
              <a:alpha val="22000"/>
            </a:srgbClr>
          </a:solidFill>
          <a:ln w="12700">
            <a:solidFill>
              <a:srgbClr val="B83B2E">
                <a:alpha val="0"/>
              </a:srgbClr>
            </a:solidFill>
            <a:prstDash val="solid"/>
          </a:ln>
        </p:spPr>
      </p:sp>
      <p:pic>
        <p:nvPicPr>
          <p:cNvPr id="34" name="Image 3" descr="preencoded.png"/>
          <p:cNvPicPr>
            <a:picLocks noChangeAspect="1"/>
          </p:cNvPicPr>
          <p:nvPr/>
        </p:nvPicPr>
        <p:blipFill>
          <a:blip r:embed="rId6"/>
          <a:stretch>
            <a:fillRect/>
          </a:stretch>
        </p:blipFill>
        <p:spPr>
          <a:xfrm>
            <a:off x="3328782" y="3045318"/>
            <a:ext cx="218724" cy="218724"/>
          </a:xfrm>
          <a:prstGeom prst="rect">
            <a:avLst/>
          </a:prstGeom>
        </p:spPr>
      </p:pic>
      <p:sp>
        <p:nvSpPr>
          <p:cNvPr id="35" name="Text 28"/>
          <p:cNvSpPr txBox="1"/>
          <p:nvPr/>
        </p:nvSpPr>
        <p:spPr>
          <a:xfrm>
            <a:off x="3749040" y="2953512"/>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Inversion d'embeddings</a:t>
            </a:r>
            <a:endParaRPr lang="en-US" sz="1250" dirty="0"/>
          </a:p>
        </p:txBody>
      </p:sp>
      <p:sp>
        <p:nvSpPr>
          <p:cNvPr id="36" name="Text 29"/>
          <p:cNvSpPr txBox="1"/>
          <p:nvPr/>
        </p:nvSpPr>
        <p:spPr>
          <a:xfrm>
            <a:off x="3227832" y="3447288"/>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Une grande partie du texte d'origine peut être reconstruite depuis son embedding (Morris et al., 2023).</a:t>
            </a:r>
            <a:endParaRPr lang="en-US" sz="1000" dirty="0"/>
          </a:p>
        </p:txBody>
      </p:sp>
      <p:sp>
        <p:nvSpPr>
          <p:cNvPr id="37" name="Shape 30"/>
          <p:cNvSpPr/>
          <p:nvPr/>
        </p:nvSpPr>
        <p:spPr>
          <a:xfrm>
            <a:off x="5760720" y="1325880"/>
            <a:ext cx="2926080" cy="2852928"/>
          </a:xfrm>
          <a:prstGeom prst="roundRect">
            <a:avLst>
              <a:gd name="adj" fmla="val 2564"/>
            </a:avLst>
          </a:prstGeom>
          <a:solidFill>
            <a:srgbClr val="E8F5EF"/>
          </a:solidFill>
          <a:ln w="15875">
            <a:solidFill>
              <a:srgbClr val="00A86A"/>
            </a:solidFill>
            <a:prstDash val="solid"/>
          </a:ln>
        </p:spPr>
      </p:sp>
      <p:sp>
        <p:nvSpPr>
          <p:cNvPr id="38" name="Shape 31"/>
          <p:cNvSpPr/>
          <p:nvPr/>
        </p:nvSpPr>
        <p:spPr>
          <a:xfrm>
            <a:off x="5943600" y="1463040"/>
            <a:ext cx="457200" cy="457200"/>
          </a:xfrm>
          <a:prstGeom prst="ellipse">
            <a:avLst/>
          </a:prstGeom>
          <a:solidFill>
            <a:srgbClr val="00A86A">
              <a:alpha val="22000"/>
            </a:srgbClr>
          </a:solidFill>
          <a:ln w="12700">
            <a:solidFill>
              <a:srgbClr val="00A86A">
                <a:alpha val="0"/>
              </a:srgbClr>
            </a:solidFill>
            <a:prstDash val="solid"/>
          </a:ln>
        </p:spPr>
      </p:sp>
      <p:pic>
        <p:nvPicPr>
          <p:cNvPr id="39" name="Image 4" descr="preencoded.png"/>
          <p:cNvPicPr>
            <a:picLocks noChangeAspect="1"/>
          </p:cNvPicPr>
          <p:nvPr/>
        </p:nvPicPr>
        <p:blipFill>
          <a:blip r:embed="rId7"/>
          <a:stretch>
            <a:fillRect/>
          </a:stretch>
        </p:blipFill>
        <p:spPr>
          <a:xfrm>
            <a:off x="6053328" y="1572768"/>
            <a:ext cx="237744" cy="237744"/>
          </a:xfrm>
          <a:prstGeom prst="rect">
            <a:avLst/>
          </a:prstGeom>
        </p:spPr>
      </p:pic>
      <p:sp>
        <p:nvSpPr>
          <p:cNvPr id="40" name="Text 32"/>
          <p:cNvSpPr txBox="1"/>
          <p:nvPr/>
        </p:nvSpPr>
        <p:spPr>
          <a:xfrm>
            <a:off x="6510528" y="1536192"/>
            <a:ext cx="2011680" cy="32004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Parades</a:t>
            </a:r>
            <a:endParaRPr lang="en-US" sz="1600" dirty="0"/>
          </a:p>
        </p:txBody>
      </p:sp>
      <p:sp>
        <p:nvSpPr>
          <p:cNvPr id="41" name="Text 33"/>
          <p:cNvSpPr txBox="1"/>
          <p:nvPr/>
        </p:nvSpPr>
        <p:spPr>
          <a:xfrm>
            <a:off x="5943600" y="2057400"/>
            <a:ext cx="2606040" cy="205740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Valider et assainir les documents à l'ingestion</a:t>
            </a:r>
            <a:endParaRPr lang="en-US" sz="1000" dirty="0"/>
          </a:p>
          <a:p>
            <a:pPr marL="152400" indent="-1524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Appliquer les droits à la recherche ; cloisonner les clients</a:t>
            </a:r>
            <a:endParaRPr lang="en-US" sz="1000" dirty="0"/>
          </a:p>
          <a:p>
            <a:pPr marL="152400" indent="-1524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Traiter le texte récupéré comme des données, jamais comme des ordres</a:t>
            </a:r>
            <a:endParaRPr lang="en-US" sz="1000" dirty="0"/>
          </a:p>
          <a:p>
            <a:pPr marL="152400" indent="-1524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Limiter les outils et actions que le LLM peut déclencher</a:t>
            </a:r>
            <a:endParaRPr lang="en-US" sz="1000" dirty="0"/>
          </a:p>
          <a:p>
            <a:pPr marL="152400" indent="-1524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Chiffrer les bases vectorielles ; journaliser et surveiller</a:t>
            </a:r>
            <a:endParaRPr lang="en-US" sz="1000" dirty="0"/>
          </a:p>
        </p:txBody>
      </p:sp>
      <p:sp>
        <p:nvSpPr>
          <p:cNvPr id="42" name="Shape 34"/>
          <p:cNvSpPr/>
          <p:nvPr/>
        </p:nvSpPr>
        <p:spPr>
          <a:xfrm>
            <a:off x="457200" y="4297680"/>
            <a:ext cx="8229600" cy="384048"/>
          </a:xfrm>
          <a:prstGeom prst="roundRect">
            <a:avLst>
              <a:gd name="adj" fmla="val 19048"/>
            </a:avLst>
          </a:prstGeom>
          <a:solidFill>
            <a:srgbClr val="D49A00">
              <a:alpha val="13000"/>
            </a:srgbClr>
          </a:solidFill>
          <a:ln w="9525">
            <a:solidFill>
              <a:srgbClr val="D49A00"/>
            </a:solidFill>
            <a:prstDash val="solid"/>
          </a:ln>
        </p:spPr>
      </p:sp>
      <p:pic>
        <p:nvPicPr>
          <p:cNvPr id="43" name="Image 5" descr="preencoded.png"/>
          <p:cNvPicPr>
            <a:picLocks noChangeAspect="1"/>
          </p:cNvPicPr>
          <p:nvPr/>
        </p:nvPicPr>
        <p:blipFill>
          <a:blip r:embed="rId8"/>
          <a:stretch>
            <a:fillRect/>
          </a:stretch>
        </p:blipFill>
        <p:spPr>
          <a:xfrm>
            <a:off x="621792" y="4361688"/>
            <a:ext cx="256032" cy="256032"/>
          </a:xfrm>
          <a:prstGeom prst="rect">
            <a:avLst/>
          </a:prstGeom>
        </p:spPr>
      </p:pic>
      <p:sp>
        <p:nvSpPr>
          <p:cNvPr id="44" name="Text 35"/>
          <p:cNvSpPr txBox="1"/>
          <p:nvPr/>
        </p:nvSpPr>
        <p:spPr>
          <a:xfrm>
            <a:off x="1005840" y="4297680"/>
            <a:ext cx="7498080" cy="384048"/>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OWASP Top 10 for LLM Applications 2025 </a:t>
            </a:r>
            <a:r>
              <a:rPr lang="en-US" sz="1150" dirty="0">
                <a:solidFill>
                  <a:srgbClr val="231F20"/>
                </a:solidFill>
                <a:latin typeface="Calibri" pitchFamily="34" charset="0"/>
                <a:ea typeface="Calibri" pitchFamily="34" charset="-122"/>
                <a:cs typeface="Calibri" pitchFamily="34" charset="-120"/>
              </a:rPr>
              <a:t>inclut désormais « LLM08: Vector and Embedding Weaknesses ».</a:t>
            </a:r>
            <a:endParaRPr lang="en-US" sz="11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La pile technologique du RAG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7" name="Shape 14"/>
          <p:cNvSpPr/>
          <p:nvPr/>
        </p:nvSpPr>
        <p:spPr>
          <a:xfrm>
            <a:off x="457200" y="1325880"/>
            <a:ext cx="1554480" cy="2834640"/>
          </a:xfrm>
          <a:prstGeom prst="roundRect">
            <a:avLst>
              <a:gd name="adj" fmla="val 4706"/>
            </a:avLst>
          </a:prstGeom>
          <a:solidFill>
            <a:srgbClr val="F4F7F5"/>
          </a:solidFill>
          <a:ln w="9525">
            <a:solidFill>
              <a:srgbClr val="D5DED9"/>
            </a:solidFill>
            <a:prstDash val="solid"/>
          </a:ln>
        </p:spPr>
      </p:sp>
      <p:sp>
        <p:nvSpPr>
          <p:cNvPr id="18" name="Shape 15"/>
          <p:cNvSpPr/>
          <p:nvPr/>
        </p:nvSpPr>
        <p:spPr>
          <a:xfrm>
            <a:off x="960120" y="1444752"/>
            <a:ext cx="548640" cy="548640"/>
          </a:xfrm>
          <a:prstGeom prst="ellipse">
            <a:avLst/>
          </a:prstGeom>
          <a:solidFill>
            <a:srgbClr val="00704A">
              <a:alpha val="22000"/>
            </a:srgbClr>
          </a:solidFill>
          <a:ln w="12700">
            <a:solidFill>
              <a:srgbClr val="00704A">
                <a:alpha val="0"/>
              </a:srgbClr>
            </a:solidFill>
            <a:prstDash val="solid"/>
          </a:ln>
        </p:spPr>
      </p:sp>
      <p:pic>
        <p:nvPicPr>
          <p:cNvPr id="19" name="Image 0" descr="preencoded.png"/>
          <p:cNvPicPr>
            <a:picLocks noChangeAspect="1"/>
          </p:cNvPicPr>
          <p:nvPr/>
        </p:nvPicPr>
        <p:blipFill>
          <a:blip r:embed="rId3"/>
          <a:stretch>
            <a:fillRect/>
          </a:stretch>
        </p:blipFill>
        <p:spPr>
          <a:xfrm>
            <a:off x="1091794" y="1576426"/>
            <a:ext cx="285293" cy="285293"/>
          </a:xfrm>
          <a:prstGeom prst="rect">
            <a:avLst/>
          </a:prstGeom>
        </p:spPr>
      </p:pic>
      <p:sp>
        <p:nvSpPr>
          <p:cNvPr id="20" name="Text 16"/>
          <p:cNvSpPr txBox="1"/>
          <p:nvPr/>
        </p:nvSpPr>
        <p:spPr>
          <a:xfrm>
            <a:off x="502920"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Orchestration</a:t>
            </a:r>
            <a:endParaRPr lang="en-US" sz="1400" dirty="0"/>
          </a:p>
        </p:txBody>
      </p:sp>
      <p:sp>
        <p:nvSpPr>
          <p:cNvPr id="21" name="Shape 17"/>
          <p:cNvSpPr/>
          <p:nvPr/>
        </p:nvSpPr>
        <p:spPr>
          <a:xfrm>
            <a:off x="566928" y="2432304"/>
            <a:ext cx="1335024" cy="338328"/>
          </a:xfrm>
          <a:prstGeom prst="roundRect">
            <a:avLst>
              <a:gd name="adj" fmla="val 21622"/>
            </a:avLst>
          </a:prstGeom>
          <a:solidFill>
            <a:srgbClr val="FFFFFF"/>
          </a:solidFill>
          <a:ln w="9525">
            <a:solidFill>
              <a:srgbClr val="D5DED9"/>
            </a:solidFill>
            <a:prstDash val="solid"/>
          </a:ln>
        </p:spPr>
      </p:sp>
      <p:sp>
        <p:nvSpPr>
          <p:cNvPr id="22" name="Text 18"/>
          <p:cNvSpPr txBox="1"/>
          <p:nvPr/>
        </p:nvSpPr>
        <p:spPr>
          <a:xfrm>
            <a:off x="566928"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LangChain</a:t>
            </a:r>
            <a:endParaRPr lang="en-US" sz="1000" dirty="0"/>
          </a:p>
        </p:txBody>
      </p:sp>
      <p:sp>
        <p:nvSpPr>
          <p:cNvPr id="23" name="Shape 19"/>
          <p:cNvSpPr/>
          <p:nvPr/>
        </p:nvSpPr>
        <p:spPr>
          <a:xfrm>
            <a:off x="566928" y="2852928"/>
            <a:ext cx="1335024" cy="338328"/>
          </a:xfrm>
          <a:prstGeom prst="roundRect">
            <a:avLst>
              <a:gd name="adj" fmla="val 21622"/>
            </a:avLst>
          </a:prstGeom>
          <a:solidFill>
            <a:srgbClr val="FFFFFF"/>
          </a:solidFill>
          <a:ln w="9525">
            <a:solidFill>
              <a:srgbClr val="D5DED9"/>
            </a:solidFill>
            <a:prstDash val="solid"/>
          </a:ln>
        </p:spPr>
      </p:sp>
      <p:sp>
        <p:nvSpPr>
          <p:cNvPr id="24" name="Text 20"/>
          <p:cNvSpPr txBox="1"/>
          <p:nvPr/>
        </p:nvSpPr>
        <p:spPr>
          <a:xfrm>
            <a:off x="566928"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LlamaIndex</a:t>
            </a:r>
            <a:endParaRPr lang="en-US" sz="1000" dirty="0"/>
          </a:p>
        </p:txBody>
      </p:sp>
      <p:sp>
        <p:nvSpPr>
          <p:cNvPr id="25" name="Shape 21"/>
          <p:cNvSpPr/>
          <p:nvPr/>
        </p:nvSpPr>
        <p:spPr>
          <a:xfrm>
            <a:off x="566928" y="3273552"/>
            <a:ext cx="1335024" cy="338328"/>
          </a:xfrm>
          <a:prstGeom prst="roundRect">
            <a:avLst>
              <a:gd name="adj" fmla="val 21622"/>
            </a:avLst>
          </a:prstGeom>
          <a:solidFill>
            <a:srgbClr val="FFFFFF"/>
          </a:solidFill>
          <a:ln w="9525">
            <a:solidFill>
              <a:srgbClr val="D5DED9"/>
            </a:solidFill>
            <a:prstDash val="solid"/>
          </a:ln>
        </p:spPr>
      </p:sp>
      <p:sp>
        <p:nvSpPr>
          <p:cNvPr id="26" name="Text 22"/>
          <p:cNvSpPr txBox="1"/>
          <p:nvPr/>
        </p:nvSpPr>
        <p:spPr>
          <a:xfrm>
            <a:off x="566928"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Haystack</a:t>
            </a:r>
            <a:endParaRPr lang="en-US" sz="1000" dirty="0"/>
          </a:p>
        </p:txBody>
      </p:sp>
      <p:sp>
        <p:nvSpPr>
          <p:cNvPr id="27" name="Shape 23"/>
          <p:cNvSpPr/>
          <p:nvPr/>
        </p:nvSpPr>
        <p:spPr>
          <a:xfrm>
            <a:off x="566928" y="3694176"/>
            <a:ext cx="1335024" cy="338328"/>
          </a:xfrm>
          <a:prstGeom prst="roundRect">
            <a:avLst>
              <a:gd name="adj" fmla="val 21622"/>
            </a:avLst>
          </a:prstGeom>
          <a:solidFill>
            <a:srgbClr val="FFFFFF"/>
          </a:solidFill>
          <a:ln w="9525">
            <a:solidFill>
              <a:srgbClr val="D5DED9"/>
            </a:solidFill>
            <a:prstDash val="solid"/>
          </a:ln>
        </p:spPr>
      </p:sp>
      <p:sp>
        <p:nvSpPr>
          <p:cNvPr id="28" name="Text 24"/>
          <p:cNvSpPr txBox="1"/>
          <p:nvPr/>
        </p:nvSpPr>
        <p:spPr>
          <a:xfrm>
            <a:off x="566928"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DSPy</a:t>
            </a:r>
            <a:endParaRPr lang="en-US" sz="1000" dirty="0"/>
          </a:p>
        </p:txBody>
      </p:sp>
      <p:sp>
        <p:nvSpPr>
          <p:cNvPr id="29" name="Shape 25"/>
          <p:cNvSpPr/>
          <p:nvPr/>
        </p:nvSpPr>
        <p:spPr>
          <a:xfrm>
            <a:off x="2139696" y="1325880"/>
            <a:ext cx="1554480" cy="2834640"/>
          </a:xfrm>
          <a:prstGeom prst="roundRect">
            <a:avLst>
              <a:gd name="adj" fmla="val 4706"/>
            </a:avLst>
          </a:prstGeom>
          <a:solidFill>
            <a:srgbClr val="F4F7F5"/>
          </a:solidFill>
          <a:ln w="9525">
            <a:solidFill>
              <a:srgbClr val="D5DED9"/>
            </a:solidFill>
            <a:prstDash val="solid"/>
          </a:ln>
        </p:spPr>
      </p:sp>
      <p:sp>
        <p:nvSpPr>
          <p:cNvPr id="30" name="Shape 26"/>
          <p:cNvSpPr/>
          <p:nvPr/>
        </p:nvSpPr>
        <p:spPr>
          <a:xfrm>
            <a:off x="2642616" y="1444752"/>
            <a:ext cx="548640" cy="548640"/>
          </a:xfrm>
          <a:prstGeom prst="ellipse">
            <a:avLst/>
          </a:prstGeom>
          <a:solidFill>
            <a:srgbClr val="0E7C86">
              <a:alpha val="22000"/>
            </a:srgbClr>
          </a:solidFill>
          <a:ln w="12700">
            <a:solidFill>
              <a:srgbClr val="0E7C86">
                <a:alpha val="0"/>
              </a:srgbClr>
            </a:solidFill>
            <a:prstDash val="solid"/>
          </a:ln>
        </p:spPr>
      </p:sp>
      <p:pic>
        <p:nvPicPr>
          <p:cNvPr id="31" name="Image 1" descr="preencoded.png"/>
          <p:cNvPicPr>
            <a:picLocks noChangeAspect="1"/>
          </p:cNvPicPr>
          <p:nvPr/>
        </p:nvPicPr>
        <p:blipFill>
          <a:blip r:embed="rId4"/>
          <a:stretch>
            <a:fillRect/>
          </a:stretch>
        </p:blipFill>
        <p:spPr>
          <a:xfrm>
            <a:off x="2774290" y="1576426"/>
            <a:ext cx="285293" cy="285293"/>
          </a:xfrm>
          <a:prstGeom prst="rect">
            <a:avLst/>
          </a:prstGeom>
        </p:spPr>
      </p:pic>
      <p:sp>
        <p:nvSpPr>
          <p:cNvPr id="32" name="Text 27"/>
          <p:cNvSpPr txBox="1"/>
          <p:nvPr/>
        </p:nvSpPr>
        <p:spPr>
          <a:xfrm>
            <a:off x="2185416"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Extraction</a:t>
            </a:r>
            <a:endParaRPr lang="en-US" sz="1400" dirty="0"/>
          </a:p>
        </p:txBody>
      </p:sp>
      <p:sp>
        <p:nvSpPr>
          <p:cNvPr id="33" name="Shape 28"/>
          <p:cNvSpPr/>
          <p:nvPr/>
        </p:nvSpPr>
        <p:spPr>
          <a:xfrm>
            <a:off x="2249424" y="2432304"/>
            <a:ext cx="1335024" cy="338328"/>
          </a:xfrm>
          <a:prstGeom prst="roundRect">
            <a:avLst>
              <a:gd name="adj" fmla="val 21622"/>
            </a:avLst>
          </a:prstGeom>
          <a:solidFill>
            <a:srgbClr val="FFFFFF"/>
          </a:solidFill>
          <a:ln w="9525">
            <a:solidFill>
              <a:srgbClr val="D5DED9"/>
            </a:solidFill>
            <a:prstDash val="solid"/>
          </a:ln>
        </p:spPr>
      </p:sp>
      <p:sp>
        <p:nvSpPr>
          <p:cNvPr id="34" name="Text 29"/>
          <p:cNvSpPr txBox="1"/>
          <p:nvPr/>
        </p:nvSpPr>
        <p:spPr>
          <a:xfrm>
            <a:off x="2249424"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Unstructured</a:t>
            </a:r>
            <a:endParaRPr lang="en-US" sz="1000" dirty="0"/>
          </a:p>
        </p:txBody>
      </p:sp>
      <p:sp>
        <p:nvSpPr>
          <p:cNvPr id="35" name="Shape 30"/>
          <p:cNvSpPr/>
          <p:nvPr/>
        </p:nvSpPr>
        <p:spPr>
          <a:xfrm>
            <a:off x="2249424" y="2852928"/>
            <a:ext cx="1335024" cy="338328"/>
          </a:xfrm>
          <a:prstGeom prst="roundRect">
            <a:avLst>
              <a:gd name="adj" fmla="val 21622"/>
            </a:avLst>
          </a:prstGeom>
          <a:solidFill>
            <a:srgbClr val="FFFFFF"/>
          </a:solidFill>
          <a:ln w="9525">
            <a:solidFill>
              <a:srgbClr val="D5DED9"/>
            </a:solidFill>
            <a:prstDash val="solid"/>
          </a:ln>
        </p:spPr>
      </p:sp>
      <p:sp>
        <p:nvSpPr>
          <p:cNvPr id="36" name="Text 31"/>
          <p:cNvSpPr txBox="1"/>
          <p:nvPr/>
        </p:nvSpPr>
        <p:spPr>
          <a:xfrm>
            <a:off x="2249424"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Docling</a:t>
            </a:r>
            <a:endParaRPr lang="en-US" sz="1000" dirty="0"/>
          </a:p>
        </p:txBody>
      </p:sp>
      <p:sp>
        <p:nvSpPr>
          <p:cNvPr id="37" name="Shape 32"/>
          <p:cNvSpPr/>
          <p:nvPr/>
        </p:nvSpPr>
        <p:spPr>
          <a:xfrm>
            <a:off x="2249424" y="3273552"/>
            <a:ext cx="1335024" cy="338328"/>
          </a:xfrm>
          <a:prstGeom prst="roundRect">
            <a:avLst>
              <a:gd name="adj" fmla="val 21622"/>
            </a:avLst>
          </a:prstGeom>
          <a:solidFill>
            <a:srgbClr val="FFFFFF"/>
          </a:solidFill>
          <a:ln w="9525">
            <a:solidFill>
              <a:srgbClr val="D5DED9"/>
            </a:solidFill>
            <a:prstDash val="solid"/>
          </a:ln>
        </p:spPr>
      </p:sp>
      <p:sp>
        <p:nvSpPr>
          <p:cNvPr id="38" name="Text 33"/>
          <p:cNvSpPr txBox="1"/>
          <p:nvPr/>
        </p:nvSpPr>
        <p:spPr>
          <a:xfrm>
            <a:off x="2249424"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LlamaParse</a:t>
            </a:r>
            <a:endParaRPr lang="en-US" sz="1000" dirty="0"/>
          </a:p>
        </p:txBody>
      </p:sp>
      <p:sp>
        <p:nvSpPr>
          <p:cNvPr id="39" name="Shape 34"/>
          <p:cNvSpPr/>
          <p:nvPr/>
        </p:nvSpPr>
        <p:spPr>
          <a:xfrm>
            <a:off x="2249424" y="3694176"/>
            <a:ext cx="1335024" cy="338328"/>
          </a:xfrm>
          <a:prstGeom prst="roundRect">
            <a:avLst>
              <a:gd name="adj" fmla="val 21622"/>
            </a:avLst>
          </a:prstGeom>
          <a:solidFill>
            <a:srgbClr val="FFFFFF"/>
          </a:solidFill>
          <a:ln w="9525">
            <a:solidFill>
              <a:srgbClr val="D5DED9"/>
            </a:solidFill>
            <a:prstDash val="solid"/>
          </a:ln>
        </p:spPr>
      </p:sp>
      <p:sp>
        <p:nvSpPr>
          <p:cNvPr id="40" name="Text 35"/>
          <p:cNvSpPr txBox="1"/>
          <p:nvPr/>
        </p:nvSpPr>
        <p:spPr>
          <a:xfrm>
            <a:off x="2249424"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Apache Tika</a:t>
            </a:r>
            <a:endParaRPr lang="en-US" sz="1000" dirty="0"/>
          </a:p>
        </p:txBody>
      </p:sp>
      <p:sp>
        <p:nvSpPr>
          <p:cNvPr id="41" name="Shape 36"/>
          <p:cNvSpPr/>
          <p:nvPr/>
        </p:nvSpPr>
        <p:spPr>
          <a:xfrm>
            <a:off x="3822192" y="1325880"/>
            <a:ext cx="1554480" cy="2834640"/>
          </a:xfrm>
          <a:prstGeom prst="roundRect">
            <a:avLst>
              <a:gd name="adj" fmla="val 4706"/>
            </a:avLst>
          </a:prstGeom>
          <a:solidFill>
            <a:srgbClr val="F4F7F5"/>
          </a:solidFill>
          <a:ln w="9525">
            <a:solidFill>
              <a:srgbClr val="D5DED9"/>
            </a:solidFill>
            <a:prstDash val="solid"/>
          </a:ln>
        </p:spPr>
      </p:sp>
      <p:sp>
        <p:nvSpPr>
          <p:cNvPr id="42" name="Shape 37"/>
          <p:cNvSpPr/>
          <p:nvPr/>
        </p:nvSpPr>
        <p:spPr>
          <a:xfrm>
            <a:off x="4325112" y="1444752"/>
            <a:ext cx="548640" cy="548640"/>
          </a:xfrm>
          <a:prstGeom prst="ellipse">
            <a:avLst/>
          </a:prstGeom>
          <a:solidFill>
            <a:srgbClr val="00A86A">
              <a:alpha val="22000"/>
            </a:srgbClr>
          </a:solidFill>
          <a:ln w="12700">
            <a:solidFill>
              <a:srgbClr val="00A86A">
                <a:alpha val="0"/>
              </a:srgbClr>
            </a:solidFill>
            <a:prstDash val="solid"/>
          </a:ln>
        </p:spPr>
      </p:sp>
      <p:pic>
        <p:nvPicPr>
          <p:cNvPr id="43" name="Image 2" descr="preencoded.png"/>
          <p:cNvPicPr>
            <a:picLocks noChangeAspect="1"/>
          </p:cNvPicPr>
          <p:nvPr/>
        </p:nvPicPr>
        <p:blipFill>
          <a:blip r:embed="rId5"/>
          <a:stretch>
            <a:fillRect/>
          </a:stretch>
        </p:blipFill>
        <p:spPr>
          <a:xfrm>
            <a:off x="4456786" y="1576426"/>
            <a:ext cx="285293" cy="285293"/>
          </a:xfrm>
          <a:prstGeom prst="rect">
            <a:avLst/>
          </a:prstGeom>
        </p:spPr>
      </p:pic>
      <p:sp>
        <p:nvSpPr>
          <p:cNvPr id="44" name="Text 38"/>
          <p:cNvSpPr txBox="1"/>
          <p:nvPr/>
        </p:nvSpPr>
        <p:spPr>
          <a:xfrm>
            <a:off x="3867912"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Embeddings</a:t>
            </a:r>
            <a:endParaRPr lang="en-US" sz="1400" dirty="0"/>
          </a:p>
        </p:txBody>
      </p:sp>
      <p:sp>
        <p:nvSpPr>
          <p:cNvPr id="45" name="Shape 39"/>
          <p:cNvSpPr/>
          <p:nvPr/>
        </p:nvSpPr>
        <p:spPr>
          <a:xfrm>
            <a:off x="3931920" y="2432304"/>
            <a:ext cx="1335024" cy="338328"/>
          </a:xfrm>
          <a:prstGeom prst="roundRect">
            <a:avLst>
              <a:gd name="adj" fmla="val 21622"/>
            </a:avLst>
          </a:prstGeom>
          <a:solidFill>
            <a:srgbClr val="FFFFFF"/>
          </a:solidFill>
          <a:ln w="9525">
            <a:solidFill>
              <a:srgbClr val="D5DED9"/>
            </a:solidFill>
            <a:prstDash val="solid"/>
          </a:ln>
        </p:spPr>
      </p:sp>
      <p:sp>
        <p:nvSpPr>
          <p:cNvPr id="46" name="Text 40"/>
          <p:cNvSpPr txBox="1"/>
          <p:nvPr/>
        </p:nvSpPr>
        <p:spPr>
          <a:xfrm>
            <a:off x="3931920"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OpenAI text-embedding-3</a:t>
            </a:r>
            <a:endParaRPr lang="en-US" sz="1000" dirty="0"/>
          </a:p>
        </p:txBody>
      </p:sp>
      <p:sp>
        <p:nvSpPr>
          <p:cNvPr id="47" name="Shape 41"/>
          <p:cNvSpPr/>
          <p:nvPr/>
        </p:nvSpPr>
        <p:spPr>
          <a:xfrm>
            <a:off x="3931920" y="2852928"/>
            <a:ext cx="1335024" cy="338328"/>
          </a:xfrm>
          <a:prstGeom prst="roundRect">
            <a:avLst>
              <a:gd name="adj" fmla="val 21622"/>
            </a:avLst>
          </a:prstGeom>
          <a:solidFill>
            <a:srgbClr val="FFFFFF"/>
          </a:solidFill>
          <a:ln w="9525">
            <a:solidFill>
              <a:srgbClr val="D5DED9"/>
            </a:solidFill>
            <a:prstDash val="solid"/>
          </a:ln>
        </p:spPr>
      </p:sp>
      <p:sp>
        <p:nvSpPr>
          <p:cNvPr id="48" name="Text 42"/>
          <p:cNvSpPr txBox="1"/>
          <p:nvPr/>
        </p:nvSpPr>
        <p:spPr>
          <a:xfrm>
            <a:off x="3931920"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Cohere Embed</a:t>
            </a:r>
            <a:endParaRPr lang="en-US" sz="1000" dirty="0"/>
          </a:p>
        </p:txBody>
      </p:sp>
      <p:sp>
        <p:nvSpPr>
          <p:cNvPr id="49" name="Shape 43"/>
          <p:cNvSpPr/>
          <p:nvPr/>
        </p:nvSpPr>
        <p:spPr>
          <a:xfrm>
            <a:off x="3931920" y="3273552"/>
            <a:ext cx="1335024" cy="338328"/>
          </a:xfrm>
          <a:prstGeom prst="roundRect">
            <a:avLst>
              <a:gd name="adj" fmla="val 21622"/>
            </a:avLst>
          </a:prstGeom>
          <a:solidFill>
            <a:srgbClr val="FFFFFF"/>
          </a:solidFill>
          <a:ln w="9525">
            <a:solidFill>
              <a:srgbClr val="D5DED9"/>
            </a:solidFill>
            <a:prstDash val="solid"/>
          </a:ln>
        </p:spPr>
      </p:sp>
      <p:sp>
        <p:nvSpPr>
          <p:cNvPr id="50" name="Text 44"/>
          <p:cNvSpPr txBox="1"/>
          <p:nvPr/>
        </p:nvSpPr>
        <p:spPr>
          <a:xfrm>
            <a:off x="3931920"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Voyage AI</a:t>
            </a:r>
            <a:endParaRPr lang="en-US" sz="1000" dirty="0"/>
          </a:p>
        </p:txBody>
      </p:sp>
      <p:sp>
        <p:nvSpPr>
          <p:cNvPr id="51" name="Shape 45"/>
          <p:cNvSpPr/>
          <p:nvPr/>
        </p:nvSpPr>
        <p:spPr>
          <a:xfrm>
            <a:off x="3931920" y="3694176"/>
            <a:ext cx="1335024" cy="338328"/>
          </a:xfrm>
          <a:prstGeom prst="roundRect">
            <a:avLst>
              <a:gd name="adj" fmla="val 21622"/>
            </a:avLst>
          </a:prstGeom>
          <a:solidFill>
            <a:srgbClr val="FFFFFF"/>
          </a:solidFill>
          <a:ln w="9525">
            <a:solidFill>
              <a:srgbClr val="D5DED9"/>
            </a:solidFill>
            <a:prstDash val="solid"/>
          </a:ln>
        </p:spPr>
      </p:sp>
      <p:sp>
        <p:nvSpPr>
          <p:cNvPr id="52" name="Text 46"/>
          <p:cNvSpPr txBox="1"/>
          <p:nvPr/>
        </p:nvSpPr>
        <p:spPr>
          <a:xfrm>
            <a:off x="3931920"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BGE · E5 (ouverts)</a:t>
            </a:r>
            <a:endParaRPr lang="en-US" sz="1000" dirty="0"/>
          </a:p>
        </p:txBody>
      </p:sp>
      <p:sp>
        <p:nvSpPr>
          <p:cNvPr id="53" name="Shape 47"/>
          <p:cNvSpPr/>
          <p:nvPr/>
        </p:nvSpPr>
        <p:spPr>
          <a:xfrm>
            <a:off x="5504688" y="1325880"/>
            <a:ext cx="1554480" cy="2834640"/>
          </a:xfrm>
          <a:prstGeom prst="roundRect">
            <a:avLst>
              <a:gd name="adj" fmla="val 4706"/>
            </a:avLst>
          </a:prstGeom>
          <a:solidFill>
            <a:srgbClr val="F4F7F5"/>
          </a:solidFill>
          <a:ln w="9525">
            <a:solidFill>
              <a:srgbClr val="D5DED9"/>
            </a:solidFill>
            <a:prstDash val="solid"/>
          </a:ln>
        </p:spPr>
      </p:sp>
      <p:sp>
        <p:nvSpPr>
          <p:cNvPr id="54" name="Shape 48"/>
          <p:cNvSpPr/>
          <p:nvPr/>
        </p:nvSpPr>
        <p:spPr>
          <a:xfrm>
            <a:off x="6007608" y="1444752"/>
            <a:ext cx="548640" cy="548640"/>
          </a:xfrm>
          <a:prstGeom prst="ellipse">
            <a:avLst/>
          </a:prstGeom>
          <a:solidFill>
            <a:srgbClr val="C4621D">
              <a:alpha val="22000"/>
            </a:srgbClr>
          </a:solidFill>
          <a:ln w="12700">
            <a:solidFill>
              <a:srgbClr val="C4621D">
                <a:alpha val="0"/>
              </a:srgbClr>
            </a:solidFill>
            <a:prstDash val="solid"/>
          </a:ln>
        </p:spPr>
      </p:sp>
      <p:pic>
        <p:nvPicPr>
          <p:cNvPr id="55" name="Image 3" descr="preencoded.png"/>
          <p:cNvPicPr>
            <a:picLocks noChangeAspect="1"/>
          </p:cNvPicPr>
          <p:nvPr/>
        </p:nvPicPr>
        <p:blipFill>
          <a:blip r:embed="rId6"/>
          <a:stretch>
            <a:fillRect/>
          </a:stretch>
        </p:blipFill>
        <p:spPr>
          <a:xfrm>
            <a:off x="6139282" y="1576426"/>
            <a:ext cx="285293" cy="285293"/>
          </a:xfrm>
          <a:prstGeom prst="rect">
            <a:avLst/>
          </a:prstGeom>
        </p:spPr>
      </p:pic>
      <p:sp>
        <p:nvSpPr>
          <p:cNvPr id="56" name="Text 49"/>
          <p:cNvSpPr txBox="1"/>
          <p:nvPr/>
        </p:nvSpPr>
        <p:spPr>
          <a:xfrm>
            <a:off x="5550408"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Bases vectorielles</a:t>
            </a:r>
            <a:endParaRPr lang="en-US" sz="1400" dirty="0"/>
          </a:p>
        </p:txBody>
      </p:sp>
      <p:sp>
        <p:nvSpPr>
          <p:cNvPr id="57" name="Shape 50"/>
          <p:cNvSpPr/>
          <p:nvPr/>
        </p:nvSpPr>
        <p:spPr>
          <a:xfrm>
            <a:off x="5614416" y="2432304"/>
            <a:ext cx="1335024" cy="338328"/>
          </a:xfrm>
          <a:prstGeom prst="roundRect">
            <a:avLst>
              <a:gd name="adj" fmla="val 21622"/>
            </a:avLst>
          </a:prstGeom>
          <a:solidFill>
            <a:srgbClr val="FFFFFF"/>
          </a:solidFill>
          <a:ln w="9525">
            <a:solidFill>
              <a:srgbClr val="D5DED9"/>
            </a:solidFill>
            <a:prstDash val="solid"/>
          </a:ln>
        </p:spPr>
      </p:sp>
      <p:sp>
        <p:nvSpPr>
          <p:cNvPr id="58" name="Text 51"/>
          <p:cNvSpPr txBox="1"/>
          <p:nvPr/>
        </p:nvSpPr>
        <p:spPr>
          <a:xfrm>
            <a:off x="5614416"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Pinecone · Weaviate</a:t>
            </a:r>
            <a:endParaRPr lang="en-US" sz="1000" dirty="0"/>
          </a:p>
        </p:txBody>
      </p:sp>
      <p:sp>
        <p:nvSpPr>
          <p:cNvPr id="59" name="Shape 52"/>
          <p:cNvSpPr/>
          <p:nvPr/>
        </p:nvSpPr>
        <p:spPr>
          <a:xfrm>
            <a:off x="5614416" y="2852928"/>
            <a:ext cx="1335024" cy="338328"/>
          </a:xfrm>
          <a:prstGeom prst="roundRect">
            <a:avLst>
              <a:gd name="adj" fmla="val 21622"/>
            </a:avLst>
          </a:prstGeom>
          <a:solidFill>
            <a:srgbClr val="FFFFFF"/>
          </a:solidFill>
          <a:ln w="9525">
            <a:solidFill>
              <a:srgbClr val="D5DED9"/>
            </a:solidFill>
            <a:prstDash val="solid"/>
          </a:ln>
        </p:spPr>
      </p:sp>
      <p:sp>
        <p:nvSpPr>
          <p:cNvPr id="60" name="Text 53"/>
          <p:cNvSpPr txBox="1"/>
          <p:nvPr/>
        </p:nvSpPr>
        <p:spPr>
          <a:xfrm>
            <a:off x="5614416"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Qdrant · Milvus</a:t>
            </a:r>
            <a:endParaRPr lang="en-US" sz="1000" dirty="0"/>
          </a:p>
        </p:txBody>
      </p:sp>
      <p:sp>
        <p:nvSpPr>
          <p:cNvPr id="61" name="Shape 54"/>
          <p:cNvSpPr/>
          <p:nvPr/>
        </p:nvSpPr>
        <p:spPr>
          <a:xfrm>
            <a:off x="5614416" y="3273552"/>
            <a:ext cx="1335024" cy="338328"/>
          </a:xfrm>
          <a:prstGeom prst="roundRect">
            <a:avLst>
              <a:gd name="adj" fmla="val 21622"/>
            </a:avLst>
          </a:prstGeom>
          <a:solidFill>
            <a:srgbClr val="FFFFFF"/>
          </a:solidFill>
          <a:ln w="9525">
            <a:solidFill>
              <a:srgbClr val="D5DED9"/>
            </a:solidFill>
            <a:prstDash val="solid"/>
          </a:ln>
        </p:spPr>
      </p:sp>
      <p:sp>
        <p:nvSpPr>
          <p:cNvPr id="62" name="Text 55"/>
          <p:cNvSpPr txBox="1"/>
          <p:nvPr/>
        </p:nvSpPr>
        <p:spPr>
          <a:xfrm>
            <a:off x="5614416"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Chroma · pgvector</a:t>
            </a:r>
            <a:endParaRPr lang="en-US" sz="1000" dirty="0"/>
          </a:p>
        </p:txBody>
      </p:sp>
      <p:sp>
        <p:nvSpPr>
          <p:cNvPr id="63" name="Shape 56"/>
          <p:cNvSpPr/>
          <p:nvPr/>
        </p:nvSpPr>
        <p:spPr>
          <a:xfrm>
            <a:off x="5614416" y="3694176"/>
            <a:ext cx="1335024" cy="338328"/>
          </a:xfrm>
          <a:prstGeom prst="roundRect">
            <a:avLst>
              <a:gd name="adj" fmla="val 21622"/>
            </a:avLst>
          </a:prstGeom>
          <a:solidFill>
            <a:srgbClr val="FFFFFF"/>
          </a:solidFill>
          <a:ln w="9525">
            <a:solidFill>
              <a:srgbClr val="D5DED9"/>
            </a:solidFill>
            <a:prstDash val="solid"/>
          </a:ln>
        </p:spPr>
      </p:sp>
      <p:sp>
        <p:nvSpPr>
          <p:cNvPr id="64" name="Text 57"/>
          <p:cNvSpPr txBox="1"/>
          <p:nvPr/>
        </p:nvSpPr>
        <p:spPr>
          <a:xfrm>
            <a:off x="5614416"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Elasticsearch · FAISS</a:t>
            </a:r>
            <a:endParaRPr lang="en-US" sz="1000" dirty="0"/>
          </a:p>
        </p:txBody>
      </p:sp>
      <p:sp>
        <p:nvSpPr>
          <p:cNvPr id="65" name="Shape 58"/>
          <p:cNvSpPr/>
          <p:nvPr/>
        </p:nvSpPr>
        <p:spPr>
          <a:xfrm>
            <a:off x="7187184" y="1325880"/>
            <a:ext cx="1554480" cy="2834640"/>
          </a:xfrm>
          <a:prstGeom prst="roundRect">
            <a:avLst>
              <a:gd name="adj" fmla="val 4706"/>
            </a:avLst>
          </a:prstGeom>
          <a:solidFill>
            <a:srgbClr val="F4F7F5"/>
          </a:solidFill>
          <a:ln w="9525">
            <a:solidFill>
              <a:srgbClr val="D5DED9"/>
            </a:solidFill>
            <a:prstDash val="solid"/>
          </a:ln>
        </p:spPr>
      </p:sp>
      <p:sp>
        <p:nvSpPr>
          <p:cNvPr id="66" name="Shape 59"/>
          <p:cNvSpPr/>
          <p:nvPr/>
        </p:nvSpPr>
        <p:spPr>
          <a:xfrm>
            <a:off x="7690104" y="1444752"/>
            <a:ext cx="548640" cy="548640"/>
          </a:xfrm>
          <a:prstGeom prst="ellipse">
            <a:avLst/>
          </a:prstGeom>
          <a:solidFill>
            <a:srgbClr val="D49A00">
              <a:alpha val="22000"/>
            </a:srgbClr>
          </a:solidFill>
          <a:ln w="12700">
            <a:solidFill>
              <a:srgbClr val="D49A00">
                <a:alpha val="0"/>
              </a:srgbClr>
            </a:solidFill>
            <a:prstDash val="solid"/>
          </a:ln>
        </p:spPr>
      </p:sp>
      <p:pic>
        <p:nvPicPr>
          <p:cNvPr id="67" name="Image 4" descr="preencoded.png"/>
          <p:cNvPicPr>
            <a:picLocks noChangeAspect="1"/>
          </p:cNvPicPr>
          <p:nvPr/>
        </p:nvPicPr>
        <p:blipFill>
          <a:blip r:embed="rId7"/>
          <a:stretch>
            <a:fillRect/>
          </a:stretch>
        </p:blipFill>
        <p:spPr>
          <a:xfrm>
            <a:off x="7821778" y="1576426"/>
            <a:ext cx="285293" cy="285293"/>
          </a:xfrm>
          <a:prstGeom prst="rect">
            <a:avLst/>
          </a:prstGeom>
        </p:spPr>
      </p:pic>
      <p:sp>
        <p:nvSpPr>
          <p:cNvPr id="68" name="Text 60"/>
          <p:cNvSpPr txBox="1"/>
          <p:nvPr/>
        </p:nvSpPr>
        <p:spPr>
          <a:xfrm>
            <a:off x="7232904"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Reclasseurs</a:t>
            </a:r>
            <a:endParaRPr lang="en-US" sz="1400" dirty="0"/>
          </a:p>
        </p:txBody>
      </p:sp>
      <p:sp>
        <p:nvSpPr>
          <p:cNvPr id="69" name="Shape 61"/>
          <p:cNvSpPr/>
          <p:nvPr/>
        </p:nvSpPr>
        <p:spPr>
          <a:xfrm>
            <a:off x="7296912" y="2432304"/>
            <a:ext cx="1335024" cy="338328"/>
          </a:xfrm>
          <a:prstGeom prst="roundRect">
            <a:avLst>
              <a:gd name="adj" fmla="val 21622"/>
            </a:avLst>
          </a:prstGeom>
          <a:solidFill>
            <a:srgbClr val="FFFFFF"/>
          </a:solidFill>
          <a:ln w="9525">
            <a:solidFill>
              <a:srgbClr val="D5DED9"/>
            </a:solidFill>
            <a:prstDash val="solid"/>
          </a:ln>
        </p:spPr>
      </p:sp>
      <p:sp>
        <p:nvSpPr>
          <p:cNvPr id="70" name="Text 62"/>
          <p:cNvSpPr txBox="1"/>
          <p:nvPr/>
        </p:nvSpPr>
        <p:spPr>
          <a:xfrm>
            <a:off x="7296912"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Cohere Rerank</a:t>
            </a:r>
            <a:endParaRPr lang="en-US" sz="1000" dirty="0"/>
          </a:p>
        </p:txBody>
      </p:sp>
      <p:sp>
        <p:nvSpPr>
          <p:cNvPr id="71" name="Shape 63"/>
          <p:cNvSpPr/>
          <p:nvPr/>
        </p:nvSpPr>
        <p:spPr>
          <a:xfrm>
            <a:off x="7296912" y="2852928"/>
            <a:ext cx="1335024" cy="338328"/>
          </a:xfrm>
          <a:prstGeom prst="roundRect">
            <a:avLst>
              <a:gd name="adj" fmla="val 21622"/>
            </a:avLst>
          </a:prstGeom>
          <a:solidFill>
            <a:srgbClr val="FFFFFF"/>
          </a:solidFill>
          <a:ln w="9525">
            <a:solidFill>
              <a:srgbClr val="D5DED9"/>
            </a:solidFill>
            <a:prstDash val="solid"/>
          </a:ln>
        </p:spPr>
      </p:sp>
      <p:sp>
        <p:nvSpPr>
          <p:cNvPr id="72" name="Text 64"/>
          <p:cNvSpPr txBox="1"/>
          <p:nvPr/>
        </p:nvSpPr>
        <p:spPr>
          <a:xfrm>
            <a:off x="7296912"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BGE-reranker</a:t>
            </a:r>
            <a:endParaRPr lang="en-US" sz="1000" dirty="0"/>
          </a:p>
        </p:txBody>
      </p:sp>
      <p:sp>
        <p:nvSpPr>
          <p:cNvPr id="73" name="Shape 65"/>
          <p:cNvSpPr/>
          <p:nvPr/>
        </p:nvSpPr>
        <p:spPr>
          <a:xfrm>
            <a:off x="7296912" y="3273552"/>
            <a:ext cx="1335024" cy="338328"/>
          </a:xfrm>
          <a:prstGeom prst="roundRect">
            <a:avLst>
              <a:gd name="adj" fmla="val 21622"/>
            </a:avLst>
          </a:prstGeom>
          <a:solidFill>
            <a:srgbClr val="FFFFFF"/>
          </a:solidFill>
          <a:ln w="9525">
            <a:solidFill>
              <a:srgbClr val="D5DED9"/>
            </a:solidFill>
            <a:prstDash val="solid"/>
          </a:ln>
        </p:spPr>
      </p:sp>
      <p:sp>
        <p:nvSpPr>
          <p:cNvPr id="74" name="Text 66"/>
          <p:cNvSpPr txBox="1"/>
          <p:nvPr/>
        </p:nvSpPr>
        <p:spPr>
          <a:xfrm>
            <a:off x="7296912"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ColBERT</a:t>
            </a:r>
            <a:endParaRPr lang="en-US" sz="1000" dirty="0"/>
          </a:p>
        </p:txBody>
      </p:sp>
      <p:sp>
        <p:nvSpPr>
          <p:cNvPr id="75" name="Shape 67"/>
          <p:cNvSpPr/>
          <p:nvPr/>
        </p:nvSpPr>
        <p:spPr>
          <a:xfrm>
            <a:off x="7296912" y="3694176"/>
            <a:ext cx="1335024" cy="338328"/>
          </a:xfrm>
          <a:prstGeom prst="roundRect">
            <a:avLst>
              <a:gd name="adj" fmla="val 21622"/>
            </a:avLst>
          </a:prstGeom>
          <a:solidFill>
            <a:srgbClr val="FFFFFF"/>
          </a:solidFill>
          <a:ln w="9525">
            <a:solidFill>
              <a:srgbClr val="D5DED9"/>
            </a:solidFill>
            <a:prstDash val="solid"/>
          </a:ln>
        </p:spPr>
      </p:sp>
      <p:sp>
        <p:nvSpPr>
          <p:cNvPr id="76" name="Text 68"/>
          <p:cNvSpPr txBox="1"/>
          <p:nvPr/>
        </p:nvSpPr>
        <p:spPr>
          <a:xfrm>
            <a:off x="7296912"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Cross-encoders</a:t>
            </a:r>
            <a:endParaRPr lang="en-US" sz="1000" dirty="0"/>
          </a:p>
        </p:txBody>
      </p:sp>
      <p:sp>
        <p:nvSpPr>
          <p:cNvPr id="77" name="Shape 69"/>
          <p:cNvSpPr/>
          <p:nvPr/>
        </p:nvSpPr>
        <p:spPr>
          <a:xfrm>
            <a:off x="457200" y="4279392"/>
            <a:ext cx="8229600" cy="402336"/>
          </a:xfrm>
          <a:prstGeom prst="roundRect">
            <a:avLst>
              <a:gd name="adj" fmla="val 18182"/>
            </a:avLst>
          </a:prstGeom>
          <a:solidFill>
            <a:srgbClr val="E8F5EF"/>
          </a:solidFill>
          <a:ln w="15875">
            <a:solidFill>
              <a:srgbClr val="00A86A"/>
            </a:solidFill>
            <a:prstDash val="solid"/>
          </a:ln>
        </p:spPr>
      </p:sp>
      <p:sp>
        <p:nvSpPr>
          <p:cNvPr id="78" name="Text 70"/>
          <p:cNvSpPr txBox="1"/>
          <p:nvPr/>
        </p:nvSpPr>
        <p:spPr>
          <a:xfrm>
            <a:off x="640080" y="4279392"/>
            <a:ext cx="7863840" cy="402336"/>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Conseil : </a:t>
            </a:r>
            <a:r>
              <a:rPr lang="en-US" sz="1200" dirty="0">
                <a:solidFill>
                  <a:srgbClr val="231F20"/>
                </a:solidFill>
                <a:latin typeface="Calibri" pitchFamily="34" charset="0"/>
                <a:ea typeface="Calibri" pitchFamily="34" charset="-122"/>
                <a:cs typeface="Calibri" pitchFamily="34" charset="-120"/>
              </a:rPr>
              <a:t>comparez les modèles d'embedding sur MTEB, puis validez-les sur vos données et vos langues.</a:t>
            </a:r>
            <a:endParaRPr lang="en-US" sz="12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Points de défaillance et bonnes pratiques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3977640" cy="3337560"/>
          </a:xfrm>
          <a:prstGeom prst="roundRect">
            <a:avLst>
              <a:gd name="adj" fmla="val 2192"/>
            </a:avLst>
          </a:prstGeom>
          <a:solidFill>
            <a:srgbClr val="B83B2E">
              <a:alpha val="7000"/>
            </a:srgbClr>
          </a:solidFill>
          <a:ln w="9525">
            <a:solidFill>
              <a:srgbClr val="B83B2E"/>
            </a:solidFill>
            <a:prstDash val="solid"/>
          </a:ln>
        </p:spPr>
      </p:sp>
      <p:sp>
        <p:nvSpPr>
          <p:cNvPr id="18" name="Shape 15"/>
          <p:cNvSpPr/>
          <p:nvPr/>
        </p:nvSpPr>
        <p:spPr>
          <a:xfrm>
            <a:off x="640080" y="1444752"/>
            <a:ext cx="457200" cy="457200"/>
          </a:xfrm>
          <a:prstGeom prst="ellipse">
            <a:avLst/>
          </a:prstGeom>
          <a:solidFill>
            <a:srgbClr val="B83B2E">
              <a:alpha val="22000"/>
            </a:srgbClr>
          </a:solidFill>
          <a:ln w="12700">
            <a:solidFill>
              <a:srgbClr val="B83B2E">
                <a:alpha val="0"/>
              </a:srgbClr>
            </a:solidFill>
            <a:prstDash val="solid"/>
          </a:ln>
        </p:spPr>
      </p:sp>
      <p:pic>
        <p:nvPicPr>
          <p:cNvPr id="19" name="Image 0" descr="preencoded.png"/>
          <p:cNvPicPr>
            <a:picLocks noChangeAspect="1"/>
          </p:cNvPicPr>
          <p:nvPr/>
        </p:nvPicPr>
        <p:blipFill>
          <a:blip r:embed="rId3"/>
          <a:stretch>
            <a:fillRect/>
          </a:stretch>
        </p:blipFill>
        <p:spPr>
          <a:xfrm>
            <a:off x="749808" y="1554480"/>
            <a:ext cx="237744" cy="237744"/>
          </a:xfrm>
          <a:prstGeom prst="rect">
            <a:avLst/>
          </a:prstGeom>
        </p:spPr>
      </p:pic>
      <p:sp>
        <p:nvSpPr>
          <p:cNvPr id="20" name="Text 16"/>
          <p:cNvSpPr txBox="1"/>
          <p:nvPr/>
        </p:nvSpPr>
        <p:spPr>
          <a:xfrm>
            <a:off x="1234440" y="1463040"/>
            <a:ext cx="3017520" cy="256032"/>
          </a:xfrm>
          <a:prstGeom prst="rect">
            <a:avLst/>
          </a:prstGeom>
          <a:noFill/>
          <a:ln/>
        </p:spPr>
        <p:txBody>
          <a:bodyPr wrap="square" lIns="0" tIns="0" rIns="0" bIns="0" rtlCol="0" anchor="ctr"/>
          <a:lstStyle/>
          <a:p>
            <a:pPr marL="0" indent="0">
              <a:buNone/>
            </a:pPr>
            <a:r>
              <a:rPr lang="en-US" sz="1600" b="1" dirty="0">
                <a:solidFill>
                  <a:srgbClr val="231F20"/>
                </a:solidFill>
                <a:latin typeface="Calibri" pitchFamily="34" charset="0"/>
                <a:ea typeface="Calibri" pitchFamily="34" charset="-122"/>
                <a:cs typeface="Calibri" pitchFamily="34" charset="-120"/>
              </a:rPr>
              <a:t>7 points de défaillance</a:t>
            </a:r>
            <a:endParaRPr lang="en-US" sz="1600" dirty="0"/>
          </a:p>
        </p:txBody>
      </p:sp>
      <p:sp>
        <p:nvSpPr>
          <p:cNvPr id="21" name="Text 17"/>
          <p:cNvSpPr txBox="1"/>
          <p:nvPr/>
        </p:nvSpPr>
        <p:spPr>
          <a:xfrm>
            <a:off x="1234440" y="1719072"/>
            <a:ext cx="3017520" cy="201168"/>
          </a:xfrm>
          <a:prstGeom prst="rect">
            <a:avLst/>
          </a:prstGeom>
          <a:noFill/>
          <a:ln/>
        </p:spPr>
        <p:txBody>
          <a:bodyPr wrap="square" lIns="0" tIns="0" rIns="0" bIns="0" rtlCol="0" anchor="ctr"/>
          <a:lstStyle/>
          <a:p>
            <a:pPr marL="0" indent="0">
              <a:buNone/>
            </a:pPr>
            <a:r>
              <a:rPr lang="en-US" sz="950" i="1" dirty="0">
                <a:solidFill>
                  <a:srgbClr val="5E6964"/>
                </a:solidFill>
                <a:latin typeface="Calibri" pitchFamily="34" charset="0"/>
                <a:ea typeface="Calibri" pitchFamily="34" charset="-122"/>
                <a:cs typeface="Calibri" pitchFamily="34" charset="-120"/>
              </a:rPr>
              <a:t>Barnett et al., 2024</a:t>
            </a:r>
            <a:endParaRPr lang="en-US" sz="950" dirty="0"/>
          </a:p>
        </p:txBody>
      </p:sp>
      <p:sp>
        <p:nvSpPr>
          <p:cNvPr id="22" name="Shape 18"/>
          <p:cNvSpPr/>
          <p:nvPr/>
        </p:nvSpPr>
        <p:spPr>
          <a:xfrm>
            <a:off x="685800" y="2093976"/>
            <a:ext cx="237744" cy="237744"/>
          </a:xfrm>
          <a:prstGeom prst="ellipse">
            <a:avLst/>
          </a:prstGeom>
          <a:solidFill>
            <a:srgbClr val="FFFFFF"/>
          </a:solidFill>
          <a:ln w="12700">
            <a:solidFill>
              <a:srgbClr val="B83B2E"/>
            </a:solidFill>
            <a:prstDash val="solid"/>
          </a:ln>
        </p:spPr>
      </p:sp>
      <p:sp>
        <p:nvSpPr>
          <p:cNvPr id="23" name="Text 19"/>
          <p:cNvSpPr txBox="1"/>
          <p:nvPr/>
        </p:nvSpPr>
        <p:spPr>
          <a:xfrm>
            <a:off x="685800" y="209397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4" name="Text 20"/>
          <p:cNvSpPr txBox="1"/>
          <p:nvPr/>
        </p:nvSpPr>
        <p:spPr>
          <a:xfrm>
            <a:off x="1051560" y="205740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Contenu absent — la réponse n'est pas dans le corpus</a:t>
            </a:r>
            <a:endParaRPr lang="en-US" sz="1150" dirty="0"/>
          </a:p>
        </p:txBody>
      </p:sp>
      <p:sp>
        <p:nvSpPr>
          <p:cNvPr id="25" name="Shape 21"/>
          <p:cNvSpPr/>
          <p:nvPr/>
        </p:nvSpPr>
        <p:spPr>
          <a:xfrm>
            <a:off x="685800" y="2459736"/>
            <a:ext cx="237744" cy="237744"/>
          </a:xfrm>
          <a:prstGeom prst="ellipse">
            <a:avLst/>
          </a:prstGeom>
          <a:solidFill>
            <a:srgbClr val="FFFFFF"/>
          </a:solidFill>
          <a:ln w="12700">
            <a:solidFill>
              <a:srgbClr val="B83B2E"/>
            </a:solidFill>
            <a:prstDash val="solid"/>
          </a:ln>
        </p:spPr>
      </p:sp>
      <p:sp>
        <p:nvSpPr>
          <p:cNvPr id="26" name="Text 22"/>
          <p:cNvSpPr txBox="1"/>
          <p:nvPr/>
        </p:nvSpPr>
        <p:spPr>
          <a:xfrm>
            <a:off x="685800" y="245973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7" name="Text 23"/>
          <p:cNvSpPr txBox="1"/>
          <p:nvPr/>
        </p:nvSpPr>
        <p:spPr>
          <a:xfrm>
            <a:off x="1051560" y="242316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Bons documents mal classés</a:t>
            </a:r>
            <a:endParaRPr lang="en-US" sz="1150" dirty="0"/>
          </a:p>
        </p:txBody>
      </p:sp>
      <p:sp>
        <p:nvSpPr>
          <p:cNvPr id="28" name="Shape 24"/>
          <p:cNvSpPr/>
          <p:nvPr/>
        </p:nvSpPr>
        <p:spPr>
          <a:xfrm>
            <a:off x="685800" y="2825496"/>
            <a:ext cx="237744" cy="237744"/>
          </a:xfrm>
          <a:prstGeom prst="ellipse">
            <a:avLst/>
          </a:prstGeom>
          <a:solidFill>
            <a:srgbClr val="FFFFFF"/>
          </a:solidFill>
          <a:ln w="12700">
            <a:solidFill>
              <a:srgbClr val="B83B2E"/>
            </a:solidFill>
            <a:prstDash val="solid"/>
          </a:ln>
        </p:spPr>
      </p:sp>
      <p:sp>
        <p:nvSpPr>
          <p:cNvPr id="29" name="Text 25"/>
          <p:cNvSpPr txBox="1"/>
          <p:nvPr/>
        </p:nvSpPr>
        <p:spPr>
          <a:xfrm>
            <a:off x="685800" y="282549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30" name="Text 26"/>
          <p:cNvSpPr txBox="1"/>
          <p:nvPr/>
        </p:nvSpPr>
        <p:spPr>
          <a:xfrm>
            <a:off x="1051560" y="278892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Hors contexte — écarté lors de la consolidation</a:t>
            </a:r>
            <a:endParaRPr lang="en-US" sz="1150" dirty="0"/>
          </a:p>
        </p:txBody>
      </p:sp>
      <p:sp>
        <p:nvSpPr>
          <p:cNvPr id="31" name="Shape 27"/>
          <p:cNvSpPr/>
          <p:nvPr/>
        </p:nvSpPr>
        <p:spPr>
          <a:xfrm>
            <a:off x="685800" y="3191256"/>
            <a:ext cx="237744" cy="237744"/>
          </a:xfrm>
          <a:prstGeom prst="ellipse">
            <a:avLst/>
          </a:prstGeom>
          <a:solidFill>
            <a:srgbClr val="FFFFFF"/>
          </a:solidFill>
          <a:ln w="12700">
            <a:solidFill>
              <a:srgbClr val="B83B2E"/>
            </a:solidFill>
            <a:prstDash val="solid"/>
          </a:ln>
        </p:spPr>
      </p:sp>
      <p:sp>
        <p:nvSpPr>
          <p:cNvPr id="32" name="Text 28"/>
          <p:cNvSpPr txBox="1"/>
          <p:nvPr/>
        </p:nvSpPr>
        <p:spPr>
          <a:xfrm>
            <a:off x="685800" y="319125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29"/>
          <p:cNvSpPr txBox="1"/>
          <p:nvPr/>
        </p:nvSpPr>
        <p:spPr>
          <a:xfrm>
            <a:off x="1051560" y="315468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Non extrait — présent mais ignoré par le LLM</a:t>
            </a:r>
            <a:endParaRPr lang="en-US" sz="1150" dirty="0"/>
          </a:p>
        </p:txBody>
      </p:sp>
      <p:sp>
        <p:nvSpPr>
          <p:cNvPr id="34" name="Shape 30"/>
          <p:cNvSpPr/>
          <p:nvPr/>
        </p:nvSpPr>
        <p:spPr>
          <a:xfrm>
            <a:off x="685800" y="3557016"/>
            <a:ext cx="237744" cy="237744"/>
          </a:xfrm>
          <a:prstGeom prst="ellipse">
            <a:avLst/>
          </a:prstGeom>
          <a:solidFill>
            <a:srgbClr val="FFFFFF"/>
          </a:solidFill>
          <a:ln w="12700">
            <a:solidFill>
              <a:srgbClr val="B83B2E"/>
            </a:solidFill>
            <a:prstDash val="solid"/>
          </a:ln>
        </p:spPr>
      </p:sp>
      <p:sp>
        <p:nvSpPr>
          <p:cNvPr id="35" name="Text 31"/>
          <p:cNvSpPr txBox="1"/>
          <p:nvPr/>
        </p:nvSpPr>
        <p:spPr>
          <a:xfrm>
            <a:off x="685800" y="355701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6" name="Text 32"/>
          <p:cNvSpPr txBox="1"/>
          <p:nvPr/>
        </p:nvSpPr>
        <p:spPr>
          <a:xfrm>
            <a:off x="1051560" y="352044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Mauvais format</a:t>
            </a:r>
            <a:endParaRPr lang="en-US" sz="1150" dirty="0"/>
          </a:p>
        </p:txBody>
      </p:sp>
      <p:sp>
        <p:nvSpPr>
          <p:cNvPr id="37" name="Shape 33"/>
          <p:cNvSpPr/>
          <p:nvPr/>
        </p:nvSpPr>
        <p:spPr>
          <a:xfrm>
            <a:off x="685800" y="3922776"/>
            <a:ext cx="237744" cy="237744"/>
          </a:xfrm>
          <a:prstGeom prst="ellipse">
            <a:avLst/>
          </a:prstGeom>
          <a:solidFill>
            <a:srgbClr val="FFFFFF"/>
          </a:solidFill>
          <a:ln w="12700">
            <a:solidFill>
              <a:srgbClr val="B83B2E"/>
            </a:solidFill>
            <a:prstDash val="solid"/>
          </a:ln>
        </p:spPr>
      </p:sp>
      <p:sp>
        <p:nvSpPr>
          <p:cNvPr id="38" name="Text 34"/>
          <p:cNvSpPr txBox="1"/>
          <p:nvPr/>
        </p:nvSpPr>
        <p:spPr>
          <a:xfrm>
            <a:off x="685800" y="392277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39" name="Text 35"/>
          <p:cNvSpPr txBox="1"/>
          <p:nvPr/>
        </p:nvSpPr>
        <p:spPr>
          <a:xfrm>
            <a:off x="1051560" y="388620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Niveau de détail inadapté</a:t>
            </a:r>
            <a:endParaRPr lang="en-US" sz="1150" dirty="0"/>
          </a:p>
        </p:txBody>
      </p:sp>
      <p:sp>
        <p:nvSpPr>
          <p:cNvPr id="40" name="Shape 36"/>
          <p:cNvSpPr/>
          <p:nvPr/>
        </p:nvSpPr>
        <p:spPr>
          <a:xfrm>
            <a:off x="685800" y="4288536"/>
            <a:ext cx="237744" cy="237744"/>
          </a:xfrm>
          <a:prstGeom prst="ellipse">
            <a:avLst/>
          </a:prstGeom>
          <a:solidFill>
            <a:srgbClr val="FFFFFF"/>
          </a:solidFill>
          <a:ln w="12700">
            <a:solidFill>
              <a:srgbClr val="B83B2E"/>
            </a:solidFill>
            <a:prstDash val="solid"/>
          </a:ln>
        </p:spPr>
      </p:sp>
      <p:sp>
        <p:nvSpPr>
          <p:cNvPr id="41" name="Text 37"/>
          <p:cNvSpPr txBox="1"/>
          <p:nvPr/>
        </p:nvSpPr>
        <p:spPr>
          <a:xfrm>
            <a:off x="685800" y="428853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2" name="Text 38"/>
          <p:cNvSpPr txBox="1"/>
          <p:nvPr/>
        </p:nvSpPr>
        <p:spPr>
          <a:xfrm>
            <a:off x="1051560" y="425196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Réponse incomplète</a:t>
            </a:r>
            <a:endParaRPr lang="en-US" sz="1150" dirty="0"/>
          </a:p>
        </p:txBody>
      </p:sp>
      <p:sp>
        <p:nvSpPr>
          <p:cNvPr id="43" name="Shape 39"/>
          <p:cNvSpPr/>
          <p:nvPr/>
        </p:nvSpPr>
        <p:spPr>
          <a:xfrm>
            <a:off x="4709160" y="1325880"/>
            <a:ext cx="3977640" cy="3337560"/>
          </a:xfrm>
          <a:prstGeom prst="roundRect">
            <a:avLst>
              <a:gd name="adj" fmla="val 2192"/>
            </a:avLst>
          </a:prstGeom>
          <a:solidFill>
            <a:srgbClr val="E8F5EF"/>
          </a:solidFill>
          <a:ln w="15875">
            <a:solidFill>
              <a:srgbClr val="00A86A"/>
            </a:solidFill>
            <a:prstDash val="solid"/>
          </a:ln>
        </p:spPr>
      </p:sp>
      <p:sp>
        <p:nvSpPr>
          <p:cNvPr id="44" name="Shape 40"/>
          <p:cNvSpPr/>
          <p:nvPr/>
        </p:nvSpPr>
        <p:spPr>
          <a:xfrm>
            <a:off x="4892040" y="1444752"/>
            <a:ext cx="457200" cy="457200"/>
          </a:xfrm>
          <a:prstGeom prst="ellipse">
            <a:avLst/>
          </a:prstGeom>
          <a:solidFill>
            <a:srgbClr val="00A86A">
              <a:alpha val="22000"/>
            </a:srgbClr>
          </a:solidFill>
          <a:ln w="12700">
            <a:solidFill>
              <a:srgbClr val="00A86A">
                <a:alpha val="0"/>
              </a:srgbClr>
            </a:solidFill>
            <a:prstDash val="solid"/>
          </a:ln>
        </p:spPr>
      </p:sp>
      <p:pic>
        <p:nvPicPr>
          <p:cNvPr id="45" name="Image 1" descr="preencoded.png"/>
          <p:cNvPicPr>
            <a:picLocks noChangeAspect="1"/>
          </p:cNvPicPr>
          <p:nvPr/>
        </p:nvPicPr>
        <p:blipFill>
          <a:blip r:embed="rId4"/>
          <a:stretch>
            <a:fillRect/>
          </a:stretch>
        </p:blipFill>
        <p:spPr>
          <a:xfrm>
            <a:off x="5001768" y="1554480"/>
            <a:ext cx="237744" cy="237744"/>
          </a:xfrm>
          <a:prstGeom prst="rect">
            <a:avLst/>
          </a:prstGeom>
        </p:spPr>
      </p:pic>
      <p:sp>
        <p:nvSpPr>
          <p:cNvPr id="46" name="Text 41"/>
          <p:cNvSpPr txBox="1"/>
          <p:nvPr/>
        </p:nvSpPr>
        <p:spPr>
          <a:xfrm>
            <a:off x="5486400" y="1463040"/>
            <a:ext cx="3017520" cy="256032"/>
          </a:xfrm>
          <a:prstGeom prst="rect">
            <a:avLst/>
          </a:prstGeom>
          <a:noFill/>
          <a:ln/>
        </p:spPr>
        <p:txBody>
          <a:bodyPr wrap="square" lIns="0" tIns="0" rIns="0" bIns="0" rtlCol="0" anchor="ctr"/>
          <a:lstStyle/>
          <a:p>
            <a:pPr marL="0" indent="0">
              <a:buNone/>
            </a:pPr>
            <a:r>
              <a:rPr lang="en-US" sz="1600" b="1" dirty="0">
                <a:solidFill>
                  <a:srgbClr val="231F20"/>
                </a:solidFill>
                <a:latin typeface="Calibri" pitchFamily="34" charset="0"/>
                <a:ea typeface="Calibri" pitchFamily="34" charset="-122"/>
                <a:cs typeface="Calibri" pitchFamily="34" charset="-120"/>
              </a:rPr>
              <a:t>Bonnes pratiques</a:t>
            </a:r>
            <a:endParaRPr lang="en-US" sz="1600" dirty="0"/>
          </a:p>
        </p:txBody>
      </p:sp>
      <p:sp>
        <p:nvSpPr>
          <p:cNvPr id="47" name="Text 42"/>
          <p:cNvSpPr txBox="1"/>
          <p:nvPr/>
        </p:nvSpPr>
        <p:spPr>
          <a:xfrm>
            <a:off x="5486400" y="1719072"/>
            <a:ext cx="3017520" cy="201168"/>
          </a:xfrm>
          <a:prstGeom prst="rect">
            <a:avLst/>
          </a:prstGeom>
          <a:noFill/>
          <a:ln/>
        </p:spPr>
        <p:txBody>
          <a:bodyPr wrap="square" lIns="0" tIns="0" rIns="0" bIns="0" rtlCol="0" anchor="ctr"/>
          <a:lstStyle/>
          <a:p>
            <a:pPr marL="0" indent="0">
              <a:buNone/>
            </a:pPr>
            <a:r>
              <a:rPr lang="en-US" sz="950" i="1" dirty="0">
                <a:solidFill>
                  <a:srgbClr val="5E6964"/>
                </a:solidFill>
                <a:latin typeface="Calibri" pitchFamily="34" charset="0"/>
                <a:ea typeface="Calibri" pitchFamily="34" charset="-122"/>
                <a:cs typeface="Calibri" pitchFamily="34" charset="-120"/>
              </a:rPr>
              <a:t>Ce qui fonctionne durablement</a:t>
            </a:r>
            <a:endParaRPr lang="en-US" sz="950" dirty="0"/>
          </a:p>
        </p:txBody>
      </p:sp>
      <p:pic>
        <p:nvPicPr>
          <p:cNvPr id="48" name="Image 2" descr="preencoded.png"/>
          <p:cNvPicPr>
            <a:picLocks noChangeAspect="1"/>
          </p:cNvPicPr>
          <p:nvPr/>
        </p:nvPicPr>
        <p:blipFill>
          <a:blip r:embed="rId5"/>
          <a:stretch>
            <a:fillRect/>
          </a:stretch>
        </p:blipFill>
        <p:spPr>
          <a:xfrm>
            <a:off x="4937760" y="2130552"/>
            <a:ext cx="182880" cy="182880"/>
          </a:xfrm>
          <a:prstGeom prst="rect">
            <a:avLst/>
          </a:prstGeom>
        </p:spPr>
      </p:pic>
      <p:sp>
        <p:nvSpPr>
          <p:cNvPr id="49" name="Text 43"/>
          <p:cNvSpPr txBox="1"/>
          <p:nvPr/>
        </p:nvSpPr>
        <p:spPr>
          <a:xfrm>
            <a:off x="5303520" y="2057400"/>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Créer un jeu d'évaluation avant d'optimiser</a:t>
            </a:r>
            <a:endParaRPr lang="en-US" sz="1200" dirty="0"/>
          </a:p>
        </p:txBody>
      </p:sp>
      <p:pic>
        <p:nvPicPr>
          <p:cNvPr id="50" name="Image 3" descr="preencoded.png"/>
          <p:cNvPicPr>
            <a:picLocks noChangeAspect="1"/>
          </p:cNvPicPr>
          <p:nvPr/>
        </p:nvPicPr>
        <p:blipFill>
          <a:blip r:embed="rId5"/>
          <a:stretch>
            <a:fillRect/>
          </a:stretch>
        </p:blipFill>
        <p:spPr>
          <a:xfrm>
            <a:off x="4937760" y="2551176"/>
            <a:ext cx="182880" cy="182880"/>
          </a:xfrm>
          <a:prstGeom prst="rect">
            <a:avLst/>
          </a:prstGeom>
        </p:spPr>
      </p:pic>
      <p:sp>
        <p:nvSpPr>
          <p:cNvPr id="51" name="Text 44"/>
          <p:cNvSpPr txBox="1"/>
          <p:nvPr/>
        </p:nvSpPr>
        <p:spPr>
          <a:xfrm>
            <a:off x="5303520" y="2478024"/>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Extraction propre, découpage structuré</a:t>
            </a:r>
            <a:endParaRPr lang="en-US" sz="1200" dirty="0"/>
          </a:p>
        </p:txBody>
      </p:sp>
      <p:pic>
        <p:nvPicPr>
          <p:cNvPr id="52" name="Image 4" descr="preencoded.png"/>
          <p:cNvPicPr>
            <a:picLocks noChangeAspect="1"/>
          </p:cNvPicPr>
          <p:nvPr/>
        </p:nvPicPr>
        <p:blipFill>
          <a:blip r:embed="rId5"/>
          <a:stretch>
            <a:fillRect/>
          </a:stretch>
        </p:blipFill>
        <p:spPr>
          <a:xfrm>
            <a:off x="4937760" y="2971800"/>
            <a:ext cx="182880" cy="182880"/>
          </a:xfrm>
          <a:prstGeom prst="rect">
            <a:avLst/>
          </a:prstGeom>
        </p:spPr>
      </p:pic>
      <p:sp>
        <p:nvSpPr>
          <p:cNvPr id="53" name="Text 45"/>
          <p:cNvSpPr txBox="1"/>
          <p:nvPr/>
        </p:nvSpPr>
        <p:spPr>
          <a:xfrm>
            <a:off x="5303520" y="2898648"/>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Recherche hybride + reclassement par défaut</a:t>
            </a:r>
            <a:endParaRPr lang="en-US" sz="1200" dirty="0"/>
          </a:p>
        </p:txBody>
      </p:sp>
      <p:pic>
        <p:nvPicPr>
          <p:cNvPr id="54" name="Image 5" descr="preencoded.png"/>
          <p:cNvPicPr>
            <a:picLocks noChangeAspect="1"/>
          </p:cNvPicPr>
          <p:nvPr/>
        </p:nvPicPr>
        <p:blipFill>
          <a:blip r:embed="rId5"/>
          <a:stretch>
            <a:fillRect/>
          </a:stretch>
        </p:blipFill>
        <p:spPr>
          <a:xfrm>
            <a:off x="4937760" y="3392424"/>
            <a:ext cx="182880" cy="182880"/>
          </a:xfrm>
          <a:prstGeom prst="rect">
            <a:avLst/>
          </a:prstGeom>
        </p:spPr>
      </p:pic>
      <p:sp>
        <p:nvSpPr>
          <p:cNvPr id="55" name="Text 46"/>
          <p:cNvSpPr txBox="1"/>
          <p:nvPr/>
        </p:nvSpPr>
        <p:spPr>
          <a:xfrm>
            <a:off x="5303520" y="3319272"/>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Filtres de métadonnées et contrôle des droits</a:t>
            </a:r>
            <a:endParaRPr lang="en-US" sz="1200" dirty="0"/>
          </a:p>
        </p:txBody>
      </p:sp>
      <p:pic>
        <p:nvPicPr>
          <p:cNvPr id="56" name="Image 6" descr="preencoded.png"/>
          <p:cNvPicPr>
            <a:picLocks noChangeAspect="1"/>
          </p:cNvPicPr>
          <p:nvPr/>
        </p:nvPicPr>
        <p:blipFill>
          <a:blip r:embed="rId5"/>
          <a:stretch>
            <a:fillRect/>
          </a:stretch>
        </p:blipFill>
        <p:spPr>
          <a:xfrm>
            <a:off x="4937760" y="3813048"/>
            <a:ext cx="182880" cy="182880"/>
          </a:xfrm>
          <a:prstGeom prst="rect">
            <a:avLst/>
          </a:prstGeom>
        </p:spPr>
      </p:pic>
      <p:sp>
        <p:nvSpPr>
          <p:cNvPr id="57" name="Text 47"/>
          <p:cNvSpPr txBox="1"/>
          <p:nvPr/>
        </p:nvSpPr>
        <p:spPr>
          <a:xfrm>
            <a:off x="5303520" y="3739896"/>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Prompt d'ancrage avec citations et abstention</a:t>
            </a:r>
            <a:endParaRPr lang="en-US" sz="1200" dirty="0"/>
          </a:p>
        </p:txBody>
      </p:sp>
      <p:pic>
        <p:nvPicPr>
          <p:cNvPr id="58" name="Image 7" descr="preencoded.png"/>
          <p:cNvPicPr>
            <a:picLocks noChangeAspect="1"/>
          </p:cNvPicPr>
          <p:nvPr/>
        </p:nvPicPr>
        <p:blipFill>
          <a:blip r:embed="rId5"/>
          <a:stretch>
            <a:fillRect/>
          </a:stretch>
        </p:blipFill>
        <p:spPr>
          <a:xfrm>
            <a:off x="4937760" y="4233672"/>
            <a:ext cx="182880" cy="182880"/>
          </a:xfrm>
          <a:prstGeom prst="rect">
            <a:avLst/>
          </a:prstGeom>
        </p:spPr>
      </p:pic>
      <p:sp>
        <p:nvSpPr>
          <p:cNvPr id="59" name="Text 48"/>
          <p:cNvSpPr txBox="1"/>
          <p:nvPr/>
        </p:nvSpPr>
        <p:spPr>
          <a:xfrm>
            <a:off x="5303520" y="4160520"/>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Surveiller, actualiser l'index, itérer</a:t>
            </a:r>
            <a:endParaRPr lang="en-US" sz="12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57200"/>
            <a:ext cx="45720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À RETENIR</a:t>
            </a:r>
            <a:endParaRPr lang="en-US" sz="1200" dirty="0"/>
          </a:p>
        </p:txBody>
      </p:sp>
      <p:sp>
        <p:nvSpPr>
          <p:cNvPr id="3" name="Text 1"/>
          <p:cNvSpPr txBox="1"/>
          <p:nvPr/>
        </p:nvSpPr>
        <p:spPr>
          <a:xfrm>
            <a:off x="548640" y="777240"/>
            <a:ext cx="8046720" cy="91440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La qualité de la récupération plafonne celle des réponses.</a:t>
            </a:r>
            <a:endParaRPr lang="en-US" sz="3200" dirty="0"/>
          </a:p>
        </p:txBody>
      </p:sp>
      <p:sp>
        <p:nvSpPr>
          <p:cNvPr id="4" name="Shape 2"/>
          <p:cNvSpPr/>
          <p:nvPr/>
        </p:nvSpPr>
        <p:spPr>
          <a:xfrm>
            <a:off x="548640"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5" name="Shape 3"/>
          <p:cNvSpPr/>
          <p:nvPr/>
        </p:nvSpPr>
        <p:spPr>
          <a:xfrm>
            <a:off x="731520" y="2103120"/>
            <a:ext cx="548640" cy="548640"/>
          </a:xfrm>
          <a:prstGeom prst="ellipse">
            <a:avLst/>
          </a:prstGeom>
          <a:solidFill>
            <a:srgbClr val="FFFFFF"/>
          </a:solidFill>
          <a:ln w="12700">
            <a:solidFill>
              <a:srgbClr val="FFFFFF"/>
            </a:solidFill>
            <a:prstDash val="solid"/>
          </a:ln>
        </p:spPr>
      </p:sp>
      <p:pic>
        <p:nvPicPr>
          <p:cNvPr id="6" name="Image 0" descr="preencoded.png"/>
          <p:cNvPicPr>
            <a:picLocks noChangeAspect="1"/>
          </p:cNvPicPr>
          <p:nvPr/>
        </p:nvPicPr>
        <p:blipFill>
          <a:blip r:embed="rId4"/>
          <a:stretch>
            <a:fillRect/>
          </a:stretch>
        </p:blipFill>
        <p:spPr>
          <a:xfrm>
            <a:off x="863194" y="2234794"/>
            <a:ext cx="285293" cy="285293"/>
          </a:xfrm>
          <a:prstGeom prst="rect">
            <a:avLst/>
          </a:prstGeom>
        </p:spPr>
      </p:pic>
      <p:sp>
        <p:nvSpPr>
          <p:cNvPr id="7" name="Text 4"/>
          <p:cNvSpPr txBox="1"/>
          <p:nvPr/>
        </p:nvSpPr>
        <p:spPr>
          <a:xfrm>
            <a:off x="731520" y="2788920"/>
            <a:ext cx="1600200" cy="32004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Ancré</a:t>
            </a:r>
            <a:endParaRPr lang="en-US" sz="1450" dirty="0"/>
          </a:p>
        </p:txBody>
      </p:sp>
      <p:sp>
        <p:nvSpPr>
          <p:cNvPr id="8" name="Text 5"/>
          <p:cNvSpPr txBox="1"/>
          <p:nvPr/>
        </p:nvSpPr>
        <p:spPr>
          <a:xfrm>
            <a:off x="731520"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Le RAG donne aux LLM un savoir à jour, privé et citable, sans réentraînement.</a:t>
            </a:r>
            <a:endParaRPr lang="en-US" sz="1150" dirty="0"/>
          </a:p>
        </p:txBody>
      </p:sp>
      <p:sp>
        <p:nvSpPr>
          <p:cNvPr id="9" name="Shape 6"/>
          <p:cNvSpPr/>
          <p:nvPr/>
        </p:nvSpPr>
        <p:spPr>
          <a:xfrm>
            <a:off x="2587752"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10" name="Shape 7"/>
          <p:cNvSpPr/>
          <p:nvPr/>
        </p:nvSpPr>
        <p:spPr>
          <a:xfrm>
            <a:off x="2770632" y="2103120"/>
            <a:ext cx="548640" cy="548640"/>
          </a:xfrm>
          <a:prstGeom prst="ellipse">
            <a:avLst/>
          </a:prstGeom>
          <a:solidFill>
            <a:srgbClr val="FFFFFF"/>
          </a:solidFill>
          <a:ln w="12700">
            <a:solidFill>
              <a:srgbClr val="FFFFFF"/>
            </a:solidFill>
            <a:prstDash val="solid"/>
          </a:ln>
        </p:spPr>
      </p:sp>
      <p:pic>
        <p:nvPicPr>
          <p:cNvPr id="11" name="Image 1" descr="preencoded.png"/>
          <p:cNvPicPr>
            <a:picLocks noChangeAspect="1"/>
          </p:cNvPicPr>
          <p:nvPr/>
        </p:nvPicPr>
        <p:blipFill>
          <a:blip r:embed="rId5"/>
          <a:stretch>
            <a:fillRect/>
          </a:stretch>
        </p:blipFill>
        <p:spPr>
          <a:xfrm>
            <a:off x="2902306" y="2234794"/>
            <a:ext cx="285293" cy="285293"/>
          </a:xfrm>
          <a:prstGeom prst="rect">
            <a:avLst/>
          </a:prstGeom>
        </p:spPr>
      </p:pic>
      <p:sp>
        <p:nvSpPr>
          <p:cNvPr id="12" name="Text 8"/>
          <p:cNvSpPr txBox="1"/>
          <p:nvPr/>
        </p:nvSpPr>
        <p:spPr>
          <a:xfrm>
            <a:off x="2770632" y="2788920"/>
            <a:ext cx="1600200" cy="32004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Bien chercher</a:t>
            </a:r>
            <a:endParaRPr lang="en-US" sz="1450" dirty="0"/>
          </a:p>
        </p:txBody>
      </p:sp>
      <p:sp>
        <p:nvSpPr>
          <p:cNvPr id="13" name="Text 9"/>
          <p:cNvSpPr txBox="1"/>
          <p:nvPr/>
        </p:nvSpPr>
        <p:spPr>
          <a:xfrm>
            <a:off x="2770632"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Découpage, recherche hybride et reclassement font l'essentiel des gains.</a:t>
            </a:r>
            <a:endParaRPr lang="en-US" sz="1150" dirty="0"/>
          </a:p>
        </p:txBody>
      </p:sp>
      <p:sp>
        <p:nvSpPr>
          <p:cNvPr id="14" name="Shape 10"/>
          <p:cNvSpPr/>
          <p:nvPr/>
        </p:nvSpPr>
        <p:spPr>
          <a:xfrm>
            <a:off x="4626864"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15" name="Shape 11"/>
          <p:cNvSpPr/>
          <p:nvPr/>
        </p:nvSpPr>
        <p:spPr>
          <a:xfrm>
            <a:off x="4809744" y="2103120"/>
            <a:ext cx="548640" cy="548640"/>
          </a:xfrm>
          <a:prstGeom prst="ellipse">
            <a:avLst/>
          </a:prstGeom>
          <a:solidFill>
            <a:srgbClr val="FFFFFF"/>
          </a:solidFill>
          <a:ln w="12700">
            <a:solidFill>
              <a:srgbClr val="FFFFFF"/>
            </a:solidFill>
            <a:prstDash val="solid"/>
          </a:ln>
        </p:spPr>
      </p:sp>
      <p:pic>
        <p:nvPicPr>
          <p:cNvPr id="16" name="Image 2" descr="preencoded.png"/>
          <p:cNvPicPr>
            <a:picLocks noChangeAspect="1"/>
          </p:cNvPicPr>
          <p:nvPr/>
        </p:nvPicPr>
        <p:blipFill>
          <a:blip r:embed="rId6"/>
          <a:stretch>
            <a:fillRect/>
          </a:stretch>
        </p:blipFill>
        <p:spPr>
          <a:xfrm>
            <a:off x="4941418" y="2234794"/>
            <a:ext cx="285293" cy="285293"/>
          </a:xfrm>
          <a:prstGeom prst="rect">
            <a:avLst/>
          </a:prstGeom>
        </p:spPr>
      </p:pic>
      <p:sp>
        <p:nvSpPr>
          <p:cNvPr id="17" name="Text 12"/>
          <p:cNvSpPr txBox="1"/>
          <p:nvPr/>
        </p:nvSpPr>
        <p:spPr>
          <a:xfrm>
            <a:off x="4809744" y="2788920"/>
            <a:ext cx="1600200" cy="32004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Mesuré</a:t>
            </a:r>
            <a:endParaRPr lang="en-US" sz="1450" dirty="0"/>
          </a:p>
        </p:txBody>
      </p:sp>
      <p:sp>
        <p:nvSpPr>
          <p:cNvPr id="18" name="Text 13"/>
          <p:cNvSpPr txBox="1"/>
          <p:nvPr/>
        </p:nvSpPr>
        <p:spPr>
          <a:xfrm>
            <a:off x="4809744"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Évaluer récupération et génération séparément, sur vos données.</a:t>
            </a:r>
            <a:endParaRPr lang="en-US" sz="1150" dirty="0"/>
          </a:p>
        </p:txBody>
      </p:sp>
      <p:sp>
        <p:nvSpPr>
          <p:cNvPr id="19" name="Shape 14"/>
          <p:cNvSpPr/>
          <p:nvPr/>
        </p:nvSpPr>
        <p:spPr>
          <a:xfrm>
            <a:off x="6665976"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20" name="Shape 15"/>
          <p:cNvSpPr/>
          <p:nvPr/>
        </p:nvSpPr>
        <p:spPr>
          <a:xfrm>
            <a:off x="6848856" y="2103120"/>
            <a:ext cx="548640" cy="548640"/>
          </a:xfrm>
          <a:prstGeom prst="ellipse">
            <a:avLst/>
          </a:prstGeom>
          <a:solidFill>
            <a:srgbClr val="F5C242"/>
          </a:solidFill>
          <a:ln w="12700">
            <a:solidFill>
              <a:srgbClr val="F5C242"/>
            </a:solidFill>
            <a:prstDash val="solid"/>
          </a:ln>
        </p:spPr>
      </p:sp>
      <p:pic>
        <p:nvPicPr>
          <p:cNvPr id="21" name="Image 3" descr="preencoded.png"/>
          <p:cNvPicPr>
            <a:picLocks noChangeAspect="1"/>
          </p:cNvPicPr>
          <p:nvPr/>
        </p:nvPicPr>
        <p:blipFill>
          <a:blip r:embed="rId7"/>
          <a:stretch>
            <a:fillRect/>
          </a:stretch>
        </p:blipFill>
        <p:spPr>
          <a:xfrm>
            <a:off x="6980530" y="2234794"/>
            <a:ext cx="285293" cy="285293"/>
          </a:xfrm>
          <a:prstGeom prst="rect">
            <a:avLst/>
          </a:prstGeom>
        </p:spPr>
      </p:pic>
      <p:sp>
        <p:nvSpPr>
          <p:cNvPr id="22" name="Text 16"/>
          <p:cNvSpPr txBox="1"/>
          <p:nvPr/>
        </p:nvSpPr>
        <p:spPr>
          <a:xfrm>
            <a:off x="6848856" y="2788920"/>
            <a:ext cx="1600200" cy="32004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En évolution</a:t>
            </a:r>
            <a:endParaRPr lang="en-US" sz="1450" dirty="0"/>
          </a:p>
        </p:txBody>
      </p:sp>
      <p:sp>
        <p:nvSpPr>
          <p:cNvPr id="23" name="Text 17"/>
          <p:cNvSpPr txBox="1"/>
          <p:nvPr/>
        </p:nvSpPr>
        <p:spPr>
          <a:xfrm>
            <a:off x="6848856"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Des chaînes fixes vers une récupération adaptative et agentique.</a:t>
            </a:r>
            <a:endParaRPr lang="en-US" sz="1150" dirty="0"/>
          </a:p>
        </p:txBody>
      </p:sp>
      <p:sp>
        <p:nvSpPr>
          <p:cNvPr id="24" name="Text 18"/>
          <p:cNvSpPr txBox="1"/>
          <p:nvPr/>
        </p:nvSpPr>
        <p:spPr>
          <a:xfrm>
            <a:off x="548640" y="4315968"/>
            <a:ext cx="6400800" cy="36576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Commencer simple  ·  mesurer  ·  </a:t>
            </a:r>
            <a:r>
              <a:rPr lang="en-US" sz="1800" b="1" dirty="0">
                <a:solidFill>
                  <a:srgbClr val="F5C242"/>
                </a:solidFill>
                <a:latin typeface="Calibri" pitchFamily="34" charset="0"/>
                <a:ea typeface="Calibri" pitchFamily="34" charset="-122"/>
                <a:cs typeface="Calibri" pitchFamily="34" charset="-120"/>
              </a:rPr>
              <a:t>améliorer la récupération.</a:t>
            </a:r>
            <a:endParaRPr lang="en-US" sz="18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Références (1/2)</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7" name="Shape 14"/>
          <p:cNvSpPr/>
          <p:nvPr/>
        </p:nvSpPr>
        <p:spPr>
          <a:xfrm>
            <a:off x="8183880" y="566928"/>
            <a:ext cx="457200" cy="45720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3"/>
          <a:stretch>
            <a:fillRect/>
          </a:stretch>
        </p:blipFill>
        <p:spPr>
          <a:xfrm>
            <a:off x="8293608" y="676656"/>
            <a:ext cx="237744" cy="237744"/>
          </a:xfrm>
          <a:prstGeom prst="rect">
            <a:avLst/>
          </a:prstGeom>
        </p:spPr>
      </p:pic>
      <p:sp>
        <p:nvSpPr>
          <p:cNvPr id="19" name="Shape 15"/>
          <p:cNvSpPr/>
          <p:nvPr/>
        </p:nvSpPr>
        <p:spPr>
          <a:xfrm>
            <a:off x="457200" y="1298448"/>
            <a:ext cx="4023360" cy="3383280"/>
          </a:xfrm>
          <a:prstGeom prst="roundRect">
            <a:avLst>
              <a:gd name="adj" fmla="val 2162"/>
            </a:avLst>
          </a:prstGeom>
          <a:solidFill>
            <a:srgbClr val="F4F7F5"/>
          </a:solidFill>
          <a:ln w="9525">
            <a:solidFill>
              <a:srgbClr val="D5DED9"/>
            </a:solidFill>
            <a:prstDash val="solid"/>
          </a:ln>
        </p:spPr>
      </p:sp>
      <p:sp>
        <p:nvSpPr>
          <p:cNvPr id="20" name="Text 16"/>
          <p:cNvSpPr txBox="1"/>
          <p:nvPr/>
        </p:nvSpPr>
        <p:spPr>
          <a:xfrm>
            <a:off x="59436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Chen et al. (2017). Reading Wikipedia to Answer Open-Domain Questions (DrQA).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Lee et al. (2019). Latent Retrieval for Weakly Supervised Open Domain QA (ORQA).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Guu et al. (2020). REALM: Retrieval-Augmented Language Model Pre-Training. ICML.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Karpukhin et al. (2020). Dense Passage Retrieval for Open-Domain Question Answering.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Lewis et al. (2020). Retrieval-Augmented Generation for Knowledge-Intensive NLP Tasks. NeurIPS.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Izacard &amp; Grave (2021). Leveraging Passage Retrieval with Generative Models (FiD). EACL.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Borgeaud et al. (2022). Improving Language Models by Retrieving from Trillions of Tokens (RETRO). ICML.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Izacard et al. (2022). Atlas: Few-shot Learning with Retrieval Augmented Language Models.</a:t>
            </a:r>
            <a:endParaRPr lang="en-US" sz="1000" dirty="0"/>
          </a:p>
        </p:txBody>
      </p:sp>
      <p:sp>
        <p:nvSpPr>
          <p:cNvPr id="21" name="Shape 17"/>
          <p:cNvSpPr/>
          <p:nvPr/>
        </p:nvSpPr>
        <p:spPr>
          <a:xfrm>
            <a:off x="4663440" y="1298448"/>
            <a:ext cx="4023360" cy="3383280"/>
          </a:xfrm>
          <a:prstGeom prst="roundRect">
            <a:avLst>
              <a:gd name="adj" fmla="val 2162"/>
            </a:avLst>
          </a:prstGeom>
          <a:solidFill>
            <a:srgbClr val="F4F7F5"/>
          </a:solidFill>
          <a:ln w="9525">
            <a:solidFill>
              <a:srgbClr val="D5DED9"/>
            </a:solidFill>
            <a:prstDash val="solid"/>
          </a:ln>
        </p:spPr>
      </p:sp>
      <p:sp>
        <p:nvSpPr>
          <p:cNvPr id="22" name="Text 18"/>
          <p:cNvSpPr txBox="1"/>
          <p:nvPr/>
        </p:nvSpPr>
        <p:spPr>
          <a:xfrm>
            <a:off x="480060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Gao, Ma et al. (2022). Precise Zero-Shot Dense Retrieval without Relevance Labels (HyDE).</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Ram et al. (2023). In-Context Retrieval-Augmented Language Models. TACL.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Shi et al. (2023). REPLUG: Retrieval-Augmented Black-Box Language Models.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Trivedi et al. (2023). Interleaving Retrieval with Chain-of-Thought Reasoning (IRCoT).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Jiang et al. (2023). Active Retrieval Augmented Generation (FLARE).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Asai et al. (2023). Self-RAG: Learning to Retrieve, Generate, and Critique through Self-Reflection.</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Liu et al. (2023). Lost in the Middle: How Language Models Use Long Contexts. TACL 2024.</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Gao, Xiong et al. (2023). Retrieval-Augmented Generation for Large Language Models: A Survey.</a:t>
            </a:r>
            <a:endParaRPr lang="en-US" sz="10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Références (2/2)</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Génération augmentée par récupération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7" name="Shape 14"/>
          <p:cNvSpPr/>
          <p:nvPr/>
        </p:nvSpPr>
        <p:spPr>
          <a:xfrm>
            <a:off x="8183880" y="566928"/>
            <a:ext cx="457200" cy="45720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3"/>
          <a:stretch>
            <a:fillRect/>
          </a:stretch>
        </p:blipFill>
        <p:spPr>
          <a:xfrm>
            <a:off x="8293608" y="676656"/>
            <a:ext cx="237744" cy="237744"/>
          </a:xfrm>
          <a:prstGeom prst="rect">
            <a:avLst/>
          </a:prstGeom>
        </p:spPr>
      </p:pic>
      <p:sp>
        <p:nvSpPr>
          <p:cNvPr id="19" name="Shape 15"/>
          <p:cNvSpPr/>
          <p:nvPr/>
        </p:nvSpPr>
        <p:spPr>
          <a:xfrm>
            <a:off x="457200" y="1298448"/>
            <a:ext cx="4023360" cy="3383280"/>
          </a:xfrm>
          <a:prstGeom prst="roundRect">
            <a:avLst>
              <a:gd name="adj" fmla="val 2162"/>
            </a:avLst>
          </a:prstGeom>
          <a:solidFill>
            <a:srgbClr val="F4F7F5"/>
          </a:solidFill>
          <a:ln w="9525">
            <a:solidFill>
              <a:srgbClr val="D5DED9"/>
            </a:solidFill>
            <a:prstDash val="solid"/>
          </a:ln>
        </p:spPr>
      </p:sp>
      <p:sp>
        <p:nvSpPr>
          <p:cNvPr id="20" name="Text 16"/>
          <p:cNvSpPr txBox="1"/>
          <p:nvPr/>
        </p:nvSpPr>
        <p:spPr>
          <a:xfrm>
            <a:off x="59436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Es et al. (2023). RAGAS: Automated Evaluation of Retrieval Augmented Generation.</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Morris et al. (2023). Text Embeddings Reveal (Almost) As Much As Text.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Yan et al. (2024). Corrective Retrieval Augmented Generation (CRAG).</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Jeong et al. (2024). Adaptive-RAG: Adapting Retrieval-Augmented LLMs through Question Complexity. NAACL.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Edge et al. (2024). From Local to Global: A Graph RAG Approach to Query-Focused Summarization. Microsoft.</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Sarthi et al. (2024). RAPTOR: Recursive Abstractive Processing for Tree-Organized Retrieval. ICLR.</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Gutiérrez et al. (2024). HippoRAG: Neurobiologically Inspired Long-Term Memory for LLMs. NeurIPS.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Faysse et al. (2024). ColPali: Efficient Document Retrieval with Vision Language Models.</a:t>
            </a:r>
            <a:endParaRPr lang="en-US" sz="1000" dirty="0"/>
          </a:p>
        </p:txBody>
      </p:sp>
      <p:sp>
        <p:nvSpPr>
          <p:cNvPr id="21" name="Shape 17"/>
          <p:cNvSpPr/>
          <p:nvPr/>
        </p:nvSpPr>
        <p:spPr>
          <a:xfrm>
            <a:off x="4663440" y="1298448"/>
            <a:ext cx="4023360" cy="3383280"/>
          </a:xfrm>
          <a:prstGeom prst="roundRect">
            <a:avLst>
              <a:gd name="adj" fmla="val 2162"/>
            </a:avLst>
          </a:prstGeom>
          <a:solidFill>
            <a:srgbClr val="F4F7F5"/>
          </a:solidFill>
          <a:ln w="9525">
            <a:solidFill>
              <a:srgbClr val="D5DED9"/>
            </a:solidFill>
            <a:prstDash val="solid"/>
          </a:ln>
        </p:spPr>
      </p:sp>
      <p:sp>
        <p:nvSpPr>
          <p:cNvPr id="22" name="Text 18"/>
          <p:cNvSpPr txBox="1"/>
          <p:nvPr/>
        </p:nvSpPr>
        <p:spPr>
          <a:xfrm>
            <a:off x="480060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 et al. (2024). Retrieval Augmented Generation or Long-Context LLMs? (Self-Route). EMNLP Industry.</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Barnett et al. (2024). Seven Failure Points When Engineering a RAG System.</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Zou et al. (2024). PoisonedRAG: Knowledge Corruption Attacks to RAG of LLMs.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Anthropic (2024). Introducing Contextual Retrieval.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 et al. (2025). Search-o1: Agentic Search-Enhanced Large Reasoning Models.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Jin et al. (2025). Search-R1: Training LLMs to Reason and Leverage Search Engines with RL.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OWASP (2025). Top 10 for LLM Applications — LLM08: Vector and Embedding Weaknesses.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Cormack et al. (2009). Reciprocal Rank Fusion. SIGIR  ·  Malkov &amp; Yashunin (2018). HNSW. IEEE TPAMI.</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5274</Words>
  <Application>Microsoft Office PowerPoint</Application>
  <PresentationFormat>On-screen Show (16:9)</PresentationFormat>
  <Paragraphs>673</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Génération augmentée par récupération (RAG)</dc:title>
  <dc:subject>PptxGenJS Presentation</dc:subject>
  <dc:creator>PptxGenJS</dc:creator>
  <cp:lastModifiedBy>HADJ TAIEB, MOHAMED ALI</cp:lastModifiedBy>
  <cp:revision>2</cp:revision>
  <dcterms:created xsi:type="dcterms:W3CDTF">2026-09-16T09:18:29Z</dcterms:created>
  <dcterms:modified xsi:type="dcterms:W3CDTF">2026-09-23T15:32:27Z</dcterms:modified>
</cp:coreProperties>
</file>