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1F2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31F20"/>
                </a:solidFill>
                <a:latin typeface="Calibri"/>
              </a:rPr>
              <a:t>Consommation relative de tokens (chat = 1×)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</c:v>
                </c:pt>
              </c:strCache>
            </c:strRef>
          </c:tx>
          <c:spPr>
            <a:solidFill>
              <a:srgbClr val="00A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5C-4D37-8EEC-BFD94B940F9C}"/>
              </c:ext>
            </c:extLst>
          </c:dPt>
          <c:dPt>
            <c:idx val="1"/>
            <c:invertIfNegative val="0"/>
            <c:bubble3D val="0"/>
            <c:spPr>
              <a:solidFill>
                <a:srgbClr val="0070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5C-4D37-8EEC-BFD94B940F9C}"/>
              </c:ext>
            </c:extLst>
          </c:dPt>
          <c:dPt>
            <c:idx val="2"/>
            <c:invertIfNegative val="0"/>
            <c:bubble3D val="0"/>
            <c:spPr>
              <a:solidFill>
                <a:srgbClr val="5E69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5C-4D37-8EEC-BFD94B940F9C}"/>
              </c:ext>
            </c:extLst>
          </c:dPt>
          <c:dLbls>
            <c:numFmt formatCode="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1F2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Multi-agents</c:v>
                </c:pt>
                <c:pt idx="1">
                  <c:v>Agent unique</c:v>
                </c:pt>
                <c:pt idx="2">
                  <c:v>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5C-4D37-8EEC-BFD94B940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1F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31F20"/>
                </a:solidFill>
                <a:latin typeface="Calibri"/>
              </a:rPr>
              <a:t>SWE-bench Verified, août 2024 – nov. 2025 (% résolus)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Verified</c:v>
                </c:pt>
              </c:strCache>
            </c:strRef>
          </c:tx>
          <c:spPr>
            <a:solidFill>
              <a:srgbClr val="A9B5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06-40C2-AFBC-F49D78FACEC9}"/>
              </c:ext>
            </c:extLst>
          </c:dPt>
          <c:dPt>
            <c:idx val="1"/>
            <c:invertIfNegative val="0"/>
            <c:bubble3D val="0"/>
            <c:spPr>
              <a:solidFill>
                <a:srgbClr val="9ED9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06-40C2-AFBC-F49D78FACEC9}"/>
              </c:ext>
            </c:extLst>
          </c:dPt>
          <c:dPt>
            <c:idx val="2"/>
            <c:invertIfNegative val="0"/>
            <c:bubble3D val="0"/>
            <c:spPr>
              <a:solidFill>
                <a:srgbClr val="7BCB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06-40C2-AFBC-F49D78FACEC9}"/>
              </c:ext>
            </c:extLst>
          </c:dPt>
          <c:dPt>
            <c:idx val="3"/>
            <c:invertIfNegative val="0"/>
            <c:bubble3D val="0"/>
            <c:spPr>
              <a:solidFill>
                <a:srgbClr val="57B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06-40C2-AFBC-F49D78FACEC9}"/>
              </c:ext>
            </c:extLst>
          </c:dPt>
          <c:dPt>
            <c:idx val="4"/>
            <c:invertIfNegative val="0"/>
            <c:bubble3D val="0"/>
            <c:spPr>
              <a:solidFill>
                <a:srgbClr val="33AF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806-40C2-AFBC-F49D78FACEC9}"/>
              </c:ext>
            </c:extLst>
          </c:dPt>
          <c:dPt>
            <c:idx val="5"/>
            <c:invertIfNegative val="0"/>
            <c:bubble3D val="0"/>
            <c:spPr>
              <a:solidFill>
                <a:srgbClr val="10A0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806-40C2-AFBC-F49D78FACEC9}"/>
              </c:ext>
            </c:extLst>
          </c:dPt>
          <c:dPt>
            <c:idx val="6"/>
            <c:invertIfNegative val="0"/>
            <c:bubble3D val="0"/>
            <c:spPr>
              <a:solidFill>
                <a:srgbClr val="008A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806-40C2-AFBC-F49D78FACEC9}"/>
              </c:ext>
            </c:extLst>
          </c:dPt>
          <c:dPt>
            <c:idx val="7"/>
            <c:invertIfNegative val="0"/>
            <c:bubble3D val="0"/>
            <c:spPr>
              <a:solidFill>
                <a:srgbClr val="0066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806-40C2-AFBC-F49D78FACEC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1F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GPT-4o
août 24</c:v>
                </c:pt>
                <c:pt idx="1">
                  <c:v>Claude 3.5
Sonnet
oct. 24</c:v>
                </c:pt>
                <c:pt idx="2">
                  <c:v>Claude 3.7
Sonnet
févr. 25</c:v>
                </c:pt>
                <c:pt idx="3">
                  <c:v>Gemini
2.5 Pro
mars 25</c:v>
                </c:pt>
                <c:pt idx="4">
                  <c:v>Claude
Sonnet 4
mai 25</c:v>
                </c:pt>
                <c:pt idx="5">
                  <c:v>GPT-5
août 25</c:v>
                </c:pt>
                <c:pt idx="6">
                  <c:v>Claude
Sonnet 4.5
sept. 25</c:v>
                </c:pt>
                <c:pt idx="7">
                  <c:v>Claude
Opus 4.5
nov. 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33.200000000000003</c:v>
                </c:pt>
                <c:pt idx="1">
                  <c:v>49</c:v>
                </c:pt>
                <c:pt idx="2">
                  <c:v>62.3</c:v>
                </c:pt>
                <c:pt idx="3">
                  <c:v>63.8</c:v>
                </c:pt>
                <c:pt idx="4">
                  <c:v>72.7</c:v>
                </c:pt>
                <c:pt idx="5">
                  <c:v>74.900000000000006</c:v>
                </c:pt>
                <c:pt idx="6">
                  <c:v>77.2</c:v>
                </c:pt>
                <c:pt idx="7">
                  <c:v>80.900000000000006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806-40C2-AFBC-F49D78FACE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E69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1F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31F20"/>
                </a:solidFill>
                <a:latin typeface="Calibri"/>
              </a:rPr>
              <a:t>Taux de réussite (%) selon le nombre d’étapes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99 % par étape</c:v>
                </c:pt>
              </c:strCache>
            </c:strRef>
          </c:tx>
          <c:spPr>
            <a:ln w="38100" cap="flat">
              <a:solidFill>
                <a:srgbClr val="00704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704A"/>
              </a:solidFill>
              <a:ln w="9525" cap="flat">
                <a:solidFill>
                  <a:srgbClr val="0070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95.1</c:v>
                </c:pt>
                <c:pt idx="2">
                  <c:v>90.4</c:v>
                </c:pt>
                <c:pt idx="3">
                  <c:v>81.8</c:v>
                </c:pt>
                <c:pt idx="4">
                  <c:v>74</c:v>
                </c:pt>
                <c:pt idx="5">
                  <c:v>60.5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77-495E-9071-F76629CFCC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95 % par étape</c:v>
                </c:pt>
              </c:strCache>
            </c:strRef>
          </c:tx>
          <c:spPr>
            <a:ln w="38100" cap="flat">
              <a:solidFill>
                <a:srgbClr val="B83B2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B83B2E"/>
              </a:solidFill>
              <a:ln w="9525" cap="flat">
                <a:solidFill>
                  <a:srgbClr val="B83B2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77.400000000000006</c:v>
                </c:pt>
                <c:pt idx="2">
                  <c:v>59.9</c:v>
                </c:pt>
                <c:pt idx="3">
                  <c:v>35.799999999999997</c:v>
                </c:pt>
                <c:pt idx="4">
                  <c:v>21.5</c:v>
                </c:pt>
                <c:pt idx="5">
                  <c:v>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77-495E-9071-F76629CFC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E696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E6964"/>
                    </a:solidFill>
                    <a:latin typeface="Arial"/>
                  </a:rPr>
                  <a:t>Étapes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9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7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9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43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95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Bienvenue. Cette présentation explique ce que sont les agents IA, comment ils fonctionnent et sont construits, où en est le domaine et comment les déployer de façon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parties, des concepts à la pratique. Chaque partie s’ouvre sur la question à laquelle elle répond.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présenter la question à laquelle répond cette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assistant produit une réponse qu’un humain utilise ensuite. Un agent poursuit un objectif : il agit, vérifie les résultats et continue jusqu’à ce que la tâche soit terminée.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présenter la question à laquelle répond cette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notion d’agent est ancienne — Russell et Norvig ont structuré l’IA autour des agents dès les années 1990. La nouveauté est d’utiliser un LLM comme décideur. Définition pratique : un LLM qui utilise des outils en boucle vers un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Plutôt que « est-ce un agent ? », demandez « à quel point est-ce agentique ? ». Les niveaux 1 à 3 sont prévisibles ; les niveaux 4 et 5 sont flexibles mais plus coûteux et plus risqués. Choisissez le niveau le plus bas qui résout le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RPA suit des scripts ; les assistants répondent ; les agents décident des étapes. Gartner alerte : beaucoup de produits présentés comme des agents sont des assistants ou de la RPA rebaptisés.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présenter la question à laquelle répond cette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LLM est le moteur de raisonnement. Planification, mémoire et outils l’étendent ; l’environnement est l’espace où il agit et observe. Garde-fous et supervision encadrent l’ensemble.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(Yao et al., 2022) alterne raisonnement et action. Chaque résultat d’outil alimente l’étape de raisonnement suivante. Notez la dernière étape : l’agent demande une validation humaine avant l’envoi.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techniques sont complémentaires. La plupart des agents en production combinent l’usage d’outils façon ReAct et la planification, et s’appuient de plus en plus sur des modèles de raisonnement.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fenêtre de contexte est la mémoire de travail, et elle est limitée. La mémoire à long terme est externe au modèle : journaux, bases vectorielles, graphes de connaissances — et compétences stockées sous forme de prompts ou 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présenter la question à laquelle répond cette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standard, chaque agent a besoin d’un connecteur spécifique pour chaque outil. MCP standardise la connexion agent-outil ; A2A standardise la collaboration entre agents. Les deux sont désormais gouvernés par la Linux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D’après « Building Effective Agents » d’Anthropic. Les workflows sont prévisibles et moins coûteux ; les agents sont flexibles. Beaucoup de systèmes réussis sont des workflows comportant quelques étapes agentiques.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indique que son système de recherche multi-agents a surpassé un agent unique de 90,2 % sur une évaluation interne, mais les agents consomment environ 4 fois plus de tokens qu’un chat, et les systèmes multi-agents environ 15 fois plus. À réserver aux tâches à forte valeur et parallélisables.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présenter la question à laquelle répond cette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vague agentique repose sur le Transformer (2017) et sur l’approche ReAct (2022). À partir de fin 2024, l’usage d’ordinateur et les protocoles ouverts ont fait passer les agents du prototype au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cartographie non exhaustive : frameworks open source, SDK des éditeurs, produits finis et standards ouverts qui les relient.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SWE-bench Verified demande aux modèles de corriger de vrais tickets GitHub. Les scores au lancement sont passés d’environ un tiers à plus de 80 % en une quinzaine de mois. Les environnements diffèrent selon les laboratoires : lisez la tendance plutôt que le classement exact. Important : en février 2026, OpenAI a cessé de publier ce benchmark (contamination, tests défectueux) et recommande SWE-bench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 mesure la durée des tâches (en temps humain) que les agents réussissent dans 50 % des cas ; elle double environ tous les 7 mois depuis 2019. Les chiffres de Gartner sont des prévisions, pas des mesures.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agents donnent les meilleurs résultats quand la réussite est vérifiable — tests réussis, ticket résolu, sources citées — et quand un humain peut valider les actions à fort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présenter la question à laquelle répond cette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simplifié : avec 95 % de fiabilité par étape, une tâche de 20 étapes ne réussit que dans environ 36 % des cas. D’où l’importance des vérifications, des nouvelles tentatives et des points de contrôle.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L’injection de prompt est classée n° 1 du Top 10 OWASP pour les applications LLM (2025). Gartner prévoit que plus de 40 % des projets d’IA agentique seront abandonnés d’ici fin 2027 pour des raisons de coût, de valeur ou de maîtrise des risques.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supervision est un curseur, pas un interrupteur. Commencez avec un humain dans la boucle, mesurez les performances, et ne passez à la surveillance que lorsque les évaluations le justifient.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Principes tirés de « Building Effective Agents » d’Anthropic (simplicité, transparence, conception des outils) et des recommandations OWASP pour les applications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Beaucoup de tâches présentées comme agentiques n’ont pas besoin d’un agent. Répondez à ces trois questions avant d’en construire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: un agent est un LLM qui utilise des outils en boucle ; commencer simple, ajouter de l’autonomie là où elle rapporte, et garder l’humain aux commandes des actions à fort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les chiffres de cette présentation proviennent des sources listées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0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02920"/>
            <a:ext cx="4114800" cy="4114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SYNTHÈSE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3716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</a:t>
            </a:r>
            <a:endParaRPr lang="en-US" sz="4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agentique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971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modèles qui répondent aux systèmes qui agissent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374904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3749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536192" y="3749040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536192" y="3749040"/>
            <a:ext cx="1239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912364" y="37490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12364" y="3749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055364" y="3749040"/>
            <a:ext cx="772668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055364" y="3749040"/>
            <a:ext cx="772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100" dirty="0"/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20A1A34C-78AC-CE5A-B8FF-10D3EEC2F0AB}"/>
              </a:ext>
            </a:extLst>
          </p:cNvPr>
          <p:cNvSpPr txBox="1"/>
          <p:nvPr/>
        </p:nvSpPr>
        <p:spPr>
          <a:xfrm>
            <a:off x="548640" y="4379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Innovation For Africa (DI4A) - African Development Bank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31720" y="157276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16870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29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basculement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l’IA passe de la réponse aux questions à l’exécution de tâches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66360" y="157276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168706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2044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2029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52044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 agentique, et le spectre de l’autonomie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01000" y="157276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16870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508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2029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Anatomie, boucle de l’agent, raisonnement et mémoire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31720" y="3264408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6020" y="337870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et protocoles, workflows, systèmes multi-agents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166360" y="3264408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0660" y="337870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2044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5" name="Text 27"/>
          <p:cNvSpPr txBox="1"/>
          <p:nvPr/>
        </p:nvSpPr>
        <p:spPr>
          <a:xfrm>
            <a:off x="352044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3520440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Jalons, écosystème, benchmarks et dynamique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12648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001000" y="3264408"/>
            <a:ext cx="457200" cy="45720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0" y="3378708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3550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1" name="Text 32"/>
          <p:cNvSpPr txBox="1"/>
          <p:nvPr/>
        </p:nvSpPr>
        <p:spPr>
          <a:xfrm>
            <a:off x="635508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6355080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principes de conception et guide de décision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basculement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l’IA passe-t-elle de la réponse à l’action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00A86A"/>
          </a:solidFill>
          <a:ln w="6350">
            <a:solidFill>
              <a:srgbClr val="00A8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BASCULEMENT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réponse à l’action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7160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d’IA générative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371600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un chatbot classique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22860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à une requête unique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31520" y="2715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passage : requête → réponse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31520" y="314553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69164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code ou images à relire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31520" y="357530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AGIT ?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6916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L’humain fait le travail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029200" y="132588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E8F5EF"/>
          </a:solidFill>
          <a:ln w="19050">
            <a:solidFill>
              <a:srgbClr val="00A86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57800" y="1508760"/>
            <a:ext cx="548640" cy="54864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64592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94360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d’IA agentique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943600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un agent de code ou de recherche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5303520" y="22860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62636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 un objectif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5303520" y="2715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6263640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: planifier → agir → observer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5303520" y="314553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26364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accomplie, état modifié</a:t>
            </a:r>
            <a:endParaRPr lang="en-US" sz="1250" dirty="0"/>
          </a:p>
        </p:txBody>
      </p:sp>
      <p:sp>
        <p:nvSpPr>
          <p:cNvPr id="37" name="Text 32"/>
          <p:cNvSpPr txBox="1"/>
          <p:nvPr/>
        </p:nvSpPr>
        <p:spPr>
          <a:xfrm>
            <a:off x="5303520" y="357530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AGIT ?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62636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L’agent, sous supervision humaine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4297680" y="2487168"/>
            <a:ext cx="548640" cy="548640"/>
          </a:xfrm>
          <a:prstGeom prst="ellipse">
            <a:avLst/>
          </a:prstGeom>
          <a:solidFill>
            <a:srgbClr val="D49A00"/>
          </a:solidFill>
          <a:ln w="12700">
            <a:solidFill>
              <a:srgbClr val="D49A00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2624328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457200" y="4279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générative crée du contenu. </a:t>
            </a:r>
            <a:r>
              <a:rPr lang="en-US" sz="1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agentique accomplit des tâches.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Qu’est-ce qu’un agent — et qu’est-ce qui n’en est pas un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DÉFINITIONS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Qu’est-ce qu’un agent IA ?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CLASSIQUE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16916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peut être vu comme percevant son environnement par des capteurs et agissant sur cet environnement par des effecteurs.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2585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d’après Russell &amp; Norvig, Artificial Intelligence: A Modern Approach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697480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ÈRE DES LLM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063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où le LLM dirige lui-même son processus et l’usage des outils, en gardant la maîtrise de la façon d’accomplir la tâche.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6301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d’après Anthropic, « Building Effective Agents » (déc. 2024)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D49A00">
              <a:alpha val="15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069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 </a:t>
            </a: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+ des outils + une mémoire, en boucle vers un objectif.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CLÉS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76022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623560" y="1664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5623560" y="18928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de l’étape suivante sans script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029200" y="2249424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363724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623560" y="22677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Orienté objectif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562356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 un résultat, pas une simple réponse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029200" y="285292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2967228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623560" y="28712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d’outils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5623560" y="30998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des API, exécute du code, cherche, clique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29200" y="3456432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3570732"/>
            <a:ext cx="228600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623560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562356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 le contexte pendant et entre les tâches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5029200" y="4059936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4174236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623560" y="40782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5623560" y="4306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les résultats et corrige sa trajectoire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DÉFINITIONS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 agentique : une question de degré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29844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13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(nom)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16642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qui perçoit, décide et agit pour atteindre un objectif — le « quoi ».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129844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AGENTIQUE</a:t>
            </a:r>
            <a:r>
              <a:rPr lang="en-US" sz="13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(adjectif)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16642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degré d’autonomie d’un système. Popularisé par Andrew Ng (2024) pour dépasser le débat oui/non.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SPECTRE DE L’AUTONOMIE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11480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d’autonomie = plus de flexibilité… mais plus de coût, de latence et de risque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1490472" cy="365760"/>
          </a:xfrm>
          <a:prstGeom prst="roundRect">
            <a:avLst>
              <a:gd name="adj" fmla="val 15000"/>
            </a:avLst>
          </a:prstGeom>
          <a:solidFill>
            <a:srgbClr val="C9EBDC"/>
          </a:solidFill>
          <a:ln w="12700">
            <a:solidFill>
              <a:srgbClr val="C9EB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conversationnel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à partir de son entraînement et de la requête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130552" y="3328416"/>
            <a:ext cx="1490472" cy="603504"/>
          </a:xfrm>
          <a:prstGeom prst="roundRect">
            <a:avLst>
              <a:gd name="adj" fmla="val 9091"/>
            </a:avLst>
          </a:prstGeom>
          <a:solidFill>
            <a:srgbClr val="97D6BA"/>
          </a:solidFill>
          <a:ln w="12700">
            <a:solidFill>
              <a:srgbClr val="97D6B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30552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augmenté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176272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recherche, outils et mémoire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803904" y="3090672"/>
            <a:ext cx="1490472" cy="841248"/>
          </a:xfrm>
          <a:prstGeom prst="roundRect">
            <a:avLst>
              <a:gd name="adj" fmla="val 6522"/>
            </a:avLst>
          </a:prstGeom>
          <a:solidFill>
            <a:srgbClr val="4FB98E"/>
          </a:solidFill>
          <a:ln w="12700">
            <a:solidFill>
              <a:srgbClr val="4FB98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03904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849624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LLM sur des chemins prédéfinis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77256" y="2852928"/>
            <a:ext cx="1490472" cy="1078992"/>
          </a:xfrm>
          <a:prstGeom prst="roundRect">
            <a:avLst>
              <a:gd name="adj" fmla="val 5085"/>
            </a:avLst>
          </a:prstGeom>
          <a:solidFill>
            <a:srgbClr val="1F9E6D"/>
          </a:solidFill>
          <a:ln w="12700">
            <a:solidFill>
              <a:srgbClr val="1F9E6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77256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522976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choisit ses étapes et ses outils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150608" y="2615184"/>
            <a:ext cx="1490472" cy="1316736"/>
          </a:xfrm>
          <a:prstGeom prst="roundRect">
            <a:avLst>
              <a:gd name="adj" fmla="val 4167"/>
            </a:avLst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150608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196328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agents coordonnés vers un objectif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DÉFINITIONS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automatise n’est pas un agent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556248" y="1261872"/>
            <a:ext cx="2203704" cy="2926080"/>
          </a:xfrm>
          <a:prstGeom prst="roundRect">
            <a:avLst>
              <a:gd name="adj" fmla="val 3320"/>
            </a:avLst>
          </a:prstGeom>
          <a:solidFill>
            <a:srgbClr val="E8F5EF"/>
          </a:solidFill>
          <a:ln w="19050">
            <a:solidFill>
              <a:srgbClr val="00A8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23160" y="1353312"/>
            <a:ext cx="384048" cy="384048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172" y="1449324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98648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RPA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0" y="1353312"/>
            <a:ext cx="384048" cy="384048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144932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47488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720840" y="1353312"/>
            <a:ext cx="384048" cy="384048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852" y="1449324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96328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1847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242316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des règles et scripts fixes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aux requêtes en langage naturel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72084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Raisonne, planifie et utilise des outils en boucle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57200" y="2304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IMPRÉVU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2423160" y="23042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Échoue si écrans ou formats changent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0" y="23042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comprend, mais ne fait que répondre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6720840" y="23042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son plan à ce qu’il observe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7200" y="27614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457200" y="27614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DÉCIDE DES ÉTAPES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242316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développeur, à l’avance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457200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L’humain, tour après tour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672084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L’agent, dans un cadre défini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57200" y="32186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242316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stables, répétitives, à règles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457200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rédaction, synthèse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672084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variables à étapes, objectif clair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57200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242316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des factures dans un ERP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457200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une politique RH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672084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 un ticket de support de bout en bout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57200" y="431596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D49A00">
              <a:alpha val="13000"/>
            </a:srgbClr>
          </a:solidFill>
          <a:ln w="9525">
            <a:solidFill>
              <a:srgbClr val="D49A00"/>
            </a:solidFill>
            <a:prstDash val="solid"/>
          </a:ln>
        </p:spPr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16552"/>
            <a:ext cx="237744" cy="237744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87552" y="431596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à l’« agent washing » : </a:t>
            </a: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assistants, chatbots ou RPA comme des agents sans vraie capacité agentique (Gartner).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à l’intérieur d’un agent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FONCTIONNEMENT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d’un agent IA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108960" y="1984248"/>
            <a:ext cx="914400" cy="0"/>
          </a:xfrm>
          <a:prstGeom prst="line">
            <a:avLst/>
          </a:prstGeom>
          <a:noFill/>
          <a:ln w="19050">
            <a:solidFill>
              <a:srgbClr val="00A86A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108960" y="3675888"/>
            <a:ext cx="914400" cy="0"/>
          </a:xfrm>
          <a:prstGeom prst="line">
            <a:avLst/>
          </a:prstGeom>
          <a:noFill/>
          <a:ln w="19050">
            <a:solidFill>
              <a:srgbClr val="00704A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120640" y="1984248"/>
            <a:ext cx="9144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120640" y="3675888"/>
            <a:ext cx="914400" cy="0"/>
          </a:xfrm>
          <a:prstGeom prst="line">
            <a:avLst/>
          </a:prstGeom>
          <a:noFill/>
          <a:ln w="19050">
            <a:solidFill>
              <a:srgbClr val="C4621D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5720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0700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l’objectif en sous-tâches ; réévalue et affine son plan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0175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07008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58368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(fenêtre de contexte) et long terme (stockage externe)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03504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162306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78484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236208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exécution de code, recherche, bases de données, usage d’ordinateur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035040" y="30175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2220" y="33147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84848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6236208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il perçoit les entrées et observe l’effet de ses actions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611880" y="1847088"/>
            <a:ext cx="1920240" cy="1920240"/>
          </a:xfrm>
          <a:prstGeom prst="ellipse">
            <a:avLst/>
          </a:prstGeom>
          <a:solidFill>
            <a:srgbClr val="00A86A">
              <a:alpha val="25000"/>
            </a:srgbClr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794760" y="2029968"/>
            <a:ext cx="1554480" cy="1554480"/>
          </a:xfrm>
          <a:prstGeom prst="ellipse">
            <a:avLst/>
          </a:prstGeom>
          <a:solidFill>
            <a:srgbClr val="00664A"/>
          </a:solidFill>
          <a:ln w="19050">
            <a:solidFill>
              <a:srgbClr val="00A86A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24028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7947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41" name="Text 33"/>
          <p:cNvSpPr txBox="1"/>
          <p:nvPr/>
        </p:nvSpPr>
        <p:spPr>
          <a:xfrm>
            <a:off x="379476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raisonnement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3337560" y="39776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D49A00">
              <a:alpha val="15000"/>
            </a:srgbClr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333756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  ·  Supervision humaine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par composants adaptée de Lilian Weng, « LLM Powered Autonomous Agents » (2023)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FONCTIONNEMENT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 l’agent</a:t>
            </a:r>
            <a:endParaRPr lang="en-US" sz="2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8720"/>
            <a:ext cx="3520440" cy="35204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97680" y="1325880"/>
            <a:ext cx="4389120" cy="2697480"/>
          </a:xfrm>
          <a:prstGeom prst="roundRect">
            <a:avLst>
              <a:gd name="adj" fmla="val 271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26280" y="1444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EN ACTION  ·  exemple illustratif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1691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« Relancer Acme pour sa facture impayée »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2011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Pensée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Trouver la dernière facture impayée.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9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3035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search_invoices(client="Acme")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2628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3035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FAC-2291 · 12 400 € · 34 jours de retard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526280" y="2971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Pensée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30352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Rédiger une relance courtoise.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526280" y="3291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9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30352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create_email_draft(to="billing@acme…")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3611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30352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Brouillon enregistré → validation humaine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297680" y="416052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48056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s’arrête quand </a:t>
            </a: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l’objectif est atteint, une limite est dépassée (étapes, temps, budget) ou une intervention humaine est requise.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FONCTIONNEMENT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de raisonnement et de planification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0" y="149047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704A">
              <a:alpha val="22000"/>
            </a:srgbClr>
          </a:solidFill>
          <a:ln w="9525">
            <a:solidFill>
              <a:srgbClr val="0070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86000" y="1490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1490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Raisonner étape par étape avant de répondre ; améliore la résolution de problèmes complexes.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918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20640" y="149047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A86A">
              <a:alpha val="22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0640" y="1490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493008" y="1490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349300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Alterner raisonnement, actions et observations — la base de la plupart des agents.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55280" y="149047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C4621D">
              <a:alpha val="22000"/>
            </a:srgbClr>
          </a:solidFill>
          <a:ln w="9525">
            <a:solidFill>
              <a:srgbClr val="C462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280" y="1490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1490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Autocritique après retour ; leçons mémorisées pour la tentative suivante.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86000" y="31821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E7C86">
              <a:alpha val="22000"/>
            </a:srgbClr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86000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58368" y="31821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45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plusieurs pistes de raisonnement, les évaluer et revenir en arrière.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58368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9184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20640" y="31821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D49A00">
              <a:alpha val="22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120640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3493008" y="31821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Plan-and-Solve</a:t>
            </a:r>
            <a:endParaRPr lang="en-US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349300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d’abord un plan de sous-tâches, puis les exécuter une à une.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3493008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12648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955280" y="31821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83B2E">
              <a:alpha val="22000"/>
            </a:srgbClr>
          </a:solidFill>
          <a:ln w="9525">
            <a:solidFill>
              <a:srgbClr val="B83B2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55280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27648" y="31821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raisonneurs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632764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entraînés à réfléchir longuement avant d’agir (ex. : OpenAI o1, sept. 2024).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327648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FONCTIONNEMENT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: comment les agents se souviennent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12984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QU’ELLE CONTIENT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12984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TYPIQUE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HUMAINE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1600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5EF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1728216"/>
            <a:ext cx="402336" cy="402336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28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97280" y="16002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travail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606040" y="1600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tâche en cours : consignes, étapes récentes, résultats d’outils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800600" y="1600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de contexte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16002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l’on garde en tête à l’instant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" y="23591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4360" y="2487168"/>
            <a:ext cx="402336" cy="402336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587752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2359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Épisodique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606040" y="23591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et expériences passées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4800600" y="23591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Journaux, historique, réflexions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6995160" y="235915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souvenir de la réunion de la semaine dernière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57200" y="311810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5EF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94360" y="3246120"/>
            <a:ext cx="402336" cy="402336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346704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97280" y="31181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Sémantique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2606040" y="3118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et connaissances sur le monde ou le métier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4800600" y="3118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vectorielles, RAG, graphes de connaissances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6995160" y="311810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que Dakar est au Sénégal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57200" y="38770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94360" y="4005072"/>
            <a:ext cx="402336" cy="402336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105656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97280" y="38770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Procédurale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2606040" y="387705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Savoir-faire et compétences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4800600" y="387705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du modèle, prompts, code, compétences réutilisables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6995160" y="387705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faire du vélo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Typologie issue de CoALA — Sumers et al., « Cognitive Architectures for Language Agents » (2023)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construit-on des systèmes agentiques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et protocoles : relier les agents au monde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4416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846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51560" y="12984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de fonctions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émet un appel d’outil structuré ; l’application l’exécute et renvoie le résultat.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088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51560" y="21488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051560" y="2404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ouvert pour relier les agents aux outils et aux données. Anthropic, nov. 2024 ; confié à l’Agentic AI Foundation (Linux Foundation) en déc. 2025.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457200" y="3044952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5925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51560" y="2999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Agent2Agent (A2A)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051560" y="3255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ouvert permettant aux agents de se découvrir et de collaborer. Google, avr. 2025 ; désormais projet de la Linux Foundation.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457200" y="3895344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0964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384962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d’ordinateur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051560" y="4105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pilotent des interfaces via captures d’écran, souris et clavier (Anthropic, oct. 2024 ; OpenAI Operator, janv. 2025, intégré depuis à ChatGPT agent).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4572000" y="1325880"/>
            <a:ext cx="411480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754880" y="1444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STANDARD COMPTE</a:t>
            </a:r>
            <a:endParaRPr lang="en-US" sz="9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1783080"/>
            <a:ext cx="3840480" cy="21031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54880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agent ↔ outils et données      A2A = agent ↔ agent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de base : workflows ou agents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28016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71600"/>
            <a:ext cx="2286000" cy="5715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179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Chaînage de prompts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fixe d’appels au LLM, avec contrôles possibles entre les étapes.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91840" y="128016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371600"/>
            <a:ext cx="2286000" cy="5715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5643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3456432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l’entrée, puis l’orienter vers le traitement spécialisé adapté.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26480" y="128016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371600"/>
            <a:ext cx="2286000" cy="5715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9107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Parallélisation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291072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Sous-tâches simultanées (découpage) ou répétées (vote), puis fusion.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290779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99232"/>
            <a:ext cx="2286000" cy="5715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1792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Orchestrateur–exécutants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central découpe la tâche à la volée et délègue aux exécutants.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91840" y="290779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999232"/>
            <a:ext cx="2286000" cy="5715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56432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Évaluateur–optimiseur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3456432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produit, un autre critique, en boucle jusqu’à la qualité visée.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126480" y="290779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E8F5EF"/>
          </a:solidFill>
          <a:ln w="15875">
            <a:solidFill>
              <a:srgbClr val="0E7C86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999232"/>
            <a:ext cx="2286000" cy="5715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291072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autonome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1072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décide de ses étapes, guidé par l’environnement, jusqu’à l’arrêt.</a:t>
            </a:r>
            <a:endParaRPr lang="en-US" sz="95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 </a:t>
            </a: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suivent des chemins prédéfinis — prévisibles.   </a:t>
            </a: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</a:t>
            </a: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dirigent eux-mêmes — flexibles.   Source : Anthropic (2024)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multi-agents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29844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371600"/>
            <a:ext cx="1188720" cy="7525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008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Orchestrateur–sous-agents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pilote planifie et délègue à des spécialistes en parallèle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91840" y="129844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371600"/>
            <a:ext cx="1188720" cy="7525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7472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Hiérarchique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managers de managers — équipes d’agents organisées en niveaux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26480" y="129844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371600"/>
            <a:ext cx="1188720" cy="7525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0936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pairs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30936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se passent le relais ou négocient directement entre eux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315468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8F5EF"/>
          </a:solidFill>
          <a:ln w="15875">
            <a:solidFill>
              <a:srgbClr val="00A86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0080" y="3218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+90,2 %</a:t>
            </a:r>
            <a:endParaRPr lang="en-US" sz="40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385876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recherche multi-agents d’Anthropic (pilote Claude Opus 4 + sous-agents Sonnet 4) vs un agent Opus 4 seul, sur une évaluation interne (2025)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749040" y="315468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graphicFrame>
        <p:nvGraphicFramePr>
          <p:cNvPr id="29" name="Chart 0"/>
          <p:cNvGraphicFramePr/>
          <p:nvPr/>
        </p:nvGraphicFramePr>
        <p:xfrm>
          <a:off x="3840480" y="3200400"/>
          <a:ext cx="47548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en sommes-nous aujourd’hui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ÉTAT DES LIEUX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grands jalons de l’ère agentique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25400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651760"/>
            <a:ext cx="0" cy="320040"/>
          </a:xfrm>
          <a:prstGeom prst="line">
            <a:avLst/>
          </a:prstGeom>
          <a:noFill/>
          <a:ln w="12700">
            <a:solidFill>
              <a:srgbClr val="5E69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544" y="2889504"/>
            <a:ext cx="164592" cy="164592"/>
          </a:xfrm>
          <a:prstGeom prst="ellipse">
            <a:avLst/>
          </a:prstGeom>
          <a:solidFill>
            <a:srgbClr val="5E69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2017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Transformer (« Attention Is All You Need »)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798320" y="2971800"/>
            <a:ext cx="0" cy="320040"/>
          </a:xfrm>
          <a:prstGeom prst="line">
            <a:avLst/>
          </a:prstGeom>
          <a:noFill/>
          <a:ln w="12700">
            <a:solidFill>
              <a:srgbClr val="00A8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16024" y="2889504"/>
            <a:ext cx="164592" cy="164592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1252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2022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252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ReAct : raisonner + agir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90800" y="2651760"/>
            <a:ext cx="0" cy="320040"/>
          </a:xfrm>
          <a:prstGeom prst="line">
            <a:avLst/>
          </a:prstGeom>
          <a:noFill/>
          <a:ln w="12700">
            <a:solidFill>
              <a:srgbClr val="0070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08504" y="2889504"/>
            <a:ext cx="164592" cy="164592"/>
          </a:xfrm>
          <a:prstGeom prst="ellipse">
            <a:avLst/>
          </a:prstGeom>
          <a:solidFill>
            <a:srgbClr val="0070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90500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90500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de ChatGPT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83280" y="2971800"/>
            <a:ext cx="0" cy="320040"/>
          </a:xfrm>
          <a:prstGeom prst="line">
            <a:avLst/>
          </a:prstGeom>
          <a:noFill/>
          <a:ln w="12700">
            <a:solidFill>
              <a:srgbClr val="C4621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00984" y="2889504"/>
            <a:ext cx="164592" cy="164592"/>
          </a:xfrm>
          <a:prstGeom prst="ellipse">
            <a:avLst/>
          </a:prstGeom>
          <a:solidFill>
            <a:srgbClr val="C462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9748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69748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 lance la vague des agents autonomes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175760" y="2651760"/>
            <a:ext cx="0" cy="32004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93464" y="2889504"/>
            <a:ext cx="164592" cy="164592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8996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48996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de fonctions dans l’API OpenAI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68240" y="2971800"/>
            <a:ext cx="0" cy="320040"/>
          </a:xfrm>
          <a:prstGeom prst="line">
            <a:avLst/>
          </a:prstGeom>
          <a:noFill/>
          <a:ln w="12700">
            <a:solidFill>
              <a:srgbClr val="D49A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85944" y="2889504"/>
            <a:ext cx="164592" cy="164592"/>
          </a:xfrm>
          <a:prstGeom prst="ellipse">
            <a:avLst/>
          </a:prstGeom>
          <a:solidFill>
            <a:srgbClr val="D4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8244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2024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28244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lance l’usage d’ordinateur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760720" y="2651760"/>
            <a:ext cx="0" cy="320040"/>
          </a:xfrm>
          <a:prstGeom prst="line">
            <a:avLst/>
          </a:prstGeom>
          <a:noFill/>
          <a:ln w="12700">
            <a:solidFill>
              <a:srgbClr val="0070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78424" y="2889504"/>
            <a:ext cx="164592" cy="164592"/>
          </a:xfrm>
          <a:prstGeom prst="ellipse">
            <a:avLst/>
          </a:prstGeom>
          <a:solidFill>
            <a:srgbClr val="0070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7492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2024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07492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publie MCP en open source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53200" y="2971800"/>
            <a:ext cx="0" cy="320040"/>
          </a:xfrm>
          <a:prstGeom prst="line">
            <a:avLst/>
          </a:prstGeom>
          <a:noFill/>
          <a:ln w="12700">
            <a:solidFill>
              <a:srgbClr val="00A86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70904" y="2889504"/>
            <a:ext cx="164592" cy="164592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6740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Févr. 2025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86740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Essor des agents de code et de recherche approfondie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345680" y="2651760"/>
            <a:ext cx="0" cy="32004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63384" y="2889504"/>
            <a:ext cx="164592" cy="164592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65988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Avr. 2025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65988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annonce le protocole A2A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138160" y="2971800"/>
            <a:ext cx="0" cy="320040"/>
          </a:xfrm>
          <a:prstGeom prst="line">
            <a:avLst/>
          </a:prstGeom>
          <a:noFill/>
          <a:ln w="12700">
            <a:solidFill>
              <a:srgbClr val="D49A0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55864" y="2889504"/>
            <a:ext cx="164592" cy="164592"/>
          </a:xfrm>
          <a:prstGeom prst="ellipse">
            <a:avLst/>
          </a:prstGeom>
          <a:solidFill>
            <a:srgbClr val="D4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5236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2025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745236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Linux Foundation crée l’Agentic AI Foundation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févr. 2025 : Claude Code d’Anthropic (préversion) et Deep Research d’OpenAI.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ÉTAT DES LIEUX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L’écosystème en un coup d’œil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59562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open source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(LangChain)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(successeur d’AutoGen et Semantic Kernel)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(désormais sous l’AAIF)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56032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0" y="148132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159562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74320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d’agents des éditeurs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269748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(Anthropic)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(Google)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1595628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4632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agentiques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80060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: Claude Code, OpenAI Codex, GitHub Copilot, Cursor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: Deep Research (OpenAI, Google)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: Salesforce Agentforce, Microsoft Copilot Studio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76656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49440" y="1481328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740" y="1595628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4944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ouverts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agent ↔ outils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— agent ↔ agent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consignes pour agents de code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non exhaustive — le paysage évolue rapidement.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ÉTAT DES LIEUX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les agents : benchmarks et progrès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E8F5EF"/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21792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de vrais tickets GitHub (500 tâches validées)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187452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Pro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2121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Successeur plus difficile, moins contaminé (Scale AI, 2025)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42316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OSWorld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2670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sur de vrais systèmes d’exploitation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97180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WebArena · GAIA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21792" y="3218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web · questions d’assistant avec outils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52044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21792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Dialogues de service client avec outils et règles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411480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D49A00">
              <a:alpha val="13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4114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: </a:t>
            </a: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févr. 2026, OpenAI a cessé de publier SWE-bench Verified (contamination, tests défectueux) et recommande SWE-bench Pro.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60520" y="1325880"/>
            <a:ext cx="452628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graphicFrame>
        <p:nvGraphicFramePr>
          <p:cNvPr id="31" name="Chart 0"/>
          <p:cNvGraphicFramePr/>
          <p:nvPr/>
        </p:nvGraphicFramePr>
        <p:xfrm>
          <a:off x="4206240" y="1371600"/>
          <a:ext cx="4434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434340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annoncés au lancement (GPT-5 sur 477 des 500 tâches). Environnements différents : comparer les tendances, pas les décimales.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ÉTAT DES LIEUX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: capacités et adoption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mois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doublement de la durée des tâches réussies à 50 % par les agents de pointe (2019–2025)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METR, mars 2025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91840" y="1325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&lt;5 % → 40 %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d’entreprise intégrant des agents IA spécialisés, 2025 → fin 2026 (prévision)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août 2025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26480" y="1325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 → ~30 %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revenus des logiciels d’entreprise portée par l’IA agentique, 2025 → 2035 (scénario optimiste, &gt;450 Md$)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août 2025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ATTENDUE DE L’IA EN ENTREPRISE SELON GARTNER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2834640" cy="914400"/>
          </a:xfrm>
          <a:prstGeom prst="chevron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IA dans presque toutes les applications d’entreprise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46120" y="3657600"/>
            <a:ext cx="2834640" cy="914400"/>
          </a:xfrm>
          <a:prstGeom prst="chevron">
            <a:avLst/>
          </a:prstGeom>
          <a:solidFill>
            <a:srgbClr val="008A57"/>
          </a:solidFill>
          <a:ln w="12700">
            <a:solidFill>
              <a:srgbClr val="008A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9476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79476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spécialisés dans 40 % des applications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0" y="3657600"/>
            <a:ext cx="2834640" cy="914400"/>
          </a:xfrm>
          <a:prstGeom prst="chevron">
            <a:avLst/>
          </a:prstGeom>
          <a:solidFill>
            <a:srgbClr val="00664A"/>
          </a:solidFill>
          <a:ln w="12700">
            <a:solidFill>
              <a:srgbClr val="0066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58368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Écosystèmes multi-agents collaborant entre applications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APPLICATIONS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les agents créent de la valeur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45336"/>
            <a:ext cx="530352" cy="53035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1677924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7160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logiciel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1371600" y="1764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 code, écrire et tester, corriger des bugs, ouvrir des pull requests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64608" y="1545336"/>
            <a:ext cx="530352" cy="530352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1677924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57784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5577840" y="1764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demandes de bout en bout, escalader vers un humain si besoin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2450592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" y="2670048"/>
            <a:ext cx="530352" cy="530352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2802636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analyse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2889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de nombreuses sources, les recouper, rédiger des rapports sourcés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663440" y="2450592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64608" y="2670048"/>
            <a:ext cx="530352" cy="530352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196" y="2802636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5778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IT et sécurité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5577840" y="2889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alertes et incidents, réunir les preuves, proposer des correctifs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57200" y="3575304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58368" y="3794760"/>
            <a:ext cx="530352" cy="530352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" y="3927348"/>
            <a:ext cx="265176" cy="26517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et back-office</a:t>
            </a:r>
            <a:endParaRPr lang="en-US" sz="1450" dirty="0"/>
          </a:p>
        </p:txBody>
      </p:sp>
      <p:sp>
        <p:nvSpPr>
          <p:cNvPr id="37" name="Text 29"/>
          <p:cNvSpPr txBox="1"/>
          <p:nvPr/>
        </p:nvSpPr>
        <p:spPr>
          <a:xfrm>
            <a:off x="137160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des documents, rapprocher des écritures, préparer des rapports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4663440" y="3575304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864608" y="3794760"/>
            <a:ext cx="530352" cy="530352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7196" y="3927348"/>
            <a:ext cx="265176" cy="26517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57784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et marketing</a:t>
            </a:r>
            <a:endParaRPr lang="en-US" sz="1450" dirty="0"/>
          </a:p>
        </p:txBody>
      </p:sp>
      <p:sp>
        <p:nvSpPr>
          <p:cNvPr id="42" name="Text 33"/>
          <p:cNvSpPr txBox="1"/>
          <p:nvPr/>
        </p:nvSpPr>
        <p:spPr>
          <a:xfrm>
            <a:off x="557784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des comptes, qualifier des prospects, personnaliser les messages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déployer des agents en sécurité — et créer de la valeur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BONNES PRATIQUES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fiabilité est le vrai défi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erreurs qui s’accumulent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chaque étape réussit indépendamment avec une probabilité p, une tâche de n étapes réussit avec la probabilité 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E8F5EF"/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P(succès) = p</a:t>
            </a:r>
            <a:r>
              <a:rPr lang="en-US" sz="2600" b="1" baseline="30000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par étape → seulement 36 % après 20 étapes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réelles ne sont pas totalement indépendantes — modèle simplifié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Remèdes : vérifications, points de contrôle, nouvelles tentatives, relecture humaine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0" y="1325880"/>
            <a:ext cx="429768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graphicFrame>
        <p:nvGraphicFramePr>
          <p:cNvPr id="19" name="Chart 0"/>
          <p:cNvGraphicFramePr/>
          <p:nvPr/>
        </p:nvGraphicFramePr>
        <p:xfrm>
          <a:off x="4480560" y="1417320"/>
          <a:ext cx="41148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BONNES PRATIQUES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risques et défis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1559052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 prompt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187452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instructions malveillantes cachées (pages, documents, e-mails) détournent l’agent. N° 1 du Top 10 OWASP LLM (2025).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4612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83280" y="1463040"/>
            <a:ext cx="384048" cy="384048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292" y="1559052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404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excessive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383280" y="187452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droits ou d’autonomie transforment une petite erreur en vrai dommage (OWASP LLM06:2025).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245059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2587752"/>
            <a:ext cx="384048" cy="384048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" y="268376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515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assurées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94360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inventés ou actions erronées, amplifiés sur les tâches longues.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246120" y="245059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83280" y="2587752"/>
            <a:ext cx="384048" cy="384048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292" y="2683764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84048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et latence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 appels par tâche : bien plus de tokens et de temps qu’un chat.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" y="3575304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4360" y="3712464"/>
            <a:ext cx="384048" cy="384048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" y="3808476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51560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94360" y="41239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validé quoi ? Les actions doivent être traçables, auditables, réversibles.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3246120" y="3575304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383280" y="3712464"/>
            <a:ext cx="384048" cy="384048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9292" y="3808476"/>
            <a:ext cx="192024" cy="19202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840480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données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3383280" y="41239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aux accès étendus peut divulguer des informations sensibles (OWASP LLM02:2025).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6126480" y="1325880"/>
            <a:ext cx="2560320" cy="3236976"/>
          </a:xfrm>
          <a:prstGeom prst="roundRect">
            <a:avLst>
              <a:gd name="adj" fmla="val 2857"/>
            </a:avLst>
          </a:prstGeom>
          <a:solidFill>
            <a:srgbClr val="B83B2E">
              <a:alpha val="14000"/>
            </a:srgbClr>
          </a:solidFill>
          <a:ln w="15875">
            <a:solidFill>
              <a:srgbClr val="B83B2E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30936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40 %+</a:t>
            </a:r>
            <a:endParaRPr lang="en-US" sz="4400" dirty="0"/>
          </a:p>
        </p:txBody>
      </p:sp>
      <p:sp>
        <p:nvSpPr>
          <p:cNvPr id="45" name="Text 36"/>
          <p:cNvSpPr txBox="1"/>
          <p:nvPr/>
        </p:nvSpPr>
        <p:spPr>
          <a:xfrm>
            <a:off x="6309360" y="217627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projets d’IA agentique seront abandonnés d’ici fin 2027 — coûts croissants, valeur incertaine ou contrôle des risques insuffisant.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30936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</a:t>
            </a:r>
            <a:endParaRPr lang="en-US" sz="2800" dirty="0"/>
          </a:p>
        </p:txBody>
      </p:sp>
      <p:sp>
        <p:nvSpPr>
          <p:cNvPr id="47" name="Text 38"/>
          <p:cNvSpPr txBox="1"/>
          <p:nvPr/>
        </p:nvSpPr>
        <p:spPr>
          <a:xfrm>
            <a:off x="6309360" y="3584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réellement agentiques parmi des milliers — le reste relève de l’« agent washing ».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6309360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juin 2025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BONNES PRATIQUES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 supervision humaine au risque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1607058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1517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130552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86584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42616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dans la boucle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personne valide chaque action clé avant exécution.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UTILISER POUR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3182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fort impact ou irréversibles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Paiements, e-mails aux clients, mises en production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91840" y="13258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474720" y="1481328"/>
            <a:ext cx="502920" cy="50292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1607058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709160" y="1517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4965192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221224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77256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474720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en surveillance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34747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 agit ; une personne surveille et peut intervenir ou annuler.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3474720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UTILISER POUR</a:t>
            </a:r>
            <a:endParaRPr lang="en-US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3474720" y="3182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moyen, actions réversibles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347472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347472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 tickets, code sur une branche séparée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126480" y="13258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09360" y="1481328"/>
            <a:ext cx="502920" cy="50292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1607058"/>
            <a:ext cx="251460" cy="25146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543800" y="1517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7799832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055864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311896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309360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hors de la boucle</a:t>
            </a:r>
            <a:endParaRPr lang="en-US" sz="1500" dirty="0"/>
          </a:p>
        </p:txBody>
      </p:sp>
      <p:sp>
        <p:nvSpPr>
          <p:cNvPr id="47" name="Text 41"/>
          <p:cNvSpPr txBox="1"/>
          <p:nvPr/>
        </p:nvSpPr>
        <p:spPr>
          <a:xfrm>
            <a:off x="630936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complète dans des limites strictes et testées.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6309360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UTILISER POUR</a:t>
            </a:r>
            <a:endParaRPr lang="en-US" sz="850" dirty="0"/>
          </a:p>
        </p:txBody>
      </p:sp>
      <p:sp>
        <p:nvSpPr>
          <p:cNvPr id="49" name="Text 43"/>
          <p:cNvSpPr txBox="1"/>
          <p:nvPr/>
        </p:nvSpPr>
        <p:spPr>
          <a:xfrm>
            <a:off x="6309360" y="3182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risque, réversible, bien évalué</a:t>
            </a:r>
            <a:endParaRPr lang="en-US" sz="1050" dirty="0"/>
          </a:p>
        </p:txBody>
      </p:sp>
      <p:sp>
        <p:nvSpPr>
          <p:cNvPr id="50" name="Text 44"/>
          <p:cNvSpPr txBox="1"/>
          <p:nvPr/>
        </p:nvSpPr>
        <p:spPr>
          <a:xfrm>
            <a:off x="630936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51" name="Text 45"/>
          <p:cNvSpPr txBox="1"/>
          <p:nvPr/>
        </p:nvSpPr>
        <p:spPr>
          <a:xfrm>
            <a:off x="630936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Étiquetage de documents, synthèse de journaux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d’or : </a:t>
            </a: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l’impact est fort et difficile à annuler, plus l’humain doit rester proche. N’alléger la supervision qu’à mesure que les évaluations renforcent la confiance.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BONNES PRATIQUES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de conception d’agents fiables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344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8368" y="2157984"/>
            <a:ext cx="128016" cy="128016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6112" y="21031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simple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23591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 un appel LLM ou un workflow ; n’ajouter de l’autonomie que si elle apporte un gain mesurable.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8368" y="3008376"/>
            <a:ext cx="128016" cy="128016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96112" y="2953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Soigner les outils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96112" y="3209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Noms, descriptions, exemples et messages d’erreur clairs.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58368" y="3858768"/>
            <a:ext cx="128016" cy="128016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96112" y="38039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en continu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896112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tirées de cas réels, lancées avant chaque changement.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9184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157734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3493008" y="2157984"/>
            <a:ext cx="128016" cy="128016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730752" y="21031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3730752" y="23591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minimaux ; exécution de code et navigation isolées.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493008" y="3008376"/>
            <a:ext cx="128016" cy="128016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730752" y="2953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méfier des entrées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3730752" y="3209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consignes et données pour limiter l’injection de prompt.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493008" y="3858768"/>
            <a:ext cx="128016" cy="128016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730752" y="38039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actions à risque</a:t>
            </a:r>
            <a:endParaRPr lang="en-US" sz="1250" dirty="0"/>
          </a:p>
        </p:txBody>
      </p:sp>
      <p:sp>
        <p:nvSpPr>
          <p:cNvPr id="38" name="Text 33"/>
          <p:cNvSpPr txBox="1"/>
          <p:nvPr/>
        </p:nvSpPr>
        <p:spPr>
          <a:xfrm>
            <a:off x="3730752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 des étapes irréversibles, coûteuses ou sensibles.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12648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1577340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9037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327648" y="2157984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565392" y="21031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des limites</a:t>
            </a:r>
            <a:endParaRPr lang="en-US" sz="1250" dirty="0"/>
          </a:p>
        </p:txBody>
      </p:sp>
      <p:sp>
        <p:nvSpPr>
          <p:cNvPr id="45" name="Text 39"/>
          <p:cNvSpPr txBox="1"/>
          <p:nvPr/>
        </p:nvSpPr>
        <p:spPr>
          <a:xfrm>
            <a:off x="6565392" y="23591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Plafonner étapes, temps et budget ; définir des conditions d’arrêt.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327648" y="3008376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565392" y="2953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observable</a:t>
            </a:r>
            <a:endParaRPr lang="en-US" sz="1250" dirty="0"/>
          </a:p>
        </p:txBody>
      </p:sp>
      <p:sp>
        <p:nvSpPr>
          <p:cNvPr id="48" name="Text 42"/>
          <p:cNvSpPr txBox="1"/>
          <p:nvPr/>
        </p:nvSpPr>
        <p:spPr>
          <a:xfrm>
            <a:off x="6565392" y="3209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chaque raisonnement, appel d’outil et résultat.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327648" y="3858768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6565392" y="38039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l’échec</a:t>
            </a:r>
            <a:endParaRPr lang="en-US" sz="1250" dirty="0"/>
          </a:p>
        </p:txBody>
      </p:sp>
      <p:sp>
        <p:nvSpPr>
          <p:cNvPr id="51" name="Text 45"/>
          <p:cNvSpPr txBox="1"/>
          <p:nvPr/>
        </p:nvSpPr>
        <p:spPr>
          <a:xfrm>
            <a:off x="6565392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 actions réversibles, points de contrôle et retour arrière.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BONNES PRATIQUES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vraiment besoin d’un agent ?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1325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sont-elles difficiles à prévoir 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777240" cy="0"/>
          </a:xfrm>
          <a:prstGeom prst="line">
            <a:avLst/>
          </a:prstGeom>
          <a:noFill/>
          <a:ln w="19050">
            <a:solidFill>
              <a:srgbClr val="B83B2E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800600" y="1353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13258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23560" y="1325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script, de la RPA ou un workflow fixe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88720" y="1874520"/>
            <a:ext cx="0" cy="3383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1280160" y="1901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212848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justifie-t-elle le coût et la latence 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63440" y="2487168"/>
            <a:ext cx="777240" cy="0"/>
          </a:xfrm>
          <a:prstGeom prst="line">
            <a:avLst/>
          </a:prstGeom>
          <a:noFill/>
          <a:ln w="19050">
            <a:solidFill>
              <a:srgbClr val="B83B2E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4800600" y="2240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2212848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3560" y="22128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simple appel LLM ou un workflow simple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88720" y="2761488"/>
            <a:ext cx="0" cy="3383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128016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099816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0998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sont-elles détectables et rattrapables ?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663440" y="3374136"/>
            <a:ext cx="777240" cy="0"/>
          </a:xfrm>
          <a:prstGeom prst="line">
            <a:avLst/>
          </a:prstGeom>
          <a:noFill/>
          <a:ln w="19050">
            <a:solidFill>
              <a:srgbClr val="B83B2E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4800600" y="31272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3099816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23560" y="30998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une validation humaine de chaque action clé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88720" y="3648456"/>
            <a:ext cx="0" cy="3383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1280160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3986784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0E7C86">
              <a:alpha val="20000"/>
            </a:srgbClr>
          </a:solidFill>
          <a:ln w="19050">
            <a:solidFill>
              <a:srgbClr val="0E7C86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2232"/>
            <a:ext cx="329184" cy="329184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097280" y="39867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est pertinent — commencer petit, mesurer, puis élargir.</a:t>
            </a:r>
            <a:endParaRPr lang="en-US" sz="12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0" y="4215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Inspiré de « Building Effective Agents » d’Anthropic (2024)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les agents, l’IA passe d’un outil que l’on utilise à un système qui travaille pour nous.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207568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218998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est un LLM qui utilise des outils en boucle, vers un objectif.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663440" y="1920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28032" y="207568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218998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Agentique » est un spectre — choisir le minimum d’autonomie suffisant.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13232" y="303580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3150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standards ouverts (MCP, A2A) rendent les agents interopérables.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66344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828032" y="3035808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15010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4068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exige de la rigueur : évaluations, garde-fous, supervision humaine.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 ·  Questions ?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&amp; IA agentique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et lectures complémentaires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 — Artificial Intelligence: A Modern Approach (4e éd., 2020)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« Building Effective Agents » (déc. 2024)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« How we built our multi-agent research system » (juin 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Weng — « LLM Powered Autonomous Agents »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— Chain-of-Thought Prompting (2022)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— ReAct: Synergizing Reasoning and Acting (2022)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— Reflexion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— Tree of Thoughts (2023)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508760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— Plan-and-Solve Prompting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Sumers et al. — Cognitive Architectures for Language Agents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 et al. (METR) — Measuring AI Ability to Complete Long Tasks (2025)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Jimenez et al. — SWE-bench (2023) ; OpenAI — SWE-bench Verified (2024) et note d’abandon (févr. 2026)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Communiqués Gartner — 25 juin 2025 et 26 août 2025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— annonce de l’Agentic AI Foundation (9 déc. 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Top 10 for LLM Applications (2025)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  ·  a2a-protocol.org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4149</Words>
  <Application>Microsoft Office PowerPoint</Application>
  <PresentationFormat>On-screen Show (16:9)</PresentationFormat>
  <Paragraphs>575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IA &amp; IA agentique</dc:title>
  <dc:subject>PptxGenJS Presentation</dc:subject>
  <dc:creator>Claude</dc:creator>
  <cp:lastModifiedBy>HADJ TAIEB, MOHAMED ALI</cp:lastModifiedBy>
  <cp:revision>2</cp:revision>
  <dcterms:created xsi:type="dcterms:W3CDTF">2026-09-16T08:58:11Z</dcterms:created>
  <dcterms:modified xsi:type="dcterms:W3CDTF">2026-09-23T15:33:13Z</dcterms:modified>
</cp:coreProperties>
</file>